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1"/>
  </p:notesMasterIdLst>
  <p:sldIdLst>
    <p:sldId id="602" r:id="rId2"/>
    <p:sldId id="564" r:id="rId3"/>
    <p:sldId id="569" r:id="rId4"/>
    <p:sldId id="656" r:id="rId5"/>
    <p:sldId id="315" r:id="rId6"/>
    <p:sldId id="659" r:id="rId7"/>
    <p:sldId id="624" r:id="rId8"/>
    <p:sldId id="622" r:id="rId9"/>
    <p:sldId id="648" r:id="rId10"/>
    <p:sldId id="650" r:id="rId11"/>
    <p:sldId id="574" r:id="rId12"/>
    <p:sldId id="578" r:id="rId13"/>
    <p:sldId id="673" r:id="rId14"/>
    <p:sldId id="654" r:id="rId15"/>
    <p:sldId id="575" r:id="rId16"/>
    <p:sldId id="603" r:id="rId17"/>
    <p:sldId id="662" r:id="rId18"/>
    <p:sldId id="579" r:id="rId19"/>
    <p:sldId id="663" r:id="rId20"/>
    <p:sldId id="580" r:id="rId21"/>
    <p:sldId id="599" r:id="rId22"/>
    <p:sldId id="665" r:id="rId23"/>
    <p:sldId id="666" r:id="rId24"/>
    <p:sldId id="667" r:id="rId25"/>
    <p:sldId id="584" r:id="rId26"/>
    <p:sldId id="583" r:id="rId27"/>
    <p:sldId id="601" r:id="rId28"/>
    <p:sldId id="582" r:id="rId29"/>
    <p:sldId id="625" r:id="rId30"/>
    <p:sldId id="643" r:id="rId31"/>
    <p:sldId id="626" r:id="rId32"/>
    <p:sldId id="608" r:id="rId33"/>
    <p:sldId id="640" r:id="rId34"/>
    <p:sldId id="641" r:id="rId35"/>
    <p:sldId id="642" r:id="rId36"/>
    <p:sldId id="597" r:id="rId37"/>
    <p:sldId id="669" r:id="rId38"/>
    <p:sldId id="671" r:id="rId39"/>
    <p:sldId id="270" r:id="rId40"/>
  </p:sldIdLst>
  <p:sldSz cx="8229600" cy="51435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2101" autoAdjust="0"/>
  </p:normalViewPr>
  <p:slideViewPr>
    <p:cSldViewPr snapToGrid="0" snapToObjects="1">
      <p:cViewPr varScale="1">
        <p:scale>
          <a:sx n="133" d="100"/>
          <a:sy n="133" d="100"/>
        </p:scale>
        <p:origin x="1404" y="120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5963" y="696913"/>
            <a:ext cx="55784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65887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08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3825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23348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Southwestern Energy Research Fellow</a:t>
            </a:r>
          </a:p>
        </p:txBody>
      </p:sp>
    </p:spTree>
    <p:extLst>
      <p:ext uri="{BB962C8B-B14F-4D97-AF65-F5344CB8AC3E}">
        <p14:creationId xmlns:p14="http://schemas.microsoft.com/office/powerpoint/2010/main" val="786263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3681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39202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57024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208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0109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0FE3-1572-487D-D6CD-78C266D2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BA23227B-A652-9A02-BD68-891564D983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7188201C-D53A-4627-35AD-F698398742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7D7D9CD7-3612-A985-8BF4-2F7BD759E8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4895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5337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95707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01881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1E4FE-2C87-0000-877B-BD044982C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34EB132C-51A8-95B8-3896-706710AF3A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82C12F22-70C5-8F0A-A830-B67E463A84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5DB51B2E-9CF0-A478-1ACB-EA56BCB6A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0563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23069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3A59F-EB6E-7E93-F9AC-ADBDCF692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B64C7C63-1498-1D76-FA33-196ED14888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251614AE-8107-0975-59DD-E97B67D128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D5732623-577B-C1A7-9361-50AA1B876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82657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49220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988349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1B70B-E4B9-A718-830C-E5288CB2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78EEEDA3-4CED-6297-640A-7950A426BC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4F406846-92A8-8C81-EA3A-4034B01F43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D3654987-29F6-062B-38D9-55F7654B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5020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10768-EE97-5207-9204-02C06AE1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F49BF972-6761-C6F9-F6EE-F85A3E2966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36296592-2CFC-2C18-4B50-AEFD166C62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0DCAC645-18D4-C6B5-598A-B16EDD0859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664089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32B68-A07A-97C5-3D8F-3F0701F6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DB64F0A1-DB56-7D69-F886-35A66740AE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1E8BCA3-8A3D-80A8-5F27-D7A083648A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32B0C09B-C2B1-FBCB-3233-8EBF9BEA0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861412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0892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92571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56893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77133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944181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20727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071604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43842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70960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921750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695785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4AE8-2829-0017-1935-5A0157DDC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9146D608-1095-00ED-0EFB-62BA39B4F8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ED358E7B-0615-3D0D-4D3A-0ADC553426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98BDBA97-F2AC-507A-C0BA-30486AE4F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21552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779C5-9C75-E49C-052E-FF4E0ABD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D24CEA20-D57E-E477-E672-CEDF0B9E59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1A9F2D85-B40E-A40F-CA85-86D195E103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65ECAB5-3C98-6AFC-919E-BC8B2A0754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693231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597820"/>
            <a:ext cx="699516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40" y="2914650"/>
            <a:ext cx="576072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1507C-2F0D-4F75-9B7D-4C448FE09635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16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11C7-ED65-4E53-B80F-8CA8B6C79B3E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69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082" y="3305176"/>
            <a:ext cx="6995160" cy="102155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082" y="2180035"/>
            <a:ext cx="6995160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B0F2-9BAE-4E63-A409-375B0BFF32B8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33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6621-6F6F-4776-B637-21C81486B56C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4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151335"/>
            <a:ext cx="3636169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480" y="1631156"/>
            <a:ext cx="3636169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80524" y="1151335"/>
            <a:ext cx="3637598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80524" y="1631156"/>
            <a:ext cx="3637598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14FFB-FB97-4765-8A45-A97C9AA87258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2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9888-7A11-4CC1-9463-CAAC99F5B51F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2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6A76-1084-46C3-B347-3C4334278AC0}" type="datetime1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3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1" y="204787"/>
            <a:ext cx="2707482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545" y="204789"/>
            <a:ext cx="4600575" cy="438983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1481" y="1076327"/>
            <a:ext cx="2707482" cy="351829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EE98-9E63-4BB8-8C78-F9C786021DE1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059" y="3600450"/>
            <a:ext cx="4937760" cy="42505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13059" y="459581"/>
            <a:ext cx="4937760" cy="30861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3059" y="4025504"/>
            <a:ext cx="4937760" cy="60364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6308-FC49-4D56-ABFB-DC9D5E91A2D3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1AA7D-D89F-40B6-BD1D-249AE4BA94F4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1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66460" y="205979"/>
            <a:ext cx="185166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480" y="205979"/>
            <a:ext cx="541782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D98AC-730E-4A13-B964-894E9A6E7463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96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Use This For Two-Column Text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480" y="1226527"/>
            <a:ext cx="3429000" cy="3368096"/>
          </a:xfrm>
          <a:prstGeom prst="rect">
            <a:avLst/>
          </a:prstGeom>
        </p:spPr>
        <p:txBody>
          <a:bodyPr/>
          <a:lstStyle>
            <a:lvl1pPr marL="154305" indent="-154305">
              <a:buClr>
                <a:schemeClr val="accent1"/>
              </a:buClr>
              <a:buSzPct val="110000"/>
              <a:buFont typeface="Arial" pitchFamily="34" charset="0"/>
              <a:buChar char="•"/>
              <a:defRPr/>
            </a:lvl1pPr>
            <a:lvl2pPr marL="308610" indent="-154305">
              <a:buClr>
                <a:schemeClr val="accent1"/>
              </a:buClr>
              <a:buFont typeface="Arial" pitchFamily="34" charset="0"/>
              <a:buChar char="•"/>
              <a:defRPr sz="1620"/>
            </a:lvl2pPr>
            <a:lvl3pPr marL="462915" indent="-154305">
              <a:buClr>
                <a:schemeClr val="accent1"/>
              </a:buClr>
              <a:buSzPct val="110000"/>
              <a:buFont typeface="Arial" pitchFamily="34" charset="0"/>
              <a:buChar char="•"/>
              <a:defRPr sz="1485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rgbClr val="CC3333"/>
              </a:buClr>
              <a:defRPr/>
            </a:lvl4pPr>
          </a:lstStyle>
          <a:p>
            <a:pPr lvl="0"/>
            <a:r>
              <a:rPr lang="en-US" dirty="0"/>
              <a:t>First level in sentence case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35780" y="1226522"/>
            <a:ext cx="3429000" cy="3368096"/>
          </a:xfrm>
          <a:prstGeom prst="rect">
            <a:avLst/>
          </a:prstGeom>
        </p:spPr>
        <p:txBody>
          <a:bodyPr/>
          <a:lstStyle>
            <a:lvl1pPr marL="154305" indent="-154305">
              <a:buClr>
                <a:schemeClr val="accent1"/>
              </a:buClr>
              <a:buSzPct val="110000"/>
              <a:buFont typeface="Arial" pitchFamily="34" charset="0"/>
              <a:buChar char="•"/>
              <a:defRPr/>
            </a:lvl1pPr>
            <a:lvl2pPr marL="308610" indent="-154305">
              <a:buClr>
                <a:schemeClr val="accent1"/>
              </a:buClr>
              <a:buFont typeface="Arial" pitchFamily="34" charset="0"/>
              <a:buChar char="•"/>
              <a:defRPr sz="1620"/>
            </a:lvl2pPr>
            <a:lvl3pPr marL="468274" indent="-159664">
              <a:buClr>
                <a:schemeClr val="accent1"/>
              </a:buClr>
              <a:buSzPct val="110000"/>
              <a:buFont typeface="Arial" pitchFamily="34" charset="0"/>
              <a:buChar char="•"/>
              <a:defRPr sz="1485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rgbClr val="CC3333"/>
              </a:buClr>
              <a:defRPr/>
            </a:lvl4pPr>
          </a:lstStyle>
          <a:p>
            <a:pPr lvl="0"/>
            <a:r>
              <a:rPr lang="en-US" dirty="0"/>
              <a:t>First level in sentence case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824918" y="4778211"/>
            <a:ext cx="2606040" cy="27384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540">
                <a:solidFill>
                  <a:srgbClr val="FFFFFF"/>
                </a:solidFill>
                <a:latin typeface="Arila"/>
                <a:cs typeface="Arila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24618" y="4778211"/>
            <a:ext cx="1920240" cy="27384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54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5911018" y="4778211"/>
            <a:ext cx="1920240" cy="27384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54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9257DAD1-48AB-8A4C-A054-135C0212BA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2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205979"/>
            <a:ext cx="740664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200151"/>
            <a:ext cx="740664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14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04753-2193-4040-9F94-9C0F3F1303CA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1780" y="4767263"/>
            <a:ext cx="26060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978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9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41148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41148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5" indent="-257175" algn="l" defTabSz="411480" rtl="0" eaLnBrk="1" latinLnBrk="0" hangingPunct="1">
        <a:spcBef>
          <a:spcPct val="20000"/>
        </a:spcBef>
        <a:buFont typeface="Arial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411480" rtl="0" eaLnBrk="1" latinLnBrk="0" hangingPunct="1">
        <a:spcBef>
          <a:spcPct val="200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41148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maps/d/edit?mid=10q8FOtqV2enxkcSktZagnJd4XzC2ZA0&amp;usp=shar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synw.github.io/geog386/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hyperlink" Target="https://gisynw.github.io/ssj-376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synw.github.io/geog-247/" TargetMode="External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hyperlink" Target="https://gisynw.github.io/ssj-30262/" TargetMode="External"/><Relationship Id="rId5" Type="http://schemas.openxmlformats.org/officeDocument/2006/relationships/image" Target="../media/image8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synw.github.io/GIS_I/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hyperlink" Target="https://gisynw.github.io/Field_Technique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8-2489/15/2/107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220-9964/13/3/8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s.harvard.edu/faq/how-installing-arcgis-desktop-or-pro-mac-computer" TargetMode="External"/><Relationship Id="rId2" Type="http://schemas.openxmlformats.org/officeDocument/2006/relationships/hyperlink" Target="https://pro.arcgis.com/en/pro-app/latest/get-started/run-pro-on-a-mac.htm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uca.edu/geography/gis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gisusers.org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hyperlink" Target="https://gisynw.github.io/#presentations" TargetMode="External"/><Relationship Id="rId4" Type="http://schemas.openxmlformats.org/officeDocument/2006/relationships/hyperlink" Target="https://2025-swaag-annual-meeting-nmsuges.hub.arcgis.com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ag.org/award-index/?view=aag-awards&amp;applicant_types=for-students-and-undergraduates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091" y="158778"/>
            <a:ext cx="8001000" cy="1549772"/>
          </a:xfrm>
        </p:spPr>
        <p:txBody>
          <a:bodyPr>
            <a:normAutofit/>
          </a:bodyPr>
          <a:lstStyle/>
          <a:p>
            <a:r>
              <a:rPr lang="en-US" sz="3600" dirty="0"/>
              <a:t>GEOG 3319: </a:t>
            </a:r>
            <a:r>
              <a:rPr lang="en-US" dirty="0"/>
              <a:t>Geographic Field Techniques</a:t>
            </a:r>
            <a:endParaRPr lang="en-US" sz="3600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257018" y="2763549"/>
            <a:ext cx="5760720" cy="1171497"/>
          </a:xfrm>
          <a:prstGeom prst="rect">
            <a:avLst/>
          </a:prstGeom>
        </p:spPr>
        <p:txBody>
          <a:bodyPr vert="horz" lIns="82296" tIns="41148" rIns="82296" bIns="41148" rtlCol="0">
            <a:normAutofit fontScale="2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dirty="0">
                <a:solidFill>
                  <a:schemeClr val="tx1"/>
                </a:solidFill>
              </a:rPr>
              <a:t>Yanan Wu, PhD</a:t>
            </a:r>
          </a:p>
          <a:p>
            <a:r>
              <a:rPr lang="en-US" sz="8000" dirty="0">
                <a:solidFill>
                  <a:schemeClr val="tx1"/>
                </a:solidFill>
              </a:rPr>
              <a:t>Assistant Professor</a:t>
            </a:r>
          </a:p>
          <a:p>
            <a:r>
              <a:rPr lang="en-US" sz="8000" dirty="0">
                <a:solidFill>
                  <a:schemeClr val="tx1"/>
                </a:solidFill>
              </a:rPr>
              <a:t>Department of Geography</a:t>
            </a:r>
          </a:p>
          <a:p>
            <a:endParaRPr lang="en-US" sz="288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072922" y="4416072"/>
            <a:ext cx="279753" cy="481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852E4-0F7F-41A7-9B32-F40B4D3A753B}"/>
              </a:ext>
            </a:extLst>
          </p:cNvPr>
          <p:cNvSpPr txBox="1"/>
          <p:nvPr/>
        </p:nvSpPr>
        <p:spPr>
          <a:xfrm>
            <a:off x="-1" y="1708550"/>
            <a:ext cx="8196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Lecture 01 Introduction</a:t>
            </a:r>
          </a:p>
        </p:txBody>
      </p:sp>
      <p:pic>
        <p:nvPicPr>
          <p:cNvPr id="13" name="Picture 12" descr="Geography logo">
            <a:extLst>
              <a:ext uri="{FF2B5EF4-FFF2-40B4-BE49-F238E27FC236}">
                <a16:creationId xmlns:a16="http://schemas.microsoft.com/office/drawing/2014/main" id="{AE401581-7A56-448D-8256-F61D9515AE3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1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Introduction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Who am I?</a:t>
            </a:r>
            <a:endParaRPr lang="en-US" altLang="en-US" sz="216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Who you are?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Course overview and expectations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Syllabus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Software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600" dirty="0"/>
              <a:t>ArcGIS Pro</a:t>
            </a:r>
          </a:p>
          <a:p>
            <a:pPr marL="0" indent="0">
              <a:buNone/>
            </a:pPr>
            <a:endParaRPr lang="en-US" altLang="en-US" sz="2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Overview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11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Who am 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FE608D70-D581-D24A-1C70-9314919C8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98" y="1166113"/>
            <a:ext cx="7217433" cy="335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4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116C6-1FDC-A669-6105-F6682129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3DBE-2620-7967-9C81-A0D46E27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684"/>
            <a:ext cx="4114800" cy="647486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Past Teaching Experience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66D37-09FA-CBEB-CAC3-8A6BA1051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57DAD1-48AB-8A4C-A054-135C0212BAAD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64F40D-1305-58D7-D448-413997826CE9}"/>
              </a:ext>
            </a:extLst>
          </p:cNvPr>
          <p:cNvGrpSpPr/>
          <p:nvPr/>
        </p:nvGrpSpPr>
        <p:grpSpPr>
          <a:xfrm>
            <a:off x="480029" y="1102255"/>
            <a:ext cx="3998098" cy="3823009"/>
            <a:chOff x="1083112" y="1003039"/>
            <a:chExt cx="3383819" cy="3401059"/>
          </a:xfrm>
        </p:grpSpPr>
        <p:pic>
          <p:nvPicPr>
            <p:cNvPr id="83" name="Picture 82" descr="A cartoon snake with a speech bubble&#10;&#10;Description automatically generated">
              <a:hlinkClick r:id="rId2"/>
              <a:extLst>
                <a:ext uri="{FF2B5EF4-FFF2-40B4-BE49-F238E27FC236}">
                  <a16:creationId xmlns:a16="http://schemas.microsoft.com/office/drawing/2014/main" id="{99AA12A9-56FF-8781-BD15-BF4CD8534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9215" y="1491005"/>
              <a:ext cx="1780093" cy="1244961"/>
            </a:xfrm>
            <a:prstGeom prst="rect">
              <a:avLst/>
            </a:prstGeom>
          </p:spPr>
        </p:pic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4E9E951A-1686-1BA0-0C27-1A95634FE251}"/>
                </a:ext>
              </a:extLst>
            </p:cNvPr>
            <p:cNvSpPr txBox="1"/>
            <p:nvPr/>
          </p:nvSpPr>
          <p:spPr>
            <a:xfrm>
              <a:off x="1398386" y="3006998"/>
              <a:ext cx="2599335" cy="139710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61722" tIns="30861" rIns="61722" bIns="30861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Manipulating Spatial Data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Web Mapping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Processing Raster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Data Analysis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Creating Custom Tool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Data Visualization</a:t>
              </a:r>
            </a:p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…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62C4BBB-C8AF-0C2E-003D-041C38530E1E}"/>
                </a:ext>
              </a:extLst>
            </p:cNvPr>
            <p:cNvSpPr txBox="1"/>
            <p:nvPr/>
          </p:nvSpPr>
          <p:spPr>
            <a:xfrm>
              <a:off x="1083112" y="1003039"/>
              <a:ext cx="3383819" cy="379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192882" algn="ctr">
                <a:buFont typeface="Arial" panose="020B0604020202020204" pitchFamily="34" charset="0"/>
                <a:buChar char="•"/>
              </a:pPr>
              <a:r>
                <a:rPr lang="en-US" sz="1620" b="1" dirty="0">
                  <a:solidFill>
                    <a:srgbClr val="C00000"/>
                  </a:solidFill>
                  <a:ea typeface="Calibri"/>
                  <a:cs typeface="Calibri"/>
                </a:rPr>
                <a:t>Python Programming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3E94D3-30AE-C12E-96D3-1950062CCE81}"/>
              </a:ext>
            </a:extLst>
          </p:cNvPr>
          <p:cNvGrpSpPr/>
          <p:nvPr/>
        </p:nvGrpSpPr>
        <p:grpSpPr>
          <a:xfrm>
            <a:off x="4541796" y="1102255"/>
            <a:ext cx="3378204" cy="3828951"/>
            <a:chOff x="5240120" y="1070263"/>
            <a:chExt cx="2634872" cy="325682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60BF7E-8DD8-C791-47D7-208077AA7CE0}"/>
                </a:ext>
              </a:extLst>
            </p:cNvPr>
            <p:cNvSpPr txBox="1"/>
            <p:nvPr/>
          </p:nvSpPr>
          <p:spPr>
            <a:xfrm>
              <a:off x="5240120" y="1070263"/>
              <a:ext cx="2634872" cy="35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92882" indent="-192882" algn="ctr">
                <a:buFont typeface="Arial" panose="020B0604020202020204" pitchFamily="34" charset="0"/>
                <a:buChar char="•"/>
              </a:pPr>
              <a:r>
                <a:rPr lang="en-US" sz="1620" b="1" dirty="0">
                  <a:solidFill>
                    <a:srgbClr val="C00000"/>
                  </a:solidFill>
                  <a:ea typeface="Calibri"/>
                  <a:cs typeface="Calibri"/>
                </a:rPr>
                <a:t>Spatial Database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6F197EC-6548-1DC8-10BA-2211E4DEB56A}"/>
                </a:ext>
              </a:extLst>
            </p:cNvPr>
            <p:cNvSpPr txBox="1"/>
            <p:nvPr/>
          </p:nvSpPr>
          <p:spPr>
            <a:xfrm>
              <a:off x="5591120" y="2965788"/>
              <a:ext cx="2283872" cy="1361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G</a:t>
              </a:r>
              <a:r>
                <a:rPr lang="en-US" altLang="zh-CN" sz="1400" b="1" dirty="0">
                  <a:ea typeface="Calibri"/>
                  <a:cs typeface="Calibri"/>
                </a:rPr>
                <a:t>eodatabase</a:t>
              </a:r>
              <a:endParaRPr lang="en-US" sz="1400" b="1" dirty="0">
                <a:ea typeface="Calibri"/>
                <a:cs typeface="Calibri"/>
              </a:endParaRPr>
            </a:p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SQL</a:t>
              </a:r>
            </a:p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Proximity Analysis</a:t>
              </a:r>
            </a:p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Geometry processing</a:t>
              </a:r>
            </a:p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Raster processing</a:t>
              </a:r>
            </a:p>
            <a:p>
              <a:pPr marL="231458" indent="-231458">
                <a:buAutoNum type="arabicPeriod"/>
              </a:pPr>
              <a:r>
                <a:rPr lang="en-US" sz="1400" b="1" dirty="0" err="1">
                  <a:ea typeface="Calibri"/>
                  <a:cs typeface="Calibri"/>
                </a:rPr>
                <a:t>PostSQL</a:t>
              </a:r>
              <a:r>
                <a:rPr lang="en-US" sz="1400" b="1" dirty="0">
                  <a:ea typeface="Calibri"/>
                  <a:cs typeface="Calibri"/>
                </a:rPr>
                <a:t> with python</a:t>
              </a:r>
            </a:p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…</a:t>
              </a:r>
            </a:p>
          </p:txBody>
        </p:sp>
      </p:grpSp>
      <p:pic>
        <p:nvPicPr>
          <p:cNvPr id="24" name="Picture 23">
            <a:hlinkClick r:id="rId4"/>
            <a:extLst>
              <a:ext uri="{FF2B5EF4-FFF2-40B4-BE49-F238E27FC236}">
                <a16:creationId xmlns:a16="http://schemas.microsoft.com/office/drawing/2014/main" id="{EF314FA9-B4A1-435E-25BE-703EAF37F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922" y="1579160"/>
            <a:ext cx="1370277" cy="139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6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9EC9-9C6E-D7FF-80F3-0A1231D3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684"/>
            <a:ext cx="4175303" cy="647486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Past Teaching Experience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9D38E-F261-1D05-9EEB-24F06A6BE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57DAD1-48AB-8A4C-A054-135C0212BAAD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658443" y="943200"/>
            <a:ext cx="3718245" cy="3682148"/>
            <a:chOff x="1083112" y="1003039"/>
            <a:chExt cx="3383819" cy="3494251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CCD09171-EE3F-331B-B7A6-3ABCFF5A58ED}"/>
                </a:ext>
              </a:extLst>
            </p:cNvPr>
            <p:cNvSpPr txBox="1"/>
            <p:nvPr/>
          </p:nvSpPr>
          <p:spPr>
            <a:xfrm>
              <a:off x="1398386" y="3006998"/>
              <a:ext cx="2599335" cy="14902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61722" tIns="30861" rIns="61722" bIns="30861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HTML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CSS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JS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Python Web Mapping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R Web Mapping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ArcGIS Maps for JavaScript</a:t>
              </a:r>
            </a:p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…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83112" y="1003039"/>
              <a:ext cx="3383819" cy="379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192882" algn="ctr">
                <a:buFont typeface="Arial" panose="020B0604020202020204" pitchFamily="34" charset="0"/>
                <a:buChar char="•"/>
              </a:pPr>
              <a:r>
                <a:rPr lang="en-US" sz="1620" b="1" dirty="0">
                  <a:solidFill>
                    <a:srgbClr val="C00000"/>
                  </a:solidFill>
                  <a:ea typeface="Calibri"/>
                  <a:cs typeface="Calibri"/>
                </a:rPr>
                <a:t>Web Mapping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849587" y="943201"/>
            <a:ext cx="2659200" cy="3658140"/>
            <a:chOff x="5240120" y="1070263"/>
            <a:chExt cx="2634872" cy="3585274"/>
          </a:xfrm>
        </p:grpSpPr>
        <p:sp>
          <p:nvSpPr>
            <p:cNvPr id="7" name="TextBox 6"/>
            <p:cNvSpPr txBox="1"/>
            <p:nvPr/>
          </p:nvSpPr>
          <p:spPr>
            <a:xfrm>
              <a:off x="5240120" y="1070263"/>
              <a:ext cx="2634872" cy="35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92882" indent="-192882" algn="ctr">
                <a:buFont typeface="Arial" panose="020B0604020202020204" pitchFamily="34" charset="0"/>
                <a:buChar char="•"/>
              </a:pPr>
              <a:r>
                <a:rPr lang="en-US" sz="1620" b="1" dirty="0">
                  <a:solidFill>
                    <a:srgbClr val="C00000"/>
                  </a:solidFill>
                  <a:ea typeface="Calibri"/>
                  <a:cs typeface="Calibri"/>
                </a:rPr>
                <a:t>Intermediate Statistics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57555" y="2969871"/>
              <a:ext cx="1981132" cy="1685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Bivariate regression</a:t>
              </a:r>
            </a:p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Logistics regression</a:t>
              </a:r>
            </a:p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PCA </a:t>
              </a:r>
            </a:p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GWR</a:t>
              </a:r>
            </a:p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Spatial Autocorrelation</a:t>
              </a:r>
            </a:p>
            <a:p>
              <a:pPr marL="231458" indent="-231458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…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281C90-6135-3336-D57C-FB2A58B31548}"/>
              </a:ext>
            </a:extLst>
          </p:cNvPr>
          <p:cNvGrpSpPr/>
          <p:nvPr/>
        </p:nvGrpSpPr>
        <p:grpSpPr>
          <a:xfrm>
            <a:off x="5665705" y="1327172"/>
            <a:ext cx="1543121" cy="1338162"/>
            <a:chOff x="4695395" y="1409700"/>
            <a:chExt cx="1735299" cy="1723243"/>
          </a:xfrm>
        </p:grpSpPr>
        <p:pic>
          <p:nvPicPr>
            <p:cNvPr id="11" name="Graphic 10" descr="Statistics with solid fill">
              <a:extLst>
                <a:ext uri="{FF2B5EF4-FFF2-40B4-BE49-F238E27FC236}">
                  <a16:creationId xmlns:a16="http://schemas.microsoft.com/office/drawing/2014/main" id="{E7D4427E-98E7-14C0-1E5C-5344540BB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16294" y="2218543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Bar chart with solid fill">
              <a:extLst>
                <a:ext uri="{FF2B5EF4-FFF2-40B4-BE49-F238E27FC236}">
                  <a16:creationId xmlns:a16="http://schemas.microsoft.com/office/drawing/2014/main" id="{1DC0D482-809A-59EF-0102-E7949B9F3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22457" y="2218543"/>
              <a:ext cx="914400" cy="914400"/>
            </a:xfrm>
            <a:prstGeom prst="rect">
              <a:avLst/>
            </a:prstGeom>
          </p:spPr>
        </p:pic>
        <p:pic>
          <p:nvPicPr>
            <p:cNvPr id="15" name="Graphic 14" descr="Normal Distribution with solid fill">
              <a:extLst>
                <a:ext uri="{FF2B5EF4-FFF2-40B4-BE49-F238E27FC236}">
                  <a16:creationId xmlns:a16="http://schemas.microsoft.com/office/drawing/2014/main" id="{486717D2-11FF-1826-9DA6-A00173889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16294" y="1409700"/>
              <a:ext cx="914400" cy="914400"/>
            </a:xfrm>
            <a:prstGeom prst="rect">
              <a:avLst/>
            </a:prstGeom>
          </p:spPr>
        </p:pic>
        <p:pic>
          <p:nvPicPr>
            <p:cNvPr id="17" name="Graphic 16" descr="Pie chart with solid fill">
              <a:hlinkClick r:id="rId8"/>
              <a:extLst>
                <a:ext uri="{FF2B5EF4-FFF2-40B4-BE49-F238E27FC236}">
                  <a16:creationId xmlns:a16="http://schemas.microsoft.com/office/drawing/2014/main" id="{C9E58EB2-93FA-0BD8-A274-B216CD22C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95395" y="1437636"/>
              <a:ext cx="914400" cy="914400"/>
            </a:xfrm>
            <a:prstGeom prst="rect">
              <a:avLst/>
            </a:prstGeom>
          </p:spPr>
        </p:pic>
      </p:grpSp>
      <p:pic>
        <p:nvPicPr>
          <p:cNvPr id="16" name="Picture 15">
            <a:hlinkClick r:id="rId11"/>
            <a:extLst>
              <a:ext uri="{FF2B5EF4-FFF2-40B4-BE49-F238E27FC236}">
                <a16:creationId xmlns:a16="http://schemas.microsoft.com/office/drawing/2014/main" id="{1AB815ED-0AAC-1FA1-97BF-EA617314366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58088" y="1368155"/>
            <a:ext cx="1476349" cy="153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84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BE424-2297-9ACA-DC88-8BAC277A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225"/>
            <a:ext cx="3924300" cy="857250"/>
          </a:xfrm>
        </p:spPr>
        <p:txBody>
          <a:bodyPr/>
          <a:lstStyle/>
          <a:p>
            <a:r>
              <a:rPr lang="en-US" sz="4000" dirty="0">
                <a:solidFill>
                  <a:srgbClr val="7030A0"/>
                </a:solidFill>
              </a:rPr>
              <a:t>Teaching in UCA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41843-1C0F-E18D-286A-990650329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57DAD1-48AB-8A4C-A054-135C0212BAAD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576419-FD74-3253-EBF1-6D12FA38F8AA}"/>
              </a:ext>
            </a:extLst>
          </p:cNvPr>
          <p:cNvGrpSpPr/>
          <p:nvPr/>
        </p:nvGrpSpPr>
        <p:grpSpPr>
          <a:xfrm>
            <a:off x="431625" y="977502"/>
            <a:ext cx="3718245" cy="3682148"/>
            <a:chOff x="1083112" y="1003039"/>
            <a:chExt cx="3383819" cy="34942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1E9C54-F804-94AC-2895-B620901A7B39}"/>
                </a:ext>
              </a:extLst>
            </p:cNvPr>
            <p:cNvSpPr txBox="1"/>
            <p:nvPr/>
          </p:nvSpPr>
          <p:spPr>
            <a:xfrm>
              <a:off x="1398386" y="3006998"/>
              <a:ext cx="2599335" cy="14902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61722" tIns="30861" rIns="61722" bIns="30861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Spatial Data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GIS software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Geodatabase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Cartography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Raster</a:t>
              </a:r>
            </a:p>
            <a:p>
              <a:pPr marL="308610" indent="-308610">
                <a:buFontTx/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Programming in GIS</a:t>
              </a:r>
            </a:p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…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C4747F-7112-C5E9-CE4E-F9EC29E44180}"/>
                </a:ext>
              </a:extLst>
            </p:cNvPr>
            <p:cNvSpPr txBox="1"/>
            <p:nvPr/>
          </p:nvSpPr>
          <p:spPr>
            <a:xfrm>
              <a:off x="1083112" y="1003039"/>
              <a:ext cx="3383819" cy="324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192882" algn="ctr">
                <a:buFont typeface="Arial" panose="020B0604020202020204" pitchFamily="34" charset="0"/>
                <a:buChar char="•"/>
              </a:pPr>
              <a:r>
                <a:rPr lang="en-US" sz="1620" b="1" dirty="0">
                  <a:solidFill>
                    <a:srgbClr val="C00000"/>
                  </a:solidFill>
                  <a:ea typeface="Calibri"/>
                  <a:cs typeface="Calibri"/>
                </a:rPr>
                <a:t>GIS I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1A5D3C-BD73-77F6-7771-50EE38C03519}"/>
              </a:ext>
            </a:extLst>
          </p:cNvPr>
          <p:cNvGrpSpPr/>
          <p:nvPr/>
        </p:nvGrpSpPr>
        <p:grpSpPr>
          <a:xfrm>
            <a:off x="4149870" y="916469"/>
            <a:ext cx="3718245" cy="3743180"/>
            <a:chOff x="1083112" y="945120"/>
            <a:chExt cx="3383819" cy="355216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E6188D0-CF1F-C66A-1505-D6604AD7E86D}"/>
                </a:ext>
              </a:extLst>
            </p:cNvPr>
            <p:cNvSpPr txBox="1"/>
            <p:nvPr/>
          </p:nvSpPr>
          <p:spPr>
            <a:xfrm>
              <a:off x="1745664" y="3006995"/>
              <a:ext cx="2599335" cy="14902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61722" tIns="30861" rIns="61722" bIns="30861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GPS</a:t>
              </a:r>
            </a:p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Drone</a:t>
              </a:r>
            </a:p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Esri Mobile App</a:t>
              </a:r>
            </a:p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Field Map</a:t>
              </a:r>
            </a:p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Survey 123</a:t>
              </a:r>
            </a:p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ArcGIS Dashboard</a:t>
              </a:r>
            </a:p>
            <a:p>
              <a:pPr marL="308610" indent="-308610">
                <a:buAutoNum type="arabicPeriod"/>
              </a:pPr>
              <a:r>
                <a:rPr lang="en-US" sz="1400" b="1" dirty="0">
                  <a:ea typeface="Calibri"/>
                  <a:cs typeface="Calibri"/>
                </a:rPr>
                <a:t>…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63072A2-8947-ABD4-3B68-502B1C00C412}"/>
                </a:ext>
              </a:extLst>
            </p:cNvPr>
            <p:cNvSpPr txBox="1"/>
            <p:nvPr/>
          </p:nvSpPr>
          <p:spPr>
            <a:xfrm>
              <a:off x="1083112" y="945120"/>
              <a:ext cx="3383819" cy="324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192882" algn="ctr">
                <a:buFont typeface="Arial" panose="020B0604020202020204" pitchFamily="34" charset="0"/>
                <a:buChar char="•"/>
              </a:pPr>
              <a:r>
                <a:rPr lang="en-US" sz="1620" b="1" dirty="0">
                  <a:solidFill>
                    <a:srgbClr val="C00000"/>
                  </a:solidFill>
                  <a:ea typeface="Calibri"/>
                  <a:cs typeface="Calibri"/>
                </a:rPr>
                <a:t>Geographic Field Techniques</a:t>
              </a:r>
            </a:p>
          </p:txBody>
        </p:sp>
      </p:grpSp>
      <p:pic>
        <p:nvPicPr>
          <p:cNvPr id="14" name="Picture 13">
            <a:hlinkClick r:id="rId2"/>
            <a:extLst>
              <a:ext uri="{FF2B5EF4-FFF2-40B4-BE49-F238E27FC236}">
                <a16:creationId xmlns:a16="http://schemas.microsoft.com/office/drawing/2014/main" id="{E1101B97-1229-198B-6D25-6C2E2723B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193" y="1234680"/>
            <a:ext cx="1659109" cy="1639200"/>
          </a:xfrm>
          <a:prstGeom prst="rect">
            <a:avLst/>
          </a:prstGeom>
        </p:spPr>
      </p:pic>
      <p:pic>
        <p:nvPicPr>
          <p:cNvPr id="16" name="Picture 15">
            <a:hlinkClick r:id="rId4"/>
            <a:extLst>
              <a:ext uri="{FF2B5EF4-FFF2-40B4-BE49-F238E27FC236}">
                <a16:creationId xmlns:a16="http://schemas.microsoft.com/office/drawing/2014/main" id="{3937F835-7F80-8F4F-6301-9A4F98A48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3120" y="1319134"/>
            <a:ext cx="1659109" cy="14582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29269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Research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463A92E3-4BED-4C3C-ADD3-9836AC2A02C8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hlinkClick r:id="rId3"/>
              </a:rPr>
              <a:t>Repetitive Pattern of Traffic Accidents in City of Dallas, TX</a:t>
            </a: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B5E191-BD6A-9449-2B82-DBB790936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714" y="1562374"/>
            <a:ext cx="5855018" cy="334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4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Research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463A92E3-4BED-4C3C-ADD3-9836AC2A02C8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3175287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Local Environments Drive Opportunities for Social Events?</a:t>
            </a: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911795-23DA-4FE8-9573-C04E4B81EA37}"/>
              </a:ext>
            </a:extLst>
          </p:cNvPr>
          <p:cNvSpPr txBox="1"/>
          <p:nvPr/>
        </p:nvSpPr>
        <p:spPr>
          <a:xfrm>
            <a:off x="4769433" y="4801302"/>
            <a:ext cx="3145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Funded by NASA </a:t>
            </a:r>
            <a:r>
              <a:rPr lang="en-US" sz="1200" dirty="0" err="1">
                <a:solidFill>
                  <a:srgbClr val="7030A0"/>
                </a:solidFill>
              </a:rPr>
              <a:t>EPSCoR</a:t>
            </a:r>
            <a:endParaRPr lang="en-US" sz="1200" dirty="0">
              <a:solidFill>
                <a:srgbClr val="7030A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1E5EF5-23A8-AFF6-D196-22DA02A7E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810" y="1029962"/>
            <a:ext cx="3942528" cy="398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99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Research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82B5B5-9111-47F4-3FBB-C309B346F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983" y="1105929"/>
            <a:ext cx="5449486" cy="353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1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Research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57AAF2BE-A0B7-4F0B-85C2-A3E4439D9C4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Sanborn Historical Map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13E708-9460-7DBC-ACAA-1E9FA46757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2205"/>
          <a:stretch>
            <a:fillRect/>
          </a:stretch>
        </p:blipFill>
        <p:spPr>
          <a:xfrm>
            <a:off x="302741" y="2042598"/>
            <a:ext cx="1559685" cy="18609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BBB0F7-4FE4-2E43-EC5D-67EADE7FD1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042" r="40750"/>
          <a:stretch>
            <a:fillRect/>
          </a:stretch>
        </p:blipFill>
        <p:spPr>
          <a:xfrm>
            <a:off x="2159464" y="2042598"/>
            <a:ext cx="1684675" cy="17700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C609DB-C691-27B2-13DB-D50241A6D6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981" r="20811"/>
          <a:stretch>
            <a:fillRect/>
          </a:stretch>
        </p:blipFill>
        <p:spPr>
          <a:xfrm>
            <a:off x="4069887" y="2042597"/>
            <a:ext cx="1731348" cy="1770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B54406-07E3-BF92-0E47-0A44F05B14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811"/>
          <a:stretch>
            <a:fillRect/>
          </a:stretch>
        </p:blipFill>
        <p:spPr>
          <a:xfrm>
            <a:off x="5897880" y="2042598"/>
            <a:ext cx="1613385" cy="17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7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About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A7A860E1-7EF7-42D9-969A-5DD5BFC52179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400" dirty="0"/>
              <a:t>Your background (e.g., name, major)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Share something from your summer break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ea typeface="ＭＳ Ｐゴシック"/>
              </a:rPr>
              <a:t>What relevant experience do you have with Geographic Field Techniques?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What are your expectations for this course?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67251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Book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400" dirty="0"/>
              <a:t>Getting to know Mobile GIS by </a:t>
            </a:r>
            <a:r>
              <a:rPr lang="en-US" sz="2400" dirty="0" err="1"/>
              <a:t>Pinde</a:t>
            </a:r>
            <a:r>
              <a:rPr lang="en-US" sz="2400" dirty="0"/>
              <a:t> Fu (ISBN: 9781589487079)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400" dirty="0"/>
              <a:t>Getting to Know Web GIS, by </a:t>
            </a:r>
            <a:r>
              <a:rPr lang="en-US" sz="2400" dirty="0" err="1"/>
              <a:t>Pinde</a:t>
            </a:r>
            <a:r>
              <a:rPr lang="en-US" sz="2400" dirty="0"/>
              <a:t> Fu (Esri Press, 5th Edition, ISBN: 9781589487079)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160" b="0" i="1" u="none" strike="noStrike" baseline="0" dirty="0">
              <a:solidFill>
                <a:srgbClr val="00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5312BD-3271-5EE5-44A3-504C376A0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525" y="2957857"/>
            <a:ext cx="1583075" cy="2083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372B81-BFB5-103D-6CF0-FCBDE3621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638" y="3087699"/>
            <a:ext cx="1474762" cy="193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42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7FF37-15E6-C537-97A9-CD1A22D98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1A564AA3-3788-A96A-1144-500C1C5F3A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Book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400" dirty="0"/>
              <a:t>Understanding GPS: Principles and Applications edited by Elliott D. Kaplan and Christopher J. Hegarty (ISBN-10: 1580538940; ISBN-13: 9781580538947)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400" dirty="0"/>
              <a:t>Fundamentals of Capturing and Processing Drone Imagery and Data edited by Amy E. Frazier and Kunwar K. Singh (ISBN 9780367245726)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160" b="0" i="1" u="none" strike="noStrike" baseline="0" dirty="0">
              <a:solidFill>
                <a:srgbClr val="00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FC3A348-3471-687B-F8B3-7E1AF9341BAC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50D79F3D-596C-563D-610F-48EC9E593791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B54E54-17F2-0F66-0672-B06CA4637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04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Software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ArcGIS online account, provided by Geography department</a:t>
            </a:r>
          </a:p>
          <a:p>
            <a:r>
              <a:rPr lang="en-US" dirty="0"/>
              <a:t>ArcGIS Pro 3.0, provided by Geography department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46325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 fontScale="925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Course Structure (4-credit)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Lecture (</a:t>
            </a:r>
            <a:r>
              <a:rPr lang="en-US" altLang="en-US" sz="2160" dirty="0">
                <a:solidFill>
                  <a:srgbClr val="FF0000"/>
                </a:solidFill>
              </a:rPr>
              <a:t>T: 2:40- 3:55 pm</a:t>
            </a:r>
            <a:r>
              <a:rPr lang="en-US" altLang="en-US" sz="2160" dirty="0"/>
              <a:t>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Interactive and inclusive environment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Feel free at any time during lecture to ask a question and make a comment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FF0000"/>
                </a:solidFill>
              </a:rPr>
              <a:t>Lecture will be recorded and delivered to the students if necessary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Lab exercise (</a:t>
            </a:r>
            <a:r>
              <a:rPr lang="en-US" altLang="en-US" sz="2160" dirty="0">
                <a:solidFill>
                  <a:srgbClr val="FF0000"/>
                </a:solidFill>
              </a:rPr>
              <a:t>R: 2:40 – 3:55 pm</a:t>
            </a:r>
            <a:r>
              <a:rPr lang="en-US" altLang="en-US" sz="2160" dirty="0"/>
              <a:t>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Work individually on the in-class exercise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Guidance will be provided; demonstration will be provided if necessary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When submit exercise, </a:t>
            </a:r>
            <a:r>
              <a:rPr lang="en-US" altLang="en-US" sz="1800" dirty="0">
                <a:solidFill>
                  <a:srgbClr val="FF0000"/>
                </a:solidFill>
              </a:rPr>
              <a:t>copy questions in the lab and provide answers in a word file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Feel free at any time to ask a question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90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Rectangle 1027">
            <a:extLst>
              <a:ext uri="{FF2B5EF4-FFF2-40B4-BE49-F238E27FC236}">
                <a16:creationId xmlns:a16="http://schemas.microsoft.com/office/drawing/2014/main" id="{9B50EC7D-1990-45FB-B234-924424D0F885}"/>
              </a:ext>
            </a:extLst>
          </p:cNvPr>
          <p:cNvSpPr txBox="1">
            <a:spLocks noChangeArrowheads="1"/>
          </p:cNvSpPr>
          <p:nvPr/>
        </p:nvSpPr>
        <p:spPr>
          <a:xfrm>
            <a:off x="313038" y="1017985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8610" lvl="1" indent="-30861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rgbClr val="7030A0"/>
                </a:solidFill>
              </a:rPr>
              <a:t>Course Structure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Final project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FF0000"/>
                </a:solidFill>
              </a:rPr>
              <a:t>For 4-credit version of this course only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Design your own research, get your own data, process the data, generate maps, and write a final report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FF0000"/>
                </a:solidFill>
              </a:rPr>
              <a:t>You can refer to the previous exercise to get help</a:t>
            </a:r>
          </a:p>
          <a:p>
            <a:pPr marL="822960" lvl="2" indent="0">
              <a:buFont typeface="Arial"/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79574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F948-1391-C507-138A-202C908F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8EB9F21-6859-61F0-7E60-777B73960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</a:rPr>
              <a:t>Oct. 13-17</a:t>
            </a:r>
            <a:endParaRPr lang="en-US" altLang="en-US" sz="2400" dirty="0">
              <a:solidFill>
                <a:srgbClr val="7030A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Arkansas GIS User Forum: no class &amp; lab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</a:rPr>
              <a:t>Oct. 27-31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1800" dirty="0"/>
              <a:t>SWAAG conference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</a:rPr>
              <a:t>Nov. 24-28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Thanksgiving Break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</a:rPr>
              <a:t>Dec. 1-5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Project analysis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</a:rPr>
              <a:t>Dec. 8-12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Final Presentation</a:t>
            </a:r>
            <a:endParaRPr lang="en-US" altLang="en-US" sz="1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8788B1-71EC-6FF7-28CB-CE36FC175F12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0BF24D8-F439-FD67-9AD0-E67EEDEEB69A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Schedule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DB479D-45D1-9FCE-FF3A-2F4E8771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0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Grading (20% later deduction)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040" dirty="0">
                <a:solidFill>
                  <a:srgbClr val="7030A0"/>
                </a:solidFill>
              </a:rPr>
              <a:t>4-credit version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7030A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F44769-B528-09C4-F300-D11A48EBA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55" y="2234259"/>
            <a:ext cx="7406465" cy="210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93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DC0D-A1A4-B04C-414B-81D5E3ED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8458597D-5E75-3311-9745-AC7A4E8ED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Grading (20% later deduction)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040" dirty="0">
                <a:solidFill>
                  <a:srgbClr val="7030A0"/>
                </a:solidFill>
              </a:rPr>
              <a:t>4-credit version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7030A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CD24B5-052A-4AE8-8ED0-7AAE78AEBAA8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AE0CB67-894F-1086-CDE5-2E95295A1B4B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B41C45-0A56-73F6-E4FA-5718B7BA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3C49CF-58C1-6A76-53F1-FCD73648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03" y="2115547"/>
            <a:ext cx="7344000" cy="171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14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b="0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</a:rPr>
              <a:t>Late penalty for lab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1700" dirty="0"/>
              <a:t>Labs that are not turned in by the due date can be turned in up to 2 days late with a 20% penalty. Labs will not be accepted after this 2-day period.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ü"/>
            </a:pPr>
            <a:endParaRPr lang="en-US" sz="1700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ü"/>
            </a:pPr>
            <a:endParaRPr lang="en-US" sz="1700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ü"/>
            </a:pPr>
            <a:endParaRPr lang="en-US" sz="1700" dirty="0"/>
          </a:p>
          <a:p>
            <a:pPr marL="308610" lvl="1" indent="-308610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Final presentation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1700" dirty="0"/>
              <a:t> The final presentation cannot be rescheduled. You are expected to do the final presentation at the time specified.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24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Attendance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b="0" i="0" u="none" strike="noStrike" baseline="0" dirty="0"/>
              <a:t>Prolonged absence from class will inhibit your understanding of the lecture material and prevent you from receiving help on </a:t>
            </a:r>
            <a:r>
              <a:rPr lang="en-US" sz="1800" dirty="0"/>
              <a:t>assignments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b="0" i="0" u="none" strike="noStrike" baseline="0" dirty="0"/>
              <a:t>W</a:t>
            </a:r>
            <a:r>
              <a:rPr lang="en-US" sz="1800" dirty="0"/>
              <a:t>e may do some bonus exercises during the class time. If you are not shown up, you simply lose it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FF0000"/>
                </a:solidFill>
              </a:rPr>
              <a:t>Up to 3 times of absence may result in moving out from this class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b="0" i="0" u="none" strike="noStrike" baseline="0" dirty="0">
                <a:solidFill>
                  <a:srgbClr val="FF0000"/>
                </a:solidFill>
              </a:rPr>
              <a:t>If you cannot attend class, please contact me before </a:t>
            </a:r>
            <a:r>
              <a:rPr lang="en-US" sz="1800" dirty="0">
                <a:solidFill>
                  <a:srgbClr val="FF0000"/>
                </a:solidFill>
              </a:rPr>
              <a:t>class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S</a:t>
            </a:r>
            <a:r>
              <a:rPr lang="en-US" altLang="zh-CN" sz="1800" dirty="0"/>
              <a:t>ick leave is </a:t>
            </a:r>
            <a:r>
              <a:rPr lang="en-US" sz="1800" dirty="0"/>
              <a:t>acceptable, please contact me for re-arranging lab exercise etc.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12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D7BC-57A2-6CC3-34C0-2D910AE2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3310596E-1FD9-9A86-F536-385959BCEF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Feedback Response Time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The instructor generally replies to emails within 48 hours, except during holidays.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Often the instructor replies much more quickly, but you should not count on a same-day reply.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Please plan accordingly so that you don’t miss deadlines.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925B93-80DD-A511-3E40-580BCF48D55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52AEE81-71E3-866B-D8DA-3C91ED943753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58F261-096C-5B4D-24C5-7D4CD566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40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8F739-5C26-984B-8985-363636E34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D59C2BAF-B401-7319-2C3B-7F3FA8242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 fontScale="77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400" dirty="0">
                <a:solidFill>
                  <a:srgbClr val="7030A0"/>
                </a:solidFill>
                <a:latin typeface="Times New Roman" panose="02020603050405020304" pitchFamily="18" charset="0"/>
              </a:rPr>
              <a:t>Classroom Etiquette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900" dirty="0"/>
              <a:t>Switch cell phones off and place them out of view. Do not use phones during class. Resist the impulse!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900" dirty="0"/>
              <a:t>Computers are permitted for notetaking only.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900" dirty="0"/>
              <a:t>Do not sleep in class or leave once a lecture has started.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900" dirty="0"/>
              <a:t>Do not pack up and prepare to leave until the instructor has indicated that class is over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900" dirty="0"/>
              <a:t>No </a:t>
            </a:r>
            <a:r>
              <a:rPr lang="en-US" sz="2900" dirty="0" err="1"/>
              <a:t>eCigarettes</a:t>
            </a:r>
            <a:r>
              <a:rPr lang="en-US" sz="2900" dirty="0"/>
              <a:t> permitted in the classroom.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900" dirty="0"/>
              <a:t>You are encouraged to think critically and ask stimulating questions, but always respect your fellow students and your instructor.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6B7424-FD99-97FD-3E8C-A06F4F883DEC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07FD538-F615-36C3-5FE7-8697351CB9A6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5AC185-4EAA-67A0-0C0E-BCE2DADA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97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F32F8-8C2F-82B0-DE02-68D6FA39F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5113DA50-D3B5-5E49-701A-81917CEAF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rgbClr val="7030A0"/>
                </a:solidFill>
                <a:latin typeface="Times New Roman" panose="02020603050405020304" pitchFamily="18" charset="0"/>
              </a:rPr>
              <a:t>Evaluations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00" dirty="0"/>
              <a:t>Student evaluations of a course and its professor are a crucial element in helping faculty achieve excellence in the classroom and the institution in demonstrating that students are gaining knowledge.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00" dirty="0"/>
              <a:t>Students will receive evaluation notification from university.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1EDB53-5F64-0F10-03B8-438225F76E7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305B8C4-3D07-CC6A-D166-FAB0C5694486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60A76B-B0BE-B212-E611-88A691B0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21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Structure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In-person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Lecture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Lab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Final presentation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Office hour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440" dirty="0"/>
              <a:t>MW 10:00 am to 11:50 am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440" dirty="0"/>
              <a:t>Location: Lewis 154</a:t>
            </a:r>
            <a:endParaRPr lang="en-US" altLang="en-US" sz="1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>
                <a:solidFill>
                  <a:srgbClr val="FF0000"/>
                </a:solidFill>
              </a:rPr>
              <a:t>May Change!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Please regularly check your Blackboard and or email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4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4113538"/>
          </a:xfrm>
        </p:spPr>
        <p:txBody>
          <a:bodyPr>
            <a:normAutofit fontScale="550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b="0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</a:rPr>
              <a:t>After this course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500" dirty="0"/>
              <a:t>explain Mobile GIS, and Web GIS principles and concepts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500" dirty="0"/>
              <a:t>collect spatial data using cell phone through Field Map and Suvey123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500" dirty="0"/>
              <a:t>implement field data into GIS software (Esri ArcGIS)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500" dirty="0"/>
              <a:t>understand the integration of technology and teamwork in Mobile GIS operations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500" dirty="0"/>
              <a:t>produce maps using ArcGIS online mapping technique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500" dirty="0"/>
              <a:t>understand ArcGIS Living Atlas contents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500" dirty="0"/>
              <a:t>Create multiple dynamic maps using ArcGIS </a:t>
            </a:r>
            <a:r>
              <a:rPr lang="en-US" sz="3500" dirty="0" err="1"/>
              <a:t>StoryMaps</a:t>
            </a:r>
            <a:r>
              <a:rPr lang="en-US" sz="3500" dirty="0"/>
              <a:t> and 3D Web Scene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500" dirty="0"/>
              <a:t>Explain GNSS principles and concepts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500" dirty="0"/>
              <a:t>fly UAV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500" dirty="0"/>
              <a:t>process UAV image using GIS software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39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Contact Info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60" dirty="0"/>
              <a:t>Lewis 154</a:t>
            </a:r>
            <a:endParaRPr lang="en-US" altLang="en-US" sz="216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Office Hour: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MW 10:00-11:50 am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Email: ywu@uca.edu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420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9" name="Rectangle 1027">
            <a:extLst>
              <a:ext uri="{FF2B5EF4-FFF2-40B4-BE49-F238E27FC236}">
                <a16:creationId xmlns:a16="http://schemas.microsoft.com/office/drawing/2014/main" id="{71B653C7-50F3-46BF-B6EC-D3E2A110440E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Place for slides, and submitting lab exercise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1ECC6-58DF-C836-F33A-567AD39FF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1" y="1753369"/>
            <a:ext cx="7473600" cy="191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67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ackboard">
            <a:extLst>
              <a:ext uri="{FF2B5EF4-FFF2-40B4-BE49-F238E27FC236}">
                <a16:creationId xmlns:a16="http://schemas.microsoft.com/office/drawing/2014/main" id="{8DA39DDB-4219-F195-09BA-E99F1A879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475810"/>
            <a:ext cx="8077200" cy="2994504"/>
          </a:xfrm>
          <a:prstGeom prst="rect">
            <a:avLst/>
          </a:prstGeom>
        </p:spPr>
      </p:pic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Place for slides, and submitting lab exercise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4FF8D7-D348-4711-9A99-391B6C6D57D8}"/>
              </a:ext>
            </a:extLst>
          </p:cNvPr>
          <p:cNvSpPr/>
          <p:nvPr/>
        </p:nvSpPr>
        <p:spPr>
          <a:xfrm>
            <a:off x="221377" y="2792467"/>
            <a:ext cx="804003" cy="232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 descr="red box">
            <a:extLst>
              <a:ext uri="{FF2B5EF4-FFF2-40B4-BE49-F238E27FC236}">
                <a16:creationId xmlns:a16="http://schemas.microsoft.com/office/drawing/2014/main" id="{F50BCFE0-368A-473A-BC7C-ED5B5E7504EF}"/>
              </a:ext>
            </a:extLst>
          </p:cNvPr>
          <p:cNvSpPr/>
          <p:nvPr/>
        </p:nvSpPr>
        <p:spPr>
          <a:xfrm>
            <a:off x="1635919" y="4113538"/>
            <a:ext cx="1108802" cy="328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92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291FF39-F880-40B7-B53F-ED193CB12C5D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E6D08C77-A0BB-4C7C-A739-9DC074C9805B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Software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1FC749D7-5F19-41FF-9A92-F64FBCE89A9C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ArcGIS Pro installed on Mac/other computer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0066438C-C931-4F64-892C-2BDEBC269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87031"/>
            <a:ext cx="7406640" cy="2372061"/>
          </a:xfrm>
        </p:spPr>
        <p:txBody>
          <a:bodyPr>
            <a:normAutofit/>
          </a:bodyPr>
          <a:lstStyle/>
          <a:p>
            <a:pPr algn="l"/>
            <a:r>
              <a:rPr lang="sv-SE" sz="2200" dirty="0"/>
              <a:t>ESRI </a:t>
            </a:r>
            <a:r>
              <a:rPr lang="sv-SE" sz="2200" dirty="0">
                <a:hlinkClick r:id="rId2"/>
              </a:rPr>
              <a:t>https://pro.arcgis.com/en/pro-app/latest/get-started/run-pro-on-a-mac.htm</a:t>
            </a:r>
            <a:r>
              <a:rPr lang="sv-SE" sz="2200" dirty="0"/>
              <a:t> </a:t>
            </a:r>
            <a:br>
              <a:rPr lang="sv-SE" sz="2200" dirty="0"/>
            </a:br>
            <a:br>
              <a:rPr lang="sv-SE" sz="2200" dirty="0"/>
            </a:br>
            <a:r>
              <a:rPr lang="it-IT" sz="2200" dirty="0"/>
              <a:t>Harvard</a:t>
            </a:r>
            <a:br>
              <a:rPr lang="it-IT" sz="2200" dirty="0"/>
            </a:br>
            <a:r>
              <a:rPr lang="it-IT" sz="2200" dirty="0">
                <a:hlinkClick r:id="rId3"/>
              </a:rPr>
              <a:t>https://gis.harvard.edu/faq/how-installing-arcgis-desktop-or-pro-mac-computer</a:t>
            </a:r>
            <a:r>
              <a:rPr lang="it-IT" sz="2200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921C5-92AA-414D-B087-ABA3DC3FD5E2}"/>
              </a:ext>
            </a:extLst>
          </p:cNvPr>
          <p:cNvSpPr txBox="1"/>
          <p:nvPr/>
        </p:nvSpPr>
        <p:spPr>
          <a:xfrm>
            <a:off x="411480" y="1526963"/>
            <a:ext cx="579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084AC3-3029-40BA-9643-8DDC47CCE215}"/>
              </a:ext>
            </a:extLst>
          </p:cNvPr>
          <p:cNvSpPr txBox="1"/>
          <p:nvPr/>
        </p:nvSpPr>
        <p:spPr>
          <a:xfrm>
            <a:off x="411480" y="4437931"/>
            <a:ext cx="5795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PCs (e.g., Chromebook, Microsoft surface)</a:t>
            </a:r>
          </a:p>
          <a:p>
            <a:r>
              <a:rPr lang="en-US" dirty="0"/>
              <a:t>Please talk with/email to 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43DDA2-F949-4DD4-9259-8AC6FAA34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471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Software – ArcGIS Online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ArcGIS Online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Log in ArcGIS online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F30CA-F963-D0A1-5659-69E39774E5DE}"/>
              </a:ext>
            </a:extLst>
          </p:cNvPr>
          <p:cNvSpPr txBox="1"/>
          <p:nvPr/>
        </p:nvSpPr>
        <p:spPr>
          <a:xfrm>
            <a:off x="3546281" y="1506830"/>
            <a:ext cx="4134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https://uca.edu/geography/gis/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589F1C-88F2-57BD-F8B9-194DB4CA0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917" y="2004931"/>
            <a:ext cx="2725766" cy="26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46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0" y="1029962"/>
            <a:ext cx="7850659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ESRI ArcGIS Pro</a:t>
            </a:r>
            <a:endParaRPr lang="en-US" altLang="en-US" sz="2160" dirty="0"/>
          </a:p>
          <a:p>
            <a:pPr marL="411480" lvl="1" indent="0">
              <a:buNone/>
            </a:pPr>
            <a:endParaRPr lang="en-US" altLang="en-US" sz="21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Software – ArcGIS Pro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7" name="Picture 6" descr="ArcGIS Pro">
            <a:extLst>
              <a:ext uri="{FF2B5EF4-FFF2-40B4-BE49-F238E27FC236}">
                <a16:creationId xmlns:a16="http://schemas.microsoft.com/office/drawing/2014/main" id="{6E6C59CF-40DE-4BFA-989F-8B691C987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70632"/>
            <a:ext cx="3456875" cy="1725724"/>
          </a:xfrm>
          <a:prstGeom prst="rect">
            <a:avLst/>
          </a:prstGeom>
        </p:spPr>
      </p:pic>
      <p:pic>
        <p:nvPicPr>
          <p:cNvPr id="10" name="Picture 9" descr="ArcGIS Pro">
            <a:extLst>
              <a:ext uri="{FF2B5EF4-FFF2-40B4-BE49-F238E27FC236}">
                <a16:creationId xmlns:a16="http://schemas.microsoft.com/office/drawing/2014/main" id="{0EFE9027-4C7A-481C-B63C-2335038CB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937" y="2601420"/>
            <a:ext cx="4114800" cy="216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03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Software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ArcGIS Pro installed in your own PC </a:t>
            </a:r>
          </a:p>
        </p:txBody>
      </p:sp>
      <p:sp>
        <p:nvSpPr>
          <p:cNvPr id="9" name="Rectangle 8" descr="red box">
            <a:extLst>
              <a:ext uri="{FF2B5EF4-FFF2-40B4-BE49-F238E27FC236}">
                <a16:creationId xmlns:a16="http://schemas.microsoft.com/office/drawing/2014/main" id="{185F94B4-2F72-47BF-9FAA-D84683A8426A}"/>
              </a:ext>
            </a:extLst>
          </p:cNvPr>
          <p:cNvSpPr/>
          <p:nvPr/>
        </p:nvSpPr>
        <p:spPr>
          <a:xfrm>
            <a:off x="6332749" y="2130407"/>
            <a:ext cx="635619" cy="182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1E310E-E890-9AA0-2DA8-AB772F7A5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50" y="1634227"/>
            <a:ext cx="7679724" cy="287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79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Software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ArcGIS Pro installed in your own PC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191FDC-CE04-26B2-50AE-7C0D5AAE2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53" y="1410095"/>
            <a:ext cx="6718852" cy="325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01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rcGIS online">
            <a:extLst>
              <a:ext uri="{FF2B5EF4-FFF2-40B4-BE49-F238E27FC236}">
                <a16:creationId xmlns:a16="http://schemas.microsoft.com/office/drawing/2014/main" id="{4E1B8593-B5CA-4BCC-8DEC-72CAD8E5E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45" y="1523682"/>
            <a:ext cx="7106298" cy="339248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Software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ArcGIS Pro installed in your own PC</a:t>
            </a:r>
          </a:p>
        </p:txBody>
      </p:sp>
      <p:sp>
        <p:nvSpPr>
          <p:cNvPr id="6" name="Rectangle 5" descr="red box">
            <a:extLst>
              <a:ext uri="{FF2B5EF4-FFF2-40B4-BE49-F238E27FC236}">
                <a16:creationId xmlns:a16="http://schemas.microsoft.com/office/drawing/2014/main" id="{79844E2D-9994-4AE6-AF8D-CC66607003A7}"/>
              </a:ext>
            </a:extLst>
          </p:cNvPr>
          <p:cNvSpPr/>
          <p:nvPr/>
        </p:nvSpPr>
        <p:spPr>
          <a:xfrm>
            <a:off x="2219093" y="3681328"/>
            <a:ext cx="1449658" cy="2956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48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ArcGIS online account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0" name="Rectangle 1027">
            <a:extLst>
              <a:ext uri="{FF2B5EF4-FFF2-40B4-BE49-F238E27FC236}">
                <a16:creationId xmlns:a16="http://schemas.microsoft.com/office/drawing/2014/main" id="{F56A2858-C24B-4D23-AA5A-007F4E06D6E7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ArcGIS Pro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4CF7BE-17E0-CD5D-13FA-7D64105BA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827368"/>
            <a:ext cx="3121634" cy="2497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EB9B27-56FA-6016-C04C-82BFCD26F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7832" y="945489"/>
            <a:ext cx="5031768" cy="295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535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16C8C-F42B-6D1D-59C5-807AA1366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B1B4A3A-14F4-7DC1-B533-AACDBACA819C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DA4ACB8-6520-185E-D83C-F84022F6A9D3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Conference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B43793-0759-0C46-A2CA-9DB3319BA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B10539F2-AC0B-586F-F2A0-DA56A5E9591A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>
                <a:hlinkClick r:id="rId3"/>
              </a:rPr>
              <a:t>Arkansas GIS Users Forum</a:t>
            </a:r>
            <a:endParaRPr lang="en-US" altLang="en-US" sz="26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>
                <a:hlinkClick r:id="rId4"/>
              </a:rPr>
              <a:t>SWAAG Conference </a:t>
            </a:r>
            <a:endParaRPr lang="en-US" altLang="en-US" sz="26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240" dirty="0"/>
              <a:t>Student Competition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240" dirty="0" err="1"/>
              <a:t>Geobowl</a:t>
            </a:r>
            <a:endParaRPr lang="en-US" altLang="en-US" sz="2240" dirty="0"/>
          </a:p>
        </p:txBody>
      </p:sp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B8DE05EC-F9FE-F835-83A6-334D558814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625" y="1422555"/>
            <a:ext cx="2539176" cy="33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192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FBD4-BEB0-A762-13C7-7BE5D7F3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420106-E6A1-E13B-496B-983D9ECAC3A9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9A76896-E425-1588-3A2A-7B97EB40ABC0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Conference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2A1566-09CB-4EE0-D964-2F890203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0682DB40-B829-CEC2-B109-F107192AE34E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AAG Conference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240" dirty="0">
                <a:hlinkClick r:id="rId3"/>
              </a:rPr>
              <a:t>Awards and grants</a:t>
            </a:r>
            <a:endParaRPr lang="en-US" altLang="en-US" sz="224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F788BC-8B42-B754-0BB4-FF6163006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065" y="1938439"/>
            <a:ext cx="5126400" cy="304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527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305" y="1325254"/>
            <a:ext cx="3286989" cy="830997"/>
          </a:xfrm>
          <a:prstGeom prst="rect">
            <a:avLst/>
          </a:prstGeom>
          <a:noFill/>
        </p:spPr>
        <p:txBody>
          <a:bodyPr wrap="none" lIns="82296" tIns="41148" rIns="82296" bIns="41148">
            <a:spAutoFit/>
          </a:bodyPr>
          <a:lstStyle/>
          <a:p>
            <a:pPr algn="ctr"/>
            <a:r>
              <a:rPr lang="en-US" sz="4860" b="1" spc="18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8000">
                    <a:alpha val="50000"/>
                  </a:srgb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5726</TotalTime>
  <Words>1237</Words>
  <Application>Microsoft Office PowerPoint</Application>
  <PresentationFormat>Custom</PresentationFormat>
  <Paragraphs>297</Paragraphs>
  <Slides>39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Arila</vt:lpstr>
      <vt:lpstr>ＭＳ Ｐゴシック</vt:lpstr>
      <vt:lpstr>Arial</vt:lpstr>
      <vt:lpstr>Calibri</vt:lpstr>
      <vt:lpstr>Courier New</vt:lpstr>
      <vt:lpstr>Times New Roman</vt:lpstr>
      <vt:lpstr>Wingdings</vt:lpstr>
      <vt:lpstr>Office Theme</vt:lpstr>
      <vt:lpstr>GEOG 3319: Geographic Field Techniques</vt:lpstr>
      <vt:lpstr>PowerPoint Presentation</vt:lpstr>
      <vt:lpstr>PowerPoint Presentation</vt:lpstr>
      <vt:lpstr>Past Teaching Experience</vt:lpstr>
      <vt:lpstr>Past Teaching Experience</vt:lpstr>
      <vt:lpstr>Teaching in UCA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ESRI https://pro.arcgis.com/en/pro-app/latest/get-started/run-pro-on-a-mac.htm   Harvard https://gis.harvard.edu/faq/how-installing-arcgis-desktop-or-pro-mac-computer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Information Science Introduction</dc:title>
  <dc:creator>Yaqian He</dc:creator>
  <cp:lastModifiedBy>Yanan Wu</cp:lastModifiedBy>
  <cp:revision>305</cp:revision>
  <cp:lastPrinted>2020-03-26T12:59:04Z</cp:lastPrinted>
  <dcterms:created xsi:type="dcterms:W3CDTF">2020-03-24T14:51:54Z</dcterms:created>
  <dcterms:modified xsi:type="dcterms:W3CDTF">2025-08-21T13:43:01Z</dcterms:modified>
</cp:coreProperties>
</file>