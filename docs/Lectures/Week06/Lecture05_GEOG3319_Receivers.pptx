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2"/>
  </p:notesMasterIdLst>
  <p:sldIdLst>
    <p:sldId id="256" r:id="rId2"/>
    <p:sldId id="677" r:id="rId3"/>
    <p:sldId id="654" r:id="rId4"/>
    <p:sldId id="655" r:id="rId5"/>
    <p:sldId id="678" r:id="rId6"/>
    <p:sldId id="679" r:id="rId7"/>
    <p:sldId id="680" r:id="rId8"/>
    <p:sldId id="682" r:id="rId9"/>
    <p:sldId id="681" r:id="rId10"/>
    <p:sldId id="684" r:id="rId11"/>
    <p:sldId id="683" r:id="rId12"/>
    <p:sldId id="685" r:id="rId13"/>
    <p:sldId id="687" r:id="rId14"/>
    <p:sldId id="686" r:id="rId15"/>
    <p:sldId id="688" r:id="rId16"/>
    <p:sldId id="689" r:id="rId17"/>
    <p:sldId id="690" r:id="rId18"/>
    <p:sldId id="691" r:id="rId19"/>
    <p:sldId id="696" r:id="rId20"/>
    <p:sldId id="697" r:id="rId21"/>
    <p:sldId id="698" r:id="rId22"/>
    <p:sldId id="700" r:id="rId23"/>
    <p:sldId id="709" r:id="rId24"/>
    <p:sldId id="710" r:id="rId25"/>
    <p:sldId id="277" r:id="rId26"/>
    <p:sldId id="280" r:id="rId27"/>
    <p:sldId id="293" r:id="rId28"/>
    <p:sldId id="711" r:id="rId29"/>
    <p:sldId id="712" r:id="rId30"/>
    <p:sldId id="270" r:id="rId31"/>
  </p:sldIdLst>
  <p:sldSz cx="8229600" cy="51435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603" autoAdjust="0"/>
  </p:normalViewPr>
  <p:slideViewPr>
    <p:cSldViewPr snapToGrid="0" snapToObjects="1">
      <p:cViewPr varScale="1">
        <p:scale>
          <a:sx n="125" d="100"/>
          <a:sy n="125" d="100"/>
        </p:scale>
        <p:origin x="1554" y="9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9/14/2022</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google.com/url?sa=i&amp;url=https%3A%2F%2Fmercatorgps.com%2Frentals%2Fmarine%2Fcontrollers%2Ftrimble-tsc3-controller%2F&amp;psig=AOvVaw03mnZpcsUEroaOEj1nlWVz&amp;ust=1599000185398000&amp;source=images&amp;cd=vfe&amp;ved=0CAMQjB1qFwoTCJDZlILCxusCFQAAAAAdAAAAABAY"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en.wikipedia.org/wiki/Ampl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gssc.esa.int/navipedia/index.php/GPS_Signal_Plan#cite_note-GPS_SIS_ICD_800-3"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8" Type="http://schemas.openxmlformats.org/officeDocument/2006/relationships/hyperlink" Target="https://en.wikipedia.org/wiki/GNSS_augmentation#Satellite-based_augmentation_system" TargetMode="External"/><Relationship Id="rId13" Type="http://schemas.openxmlformats.org/officeDocument/2006/relationships/hyperlink" Target="https://en.wikipedia.org/wiki/Quasi-Zenith_Satellite_System#cite_note-1" TargetMode="External"/><Relationship Id="rId3" Type="http://schemas.openxmlformats.org/officeDocument/2006/relationships/hyperlink" Target="https://en.wikipedia.org/wiki/GPS" TargetMode="External"/><Relationship Id="rId7" Type="http://schemas.openxmlformats.org/officeDocument/2006/relationships/hyperlink" Target="https://en.wikipedia.org/wiki/Time_transfer" TargetMode="External"/><Relationship Id="rId12" Type="http://schemas.openxmlformats.org/officeDocument/2006/relationships/hyperlink" Target="https://en.wikipedia.org/wiki/Japan" TargetMode="External"/><Relationship Id="rId2" Type="http://schemas.openxmlformats.org/officeDocument/2006/relationships/slide" Target="../slides/slide25.xml"/><Relationship Id="rId1" Type="http://schemas.openxmlformats.org/officeDocument/2006/relationships/notesMaster" Target="../notesMasters/notesMaster1.xml"/><Relationship Id="rId6" Type="http://schemas.openxmlformats.org/officeDocument/2006/relationships/hyperlink" Target="https://gssc.esa.int/navipedia/index.php/MSAS_General_Introduction#cite_note-MSAS_STATUS_2007-1" TargetMode="External"/><Relationship Id="rId11" Type="http://schemas.openxmlformats.org/officeDocument/2006/relationships/hyperlink" Target="https://en.wikipedia.org/wiki/Asia-Pacific" TargetMode="External"/><Relationship Id="rId5" Type="http://schemas.openxmlformats.org/officeDocument/2006/relationships/hyperlink" Target="https://gssc.esa.int/navipedia/index.php/SBAS_General_Introduction" TargetMode="External"/><Relationship Id="rId15" Type="http://schemas.openxmlformats.org/officeDocument/2006/relationships/hyperlink" Target="https://gssc.esa.int/navipedia/index.php/SDCM#cite_note-SDCM_INGNSS-2" TargetMode="External"/><Relationship Id="rId10" Type="http://schemas.openxmlformats.org/officeDocument/2006/relationships/hyperlink" Target="https://en.wikipedia.org/wiki/Global_Positioning_System" TargetMode="External"/><Relationship Id="rId4" Type="http://schemas.openxmlformats.org/officeDocument/2006/relationships/hyperlink" Target="https://en.wikipedia.org/wiki/Galileo_(satellite_navigation)" TargetMode="External"/><Relationship Id="rId9" Type="http://schemas.openxmlformats.org/officeDocument/2006/relationships/hyperlink" Target="https://en.wikipedia.org/wiki/Japanese_government" TargetMode="External"/><Relationship Id="rId14" Type="http://schemas.openxmlformats.org/officeDocument/2006/relationships/hyperlink" Target="https://gssc.esa.int/navipedia/index.php/SDCM#cite_note-SDCM_WEB-1" TargetMode="Externa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1</a:t>
            </a:fld>
            <a:endParaRPr lang="en-US"/>
          </a:p>
        </p:txBody>
      </p:sp>
    </p:spTree>
    <p:extLst>
      <p:ext uri="{BB962C8B-B14F-4D97-AF65-F5344CB8AC3E}">
        <p14:creationId xmlns:p14="http://schemas.microsoft.com/office/powerpoint/2010/main" val="19735089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1360682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R="61770" algn="l"/>
            <a:endParaRPr lang="en-US" altLang="en-US" dirty="0"/>
          </a:p>
        </p:txBody>
      </p:sp>
    </p:spTree>
    <p:extLst>
      <p:ext uri="{BB962C8B-B14F-4D97-AF65-F5344CB8AC3E}">
        <p14:creationId xmlns:p14="http://schemas.microsoft.com/office/powerpoint/2010/main" val="37242725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endParaRPr lang="en-US" altLang="en-US" dirty="0"/>
          </a:p>
        </p:txBody>
      </p:sp>
    </p:spTree>
    <p:extLst>
      <p:ext uri="{BB962C8B-B14F-4D97-AF65-F5344CB8AC3E}">
        <p14:creationId xmlns:p14="http://schemas.microsoft.com/office/powerpoint/2010/main" val="3486834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5</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Trimble TDC100 and Trimble TSC3</a:t>
            </a:r>
          </a:p>
        </p:txBody>
      </p:sp>
    </p:spTree>
    <p:extLst>
      <p:ext uri="{BB962C8B-B14F-4D97-AF65-F5344CB8AC3E}">
        <p14:creationId xmlns:p14="http://schemas.microsoft.com/office/powerpoint/2010/main" val="259683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endParaRPr lang="en-US" altLang="en-US" dirty="0"/>
          </a:p>
        </p:txBody>
      </p:sp>
    </p:spTree>
    <p:extLst>
      <p:ext uri="{BB962C8B-B14F-4D97-AF65-F5344CB8AC3E}">
        <p14:creationId xmlns:p14="http://schemas.microsoft.com/office/powerpoint/2010/main" val="41386863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b="0" i="0" dirty="0">
                <a:solidFill>
                  <a:srgbClr val="222222"/>
                </a:solidFill>
                <a:effectLst/>
                <a:latin typeface="Arial" panose="020B0604020202020204" pitchFamily="34" charset="0"/>
              </a:rPr>
              <a:t>Its design is notable for the ability to reject multipath and low elevation signals (including reflections on the ground). Choke Ring antennas reflects signals that come from below, and draw surface wave signals into the choke channels, where they are cancelled or reflected away from the receiving element.</a:t>
            </a:r>
          </a:p>
          <a:p>
            <a:pPr algn="l"/>
            <a:r>
              <a:rPr lang="en-US" altLang="en-US" dirty="0"/>
              <a:t>https://www.researchgate.net/figure/Choke-ring-antenna-on-observation-shelter-roof_fig7_237455343</a:t>
            </a:r>
          </a:p>
          <a:p>
            <a:pPr algn="l"/>
            <a:endParaRPr lang="en-US" altLang="en-US" dirty="0"/>
          </a:p>
          <a:p>
            <a:pPr algn="l"/>
            <a:r>
              <a:rPr lang="en-US" dirty="0"/>
              <a:t>Helix and patch antennas are the most widely used types in GNSS applications. T</a:t>
            </a:r>
            <a:endParaRPr lang="en-US" altLang="en-US" dirty="0"/>
          </a:p>
        </p:txBody>
      </p:sp>
    </p:spTree>
    <p:extLst>
      <p:ext uri="{BB962C8B-B14F-4D97-AF65-F5344CB8AC3E}">
        <p14:creationId xmlns:p14="http://schemas.microsoft.com/office/powerpoint/2010/main" val="32726541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dirty="0"/>
              <a:t>Right-hand circularly polarized </a:t>
            </a:r>
            <a:endParaRPr lang="en-US" altLang="en-US" dirty="0"/>
          </a:p>
        </p:txBody>
      </p:sp>
    </p:spTree>
    <p:extLst>
      <p:ext uri="{BB962C8B-B14F-4D97-AF65-F5344CB8AC3E}">
        <p14:creationId xmlns:p14="http://schemas.microsoft.com/office/powerpoint/2010/main" val="10390234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9</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Space vehicle</a:t>
            </a:r>
          </a:p>
          <a:p>
            <a:pPr algn="l"/>
            <a:r>
              <a:rPr lang="en-US" b="0" i="0" dirty="0">
                <a:solidFill>
                  <a:srgbClr val="222222"/>
                </a:solidFill>
                <a:effectLst/>
                <a:latin typeface="Roboto"/>
              </a:rPr>
              <a:t>signal to noise ratio (</a:t>
            </a:r>
            <a:r>
              <a:rPr lang="en-US" b="1" i="0" dirty="0">
                <a:solidFill>
                  <a:srgbClr val="222222"/>
                </a:solidFill>
                <a:effectLst/>
                <a:latin typeface="Roboto"/>
              </a:rPr>
              <a:t>SNR</a:t>
            </a:r>
            <a:r>
              <a:rPr lang="en-US" b="0" i="0" dirty="0">
                <a:solidFill>
                  <a:srgbClr val="222222"/>
                </a:solidFill>
                <a:effectLst/>
                <a:latin typeface="Roboto"/>
              </a:rPr>
              <a:t>)</a:t>
            </a:r>
            <a:endParaRPr lang="en-US" altLang="en-US" dirty="0"/>
          </a:p>
        </p:txBody>
      </p:sp>
    </p:spTree>
    <p:extLst>
      <p:ext uri="{BB962C8B-B14F-4D97-AF65-F5344CB8AC3E}">
        <p14:creationId xmlns:p14="http://schemas.microsoft.com/office/powerpoint/2010/main" val="7592421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en-US" dirty="0"/>
              <a:t>Trimble TSC3 controller: This controller has to be connected to antenna as well as to receiver through connector. </a:t>
            </a:r>
            <a:r>
              <a:rPr lang="en-US" b="0" i="0" dirty="0">
                <a:solidFill>
                  <a:srgbClr val="000000"/>
                </a:solidFill>
                <a:effectLst/>
                <a:latin typeface="Open Sans"/>
              </a:rPr>
              <a:t>TDC150 Handheld Data Collector</a:t>
            </a:r>
          </a:p>
          <a:p>
            <a:pPr algn="l"/>
            <a:r>
              <a:rPr lang="it-IT" b="0" i="0" u="none" strike="noStrike" dirty="0">
                <a:solidFill>
                  <a:srgbClr val="F1F3F4"/>
                </a:solidFill>
                <a:effectLst/>
                <a:latin typeface="Roboto"/>
                <a:hlinkClick r:id="rId3"/>
              </a:rPr>
              <a:t>https://allterracentral.com/tdc150-handheld-data-collector-decimeter-7-3.html?gclid=Cj0KCQjwv7L6BRDxARIsAGj-34pChMrv4okslbJrfxaDmdMv3s-D4oVffk3WIwhYQw-GxErPn1_riwoaArmREALw_wcB</a:t>
            </a:r>
            <a:br>
              <a:rPr lang="it-IT" b="0" i="0" u="none" strike="noStrike" dirty="0">
                <a:solidFill>
                  <a:srgbClr val="F1F3F4"/>
                </a:solidFill>
                <a:effectLst/>
                <a:latin typeface="Roboto"/>
                <a:hlinkClick r:id="rId3"/>
              </a:rPr>
            </a:br>
            <a:endParaRPr lang="it-IT" b="0" i="0" u="none" strike="noStrike" dirty="0">
              <a:solidFill>
                <a:srgbClr val="F1F3F4"/>
              </a:solidFill>
              <a:effectLst/>
              <a:latin typeface="Roboto"/>
            </a:endParaRPr>
          </a:p>
          <a:p>
            <a:pPr algn="l"/>
            <a:r>
              <a:rPr lang="it-IT" altLang="en-US" b="0" i="0" u="none" strike="noStrike" dirty="0">
                <a:solidFill>
                  <a:srgbClr val="F1F3F4"/>
                </a:solidFill>
                <a:effectLst/>
                <a:latin typeface="Roboto"/>
              </a:rPr>
              <a:t>Associated with different software.</a:t>
            </a:r>
            <a:endParaRPr lang="en-US" altLang="en-US" dirty="0"/>
          </a:p>
        </p:txBody>
      </p:sp>
    </p:spTree>
    <p:extLst>
      <p:ext uri="{BB962C8B-B14F-4D97-AF65-F5344CB8AC3E}">
        <p14:creationId xmlns:p14="http://schemas.microsoft.com/office/powerpoint/2010/main" val="16249696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11</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it-IT" altLang="en-US" b="0" i="0" u="none" strike="noStrike" dirty="0">
                <a:solidFill>
                  <a:srgbClr val="F1F3F4"/>
                </a:solidFill>
                <a:effectLst/>
                <a:latin typeface="Roboto"/>
              </a:rPr>
              <a:t>Associated with different software.</a:t>
            </a:r>
            <a:endParaRPr lang="en-US" altLang="en-US" dirty="0"/>
          </a:p>
        </p:txBody>
      </p:sp>
    </p:spTree>
    <p:extLst>
      <p:ext uri="{BB962C8B-B14F-4D97-AF65-F5344CB8AC3E}">
        <p14:creationId xmlns:p14="http://schemas.microsoft.com/office/powerpoint/2010/main" val="41563426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GPS signals are very low in power, as well as it get merged with interference from the higher powerful signals. So we need to improve the power or in the signal as well as we need to filter the interference as well as we need to for the process the signal to get our desire parameters. In order to get those things the GPS receiver hardware contains filters, amplifiers, frequency unity, digital signal, processing unit.</a:t>
            </a:r>
          </a:p>
          <a:p>
            <a:pPr algn="l"/>
            <a:endParaRPr lang="en-US" altLang="en-US" dirty="0"/>
          </a:p>
          <a:p>
            <a:pPr algn="l"/>
            <a:r>
              <a:rPr lang="en-US" altLang="en-US" dirty="0"/>
              <a:t>We wanted at an intermediate frequency a lower frequency than one and a half </a:t>
            </a:r>
            <a:r>
              <a:rPr lang="en-US" altLang="en-US" dirty="0" err="1"/>
              <a:t>gighertz</a:t>
            </a:r>
            <a:r>
              <a:rPr lang="en-US" altLang="en-US" dirty="0"/>
              <a:t> so we can sample and digitally store the signal.</a:t>
            </a:r>
          </a:p>
          <a:p>
            <a:pPr algn="l"/>
            <a:r>
              <a:rPr lang="en-US" altLang="en-US" dirty="0"/>
              <a:t>IF: intermediate frequency, in which  </a:t>
            </a:r>
            <a:r>
              <a:rPr lang="en-US" b="0" i="0" dirty="0">
                <a:solidFill>
                  <a:srgbClr val="202122"/>
                </a:solidFill>
                <a:effectLst/>
                <a:latin typeface="Arial" panose="020B0604020202020204" pitchFamily="34" charset="0"/>
              </a:rPr>
              <a:t>incoming signal is shifted to an IF for </a:t>
            </a:r>
            <a:r>
              <a:rPr lang="en-US" b="0" i="0" u="none" strike="noStrike" dirty="0">
                <a:solidFill>
                  <a:srgbClr val="0B0080"/>
                </a:solidFill>
                <a:effectLst/>
                <a:latin typeface="Arial" panose="020B0604020202020204" pitchFamily="34" charset="0"/>
                <a:hlinkClick r:id="rId3"/>
              </a:rPr>
              <a:t>amplification</a:t>
            </a:r>
            <a:r>
              <a:rPr lang="en-US" b="0" i="0" u="none" strike="noStrike" dirty="0">
                <a:solidFill>
                  <a:srgbClr val="0B0080"/>
                </a:solidFill>
                <a:effectLst/>
                <a:latin typeface="Arial" panose="020B0604020202020204" pitchFamily="34" charset="0"/>
              </a:rPr>
              <a:t>.</a:t>
            </a:r>
          </a:p>
          <a:p>
            <a:pPr algn="l"/>
            <a:r>
              <a:rPr lang="en-US" altLang="en-US" b="0" i="0" u="none" strike="noStrike" dirty="0">
                <a:solidFill>
                  <a:srgbClr val="0B0080"/>
                </a:solidFill>
                <a:effectLst/>
                <a:latin typeface="Arial" panose="020B0604020202020204" pitchFamily="34" charset="0"/>
              </a:rPr>
              <a:t>Converted it to intermediate frequency signal, that means the signal will be possible to be processed through digital signal processor. </a:t>
            </a:r>
          </a:p>
        </p:txBody>
      </p:sp>
    </p:spTree>
    <p:extLst>
      <p:ext uri="{BB962C8B-B14F-4D97-AF65-F5344CB8AC3E}">
        <p14:creationId xmlns:p14="http://schemas.microsoft.com/office/powerpoint/2010/main" val="6317135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endParaRPr lang="en-US" altLang="en-US" dirty="0"/>
          </a:p>
        </p:txBody>
      </p:sp>
    </p:spTree>
    <p:extLst>
      <p:ext uri="{BB962C8B-B14F-4D97-AF65-F5344CB8AC3E}">
        <p14:creationId xmlns:p14="http://schemas.microsoft.com/office/powerpoint/2010/main" val="2025312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endParaRPr lang="en-US" altLang="en-US" dirty="0"/>
          </a:p>
        </p:txBody>
      </p:sp>
    </p:spTree>
    <p:extLst>
      <p:ext uri="{BB962C8B-B14F-4D97-AF65-F5344CB8AC3E}">
        <p14:creationId xmlns:p14="http://schemas.microsoft.com/office/powerpoint/2010/main" val="3160776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15</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Mobile phone, single code receiver</a:t>
            </a:r>
          </a:p>
          <a:p>
            <a:pPr algn="l"/>
            <a:r>
              <a:rPr lang="en-US" altLang="en-US" dirty="0"/>
              <a:t>P code</a:t>
            </a:r>
          </a:p>
          <a:p>
            <a:pPr algn="l"/>
            <a:r>
              <a:rPr lang="en-US" altLang="en-US" dirty="0"/>
              <a:t>Authorized users</a:t>
            </a:r>
          </a:p>
          <a:p>
            <a:pPr algn="l"/>
            <a:r>
              <a:rPr lang="en-US" b="0" i="0" dirty="0">
                <a:solidFill>
                  <a:srgbClr val="2D3237"/>
                </a:solidFill>
                <a:effectLst/>
                <a:latin typeface="Titillium Web"/>
              </a:rPr>
              <a:t>When it's encrypted it's called "Y-code" and only military receivers with the encryption key can receive it</a:t>
            </a:r>
          </a:p>
          <a:p>
            <a:pPr algn="l"/>
            <a:endParaRPr lang="en-US" altLang="en-US" b="0" i="0" dirty="0">
              <a:solidFill>
                <a:srgbClr val="2D3237"/>
              </a:solidFill>
              <a:effectLst/>
              <a:latin typeface="Titillium Web"/>
            </a:endParaRPr>
          </a:p>
          <a:p>
            <a:pPr algn="l"/>
            <a:r>
              <a:rPr lang="en-US" b="0" i="0" dirty="0">
                <a:solidFill>
                  <a:srgbClr val="000000"/>
                </a:solidFill>
                <a:effectLst/>
                <a:latin typeface="open sans" panose="020B0606030504020204" pitchFamily="34" charset="0"/>
              </a:rPr>
              <a:t>The legacy C/A code is broadcast on L1 only. It used to be the only civilian GPS code, but no longer; it has been joined by a new civilian signal known as L2C that is carried on L2.</a:t>
            </a:r>
          </a:p>
          <a:p>
            <a:pPr algn="l"/>
            <a:endParaRPr lang="en-US" altLang="en-US" b="0" i="0" dirty="0">
              <a:solidFill>
                <a:srgbClr val="000000"/>
              </a:solidFill>
              <a:effectLst/>
              <a:latin typeface="open sans" panose="020B0606030504020204" pitchFamily="34" charset="0"/>
            </a:endParaRPr>
          </a:p>
          <a:p>
            <a:pPr algn="l"/>
            <a:r>
              <a:rPr lang="en-US" b="0" i="0" dirty="0">
                <a:solidFill>
                  <a:srgbClr val="222222"/>
                </a:solidFill>
                <a:effectLst/>
                <a:latin typeface="Arial" panose="020B0604020202020204" pitchFamily="34" charset="0"/>
              </a:rPr>
              <a:t>The new L1 Civil signal (L1C), defined in the [GPS ICD-800]</a:t>
            </a:r>
            <a:r>
              <a:rPr lang="en-US" b="0" i="0" u="none" strike="noStrike" baseline="30000" dirty="0">
                <a:solidFill>
                  <a:srgbClr val="0645AD"/>
                </a:solidFill>
                <a:effectLst/>
                <a:latin typeface="Arial" panose="020B0604020202020204" pitchFamily="34" charset="0"/>
                <a:hlinkClick r:id="rId3"/>
              </a:rPr>
              <a:t>[3]</a:t>
            </a:r>
            <a:r>
              <a:rPr lang="en-US" b="0" i="0" dirty="0">
                <a:solidFill>
                  <a:srgbClr val="222222"/>
                </a:solidFill>
                <a:effectLst/>
                <a:latin typeface="Arial" panose="020B0604020202020204" pitchFamily="34" charset="0"/>
              </a:rPr>
              <a:t>, has been designed for interoperability with Galileo E1.</a:t>
            </a:r>
            <a:endParaRPr lang="en-US" altLang="en-US" dirty="0"/>
          </a:p>
        </p:txBody>
      </p:sp>
    </p:spTree>
    <p:extLst>
      <p:ext uri="{BB962C8B-B14F-4D97-AF65-F5344CB8AC3E}">
        <p14:creationId xmlns:p14="http://schemas.microsoft.com/office/powerpoint/2010/main" val="33364306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Space vehicle</a:t>
            </a:r>
          </a:p>
          <a:p>
            <a:pPr algn="l"/>
            <a:r>
              <a:rPr lang="en-US" b="0" i="0" dirty="0">
                <a:solidFill>
                  <a:srgbClr val="222222"/>
                </a:solidFill>
                <a:effectLst/>
                <a:latin typeface="Roboto"/>
              </a:rPr>
              <a:t>signal to noise ratio (</a:t>
            </a:r>
            <a:r>
              <a:rPr lang="en-US" b="1" i="0" dirty="0">
                <a:solidFill>
                  <a:srgbClr val="222222"/>
                </a:solidFill>
                <a:effectLst/>
                <a:latin typeface="Roboto"/>
              </a:rPr>
              <a:t>SNR</a:t>
            </a:r>
            <a:r>
              <a:rPr lang="en-US" b="0" i="0" dirty="0">
                <a:solidFill>
                  <a:srgbClr val="222222"/>
                </a:solidFill>
                <a:effectLst/>
                <a:latin typeface="Roboto"/>
              </a:rPr>
              <a:t>)</a:t>
            </a:r>
            <a:endParaRPr lang="en-US" altLang="en-US" dirty="0"/>
          </a:p>
        </p:txBody>
      </p:sp>
    </p:spTree>
    <p:extLst>
      <p:ext uri="{BB962C8B-B14F-4D97-AF65-F5344CB8AC3E}">
        <p14:creationId xmlns:p14="http://schemas.microsoft.com/office/powerpoint/2010/main" val="27874889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Space vehicle</a:t>
            </a:r>
          </a:p>
          <a:p>
            <a:pPr algn="l"/>
            <a:r>
              <a:rPr lang="en-US" b="0" i="0" dirty="0">
                <a:solidFill>
                  <a:srgbClr val="222222"/>
                </a:solidFill>
                <a:effectLst/>
                <a:latin typeface="Roboto"/>
              </a:rPr>
              <a:t>signal to noise ratio (</a:t>
            </a:r>
            <a:r>
              <a:rPr lang="en-US" b="1" i="0" dirty="0">
                <a:solidFill>
                  <a:srgbClr val="222222"/>
                </a:solidFill>
                <a:effectLst/>
                <a:latin typeface="Roboto"/>
              </a:rPr>
              <a:t>SNR</a:t>
            </a:r>
            <a:r>
              <a:rPr lang="en-US" b="0" i="0" dirty="0">
                <a:solidFill>
                  <a:srgbClr val="222222"/>
                </a:solidFill>
                <a:effectLst/>
                <a:latin typeface="Roboto"/>
              </a:rPr>
              <a:t>)</a:t>
            </a:r>
            <a:endParaRPr lang="en-US" altLang="en-US" dirty="0"/>
          </a:p>
        </p:txBody>
      </p:sp>
    </p:spTree>
    <p:extLst>
      <p:ext uri="{BB962C8B-B14F-4D97-AF65-F5344CB8AC3E}">
        <p14:creationId xmlns:p14="http://schemas.microsoft.com/office/powerpoint/2010/main" val="71076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altLang="en-US" dirty="0"/>
              <a:t>https://www.youtube.com/watch?v=F9kIsgpCK3A</a:t>
            </a:r>
          </a:p>
          <a:p>
            <a:pPr algn="l"/>
            <a:endParaRPr lang="en-US" altLang="en-US" dirty="0"/>
          </a:p>
          <a:p>
            <a:pPr algn="l"/>
            <a:r>
              <a:rPr lang="en-US" dirty="0"/>
              <a:t>satellite-based augmentation system (SBAS)</a:t>
            </a:r>
            <a:endParaRPr lang="en-US" altLang="en-US" dirty="0"/>
          </a:p>
        </p:txBody>
      </p:sp>
    </p:spTree>
    <p:extLst>
      <p:ext uri="{BB962C8B-B14F-4D97-AF65-F5344CB8AC3E}">
        <p14:creationId xmlns:p14="http://schemas.microsoft.com/office/powerpoint/2010/main" val="9167421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19</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R="61770" algn="l"/>
            <a:r>
              <a:rPr lang="en-US" altLang="en-US" dirty="0"/>
              <a:t>Story of 911. </a:t>
            </a:r>
            <a:r>
              <a:rPr lang="en-US" dirty="0"/>
              <a:t>In the early nineties, when the usage of cellular devices increased, there was a concern regarding wireless 9-1-1 calls. Unlike landline calls, which come from a set phone that its location is known to the system, there is a problem to provide the caller’s location when it comes from a cellular device. The wireless Enhanced 911 rules seek to apply the E911 actions to a 9-1-1 call that comes from a cellular device. </a:t>
            </a:r>
          </a:p>
          <a:p>
            <a:pPr marR="61770" algn="l"/>
            <a:r>
              <a:rPr lang="en-US" b="0" i="0" dirty="0">
                <a:solidFill>
                  <a:srgbClr val="222222"/>
                </a:solidFill>
                <a:effectLst/>
                <a:latin typeface="Roboto"/>
              </a:rPr>
              <a:t>The </a:t>
            </a:r>
            <a:r>
              <a:rPr lang="en-US" b="1" i="0" dirty="0">
                <a:solidFill>
                  <a:srgbClr val="222222"/>
                </a:solidFill>
                <a:effectLst/>
                <a:latin typeface="Roboto"/>
              </a:rPr>
              <a:t>Doppler effect</a:t>
            </a:r>
            <a:r>
              <a:rPr lang="en-US" b="0" i="0" dirty="0">
                <a:solidFill>
                  <a:srgbClr val="222222"/>
                </a:solidFill>
                <a:effectLst/>
                <a:latin typeface="Roboto"/>
              </a:rPr>
              <a:t> (or the </a:t>
            </a:r>
            <a:r>
              <a:rPr lang="en-US" b="1" i="0" dirty="0">
                <a:solidFill>
                  <a:srgbClr val="222222"/>
                </a:solidFill>
                <a:effectLst/>
                <a:latin typeface="Roboto"/>
              </a:rPr>
              <a:t>Doppler shift</a:t>
            </a:r>
            <a:r>
              <a:rPr lang="en-US" b="0" i="0" dirty="0">
                <a:solidFill>
                  <a:srgbClr val="222222"/>
                </a:solidFill>
                <a:effectLst/>
                <a:latin typeface="Roboto"/>
              </a:rPr>
              <a:t>) is the change in frequency of a wave in relation to an observer who is moving relative to the wave source. </a:t>
            </a:r>
            <a:r>
              <a:rPr lang="en-US" dirty="0"/>
              <a:t>The satellite motion, the GPS receiver motion, and the local oscillator at the GPS receiver</a:t>
            </a:r>
          </a:p>
          <a:p>
            <a:pPr marR="61770" algn="l"/>
            <a:r>
              <a:rPr lang="en-US" dirty="0"/>
              <a:t>The time it takes to search each code delay is called ‘integration period’. </a:t>
            </a:r>
          </a:p>
          <a:p>
            <a:pPr marR="61770" algn="l"/>
            <a:r>
              <a:rPr lang="en-US" dirty="0"/>
              <a:t>Due to the A-GPS information about the Doppler shift, the number of frequency bins is reduced. Therefore the GPS receiver can increase the dwell time (integration period) in each bin. That increases the receiver sensitivity since it can detect weak signals when the dwell time is longer. </a:t>
            </a:r>
            <a:endParaRPr lang="en-US" altLang="en-US" dirty="0"/>
          </a:p>
        </p:txBody>
      </p:sp>
    </p:spTree>
    <p:extLst>
      <p:ext uri="{BB962C8B-B14F-4D97-AF65-F5344CB8AC3E}">
        <p14:creationId xmlns:p14="http://schemas.microsoft.com/office/powerpoint/2010/main" val="42825420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sz="1800" b="0" i="0" u="none" strike="noStrike" baseline="0" dirty="0">
                <a:solidFill>
                  <a:srgbClr val="231F20"/>
                </a:solidFill>
                <a:latin typeface="Sabon-Roman"/>
              </a:rPr>
              <a:t>NASA inventors realized the potential benefit of transmitting an initial almanac or ephemeris to a mobile GPS receiver to enable prediction of satellite visibility and Doppler and eliminate the long data demodulation time inherent in collecting the required data bits from the signals directly.</a:t>
            </a:r>
          </a:p>
          <a:p>
            <a:pPr algn="l"/>
            <a:r>
              <a:rPr lang="en-US" sz="1800" b="0" i="0" u="none" strike="noStrike" baseline="0" dirty="0">
                <a:solidFill>
                  <a:srgbClr val="231F20"/>
                </a:solidFill>
                <a:latin typeface="Sabon-Roman"/>
              </a:rPr>
              <a:t>An early example of ephemeris-aiding was the Motorola EAGLE line of GPS receivers.</a:t>
            </a:r>
            <a:endParaRPr lang="en-US" altLang="en-US" dirty="0"/>
          </a:p>
        </p:txBody>
      </p:sp>
    </p:spTree>
    <p:extLst>
      <p:ext uri="{BB962C8B-B14F-4D97-AF65-F5344CB8AC3E}">
        <p14:creationId xmlns:p14="http://schemas.microsoft.com/office/powerpoint/2010/main" val="37242725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21</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R="61770" algn="l"/>
            <a:r>
              <a:rPr lang="en-US" altLang="en-US" dirty="0"/>
              <a:t>H</a:t>
            </a:r>
            <a:r>
              <a:rPr lang="en-US" altLang="zh-CN" dirty="0"/>
              <a:t>andheld GPS with </a:t>
            </a:r>
            <a:r>
              <a:rPr lang="en-US" altLang="zh-CN" dirty="0" err="1"/>
              <a:t>wifi</a:t>
            </a:r>
            <a:endParaRPr lang="en-US" altLang="zh-CN" dirty="0"/>
          </a:p>
          <a:p>
            <a:pPr marR="61770" algn="l"/>
            <a:r>
              <a:rPr lang="en-US" dirty="0"/>
              <a:t>It has exact knowledge about the GPS signals that are available for the cellular devices in the cells it’s in charge of. The A-GPS is connected to the mobile switching center (MSC). Through the cellular network, the A-GPS server sends information to the cellular device.  50 bps/1 </a:t>
            </a:r>
            <a:r>
              <a:rPr lang="en-US" dirty="0" err="1"/>
              <a:t>mbps</a:t>
            </a:r>
            <a:endParaRPr lang="en-US" dirty="0"/>
          </a:p>
          <a:p>
            <a:pPr marR="61770" algn="l"/>
            <a:endParaRPr lang="en-US" altLang="en-US" dirty="0"/>
          </a:p>
          <a:p>
            <a:pPr marR="61770" algn="l"/>
            <a:r>
              <a:rPr lang="en-US" dirty="0"/>
              <a:t>The A-GPS server has a reference GPS receiver, which knows the Doppler shift of the signals from the satellites. </a:t>
            </a:r>
            <a:endParaRPr lang="en-US" altLang="en-US" dirty="0"/>
          </a:p>
        </p:txBody>
      </p:sp>
    </p:spTree>
    <p:extLst>
      <p:ext uri="{BB962C8B-B14F-4D97-AF65-F5344CB8AC3E}">
        <p14:creationId xmlns:p14="http://schemas.microsoft.com/office/powerpoint/2010/main" val="31798419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R="61770" algn="l"/>
            <a:endParaRPr lang="en-US" altLang="en-US" dirty="0"/>
          </a:p>
        </p:txBody>
      </p:sp>
    </p:spTree>
    <p:extLst>
      <p:ext uri="{BB962C8B-B14F-4D97-AF65-F5344CB8AC3E}">
        <p14:creationId xmlns:p14="http://schemas.microsoft.com/office/powerpoint/2010/main" val="39457548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R="61770" algn="l"/>
            <a:r>
              <a:rPr lang="en-US" dirty="0"/>
              <a:t>The DGPS relies on the fact that a satellite’s signal has the same timing delay for the reference receiver and for all the other DGPS receivers that are a few hundreds miles away. The reason for it is that the area is very small in relation to the travel distance of the satellite’s signal. Therefore the timing delays are the same within that area. </a:t>
            </a:r>
            <a:endParaRPr lang="en-US" altLang="en-US" dirty="0"/>
          </a:p>
        </p:txBody>
      </p:sp>
    </p:spTree>
    <p:extLst>
      <p:ext uri="{BB962C8B-B14F-4D97-AF65-F5344CB8AC3E}">
        <p14:creationId xmlns:p14="http://schemas.microsoft.com/office/powerpoint/2010/main" val="266871105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R="61770" algn="l"/>
            <a:r>
              <a:rPr lang="en-US" dirty="0"/>
              <a:t>The DGPS relies on the fact that a satellite’s signal has the same timing delay for the reference receiver and for all the other DGPS receivers that are a few hundreds miles away. The reason for it is that the area is very small in relation to the travel distance of the satellite’s signal. Therefore the timing delays are the same within that area. </a:t>
            </a:r>
            <a:endParaRPr lang="en-US" altLang="en-US" dirty="0"/>
          </a:p>
        </p:txBody>
      </p:sp>
    </p:spTree>
    <p:extLst>
      <p:ext uri="{BB962C8B-B14F-4D97-AF65-F5344CB8AC3E}">
        <p14:creationId xmlns:p14="http://schemas.microsoft.com/office/powerpoint/2010/main" val="24039218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WAAS,</a:t>
            </a:r>
            <a:r>
              <a:rPr lang="en-US" baseline="0" dirty="0"/>
              <a:t> or the Wide Area Augmentation System, is a type of SBAS, or Satellite-Based Augmentation System. </a:t>
            </a:r>
          </a:p>
          <a:p>
            <a:endParaRPr lang="en-US" baseline="0" dirty="0"/>
          </a:p>
          <a:p>
            <a:r>
              <a:rPr lang="en-US" baseline="0" dirty="0"/>
              <a:t>It was originally developed by the US Federal Aviation Administration for aviation and air traffic control purposes and provides real-time corrections, which is very important for air traffic control.</a:t>
            </a:r>
          </a:p>
          <a:p>
            <a:endParaRPr lang="en-US" baseline="0" dirty="0"/>
          </a:p>
          <a:p>
            <a:r>
              <a:rPr lang="en-US" baseline="0" dirty="0"/>
              <a:t>Precision can be increased to 4 to 7 meters using this method. Note that some sources will suggest less than 4 meters. </a:t>
            </a:r>
          </a:p>
          <a:p>
            <a:endParaRPr lang="en-US" baseline="0" dirty="0"/>
          </a:p>
          <a:p>
            <a:r>
              <a:rPr lang="en-US" baseline="0" dirty="0"/>
              <a:t>It works by collecting error information at ground control stations. This error information is then transmitted to satellites that then re-broadcast the correction information. </a:t>
            </a:r>
          </a:p>
          <a:p>
            <a:endParaRPr lang="en-US" baseline="0" dirty="0"/>
          </a:p>
          <a:p>
            <a:r>
              <a:rPr lang="en-US" baseline="0" dirty="0"/>
              <a:t>WAAS-enable receivers can collect this information and use it to correct GNSS measurements in real time. </a:t>
            </a:r>
          </a:p>
          <a:p>
            <a:endParaRPr lang="en-US" baseline="0" dirty="0"/>
          </a:p>
          <a:p>
            <a:r>
              <a:rPr lang="en-US" baseline="0" dirty="0"/>
              <a:t>Currently, WAAS is only designed to work with the NAVSTAR system. However, other SBAS systems are available. </a:t>
            </a:r>
          </a:p>
          <a:p>
            <a:endParaRPr lang="en-US" baseline="0" dirty="0"/>
          </a:p>
          <a:p>
            <a:pPr marL="0" marR="0" lvl="0" indent="0" algn="l" defTabSz="457200" rtl="0" eaLnBrk="1" fontAlgn="auto" latinLnBrk="0" hangingPunct="1">
              <a:lnSpc>
                <a:spcPct val="100000"/>
              </a:lnSpc>
              <a:spcBef>
                <a:spcPts val="0"/>
              </a:spcBef>
              <a:spcAft>
                <a:spcPts val="0"/>
              </a:spcAft>
              <a:buClrTx/>
              <a:buSzTx/>
              <a:buFontTx/>
              <a:buNone/>
              <a:tabLst/>
              <a:defRPr/>
            </a:pPr>
            <a:r>
              <a:rPr lang="en-US" baseline="0" dirty="0"/>
              <a:t>Most handheld units, especially those designed for use with NAVSTAR, are WAAS-enabled, </a:t>
            </a:r>
            <a:r>
              <a:rPr lang="en-US" dirty="0"/>
              <a:t>Satellite-Based Augmentation System (SBAS)</a:t>
            </a:r>
            <a:endParaRPr lang="en-US" baseline="0" dirty="0"/>
          </a:p>
          <a:p>
            <a:endParaRPr lang="en-US" baseline="0" dirty="0"/>
          </a:p>
          <a:p>
            <a:r>
              <a:rPr lang="en-US" baseline="0" dirty="0"/>
              <a:t>WAAS is generally used if there is a need for real-time correction; however, post-processing can provide better results. </a:t>
            </a:r>
          </a:p>
          <a:p>
            <a:endParaRPr lang="en-US" baseline="0" dirty="0"/>
          </a:p>
          <a:p>
            <a:r>
              <a:rPr lang="en-US" b="0" i="0" dirty="0">
                <a:solidFill>
                  <a:srgbClr val="202122"/>
                </a:solidFill>
                <a:effectLst/>
                <a:latin typeface="Arial" panose="020B0604020202020204" pitchFamily="34" charset="0"/>
              </a:rPr>
              <a:t>Measurements from the reference stations are routed to master stations, which queue the received Deviation Correction (DC) and send the correction messages to geostationary WAAS satellites in a timely manner (every 5 seconds or better). Those satellites broadcast the correction messages back to Earth, where WAAS-enabled GPS receivers use the corrections while computing their positions to improve accuracy.</a:t>
            </a:r>
          </a:p>
          <a:p>
            <a:endParaRPr lang="en-US" b="0" i="0" baseline="0" dirty="0">
              <a:solidFill>
                <a:srgbClr val="202122"/>
              </a:solidFill>
              <a:effectLst/>
              <a:latin typeface="Arial" panose="020B0604020202020204" pitchFamily="34" charset="0"/>
            </a:endParaRPr>
          </a:p>
          <a:p>
            <a:r>
              <a:rPr lang="en-US" sz="1200" dirty="0"/>
              <a:t>European Geostationary Navigation Overlay Service (EGNOS). </a:t>
            </a:r>
            <a:r>
              <a:rPr lang="en-US" b="0" i="0" dirty="0">
                <a:solidFill>
                  <a:srgbClr val="202122"/>
                </a:solidFill>
                <a:effectLst/>
                <a:latin typeface="Arial" panose="020B0604020202020204" pitchFamily="34" charset="0"/>
              </a:rPr>
              <a:t>Currently, </a:t>
            </a:r>
            <a:r>
              <a:rPr lang="en-US" sz="1200" dirty="0"/>
              <a:t>EGNOS</a:t>
            </a:r>
            <a:r>
              <a:rPr lang="en-US" b="0" i="0" dirty="0">
                <a:solidFill>
                  <a:srgbClr val="202122"/>
                </a:solidFill>
                <a:effectLst/>
                <a:latin typeface="Arial" panose="020B0604020202020204" pitchFamily="34" charset="0"/>
              </a:rPr>
              <a:t> supplements the </a:t>
            </a:r>
            <a:r>
              <a:rPr lang="en-US" b="0" i="0" u="none" strike="noStrike" dirty="0">
                <a:solidFill>
                  <a:srgbClr val="0645AD"/>
                </a:solidFill>
                <a:effectLst/>
                <a:latin typeface="Arial" panose="020B0604020202020204" pitchFamily="34" charset="0"/>
                <a:hlinkClick r:id="rId3" tooltip="GPS"/>
              </a:rPr>
              <a:t>GPS</a:t>
            </a:r>
            <a:r>
              <a:rPr lang="en-US" b="0" i="0" dirty="0">
                <a:solidFill>
                  <a:srgbClr val="202122"/>
                </a:solidFill>
                <a:effectLst/>
                <a:latin typeface="Arial" panose="020B0604020202020204" pitchFamily="34" charset="0"/>
              </a:rPr>
              <a:t> by reporting on the reliability and accuracy of their positioning data and sending out corrections. The system will supplement </a:t>
            </a:r>
            <a:r>
              <a:rPr lang="en-US" b="0" i="0" u="none" strike="noStrike" dirty="0">
                <a:solidFill>
                  <a:srgbClr val="0645AD"/>
                </a:solidFill>
                <a:effectLst/>
                <a:latin typeface="Arial" panose="020B0604020202020204" pitchFamily="34" charset="0"/>
                <a:hlinkClick r:id="rId4" tooltip="Galileo (satellite navigation)"/>
              </a:rPr>
              <a:t>Galileo</a:t>
            </a:r>
            <a:r>
              <a:rPr lang="en-US" b="0" i="0" dirty="0">
                <a:solidFill>
                  <a:srgbClr val="202122"/>
                </a:solidFill>
                <a:effectLst/>
                <a:latin typeface="Arial" panose="020B0604020202020204" pitchFamily="34" charset="0"/>
              </a:rPr>
              <a:t> in a future version.</a:t>
            </a:r>
          </a:p>
          <a:p>
            <a:endParaRPr lang="en-US" b="0" i="0" baseline="0" dirty="0">
              <a:solidFill>
                <a:srgbClr val="202122"/>
              </a:solidFill>
              <a:effectLst/>
              <a:latin typeface="Arial" panose="020B0604020202020204" pitchFamily="34" charset="0"/>
            </a:endParaRPr>
          </a:p>
          <a:p>
            <a:r>
              <a:rPr lang="en-US" b="0" i="0" dirty="0">
                <a:solidFill>
                  <a:srgbClr val="222222"/>
                </a:solidFill>
                <a:effectLst/>
                <a:latin typeface="Arial" panose="020B0604020202020204" pitchFamily="34" charset="0"/>
              </a:rPr>
              <a:t>The MTSAT (Multi-functional Transport Satellites) Satellite Augmentation System (MSAS) is the Japanese </a:t>
            </a:r>
            <a:r>
              <a:rPr lang="en-US" b="0" i="0" u="none" strike="noStrike" dirty="0">
                <a:solidFill>
                  <a:srgbClr val="0645AD"/>
                </a:solidFill>
                <a:effectLst/>
                <a:latin typeface="Arial" panose="020B0604020202020204" pitchFamily="34" charset="0"/>
                <a:hlinkClick r:id="rId5" tooltip="SBAS General Introduction"/>
              </a:rPr>
              <a:t>Satellite Based Augmentation System (SBAS)</a:t>
            </a:r>
            <a:r>
              <a:rPr lang="en-US" b="0" i="0" dirty="0">
                <a:solidFill>
                  <a:srgbClr val="222222"/>
                </a:solidFill>
                <a:effectLst/>
                <a:latin typeface="Arial" panose="020B0604020202020204" pitchFamily="34" charset="0"/>
              </a:rPr>
              <a:t> System:</a:t>
            </a:r>
            <a:r>
              <a:rPr lang="en-US" b="0" i="0" u="none" strike="noStrike" baseline="30000" dirty="0">
                <a:solidFill>
                  <a:srgbClr val="0645AD"/>
                </a:solidFill>
                <a:effectLst/>
                <a:latin typeface="Arial" panose="020B0604020202020204" pitchFamily="34" charset="0"/>
                <a:hlinkClick r:id="rId6"/>
              </a:rPr>
              <a:t>[1]</a:t>
            </a:r>
            <a:r>
              <a:rPr lang="en-US" b="0" i="0" dirty="0">
                <a:solidFill>
                  <a:srgbClr val="222222"/>
                </a:solidFill>
                <a:effectLst/>
                <a:latin typeface="Arial" panose="020B0604020202020204" pitchFamily="34" charset="0"/>
              </a:rPr>
              <a:t> a GPS Augmentation system with the goal of improving its accuracy, integrity, and availability.</a:t>
            </a:r>
          </a:p>
          <a:p>
            <a:endParaRPr lang="en-US" b="0" i="0" dirty="0">
              <a:solidFill>
                <a:srgbClr val="222222"/>
              </a:solidFill>
              <a:effectLst/>
              <a:latin typeface="Arial" panose="020B0604020202020204" pitchFamily="34" charset="0"/>
            </a:endParaRPr>
          </a:p>
          <a:p>
            <a:r>
              <a:rPr lang="en-US" b="0" i="0" dirty="0">
                <a:solidFill>
                  <a:srgbClr val="202122"/>
                </a:solidFill>
                <a:effectLst/>
                <a:latin typeface="Arial" panose="020B0604020202020204" pitchFamily="34" charset="0"/>
              </a:rPr>
              <a:t>The </a:t>
            </a:r>
            <a:r>
              <a:rPr lang="en-US" b="1" i="0" dirty="0">
                <a:solidFill>
                  <a:srgbClr val="202122"/>
                </a:solidFill>
                <a:effectLst/>
                <a:latin typeface="Arial" panose="020B0604020202020204" pitchFamily="34" charset="0"/>
              </a:rPr>
              <a:t>Quasi-Zenith Satellite System</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QZSS</a:t>
            </a:r>
            <a:r>
              <a:rPr lang="en-US" b="0" i="0" dirty="0">
                <a:solidFill>
                  <a:srgbClr val="202122"/>
                </a:solidFill>
                <a:effectLst/>
                <a:latin typeface="Arial" panose="020B0604020202020204" pitchFamily="34" charset="0"/>
              </a:rPr>
              <a:t>), also known as </a:t>
            </a:r>
            <a:r>
              <a:rPr lang="en-US" b="1" i="0" dirty="0" err="1">
                <a:solidFill>
                  <a:srgbClr val="202122"/>
                </a:solidFill>
                <a:effectLst/>
                <a:latin typeface="Arial" panose="020B0604020202020204" pitchFamily="34" charset="0"/>
              </a:rPr>
              <a:t>Michibiki</a:t>
            </a:r>
            <a:r>
              <a:rPr lang="en-US" b="0" i="0" dirty="0">
                <a:solidFill>
                  <a:srgbClr val="202122"/>
                </a:solidFill>
                <a:effectLst/>
                <a:latin typeface="Arial" panose="020B0604020202020204" pitchFamily="34" charset="0"/>
              </a:rPr>
              <a:t> (</a:t>
            </a:r>
            <a:r>
              <a:rPr lang="ja-JP" altLang="en-US" b="0" i="0" dirty="0">
                <a:solidFill>
                  <a:srgbClr val="202122"/>
                </a:solidFill>
                <a:effectLst/>
                <a:latin typeface="Arial" panose="020B0604020202020204" pitchFamily="34" charset="0"/>
              </a:rPr>
              <a:t>みちびき</a:t>
            </a:r>
            <a:r>
              <a:rPr lang="en-US" altLang="ja-JP" b="0" i="0" dirty="0">
                <a:solidFill>
                  <a:srgbClr val="202122"/>
                </a:solidFill>
                <a:effectLst/>
                <a:latin typeface="Arial" panose="020B0604020202020204" pitchFamily="34" charset="0"/>
              </a:rPr>
              <a:t>), </a:t>
            </a:r>
            <a:r>
              <a:rPr lang="en-US" b="0" i="0" dirty="0">
                <a:solidFill>
                  <a:srgbClr val="202122"/>
                </a:solidFill>
                <a:effectLst/>
                <a:latin typeface="Arial" panose="020B0604020202020204" pitchFamily="34" charset="0"/>
              </a:rPr>
              <a:t>is a four-satellite regional </a:t>
            </a:r>
            <a:r>
              <a:rPr lang="en-US" b="0" i="0" u="none" strike="noStrike" dirty="0">
                <a:solidFill>
                  <a:srgbClr val="0645AD"/>
                </a:solidFill>
                <a:effectLst/>
                <a:latin typeface="Arial" panose="020B0604020202020204" pitchFamily="34" charset="0"/>
                <a:hlinkClick r:id="rId7" tooltip="Time transfer"/>
              </a:rPr>
              <a:t>time transfer</a:t>
            </a:r>
            <a:r>
              <a:rPr lang="en-US" b="0" i="0" dirty="0">
                <a:solidFill>
                  <a:srgbClr val="202122"/>
                </a:solidFill>
                <a:effectLst/>
                <a:latin typeface="Arial" panose="020B0604020202020204" pitchFamily="34" charset="0"/>
              </a:rPr>
              <a:t> system and a </a:t>
            </a:r>
            <a:r>
              <a:rPr lang="en-US" b="0" i="0" u="none" strike="noStrike" dirty="0">
                <a:solidFill>
                  <a:srgbClr val="0645AD"/>
                </a:solidFill>
                <a:effectLst/>
                <a:latin typeface="Arial" panose="020B0604020202020204" pitchFamily="34" charset="0"/>
                <a:hlinkClick r:id="rId8" tooltip="GNSS augmentation"/>
              </a:rPr>
              <a:t>satellite-based augmentation system</a:t>
            </a:r>
            <a:r>
              <a:rPr lang="en-US" b="0" i="0" dirty="0">
                <a:solidFill>
                  <a:srgbClr val="202122"/>
                </a:solidFill>
                <a:effectLst/>
                <a:latin typeface="Arial" panose="020B0604020202020204" pitchFamily="34" charset="0"/>
              </a:rPr>
              <a:t> development by the </a:t>
            </a:r>
            <a:r>
              <a:rPr lang="en-US" b="0" i="0" u="none" strike="noStrike" dirty="0">
                <a:solidFill>
                  <a:srgbClr val="0645AD"/>
                </a:solidFill>
                <a:effectLst/>
                <a:latin typeface="Arial" panose="020B0604020202020204" pitchFamily="34" charset="0"/>
                <a:hlinkClick r:id="rId9" tooltip="Japanese government"/>
              </a:rPr>
              <a:t>Japanese government</a:t>
            </a:r>
            <a:r>
              <a:rPr lang="en-US" b="0" i="0" dirty="0">
                <a:solidFill>
                  <a:srgbClr val="202122"/>
                </a:solidFill>
                <a:effectLst/>
                <a:latin typeface="Arial" panose="020B0604020202020204" pitchFamily="34" charset="0"/>
              </a:rPr>
              <a:t> to enhance the United States-operated </a:t>
            </a:r>
            <a:r>
              <a:rPr lang="en-US" b="0" i="0" u="none" strike="noStrike" dirty="0">
                <a:solidFill>
                  <a:srgbClr val="0645AD"/>
                </a:solidFill>
                <a:effectLst/>
                <a:latin typeface="Arial" panose="020B0604020202020204" pitchFamily="34" charset="0"/>
                <a:hlinkClick r:id="rId10" tooltip="Global Positioning System"/>
              </a:rPr>
              <a:t>Global Positioning System</a:t>
            </a:r>
            <a:r>
              <a:rPr lang="en-US" b="0" i="0" dirty="0">
                <a:solidFill>
                  <a:srgbClr val="202122"/>
                </a:solidFill>
                <a:effectLst/>
                <a:latin typeface="Arial" panose="020B0604020202020204" pitchFamily="34" charset="0"/>
              </a:rPr>
              <a:t> (GPS) in the </a:t>
            </a:r>
            <a:r>
              <a:rPr lang="en-US" b="0" i="0" u="none" strike="noStrike" dirty="0">
                <a:solidFill>
                  <a:srgbClr val="0645AD"/>
                </a:solidFill>
                <a:effectLst/>
                <a:latin typeface="Arial" panose="020B0604020202020204" pitchFamily="34" charset="0"/>
                <a:hlinkClick r:id="rId11" tooltip="Asia-Pacific"/>
              </a:rPr>
              <a:t>Asia-Oceania</a:t>
            </a:r>
            <a:r>
              <a:rPr lang="en-US" b="0" i="0" dirty="0">
                <a:solidFill>
                  <a:srgbClr val="202122"/>
                </a:solidFill>
                <a:effectLst/>
                <a:latin typeface="Arial" panose="020B0604020202020204" pitchFamily="34" charset="0"/>
              </a:rPr>
              <a:t> regions, with a focus on </a:t>
            </a:r>
            <a:r>
              <a:rPr lang="en-US" b="0" i="0" u="none" strike="noStrike" dirty="0">
                <a:solidFill>
                  <a:srgbClr val="0645AD"/>
                </a:solidFill>
                <a:effectLst/>
                <a:latin typeface="Arial" panose="020B0604020202020204" pitchFamily="34" charset="0"/>
                <a:hlinkClick r:id="rId12" tooltip="Japan"/>
              </a:rPr>
              <a:t>Japan</a:t>
            </a:r>
            <a:r>
              <a:rPr lang="en-US" b="0" i="0" dirty="0">
                <a:solidFill>
                  <a:srgbClr val="202122"/>
                </a:solidFill>
                <a:effectLst/>
                <a:latin typeface="Arial" panose="020B0604020202020204" pitchFamily="34" charset="0"/>
              </a:rPr>
              <a:t>.</a:t>
            </a:r>
            <a:r>
              <a:rPr lang="en-US" b="0" i="0" u="none" strike="noStrike" baseline="30000" dirty="0">
                <a:solidFill>
                  <a:srgbClr val="0645AD"/>
                </a:solidFill>
                <a:effectLst/>
                <a:latin typeface="Arial" panose="020B0604020202020204" pitchFamily="34" charset="0"/>
                <a:hlinkClick r:id="rId13"/>
              </a:rPr>
              <a:t>[1]</a:t>
            </a:r>
            <a:endParaRPr lang="en-US" b="0" i="0" dirty="0">
              <a:solidFill>
                <a:srgbClr val="222222"/>
              </a:solidFill>
              <a:effectLst/>
              <a:latin typeface="Arial" panose="020B0604020202020204" pitchFamily="34" charset="0"/>
            </a:endParaRPr>
          </a:p>
          <a:p>
            <a:endParaRPr lang="en-US" b="0" i="0" baseline="0" dirty="0">
              <a:solidFill>
                <a:srgbClr val="222222"/>
              </a:solidFill>
              <a:effectLst/>
              <a:latin typeface="Arial" panose="020B0604020202020204" pitchFamily="34" charset="0"/>
            </a:endParaRPr>
          </a:p>
          <a:p>
            <a:r>
              <a:rPr lang="en-US" b="0" i="0" dirty="0">
                <a:solidFill>
                  <a:srgbClr val="222222"/>
                </a:solidFill>
                <a:effectLst/>
                <a:latin typeface="Arial" panose="020B0604020202020204" pitchFamily="34" charset="0"/>
              </a:rPr>
              <a:t>The System for Differential Corrections and Monitoring (SDCM) is the SBAS currently being developed in the Russian Federation</a:t>
            </a:r>
            <a:r>
              <a:rPr lang="en-US" b="0" i="0" u="none" strike="noStrike" baseline="30000" dirty="0">
                <a:solidFill>
                  <a:srgbClr val="0645AD"/>
                </a:solidFill>
                <a:effectLst/>
                <a:latin typeface="Arial" panose="020B0604020202020204" pitchFamily="34" charset="0"/>
                <a:hlinkClick r:id="rId14"/>
              </a:rPr>
              <a:t>[1]</a:t>
            </a:r>
            <a:r>
              <a:rPr lang="en-US" b="0" i="0" u="none" strike="noStrike" baseline="30000" dirty="0">
                <a:solidFill>
                  <a:srgbClr val="0645AD"/>
                </a:solidFill>
                <a:effectLst/>
                <a:latin typeface="Arial" panose="020B0604020202020204" pitchFamily="34" charset="0"/>
                <a:hlinkClick r:id="rId15"/>
              </a:rPr>
              <a:t>[2]</a:t>
            </a:r>
            <a:r>
              <a:rPr lang="en-US" b="0" i="0" dirty="0">
                <a:solidFill>
                  <a:srgbClr val="222222"/>
                </a:solidFill>
                <a:effectLst/>
                <a:latin typeface="Arial" panose="020B0604020202020204" pitchFamily="34" charset="0"/>
              </a:rPr>
              <a:t> as a component of GLONASS</a:t>
            </a:r>
          </a:p>
          <a:p>
            <a:endParaRPr lang="en-US" b="0" i="0" baseline="0" dirty="0">
              <a:solidFill>
                <a:srgbClr val="222222"/>
              </a:solidFill>
              <a:effectLst/>
              <a:latin typeface="Arial" panose="020B0604020202020204" pitchFamily="34" charset="0"/>
            </a:endParaRPr>
          </a:p>
          <a:p>
            <a:r>
              <a:rPr lang="en-US" b="0" i="0" dirty="0">
                <a:solidFill>
                  <a:srgbClr val="484848"/>
                </a:solidFill>
                <a:effectLst/>
                <a:latin typeface="Lucida Grande"/>
              </a:rPr>
              <a:t>GAGAN is an acronym for </a:t>
            </a:r>
            <a:r>
              <a:rPr lang="en-US" b="0" i="0" dirty="0">
                <a:solidFill>
                  <a:srgbClr val="FF4800"/>
                </a:solidFill>
                <a:effectLst/>
                <a:latin typeface="Lucida Grande"/>
              </a:rPr>
              <a:t>G</a:t>
            </a:r>
            <a:r>
              <a:rPr lang="en-US" b="0" i="0" dirty="0">
                <a:solidFill>
                  <a:srgbClr val="484848"/>
                </a:solidFill>
                <a:effectLst/>
                <a:latin typeface="Lucida Grande"/>
              </a:rPr>
              <a:t>PS </a:t>
            </a:r>
            <a:r>
              <a:rPr lang="en-US" b="0" i="0" dirty="0">
                <a:solidFill>
                  <a:srgbClr val="FF4800"/>
                </a:solidFill>
                <a:effectLst/>
                <a:latin typeface="Lucida Grande"/>
              </a:rPr>
              <a:t>A</a:t>
            </a:r>
            <a:r>
              <a:rPr lang="en-US" b="0" i="0" dirty="0">
                <a:solidFill>
                  <a:srgbClr val="484848"/>
                </a:solidFill>
                <a:effectLst/>
                <a:latin typeface="Lucida Grande"/>
              </a:rPr>
              <a:t>ided </a:t>
            </a:r>
            <a:r>
              <a:rPr lang="en-US" b="0" i="0" dirty="0">
                <a:solidFill>
                  <a:srgbClr val="FF4800"/>
                </a:solidFill>
                <a:effectLst/>
                <a:latin typeface="Lucida Grande"/>
              </a:rPr>
              <a:t>G</a:t>
            </a:r>
            <a:r>
              <a:rPr lang="en-US" b="0" i="0" dirty="0">
                <a:solidFill>
                  <a:srgbClr val="484848"/>
                </a:solidFill>
                <a:effectLst/>
                <a:latin typeface="Lucida Grande"/>
              </a:rPr>
              <a:t>EO </a:t>
            </a:r>
            <a:r>
              <a:rPr lang="en-US" b="0" i="0" dirty="0">
                <a:solidFill>
                  <a:srgbClr val="FF4800"/>
                </a:solidFill>
                <a:effectLst/>
                <a:latin typeface="Lucida Grande"/>
              </a:rPr>
              <a:t>A</a:t>
            </a:r>
            <a:r>
              <a:rPr lang="en-US" b="0" i="0" dirty="0">
                <a:solidFill>
                  <a:srgbClr val="484848"/>
                </a:solidFill>
                <a:effectLst/>
                <a:latin typeface="Lucida Grande"/>
              </a:rPr>
              <a:t>ugmented </a:t>
            </a:r>
            <a:r>
              <a:rPr lang="en-US" b="0" i="0" dirty="0">
                <a:solidFill>
                  <a:srgbClr val="FF4800"/>
                </a:solidFill>
                <a:effectLst/>
                <a:latin typeface="Lucida Grande"/>
              </a:rPr>
              <a:t>N</a:t>
            </a:r>
            <a:r>
              <a:rPr lang="en-US" b="0" i="0" dirty="0">
                <a:solidFill>
                  <a:srgbClr val="484848"/>
                </a:solidFill>
                <a:effectLst/>
                <a:latin typeface="Lucida Grande"/>
              </a:rPr>
              <a:t>avigation. It is a Space Based Augmentation  System (</a:t>
            </a:r>
            <a:r>
              <a:rPr lang="en-US" b="0" i="0" dirty="0">
                <a:solidFill>
                  <a:srgbClr val="0066FF"/>
                </a:solidFill>
                <a:effectLst/>
                <a:latin typeface="Lucida Grande"/>
              </a:rPr>
              <a:t>SBAS</a:t>
            </a:r>
            <a:r>
              <a:rPr lang="en-US" b="0" i="0" dirty="0">
                <a:solidFill>
                  <a:srgbClr val="484848"/>
                </a:solidFill>
                <a:effectLst/>
                <a:latin typeface="Lucida Grande"/>
              </a:rPr>
              <a:t>) jointly developed by </a:t>
            </a:r>
            <a:r>
              <a:rPr lang="en-US" b="0" i="0" dirty="0">
                <a:solidFill>
                  <a:srgbClr val="0066FF"/>
                </a:solidFill>
                <a:effectLst/>
                <a:latin typeface="Lucida Grande"/>
              </a:rPr>
              <a:t>ISRO </a:t>
            </a:r>
            <a:r>
              <a:rPr lang="en-US" b="0" i="0" dirty="0">
                <a:solidFill>
                  <a:srgbClr val="484848"/>
                </a:solidFill>
                <a:effectLst/>
                <a:latin typeface="Lucida Grande"/>
              </a:rPr>
              <a:t>and </a:t>
            </a:r>
            <a:r>
              <a:rPr lang="en-US" b="0" i="0" dirty="0">
                <a:solidFill>
                  <a:srgbClr val="0066FF"/>
                </a:solidFill>
                <a:effectLst/>
                <a:latin typeface="Lucida Grande"/>
              </a:rPr>
              <a:t>AAI </a:t>
            </a:r>
            <a:r>
              <a:rPr lang="en-US" b="0" i="0" dirty="0">
                <a:solidFill>
                  <a:srgbClr val="484848"/>
                </a:solidFill>
                <a:effectLst/>
                <a:latin typeface="Lucida Grande"/>
              </a:rPr>
              <a:t>to provide the best possible navigational services over Indian FIR (Flight Information Region) with the capability of expanding to </a:t>
            </a:r>
            <a:r>
              <a:rPr lang="en-US" b="0" i="0" dirty="0" err="1">
                <a:solidFill>
                  <a:srgbClr val="484848"/>
                </a:solidFill>
                <a:effectLst/>
                <a:latin typeface="Lucida Grande"/>
              </a:rPr>
              <a:t>neighbouring</a:t>
            </a:r>
            <a:r>
              <a:rPr lang="en-US" b="0" i="0" dirty="0">
                <a:solidFill>
                  <a:srgbClr val="484848"/>
                </a:solidFill>
                <a:effectLst/>
                <a:latin typeface="Lucida Grande"/>
              </a:rPr>
              <a:t> FIRs.</a:t>
            </a:r>
            <a:br>
              <a:rPr lang="en-US" baseline="0" dirty="0"/>
            </a:br>
            <a:endParaRPr lang="en-US" baseline="0"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19910585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form</a:t>
            </a:r>
            <a:r>
              <a:rPr lang="en-US" baseline="0" dirty="0"/>
              <a:t> of post processing is real-time kinematic or RTK surveys. </a:t>
            </a:r>
          </a:p>
          <a:p>
            <a:endParaRPr lang="en-US" baseline="0" dirty="0"/>
          </a:p>
          <a:p>
            <a:r>
              <a:rPr lang="en-US" baseline="0" dirty="0"/>
              <a:t>In the case of RTK surveys, a base station is established. A second GNSS receiver is then used to collect data as a rover. The roving GNSS receiver collects data relating to its distance from the base station in 3D space. </a:t>
            </a:r>
          </a:p>
          <a:p>
            <a:endParaRPr lang="en-US" baseline="0" dirty="0"/>
          </a:p>
          <a:p>
            <a:r>
              <a:rPr lang="en-US" baseline="0" dirty="0"/>
              <a:t>Back in the office, the base station data are post-processed and corrected. The x, y, and z measurements from the rover are then converted to coordinate using the correct base station data. </a:t>
            </a:r>
          </a:p>
          <a:p>
            <a:endParaRPr lang="en-US" baseline="0" dirty="0"/>
          </a:p>
          <a:p>
            <a:r>
              <a:rPr lang="en-US" baseline="0" dirty="0"/>
              <a:t>RTK relies on quality x, y, z positional measurements relating to the distance between the base station and rover in combination with post-processed base station data. </a:t>
            </a:r>
          </a:p>
          <a:p>
            <a:endParaRPr lang="en-US" baseline="0" dirty="0"/>
          </a:p>
          <a:p>
            <a:r>
              <a:rPr lang="en-US" b="0" i="0" dirty="0">
                <a:solidFill>
                  <a:srgbClr val="202122"/>
                </a:solidFill>
                <a:effectLst/>
                <a:latin typeface="Arial" panose="020B0604020202020204" pitchFamily="34" charset="0"/>
              </a:rPr>
              <a:t>20 km</a:t>
            </a:r>
          </a:p>
          <a:p>
            <a:endParaRPr lang="en-US" b="0" i="0" dirty="0">
              <a:solidFill>
                <a:srgbClr val="202122"/>
              </a:solidFill>
              <a:effectLst/>
              <a:latin typeface="Arial" panose="020B0604020202020204" pitchFamily="34" charset="0"/>
            </a:endParaRPr>
          </a:p>
          <a:p>
            <a:r>
              <a:rPr lang="en-US" dirty="0"/>
              <a:t>https://www.youtube.com/watch?v=ieearzWTCZw</a:t>
            </a:r>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35586867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t>
            </a:r>
            <a:r>
              <a:rPr lang="en-US" baseline="0" dirty="0"/>
              <a:t> GNSS base station is a survey-grade GNSS receiver that collects information at a location for an extended period of time. </a:t>
            </a:r>
          </a:p>
          <a:p>
            <a:endParaRPr lang="en-US" baseline="0" dirty="0"/>
          </a:p>
          <a:p>
            <a:r>
              <a:rPr lang="en-US" baseline="0" dirty="0"/>
              <a:t>These stations can be installed semi-permanently with regular maintenance. </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dirty="0"/>
              <a:t>If GPS data are continuously collected at a location for at least two hours, the location is considered to be a highly precise/accurate reference location and</a:t>
            </a:r>
            <a:r>
              <a:rPr lang="en-US" baseline="0" dirty="0"/>
              <a:t> can be used as ground truth or to correct other measurements.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6003952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459401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first trip, we collect the data of base station. Back to office, Dr. Connelly correct the data to get the precise base station location.</a:t>
            </a:r>
          </a:p>
          <a:p>
            <a:r>
              <a:rPr lang="en-US" dirty="0"/>
              <a:t>In the second trip, we just collect the data using the rover.</a:t>
            </a:r>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2192156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30</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17220" y="1597820"/>
            <a:ext cx="6995160" cy="1102519"/>
          </a:xfrm>
        </p:spPr>
        <p:txBody>
          <a:bodyPr/>
          <a:lstStyle/>
          <a:p>
            <a:r>
              <a:rPr lang="en-US"/>
              <a:t>Click to edit Master title style</a:t>
            </a:r>
          </a:p>
        </p:txBody>
      </p:sp>
      <p:sp>
        <p:nvSpPr>
          <p:cNvPr id="3" name="Subtitle 2"/>
          <p:cNvSpPr>
            <a:spLocks noGrp="1"/>
          </p:cNvSpPr>
          <p:nvPr>
            <p:ph type="subTitle" idx="1"/>
          </p:nvPr>
        </p:nvSpPr>
        <p:spPr>
          <a:xfrm>
            <a:off x="1234440" y="2914650"/>
            <a:ext cx="5760720" cy="1314450"/>
          </a:xfrm>
        </p:spPr>
        <p:txBody>
          <a:bodyPr/>
          <a:lstStyle>
            <a:lvl1pPr marL="0" indent="0" algn="ctr">
              <a:buNone/>
              <a:defRPr>
                <a:solidFill>
                  <a:schemeClr val="tx1">
                    <a:tint val="75000"/>
                  </a:schemeClr>
                </a:solidFill>
              </a:defRPr>
            </a:lvl1pPr>
            <a:lvl2pPr marL="411480" indent="0" algn="ctr">
              <a:buNone/>
              <a:defRPr>
                <a:solidFill>
                  <a:schemeClr val="tx1">
                    <a:tint val="75000"/>
                  </a:schemeClr>
                </a:solidFill>
              </a:defRPr>
            </a:lvl2pPr>
            <a:lvl3pPr marL="822960" indent="0" algn="ctr">
              <a:buNone/>
              <a:defRPr>
                <a:solidFill>
                  <a:schemeClr val="tx1">
                    <a:tint val="75000"/>
                  </a:schemeClr>
                </a:solidFill>
              </a:defRPr>
            </a:lvl3pPr>
            <a:lvl4pPr marL="1234440" indent="0" algn="ctr">
              <a:buNone/>
              <a:defRPr>
                <a:solidFill>
                  <a:schemeClr val="tx1">
                    <a:tint val="75000"/>
                  </a:schemeClr>
                </a:solidFill>
              </a:defRPr>
            </a:lvl4pPr>
            <a:lvl5pPr marL="1645920" indent="0" algn="ctr">
              <a:buNone/>
              <a:defRPr>
                <a:solidFill>
                  <a:schemeClr val="tx1">
                    <a:tint val="75000"/>
                  </a:schemeClr>
                </a:solidFill>
              </a:defRPr>
            </a:lvl5pPr>
            <a:lvl6pPr marL="2057400" indent="0" algn="ctr">
              <a:buNone/>
              <a:defRPr>
                <a:solidFill>
                  <a:schemeClr val="tx1">
                    <a:tint val="75000"/>
                  </a:schemeClr>
                </a:solidFill>
              </a:defRPr>
            </a:lvl6pPr>
            <a:lvl7pPr marL="2468880" indent="0" algn="ctr">
              <a:buNone/>
              <a:defRPr>
                <a:solidFill>
                  <a:schemeClr val="tx1">
                    <a:tint val="75000"/>
                  </a:schemeClr>
                </a:solidFill>
              </a:defRPr>
            </a:lvl7pPr>
            <a:lvl8pPr marL="2880360" indent="0" algn="ctr">
              <a:buNone/>
              <a:defRPr>
                <a:solidFill>
                  <a:schemeClr val="tx1">
                    <a:tint val="75000"/>
                  </a:schemeClr>
                </a:solidFill>
              </a:defRPr>
            </a:lvl8pPr>
            <a:lvl9pPr marL="329184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D00F9BB-97E2-4F5E-A9A6-FAC40A4E9E52}" type="datetime1">
              <a:rPr lang="en-US" smtClean="0"/>
              <a:t>9/14/2022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459162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FA16EE0-F357-46ED-94FA-906C52536BC8}" type="datetime1">
              <a:rPr lang="en-US" smtClean="0"/>
              <a:t>9/14/2022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824698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50082" y="3305176"/>
            <a:ext cx="6995160" cy="1021556"/>
          </a:xfrm>
        </p:spPr>
        <p:txBody>
          <a:bodyPr anchor="t"/>
          <a:lstStyle>
            <a:lvl1pPr algn="l">
              <a:defRPr sz="3600" b="1" cap="all"/>
            </a:lvl1pPr>
          </a:lstStyle>
          <a:p>
            <a:r>
              <a:rPr lang="en-US"/>
              <a:t>Click to edit Master title style</a:t>
            </a:r>
          </a:p>
        </p:txBody>
      </p:sp>
      <p:sp>
        <p:nvSpPr>
          <p:cNvPr id="3" name="Text Placeholder 2"/>
          <p:cNvSpPr>
            <a:spLocks noGrp="1"/>
          </p:cNvSpPr>
          <p:nvPr>
            <p:ph type="body" idx="1"/>
          </p:nvPr>
        </p:nvSpPr>
        <p:spPr>
          <a:xfrm>
            <a:off x="650082" y="2180035"/>
            <a:ext cx="6995160" cy="1125140"/>
          </a:xfrm>
        </p:spPr>
        <p:txBody>
          <a:bodyPr anchor="b"/>
          <a:lstStyle>
            <a:lvl1pPr marL="0" indent="0">
              <a:buNone/>
              <a:defRPr sz="1800">
                <a:solidFill>
                  <a:schemeClr val="tx1">
                    <a:tint val="75000"/>
                  </a:schemeClr>
                </a:solidFill>
              </a:defRPr>
            </a:lvl1pPr>
            <a:lvl2pPr marL="411480" indent="0">
              <a:buNone/>
              <a:defRPr sz="1620">
                <a:solidFill>
                  <a:schemeClr val="tx1">
                    <a:tint val="75000"/>
                  </a:schemeClr>
                </a:solidFill>
              </a:defRPr>
            </a:lvl2pPr>
            <a:lvl3pPr marL="822960" indent="0">
              <a:buNone/>
              <a:defRPr sz="1440">
                <a:solidFill>
                  <a:schemeClr val="tx1">
                    <a:tint val="75000"/>
                  </a:schemeClr>
                </a:solidFill>
              </a:defRPr>
            </a:lvl3pPr>
            <a:lvl4pPr marL="1234440" indent="0">
              <a:buNone/>
              <a:defRPr sz="1260">
                <a:solidFill>
                  <a:schemeClr val="tx1">
                    <a:tint val="75000"/>
                  </a:schemeClr>
                </a:solidFill>
              </a:defRPr>
            </a:lvl4pPr>
            <a:lvl5pPr marL="1645920" indent="0">
              <a:buNone/>
              <a:defRPr sz="1260">
                <a:solidFill>
                  <a:schemeClr val="tx1">
                    <a:tint val="75000"/>
                  </a:schemeClr>
                </a:solidFill>
              </a:defRPr>
            </a:lvl5pPr>
            <a:lvl6pPr marL="2057400" indent="0">
              <a:buNone/>
              <a:defRPr sz="1260">
                <a:solidFill>
                  <a:schemeClr val="tx1">
                    <a:tint val="75000"/>
                  </a:schemeClr>
                </a:solidFill>
              </a:defRPr>
            </a:lvl6pPr>
            <a:lvl7pPr marL="2468880" indent="0">
              <a:buNone/>
              <a:defRPr sz="1260">
                <a:solidFill>
                  <a:schemeClr val="tx1">
                    <a:tint val="75000"/>
                  </a:schemeClr>
                </a:solidFill>
              </a:defRPr>
            </a:lvl7pPr>
            <a:lvl8pPr marL="2880360" indent="0">
              <a:buNone/>
              <a:defRPr sz="1260">
                <a:solidFill>
                  <a:schemeClr val="tx1">
                    <a:tint val="75000"/>
                  </a:schemeClr>
                </a:solidFill>
              </a:defRPr>
            </a:lvl8pPr>
            <a:lvl9pPr marL="3291840" indent="0">
              <a:buNone/>
              <a:defRPr sz="12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0A555F4-0623-4308-89A4-2EF3C67F970E}" type="datetime1">
              <a:rPr lang="en-US" smtClean="0"/>
              <a:t>9/14/2022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41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14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1833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C2C25ED-83A1-4E27-9E45-CB4ECD4F0BBC}" type="datetime1">
              <a:rPr lang="en-US" smtClean="0"/>
              <a:t>9/14/2022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052044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11480" y="1151335"/>
            <a:ext cx="3636169"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4" name="Content Placeholder 3"/>
          <p:cNvSpPr>
            <a:spLocks noGrp="1"/>
          </p:cNvSpPr>
          <p:nvPr>
            <p:ph sz="half" idx="2"/>
          </p:nvPr>
        </p:nvSpPr>
        <p:spPr>
          <a:xfrm>
            <a:off x="411480" y="1631156"/>
            <a:ext cx="3636169"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180524" y="1151335"/>
            <a:ext cx="3637598"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6" name="Content Placeholder 5"/>
          <p:cNvSpPr>
            <a:spLocks noGrp="1"/>
          </p:cNvSpPr>
          <p:nvPr>
            <p:ph sz="quarter" idx="4"/>
          </p:nvPr>
        </p:nvSpPr>
        <p:spPr>
          <a:xfrm>
            <a:off x="4180524" y="1631156"/>
            <a:ext cx="3637598"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BC24F89-8A4A-4667-ACA3-D44E384795DF}" type="datetime1">
              <a:rPr lang="en-US" smtClean="0"/>
              <a:t>9/14/2022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34329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A613FE4-A8B1-43D2-900A-0789A75D843A}" type="datetime1">
              <a:rPr lang="en-US" smtClean="0"/>
              <a:t>9/14/2022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74429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E2B1E2-CA70-4E33-B1AB-E13FFAB976F0}" type="datetime1">
              <a:rPr lang="en-US" smtClean="0"/>
              <a:t>9/14/2022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04835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11481" y="204787"/>
            <a:ext cx="2707482" cy="871538"/>
          </a:xfrm>
        </p:spPr>
        <p:txBody>
          <a:bodyPr anchor="b"/>
          <a:lstStyle>
            <a:lvl1pPr algn="l">
              <a:defRPr sz="1800" b="1"/>
            </a:lvl1pPr>
          </a:lstStyle>
          <a:p>
            <a:r>
              <a:rPr lang="en-US"/>
              <a:t>Click to edit Master title style</a:t>
            </a:r>
          </a:p>
        </p:txBody>
      </p:sp>
      <p:sp>
        <p:nvSpPr>
          <p:cNvPr id="3" name="Content Placeholder 2"/>
          <p:cNvSpPr>
            <a:spLocks noGrp="1"/>
          </p:cNvSpPr>
          <p:nvPr>
            <p:ph idx="1"/>
          </p:nvPr>
        </p:nvSpPr>
        <p:spPr>
          <a:xfrm>
            <a:off x="3217545" y="204789"/>
            <a:ext cx="4600575" cy="4389835"/>
          </a:xfrm>
        </p:spPr>
        <p:txBody>
          <a:bodyPr/>
          <a:lstStyle>
            <a:lvl1pPr>
              <a:defRPr sz="2880"/>
            </a:lvl1pPr>
            <a:lvl2pPr>
              <a:defRPr sz="2520"/>
            </a:lvl2pPr>
            <a:lvl3pPr>
              <a:defRPr sz="216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11481" y="1076327"/>
            <a:ext cx="2707482" cy="351829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3E20A27F-A940-4DB1-BFA3-6B00386BFBB8}" type="datetime1">
              <a:rPr lang="en-US" smtClean="0"/>
              <a:t>9/14/2022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4184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13059" y="3600450"/>
            <a:ext cx="4937760" cy="425054"/>
          </a:xfrm>
        </p:spPr>
        <p:txBody>
          <a:bodyPr anchor="b"/>
          <a:lstStyle>
            <a:lvl1pPr algn="l">
              <a:defRPr sz="1800" b="1"/>
            </a:lvl1pPr>
          </a:lstStyle>
          <a:p>
            <a:r>
              <a:rPr lang="en-US"/>
              <a:t>Click to edit Master title style</a:t>
            </a:r>
          </a:p>
        </p:txBody>
      </p:sp>
      <p:sp>
        <p:nvSpPr>
          <p:cNvPr id="3" name="Picture Placeholder 2"/>
          <p:cNvSpPr>
            <a:spLocks noGrp="1"/>
          </p:cNvSpPr>
          <p:nvPr>
            <p:ph type="pic" idx="1"/>
          </p:nvPr>
        </p:nvSpPr>
        <p:spPr>
          <a:xfrm>
            <a:off x="1613059" y="459581"/>
            <a:ext cx="4937760" cy="3086100"/>
          </a:xfrm>
        </p:spPr>
        <p:txBody>
          <a:bodyPr/>
          <a:lstStyle>
            <a:lvl1pPr marL="0" indent="0">
              <a:buNone/>
              <a:defRPr sz="2880"/>
            </a:lvl1pPr>
            <a:lvl2pPr marL="411480" indent="0">
              <a:buNone/>
              <a:defRPr sz="2520"/>
            </a:lvl2pPr>
            <a:lvl3pPr marL="822960" indent="0">
              <a:buNone/>
              <a:defRPr sz="2160"/>
            </a:lvl3pPr>
            <a:lvl4pPr marL="1234440" indent="0">
              <a:buNone/>
              <a:defRPr sz="1800"/>
            </a:lvl4pPr>
            <a:lvl5pPr marL="1645920" indent="0">
              <a:buNone/>
              <a:defRPr sz="1800"/>
            </a:lvl5pPr>
            <a:lvl6pPr marL="2057400" indent="0">
              <a:buNone/>
              <a:defRPr sz="1800"/>
            </a:lvl6pPr>
            <a:lvl7pPr marL="2468880" indent="0">
              <a:buNone/>
              <a:defRPr sz="1800"/>
            </a:lvl7pPr>
            <a:lvl8pPr marL="2880360" indent="0">
              <a:buNone/>
              <a:defRPr sz="1800"/>
            </a:lvl8pPr>
            <a:lvl9pPr marL="3291840" indent="0">
              <a:buNone/>
              <a:defRPr sz="1800"/>
            </a:lvl9pPr>
          </a:lstStyle>
          <a:p>
            <a:endParaRPr lang="en-US"/>
          </a:p>
        </p:txBody>
      </p:sp>
      <p:sp>
        <p:nvSpPr>
          <p:cNvPr id="4" name="Text Placeholder 3"/>
          <p:cNvSpPr>
            <a:spLocks noGrp="1"/>
          </p:cNvSpPr>
          <p:nvPr>
            <p:ph type="body" sz="half" idx="2"/>
          </p:nvPr>
        </p:nvSpPr>
        <p:spPr>
          <a:xfrm>
            <a:off x="1613059" y="4025504"/>
            <a:ext cx="4937760" cy="60364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7FC8B4FF-525C-4739-8620-1BBEF31D3000}" type="datetime1">
              <a:rPr lang="en-US" smtClean="0"/>
              <a:t>9/14/2022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6031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66B1A4-BA96-45DD-B69E-04FB88AA18D4}" type="datetime1">
              <a:rPr lang="en-US" smtClean="0"/>
              <a:t>9/14/2022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50910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66460" y="205979"/>
            <a:ext cx="185166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1480" y="205979"/>
            <a:ext cx="541782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986499E-7FB9-4175-B5CC-46A07FADF573}" type="datetime1">
              <a:rPr lang="en-US" smtClean="0"/>
              <a:t>9/14/2022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645966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1480" y="205979"/>
            <a:ext cx="740664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11480" y="1200151"/>
            <a:ext cx="740664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11480" y="4767263"/>
            <a:ext cx="1920240" cy="273844"/>
          </a:xfrm>
          <a:prstGeom prst="rect">
            <a:avLst/>
          </a:prstGeom>
        </p:spPr>
        <p:txBody>
          <a:bodyPr vert="horz" lIns="91440" tIns="45720" rIns="91440" bIns="45720" rtlCol="0" anchor="ctr"/>
          <a:lstStyle>
            <a:lvl1pPr algn="l">
              <a:defRPr sz="1080">
                <a:solidFill>
                  <a:schemeClr val="tx1">
                    <a:tint val="75000"/>
                  </a:schemeClr>
                </a:solidFill>
              </a:defRPr>
            </a:lvl1pPr>
          </a:lstStyle>
          <a:p>
            <a:fld id="{31E1391E-2A44-4376-9A8A-15039D79744E}" type="datetime1">
              <a:rPr lang="en-US" smtClean="0"/>
              <a:t>9/14/2022</a:t>
            </a:fld>
            <a:endParaRPr lang="en-US"/>
          </a:p>
        </p:txBody>
      </p:sp>
      <p:sp>
        <p:nvSpPr>
          <p:cNvPr id="5" name="Footer Placeholder 4"/>
          <p:cNvSpPr>
            <a:spLocks noGrp="1"/>
          </p:cNvSpPr>
          <p:nvPr>
            <p:ph type="ftr" sz="quarter" idx="3"/>
          </p:nvPr>
        </p:nvSpPr>
        <p:spPr>
          <a:xfrm>
            <a:off x="2811780" y="4767263"/>
            <a:ext cx="2606040" cy="273844"/>
          </a:xfrm>
          <a:prstGeom prst="rect">
            <a:avLst/>
          </a:prstGeom>
        </p:spPr>
        <p:txBody>
          <a:bodyPr vert="horz" lIns="91440" tIns="45720" rIns="91440" bIns="45720" rtlCol="0" anchor="ctr"/>
          <a:lstStyle>
            <a:lvl1pPr algn="ctr">
              <a:defRPr sz="10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897880" y="4767263"/>
            <a:ext cx="1920240" cy="273844"/>
          </a:xfrm>
          <a:prstGeom prst="rect">
            <a:avLst/>
          </a:prstGeom>
        </p:spPr>
        <p:txBody>
          <a:bodyPr vert="horz" lIns="91440" tIns="45720" rIns="91440" bIns="45720" rtlCol="0" anchor="ctr"/>
          <a:lstStyle>
            <a:lvl1pPr algn="r">
              <a:defRPr sz="1080">
                <a:solidFill>
                  <a:schemeClr val="tx1">
                    <a:tint val="75000"/>
                  </a:schemeClr>
                </a:solidFill>
              </a:defRPr>
            </a:lvl1pPr>
          </a:lstStyle>
          <a:p>
            <a:fld id="{127DDC20-79C9-9647-820E-6D40A3D210C3}" type="slidenum">
              <a:rPr lang="en-US" smtClean="0"/>
              <a:pPr/>
              <a:t>‹#›</a:t>
            </a:fld>
            <a:endParaRPr lang="en-US"/>
          </a:p>
        </p:txBody>
      </p:sp>
    </p:spTree>
    <p:extLst>
      <p:ext uri="{BB962C8B-B14F-4D97-AF65-F5344CB8AC3E}">
        <p14:creationId xmlns:p14="http://schemas.microsoft.com/office/powerpoint/2010/main" val="14283940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11480" rtl="0" eaLnBrk="1" latinLnBrk="0" hangingPunct="1">
        <a:spcBef>
          <a:spcPct val="0"/>
        </a:spcBef>
        <a:buNone/>
        <a:defRPr sz="3960" kern="1200">
          <a:solidFill>
            <a:schemeClr val="tx1"/>
          </a:solidFill>
          <a:latin typeface="+mj-lt"/>
          <a:ea typeface="+mj-ea"/>
          <a:cs typeface="+mj-cs"/>
        </a:defRPr>
      </a:lvl1pPr>
    </p:titleStyle>
    <p:body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p:bodyStyle>
    <p:otherStyle>
      <a:defPPr>
        <a:defRPr lang="en-US"/>
      </a:defPPr>
      <a:lvl1pPr marL="0" algn="l" defTabSz="411480" rtl="0" eaLnBrk="1" latinLnBrk="0" hangingPunct="1">
        <a:defRPr sz="1620" kern="1200">
          <a:solidFill>
            <a:schemeClr val="tx1"/>
          </a:solidFill>
          <a:latin typeface="+mn-lt"/>
          <a:ea typeface="+mn-ea"/>
          <a:cs typeface="+mn-cs"/>
        </a:defRPr>
      </a:lvl1pPr>
      <a:lvl2pPr marL="411480" algn="l" defTabSz="411480" rtl="0" eaLnBrk="1" latinLnBrk="0" hangingPunct="1">
        <a:defRPr sz="1620" kern="1200">
          <a:solidFill>
            <a:schemeClr val="tx1"/>
          </a:solidFill>
          <a:latin typeface="+mn-lt"/>
          <a:ea typeface="+mn-ea"/>
          <a:cs typeface="+mn-cs"/>
        </a:defRPr>
      </a:lvl2pPr>
      <a:lvl3pPr marL="822960" algn="l" defTabSz="411480" rtl="0" eaLnBrk="1" latinLnBrk="0" hangingPunct="1">
        <a:defRPr sz="1620" kern="1200">
          <a:solidFill>
            <a:schemeClr val="tx1"/>
          </a:solidFill>
          <a:latin typeface="+mn-lt"/>
          <a:ea typeface="+mn-ea"/>
          <a:cs typeface="+mn-cs"/>
        </a:defRPr>
      </a:lvl3pPr>
      <a:lvl4pPr marL="1234440" algn="l" defTabSz="411480" rtl="0" eaLnBrk="1" latinLnBrk="0" hangingPunct="1">
        <a:defRPr sz="1620" kern="1200">
          <a:solidFill>
            <a:schemeClr val="tx1"/>
          </a:solidFill>
          <a:latin typeface="+mn-lt"/>
          <a:ea typeface="+mn-ea"/>
          <a:cs typeface="+mn-cs"/>
        </a:defRPr>
      </a:lvl4pPr>
      <a:lvl5pPr marL="1645920" algn="l" defTabSz="411480" rtl="0" eaLnBrk="1" latinLnBrk="0" hangingPunct="1">
        <a:defRPr sz="1620" kern="1200">
          <a:solidFill>
            <a:schemeClr val="tx1"/>
          </a:solidFill>
          <a:latin typeface="+mn-lt"/>
          <a:ea typeface="+mn-ea"/>
          <a:cs typeface="+mn-cs"/>
        </a:defRPr>
      </a:lvl5pPr>
      <a:lvl6pPr marL="2057400" algn="l" defTabSz="411480" rtl="0" eaLnBrk="1" latinLnBrk="0" hangingPunct="1">
        <a:defRPr sz="1620" kern="1200">
          <a:solidFill>
            <a:schemeClr val="tx1"/>
          </a:solidFill>
          <a:latin typeface="+mn-lt"/>
          <a:ea typeface="+mn-ea"/>
          <a:cs typeface="+mn-cs"/>
        </a:defRPr>
      </a:lvl6pPr>
      <a:lvl7pPr marL="2468880" algn="l" defTabSz="411480" rtl="0" eaLnBrk="1" latinLnBrk="0" hangingPunct="1">
        <a:defRPr sz="1620" kern="1200">
          <a:solidFill>
            <a:schemeClr val="tx1"/>
          </a:solidFill>
          <a:latin typeface="+mn-lt"/>
          <a:ea typeface="+mn-ea"/>
          <a:cs typeface="+mn-cs"/>
        </a:defRPr>
      </a:lvl7pPr>
      <a:lvl8pPr marL="2880360" algn="l" defTabSz="411480" rtl="0" eaLnBrk="1" latinLnBrk="0" hangingPunct="1">
        <a:defRPr sz="1620" kern="1200">
          <a:solidFill>
            <a:schemeClr val="tx1"/>
          </a:solidFill>
          <a:latin typeface="+mn-lt"/>
          <a:ea typeface="+mn-ea"/>
          <a:cs typeface="+mn-cs"/>
        </a:defRPr>
      </a:lvl8pPr>
      <a:lvl9pPr marL="3291840" algn="l" defTabSz="411480" rtl="0" eaLnBrk="1" latinLnBrk="0" hangingPunct="1">
        <a:defRPr sz="16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www.faa.gov/about/office_org/headquarters_offices/ato/service_units/techops/navservices/gnss/waas/howitworks/"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commons.wikimedia.org/wiki/File:CORS_spicewood_lcrh.jpg" TargetMode="External"/></Relationships>
</file>

<file path=ppt/slides/_rels/slide28.xml.rels><?xml version="1.0" encoding="UTF-8" standalone="yes"?>
<Relationships xmlns="http://schemas.openxmlformats.org/package/2006/relationships"><Relationship Id="rId8" Type="http://schemas.openxmlformats.org/officeDocument/2006/relationships/image" Target="../media/image23.png"/><Relationship Id="rId3" Type="http://schemas.microsoft.com/office/2007/relationships/media" Target="../media/media2.mp4"/><Relationship Id="rId7" Type="http://schemas.openxmlformats.org/officeDocument/2006/relationships/image" Target="../media/image22.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28.xml"/><Relationship Id="rId5" Type="http://schemas.openxmlformats.org/officeDocument/2006/relationships/slideLayout" Target="../slideLayouts/slideLayout2.xml"/><Relationship Id="rId4" Type="http://schemas.openxmlformats.org/officeDocument/2006/relationships/video" Target="../media/media2.mp4"/></Relationships>
</file>

<file path=ppt/slides/_rels/slide29.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6.jpg"/><Relationship Id="rId4" Type="http://schemas.openxmlformats.org/officeDocument/2006/relationships/image" Target="../media/image25.jp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5091" y="158778"/>
            <a:ext cx="8001000" cy="1549772"/>
          </a:xfrm>
        </p:spPr>
        <p:txBody>
          <a:bodyPr>
            <a:normAutofit/>
          </a:bodyPr>
          <a:lstStyle/>
          <a:p>
            <a:r>
              <a:rPr lang="en-US" sz="3600" dirty="0"/>
              <a:t>GEOG 3319: Geographic Field Techniques</a:t>
            </a:r>
          </a:p>
        </p:txBody>
      </p:sp>
      <p:sp>
        <p:nvSpPr>
          <p:cNvPr id="6" name="Subtitle 2"/>
          <p:cNvSpPr txBox="1">
            <a:spLocks/>
          </p:cNvSpPr>
          <p:nvPr/>
        </p:nvSpPr>
        <p:spPr>
          <a:xfrm>
            <a:off x="1257018" y="2967511"/>
            <a:ext cx="5760720" cy="1171497"/>
          </a:xfrm>
          <a:prstGeom prst="rect">
            <a:avLst/>
          </a:prstGeom>
        </p:spPr>
        <p:txBody>
          <a:bodyPr vert="horz" lIns="82296" tIns="41148" rIns="82296" bIns="41148" rtlCol="0">
            <a:normAutofit fontScale="25000" lnSpcReduction="20000"/>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8000" dirty="0">
                <a:solidFill>
                  <a:schemeClr val="tx1"/>
                </a:solidFill>
              </a:rPr>
              <a:t>Yaqian He, PhD</a:t>
            </a:r>
          </a:p>
          <a:p>
            <a:r>
              <a:rPr lang="en-US" sz="8000" dirty="0">
                <a:solidFill>
                  <a:schemeClr val="tx1"/>
                </a:solidFill>
              </a:rPr>
              <a:t>Assistant Professor</a:t>
            </a:r>
          </a:p>
          <a:p>
            <a:r>
              <a:rPr lang="en-US" sz="8000" dirty="0">
                <a:solidFill>
                  <a:schemeClr val="tx1"/>
                </a:solidFill>
              </a:rPr>
              <a:t>Department of Geography</a:t>
            </a:r>
          </a:p>
          <a:p>
            <a:endParaRPr lang="en-US" sz="2880" dirty="0"/>
          </a:p>
        </p:txBody>
      </p:sp>
      <p:cxnSp>
        <p:nvCxnSpPr>
          <p:cNvPr id="15" name="Straight Connector 14"/>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矩形 11"/>
          <p:cNvSpPr/>
          <p:nvPr/>
        </p:nvSpPr>
        <p:spPr>
          <a:xfrm>
            <a:off x="2072922" y="4416072"/>
            <a:ext cx="279753" cy="481132"/>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9C8852E4-0F7F-41A7-9B32-F40B4D3A753B}"/>
              </a:ext>
            </a:extLst>
          </p:cNvPr>
          <p:cNvSpPr txBox="1"/>
          <p:nvPr/>
        </p:nvSpPr>
        <p:spPr>
          <a:xfrm>
            <a:off x="-1" y="1708550"/>
            <a:ext cx="8196091" cy="1200329"/>
          </a:xfrm>
          <a:prstGeom prst="rect">
            <a:avLst/>
          </a:prstGeom>
          <a:noFill/>
        </p:spPr>
        <p:txBody>
          <a:bodyPr wrap="square" rtlCol="0">
            <a:spAutoFit/>
          </a:bodyPr>
          <a:lstStyle/>
          <a:p>
            <a:pPr algn="ctr"/>
            <a:r>
              <a:rPr lang="en-US" sz="3600" dirty="0"/>
              <a:t>Lecture 05 GPS Receivers and GPS Augmentation</a:t>
            </a:r>
          </a:p>
        </p:txBody>
      </p:sp>
      <p:pic>
        <p:nvPicPr>
          <p:cNvPr id="13" name="Picture 12">
            <a:extLst>
              <a:ext uri="{FF2B5EF4-FFF2-40B4-BE49-F238E27FC236}">
                <a16:creationId xmlns:a16="http://schemas.microsoft.com/office/drawing/2014/main" id="{AE401581-7A56-448D-8256-F61D9515AE30}"/>
              </a:ext>
            </a:extLst>
          </p:cNvPr>
          <p:cNvPicPr/>
          <p:nvPr/>
        </p:nvPicPr>
        <p:blipFill>
          <a:blip r:embed="rId3"/>
          <a:stretch>
            <a:fillRect/>
          </a:stretch>
        </p:blipFill>
        <p:spPr>
          <a:xfrm>
            <a:off x="152400" y="4275667"/>
            <a:ext cx="5915025" cy="758190"/>
          </a:xfrm>
          <a:prstGeom prst="rect">
            <a:avLst/>
          </a:prstGeom>
        </p:spPr>
      </p:pic>
    </p:spTree>
    <p:extLst>
      <p:ext uri="{BB962C8B-B14F-4D97-AF65-F5344CB8AC3E}">
        <p14:creationId xmlns:p14="http://schemas.microsoft.com/office/powerpoint/2010/main" val="38235061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1"/>
            <a:ext cx="7679724" cy="4011145"/>
          </a:xfrm>
        </p:spPr>
        <p:txBody>
          <a:bodyPr>
            <a:normAutofit fontScale="62500" lnSpcReduction="20000"/>
          </a:bodyPr>
          <a:lstStyle/>
          <a:p>
            <a:pPr>
              <a:buFont typeface="Courier New" panose="02070309020205020404" pitchFamily="49" charset="0"/>
              <a:buChar char="o"/>
            </a:pPr>
            <a:r>
              <a:rPr lang="en-US" altLang="zh-CN" sz="2600" dirty="0"/>
              <a:t>GPS receiver</a:t>
            </a:r>
          </a:p>
          <a:p>
            <a:pPr lvl="1">
              <a:buFont typeface="Wingdings" panose="05000000000000000000" pitchFamily="2" charset="2"/>
              <a:buChar char="ü"/>
            </a:pPr>
            <a:r>
              <a:rPr lang="en-US" altLang="zh-CN" sz="2600" dirty="0"/>
              <a:t>Antenna</a:t>
            </a:r>
          </a:p>
          <a:p>
            <a:pPr lvl="1">
              <a:buFont typeface="Wingdings" panose="05000000000000000000" pitchFamily="2" charset="2"/>
              <a:buChar char="ü"/>
            </a:pPr>
            <a:r>
              <a:rPr lang="en-US" altLang="en-US" sz="2600" dirty="0"/>
              <a:t>Controller</a:t>
            </a:r>
          </a:p>
          <a:p>
            <a:pPr lvl="1">
              <a:buFont typeface="Wingdings" panose="05000000000000000000" pitchFamily="2" charset="2"/>
              <a:buChar char="ü"/>
            </a:pPr>
            <a:r>
              <a:rPr lang="en-US" altLang="en-US" sz="2600" dirty="0"/>
              <a:t>Receiver Hardware</a:t>
            </a:r>
          </a:p>
          <a:p>
            <a:pPr lvl="1">
              <a:buFont typeface="Wingdings" panose="05000000000000000000" pitchFamily="2" charset="2"/>
              <a:buChar char="ü"/>
            </a:pPr>
            <a:r>
              <a:rPr lang="en-US" altLang="en-US" sz="2600" dirty="0"/>
              <a:t>GPS Receiver types</a:t>
            </a:r>
          </a:p>
          <a:p>
            <a:pPr lvl="2">
              <a:buFont typeface="Arial" panose="020B0604020202020204" pitchFamily="34" charset="0"/>
              <a:buChar char="•"/>
            </a:pPr>
            <a:r>
              <a:rPr lang="en-US" altLang="en-US" sz="1880" dirty="0"/>
              <a:t>Code Receivers</a:t>
            </a:r>
          </a:p>
          <a:p>
            <a:pPr lvl="2">
              <a:buFont typeface="Arial" panose="020B0604020202020204" pitchFamily="34" charset="0"/>
              <a:buChar char="•"/>
            </a:pPr>
            <a:r>
              <a:rPr lang="en-US" altLang="en-US" sz="2240" dirty="0"/>
              <a:t>Frequency Receivers</a:t>
            </a:r>
          </a:p>
          <a:p>
            <a:pPr lvl="1">
              <a:buFont typeface="Wingdings" panose="05000000000000000000" pitchFamily="2" charset="2"/>
              <a:buChar char="ü"/>
            </a:pPr>
            <a:r>
              <a:rPr lang="en-US" altLang="zh-CN" sz="2600" dirty="0"/>
              <a:t>GPS receiver limitation</a:t>
            </a:r>
          </a:p>
          <a:p>
            <a:pPr>
              <a:buFont typeface="Courier New" panose="02070309020205020404" pitchFamily="49" charset="0"/>
              <a:buChar char="o"/>
            </a:pPr>
            <a:r>
              <a:rPr lang="en-US" altLang="en-US" sz="2600" dirty="0"/>
              <a:t>Assisted GPS</a:t>
            </a:r>
          </a:p>
          <a:p>
            <a:pPr lvl="1">
              <a:buFont typeface="Wingdings" panose="05000000000000000000" pitchFamily="2" charset="2"/>
              <a:buChar char="ü"/>
            </a:pPr>
            <a:r>
              <a:rPr lang="en-US" altLang="en-US" sz="2600" dirty="0"/>
              <a:t>Information send to cellular device</a:t>
            </a:r>
          </a:p>
          <a:p>
            <a:pPr lvl="1">
              <a:buFont typeface="Wingdings" panose="05000000000000000000" pitchFamily="2" charset="2"/>
              <a:buChar char="ü"/>
            </a:pPr>
            <a:r>
              <a:rPr lang="en-US" altLang="en-US" sz="2600" dirty="0"/>
              <a:t>A-GPS mode</a:t>
            </a:r>
          </a:p>
          <a:p>
            <a:pPr lvl="2">
              <a:buFont typeface="Arial" panose="020B0604020202020204" pitchFamily="34" charset="0"/>
              <a:buChar char="•"/>
            </a:pPr>
            <a:r>
              <a:rPr lang="en-US" altLang="en-US" sz="1880" dirty="0"/>
              <a:t>UE-assisted</a:t>
            </a:r>
          </a:p>
          <a:p>
            <a:pPr lvl="2">
              <a:buFont typeface="Arial" panose="020B0604020202020204" pitchFamily="34" charset="0"/>
              <a:buChar char="•"/>
            </a:pPr>
            <a:r>
              <a:rPr lang="en-US" altLang="en-US" sz="1900" dirty="0"/>
              <a:t>UE-based</a:t>
            </a:r>
          </a:p>
          <a:p>
            <a:pPr marL="308610" lvl="2" indent="-308610">
              <a:buFont typeface="Courier New" panose="02070309020205020404" pitchFamily="49" charset="0"/>
              <a:buChar char="o"/>
            </a:pPr>
            <a:r>
              <a:rPr lang="en-US" altLang="en-US" sz="2600" dirty="0"/>
              <a:t>Differential GPS</a:t>
            </a:r>
          </a:p>
          <a:p>
            <a:pPr marL="308610" lvl="2" indent="-308610">
              <a:buFont typeface="Courier New" panose="02070309020205020404" pitchFamily="49" charset="0"/>
              <a:buChar char="o"/>
            </a:pPr>
            <a:r>
              <a:rPr lang="en-US" altLang="en-US" sz="2600" dirty="0"/>
              <a:t>WAAS</a:t>
            </a:r>
          </a:p>
          <a:p>
            <a:pPr marL="308610" lvl="2" indent="-308610">
              <a:buFont typeface="Courier New" panose="02070309020205020404" pitchFamily="49" charset="0"/>
              <a:buChar char="o"/>
            </a:pPr>
            <a:r>
              <a:rPr lang="en-US" altLang="en-US" sz="2600" dirty="0"/>
              <a:t>RTK</a:t>
            </a:r>
          </a:p>
          <a:p>
            <a:pPr marL="411480" lvl="1" indent="0">
              <a:buNone/>
            </a:pPr>
            <a:endParaRPr lang="en-US" altLang="en-US" sz="2240" dirty="0"/>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a:t>
            </a:fld>
            <a:endParaRPr lang="en-US"/>
          </a:p>
        </p:txBody>
      </p:sp>
    </p:spTree>
    <p:extLst>
      <p:ext uri="{BB962C8B-B14F-4D97-AF65-F5344CB8AC3E}">
        <p14:creationId xmlns:p14="http://schemas.microsoft.com/office/powerpoint/2010/main" val="3497018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sp>
        <p:nvSpPr>
          <p:cNvPr id="9" name="Content Placeholder 2">
            <a:extLst>
              <a:ext uri="{FF2B5EF4-FFF2-40B4-BE49-F238E27FC236}">
                <a16:creationId xmlns:a16="http://schemas.microsoft.com/office/drawing/2014/main" id="{32CDBEE1-9601-4263-A365-F3F6F0E987D2}"/>
              </a:ext>
            </a:extLst>
          </p:cNvPr>
          <p:cNvSpPr>
            <a:spLocks noGrp="1"/>
          </p:cNvSpPr>
          <p:nvPr>
            <p:ph idx="1"/>
          </p:nvPr>
        </p:nvSpPr>
        <p:spPr>
          <a:xfrm>
            <a:off x="118533" y="1030150"/>
            <a:ext cx="7825317" cy="1663623"/>
          </a:xfrm>
        </p:spPr>
        <p:txBody>
          <a:bodyPr>
            <a:normAutofit fontScale="92500" lnSpcReduction="20000"/>
          </a:bodyPr>
          <a:lstStyle/>
          <a:p>
            <a:pPr>
              <a:spcBef>
                <a:spcPts val="0"/>
              </a:spcBef>
              <a:buFont typeface="Courier New" panose="02070309020205020404" pitchFamily="49" charset="0"/>
              <a:buChar char="o"/>
            </a:pPr>
            <a:r>
              <a:rPr lang="en-US" dirty="0"/>
              <a:t>GPS receiver</a:t>
            </a:r>
            <a:endParaRPr lang="en-US" b="0" dirty="0"/>
          </a:p>
          <a:p>
            <a:pPr lvl="1">
              <a:spcBef>
                <a:spcPts val="0"/>
              </a:spcBef>
              <a:buFont typeface="Wingdings" panose="05000000000000000000" pitchFamily="2" charset="2"/>
              <a:buChar char="ü"/>
            </a:pPr>
            <a:r>
              <a:rPr lang="en-US" dirty="0"/>
              <a:t>An electronic instrument</a:t>
            </a:r>
          </a:p>
          <a:p>
            <a:pPr lvl="1">
              <a:spcBef>
                <a:spcPts val="0"/>
              </a:spcBef>
              <a:buFont typeface="Wingdings" panose="05000000000000000000" pitchFamily="2" charset="2"/>
              <a:buChar char="ü"/>
            </a:pPr>
            <a:r>
              <a:rPr lang="en-US" dirty="0"/>
              <a:t>Consists: an antenna, a hardware receiver, and a controller</a:t>
            </a:r>
          </a:p>
          <a:p>
            <a:pPr lvl="1">
              <a:spcBef>
                <a:spcPts val="0"/>
              </a:spcBef>
              <a:buFont typeface="Wingdings" panose="05000000000000000000" pitchFamily="2" charset="2"/>
              <a:buChar char="ü"/>
            </a:pPr>
            <a:r>
              <a:rPr lang="en-US" dirty="0"/>
              <a:t>GPS signals are extremely low in power and get masked with interference </a:t>
            </a:r>
          </a:p>
        </p:txBody>
      </p:sp>
      <p:pic>
        <p:nvPicPr>
          <p:cNvPr id="6" name="Picture 5">
            <a:extLst>
              <a:ext uri="{FF2B5EF4-FFF2-40B4-BE49-F238E27FC236}">
                <a16:creationId xmlns:a16="http://schemas.microsoft.com/office/drawing/2014/main" id="{5599F066-7780-4AAB-B6A5-821267D0FA41}"/>
              </a:ext>
            </a:extLst>
          </p:cNvPr>
          <p:cNvPicPr>
            <a:picLocks noChangeAspect="1"/>
          </p:cNvPicPr>
          <p:nvPr/>
        </p:nvPicPr>
        <p:blipFill>
          <a:blip r:embed="rId3"/>
          <a:stretch>
            <a:fillRect/>
          </a:stretch>
        </p:blipFill>
        <p:spPr>
          <a:xfrm>
            <a:off x="2782016" y="2693773"/>
            <a:ext cx="3951335" cy="2242495"/>
          </a:xfrm>
          <a:prstGeom prst="rect">
            <a:avLst/>
          </a:prstGeom>
        </p:spPr>
      </p:pic>
      <p:sp>
        <p:nvSpPr>
          <p:cNvPr id="8" name="TextBox 7">
            <a:extLst>
              <a:ext uri="{FF2B5EF4-FFF2-40B4-BE49-F238E27FC236}">
                <a16:creationId xmlns:a16="http://schemas.microsoft.com/office/drawing/2014/main" id="{C5D297AC-838D-456B-92C5-131C84C4273B}"/>
              </a:ext>
            </a:extLst>
          </p:cNvPr>
          <p:cNvSpPr txBox="1"/>
          <p:nvPr/>
        </p:nvSpPr>
        <p:spPr>
          <a:xfrm>
            <a:off x="5233686" y="4850571"/>
            <a:ext cx="1587244" cy="246221"/>
          </a:xfrm>
          <a:prstGeom prst="rect">
            <a:avLst/>
          </a:prstGeom>
          <a:noFill/>
        </p:spPr>
        <p:txBody>
          <a:bodyPr wrap="square" rtlCol="0">
            <a:spAutoFit/>
          </a:bodyPr>
          <a:lstStyle/>
          <a:p>
            <a:r>
              <a:rPr lang="en-US" sz="1000" dirty="0">
                <a:solidFill>
                  <a:srgbClr val="7030A0"/>
                </a:solidFill>
              </a:rPr>
              <a:t>Kaplan &amp; Hegarty, 2006</a:t>
            </a:r>
          </a:p>
        </p:txBody>
      </p:sp>
    </p:spTree>
    <p:extLst>
      <p:ext uri="{BB962C8B-B14F-4D97-AF65-F5344CB8AC3E}">
        <p14:creationId xmlns:p14="http://schemas.microsoft.com/office/powerpoint/2010/main" val="4962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Antenna</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4</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lnSpcReduction="10000"/>
          </a:bodyPr>
          <a:lstStyle/>
          <a:p>
            <a:pPr>
              <a:spcBef>
                <a:spcPts val="0"/>
              </a:spcBef>
              <a:buFont typeface="Courier New" panose="02070309020205020404" pitchFamily="49" charset="0"/>
              <a:buChar char="o"/>
            </a:pPr>
            <a:r>
              <a:rPr lang="en-US" dirty="0"/>
              <a:t>Gathers GNSS/GPS signals from satellite and transform into guided wave</a:t>
            </a:r>
          </a:p>
          <a:p>
            <a:pPr>
              <a:spcBef>
                <a:spcPts val="0"/>
              </a:spcBef>
              <a:buFont typeface="Courier New" panose="02070309020205020404" pitchFamily="49" charset="0"/>
              <a:buChar char="o"/>
            </a:pPr>
            <a:r>
              <a:rPr lang="en-US" b="0" dirty="0"/>
              <a:t>Quality of GNSS/GPS observation primarily depends on the antenna</a:t>
            </a:r>
          </a:p>
          <a:p>
            <a:pPr>
              <a:spcBef>
                <a:spcPts val="0"/>
              </a:spcBef>
              <a:buFont typeface="Courier New" panose="02070309020205020404" pitchFamily="49" charset="0"/>
              <a:buChar char="o"/>
            </a:pPr>
            <a:r>
              <a:rPr lang="en-US" b="0" dirty="0"/>
              <a:t>A</a:t>
            </a:r>
            <a:r>
              <a:rPr lang="en-US" dirty="0"/>
              <a:t>ntenna remains integrated with the receiver electronics and all are kept in a single rugged case</a:t>
            </a:r>
          </a:p>
          <a:p>
            <a:pPr>
              <a:spcBef>
                <a:spcPts val="0"/>
              </a:spcBef>
              <a:buFont typeface="Courier New" panose="02070309020205020404" pitchFamily="49" charset="0"/>
              <a:buChar char="o"/>
            </a:pPr>
            <a:r>
              <a:rPr lang="en-US" b="0" dirty="0"/>
              <a:t>Antenna can also present as an independent unit.</a:t>
            </a:r>
          </a:p>
        </p:txBody>
      </p:sp>
    </p:spTree>
    <p:extLst>
      <p:ext uri="{BB962C8B-B14F-4D97-AF65-F5344CB8AC3E}">
        <p14:creationId xmlns:p14="http://schemas.microsoft.com/office/powerpoint/2010/main" val="14823221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Antenna</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1026" name="Picture 2" descr="Trimble TSC3 Controller | SITECH Western Australia">
            <a:extLst>
              <a:ext uri="{FF2B5EF4-FFF2-40B4-BE49-F238E27FC236}">
                <a16:creationId xmlns:a16="http://schemas.microsoft.com/office/drawing/2014/main" id="{69FE56E2-E217-4660-9DD3-C0EA3B7485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69416" y="1192306"/>
            <a:ext cx="4148704" cy="275888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0A5B448-522D-42D9-AE63-97F72B7AE572}"/>
              </a:ext>
            </a:extLst>
          </p:cNvPr>
          <p:cNvSpPr txBox="1"/>
          <p:nvPr/>
        </p:nvSpPr>
        <p:spPr>
          <a:xfrm>
            <a:off x="4152900" y="4728438"/>
            <a:ext cx="4141694" cy="246221"/>
          </a:xfrm>
          <a:prstGeom prst="rect">
            <a:avLst/>
          </a:prstGeom>
          <a:noFill/>
        </p:spPr>
        <p:txBody>
          <a:bodyPr wrap="square">
            <a:spAutoFit/>
          </a:bodyPr>
          <a:lstStyle/>
          <a:p>
            <a:r>
              <a:rPr lang="en-US" sz="1000" dirty="0">
                <a:solidFill>
                  <a:srgbClr val="7030A0"/>
                </a:solidFill>
              </a:rPr>
              <a:t>https://www.sitechwa.com.au/trimble-tsc3-controller/</a:t>
            </a:r>
          </a:p>
        </p:txBody>
      </p:sp>
      <p:pic>
        <p:nvPicPr>
          <p:cNvPr id="1030" name="Picture 6" descr="Trimble TDC100 - 4G Android">
            <a:extLst>
              <a:ext uri="{FF2B5EF4-FFF2-40B4-BE49-F238E27FC236}">
                <a16:creationId xmlns:a16="http://schemas.microsoft.com/office/drawing/2014/main" id="{BBD35913-48CE-4E73-8016-4ADF3E933B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416" y="1162785"/>
            <a:ext cx="2023634" cy="2758888"/>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49BE342-C4C5-42CC-9A80-BAEA046A0314}"/>
              </a:ext>
            </a:extLst>
          </p:cNvPr>
          <p:cNvSpPr txBox="1"/>
          <p:nvPr/>
        </p:nvSpPr>
        <p:spPr>
          <a:xfrm>
            <a:off x="442913" y="4767263"/>
            <a:ext cx="3226503" cy="246221"/>
          </a:xfrm>
          <a:prstGeom prst="rect">
            <a:avLst/>
          </a:prstGeom>
          <a:noFill/>
        </p:spPr>
        <p:txBody>
          <a:bodyPr wrap="square" rtlCol="0">
            <a:spAutoFit/>
          </a:bodyPr>
          <a:lstStyle/>
          <a:p>
            <a:r>
              <a:rPr lang="en-US" sz="1000" dirty="0">
                <a:solidFill>
                  <a:srgbClr val="7030A0"/>
                </a:solidFill>
              </a:rPr>
              <a:t>Trimble website</a:t>
            </a:r>
          </a:p>
        </p:txBody>
      </p:sp>
      <p:sp>
        <p:nvSpPr>
          <p:cNvPr id="3" name="TextBox 2">
            <a:extLst>
              <a:ext uri="{FF2B5EF4-FFF2-40B4-BE49-F238E27FC236}">
                <a16:creationId xmlns:a16="http://schemas.microsoft.com/office/drawing/2014/main" id="{C2A8D52D-EA63-4A13-BF07-D1DDFFEB8BA4}"/>
              </a:ext>
            </a:extLst>
          </p:cNvPr>
          <p:cNvSpPr txBox="1"/>
          <p:nvPr/>
        </p:nvSpPr>
        <p:spPr>
          <a:xfrm>
            <a:off x="1050325" y="4206706"/>
            <a:ext cx="1334530" cy="369332"/>
          </a:xfrm>
          <a:prstGeom prst="rect">
            <a:avLst/>
          </a:prstGeom>
          <a:noFill/>
        </p:spPr>
        <p:txBody>
          <a:bodyPr wrap="square" rtlCol="0">
            <a:spAutoFit/>
          </a:bodyPr>
          <a:lstStyle/>
          <a:p>
            <a:r>
              <a:rPr lang="en-US" dirty="0"/>
              <a:t>TDC 100</a:t>
            </a:r>
          </a:p>
        </p:txBody>
      </p:sp>
      <p:sp>
        <p:nvSpPr>
          <p:cNvPr id="11" name="TextBox 10">
            <a:extLst>
              <a:ext uri="{FF2B5EF4-FFF2-40B4-BE49-F238E27FC236}">
                <a16:creationId xmlns:a16="http://schemas.microsoft.com/office/drawing/2014/main" id="{5F59BAFD-9FC6-4561-BC40-1E86F907D9A8}"/>
              </a:ext>
            </a:extLst>
          </p:cNvPr>
          <p:cNvSpPr txBox="1"/>
          <p:nvPr/>
        </p:nvSpPr>
        <p:spPr>
          <a:xfrm>
            <a:off x="5230615" y="4220589"/>
            <a:ext cx="1334530" cy="369332"/>
          </a:xfrm>
          <a:prstGeom prst="rect">
            <a:avLst/>
          </a:prstGeom>
          <a:noFill/>
        </p:spPr>
        <p:txBody>
          <a:bodyPr wrap="square" rtlCol="0">
            <a:spAutoFit/>
          </a:bodyPr>
          <a:lstStyle/>
          <a:p>
            <a:r>
              <a:rPr lang="en-US" dirty="0"/>
              <a:t>TSC3</a:t>
            </a:r>
          </a:p>
        </p:txBody>
      </p:sp>
    </p:spTree>
    <p:extLst>
      <p:ext uri="{BB962C8B-B14F-4D97-AF65-F5344CB8AC3E}">
        <p14:creationId xmlns:p14="http://schemas.microsoft.com/office/powerpoint/2010/main" val="1351131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Antenna</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6</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a:bodyPr>
          <a:lstStyle/>
          <a:p>
            <a:pPr>
              <a:spcBef>
                <a:spcPts val="0"/>
              </a:spcBef>
              <a:buFont typeface="Courier New" panose="02070309020205020404" pitchFamily="49" charset="0"/>
              <a:buChar char="o"/>
            </a:pPr>
            <a:r>
              <a:rPr lang="en-US" dirty="0"/>
              <a:t>Proper selection of antenna with a GPS receiver is important</a:t>
            </a:r>
          </a:p>
          <a:p>
            <a:pPr>
              <a:spcBef>
                <a:spcPts val="0"/>
              </a:spcBef>
              <a:buFont typeface="Courier New" panose="02070309020205020404" pitchFamily="49" charset="0"/>
              <a:buChar char="o"/>
            </a:pPr>
            <a:r>
              <a:rPr lang="en-US" dirty="0"/>
              <a:t>Usually, right-hand circularly polarized with hemispherical top surface are considered for GPS surveying</a:t>
            </a:r>
          </a:p>
          <a:p>
            <a:pPr>
              <a:spcBef>
                <a:spcPts val="0"/>
              </a:spcBef>
              <a:buFont typeface="Courier New" panose="02070309020205020404" pitchFamily="49" charset="0"/>
              <a:buChar char="o"/>
            </a:pPr>
            <a:r>
              <a:rPr lang="en-US" b="0" dirty="0"/>
              <a:t>For precise GPS surveying, choke-ring antennas are preferred to be used</a:t>
            </a:r>
          </a:p>
          <a:p>
            <a:pPr lvl="1">
              <a:spcBef>
                <a:spcPts val="0"/>
              </a:spcBef>
              <a:buFont typeface="Wingdings" panose="05000000000000000000" pitchFamily="2" charset="2"/>
              <a:buChar char="ü"/>
            </a:pPr>
            <a:r>
              <a:rPr lang="en-US" dirty="0"/>
              <a:t>Reduces the effects of multipath</a:t>
            </a:r>
            <a:endParaRPr lang="en-US" b="0" dirty="0"/>
          </a:p>
        </p:txBody>
      </p:sp>
    </p:spTree>
    <p:extLst>
      <p:ext uri="{BB962C8B-B14F-4D97-AF65-F5344CB8AC3E}">
        <p14:creationId xmlns:p14="http://schemas.microsoft.com/office/powerpoint/2010/main" val="3663398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Antenna</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7</a:t>
            </a:fld>
            <a:endParaRPr lang="en-US"/>
          </a:p>
        </p:txBody>
      </p:sp>
      <p:pic>
        <p:nvPicPr>
          <p:cNvPr id="2050" name="Picture 2">
            <a:extLst>
              <a:ext uri="{FF2B5EF4-FFF2-40B4-BE49-F238E27FC236}">
                <a16:creationId xmlns:a16="http://schemas.microsoft.com/office/drawing/2014/main" id="{FA666336-00B3-4242-A037-7EF34E6AED3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904" t="26727"/>
          <a:stretch/>
        </p:blipFill>
        <p:spPr bwMode="auto">
          <a:xfrm>
            <a:off x="4492961" y="1092016"/>
            <a:ext cx="3325159" cy="3257162"/>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E930E38-3C1D-4108-B673-06E788EBEE8D}"/>
              </a:ext>
            </a:extLst>
          </p:cNvPr>
          <p:cNvSpPr txBox="1"/>
          <p:nvPr/>
        </p:nvSpPr>
        <p:spPr>
          <a:xfrm>
            <a:off x="5225653" y="4399002"/>
            <a:ext cx="2332435" cy="369332"/>
          </a:xfrm>
          <a:prstGeom prst="rect">
            <a:avLst/>
          </a:prstGeom>
          <a:noFill/>
        </p:spPr>
        <p:txBody>
          <a:bodyPr wrap="square">
            <a:spAutoFit/>
          </a:bodyPr>
          <a:lstStyle/>
          <a:p>
            <a:r>
              <a:rPr lang="en-US" b="0" i="0" dirty="0">
                <a:solidFill>
                  <a:srgbClr val="222222"/>
                </a:solidFill>
                <a:effectLst/>
              </a:rPr>
              <a:t>Choke Ring design </a:t>
            </a:r>
            <a:endParaRPr lang="en-US" dirty="0"/>
          </a:p>
        </p:txBody>
      </p:sp>
      <p:sp>
        <p:nvSpPr>
          <p:cNvPr id="12" name="TextBox 11">
            <a:extLst>
              <a:ext uri="{FF2B5EF4-FFF2-40B4-BE49-F238E27FC236}">
                <a16:creationId xmlns:a16="http://schemas.microsoft.com/office/drawing/2014/main" id="{4F4772BC-3490-4B4E-A576-122C7ADDD46D}"/>
              </a:ext>
            </a:extLst>
          </p:cNvPr>
          <p:cNvSpPr txBox="1"/>
          <p:nvPr/>
        </p:nvSpPr>
        <p:spPr>
          <a:xfrm>
            <a:off x="4828460" y="4794887"/>
            <a:ext cx="2989660" cy="246220"/>
          </a:xfrm>
          <a:prstGeom prst="rect">
            <a:avLst/>
          </a:prstGeom>
          <a:noFill/>
        </p:spPr>
        <p:txBody>
          <a:bodyPr wrap="square">
            <a:spAutoFit/>
          </a:bodyPr>
          <a:lstStyle/>
          <a:p>
            <a:r>
              <a:rPr lang="en-US" sz="1000" dirty="0">
                <a:solidFill>
                  <a:srgbClr val="7030A0"/>
                </a:solidFill>
              </a:rPr>
              <a:t>https://gssc.esa.int/navipedia/index.php/Antennas</a:t>
            </a:r>
          </a:p>
        </p:txBody>
      </p:sp>
      <p:pic>
        <p:nvPicPr>
          <p:cNvPr id="13" name="Picture 12">
            <a:extLst>
              <a:ext uri="{FF2B5EF4-FFF2-40B4-BE49-F238E27FC236}">
                <a16:creationId xmlns:a16="http://schemas.microsoft.com/office/drawing/2014/main" id="{295E24B8-E21B-4310-98EE-C98EED11BA04}"/>
              </a:ext>
            </a:extLst>
          </p:cNvPr>
          <p:cNvPicPr>
            <a:picLocks noChangeAspect="1"/>
          </p:cNvPicPr>
          <p:nvPr/>
        </p:nvPicPr>
        <p:blipFill rotWithShape="1">
          <a:blip r:embed="rId4"/>
          <a:srcRect b="3875"/>
          <a:stretch/>
        </p:blipFill>
        <p:spPr>
          <a:xfrm>
            <a:off x="411480" y="1164973"/>
            <a:ext cx="3167509" cy="1968518"/>
          </a:xfrm>
          <a:prstGeom prst="rect">
            <a:avLst/>
          </a:prstGeom>
        </p:spPr>
      </p:pic>
      <p:pic>
        <p:nvPicPr>
          <p:cNvPr id="15" name="Picture 14">
            <a:extLst>
              <a:ext uri="{FF2B5EF4-FFF2-40B4-BE49-F238E27FC236}">
                <a16:creationId xmlns:a16="http://schemas.microsoft.com/office/drawing/2014/main" id="{F3B7FFE1-06EC-4ACD-AAB2-388B5437F70E}"/>
              </a:ext>
            </a:extLst>
          </p:cNvPr>
          <p:cNvPicPr>
            <a:picLocks noChangeAspect="1"/>
          </p:cNvPicPr>
          <p:nvPr/>
        </p:nvPicPr>
        <p:blipFill>
          <a:blip r:embed="rId5"/>
          <a:stretch>
            <a:fillRect/>
          </a:stretch>
        </p:blipFill>
        <p:spPr>
          <a:xfrm>
            <a:off x="823589" y="3782946"/>
            <a:ext cx="2403328" cy="875286"/>
          </a:xfrm>
          <a:prstGeom prst="rect">
            <a:avLst/>
          </a:prstGeom>
        </p:spPr>
      </p:pic>
      <p:sp>
        <p:nvSpPr>
          <p:cNvPr id="16" name="TextBox 15">
            <a:extLst>
              <a:ext uri="{FF2B5EF4-FFF2-40B4-BE49-F238E27FC236}">
                <a16:creationId xmlns:a16="http://schemas.microsoft.com/office/drawing/2014/main" id="{1367D4D4-CA58-4244-AE61-629C01825A5B}"/>
              </a:ext>
            </a:extLst>
          </p:cNvPr>
          <p:cNvSpPr txBox="1"/>
          <p:nvPr/>
        </p:nvSpPr>
        <p:spPr>
          <a:xfrm>
            <a:off x="1193739" y="4658232"/>
            <a:ext cx="1814511" cy="369332"/>
          </a:xfrm>
          <a:prstGeom prst="rect">
            <a:avLst/>
          </a:prstGeom>
          <a:noFill/>
        </p:spPr>
        <p:txBody>
          <a:bodyPr wrap="square">
            <a:spAutoFit/>
          </a:bodyPr>
          <a:lstStyle/>
          <a:p>
            <a:r>
              <a:rPr lang="en-US" b="0" i="0" dirty="0">
                <a:solidFill>
                  <a:srgbClr val="222222"/>
                </a:solidFill>
                <a:effectLst/>
              </a:rPr>
              <a:t>Patch antenna</a:t>
            </a:r>
            <a:endParaRPr lang="en-US" dirty="0"/>
          </a:p>
        </p:txBody>
      </p:sp>
      <p:sp>
        <p:nvSpPr>
          <p:cNvPr id="20" name="TextBox 19">
            <a:extLst>
              <a:ext uri="{FF2B5EF4-FFF2-40B4-BE49-F238E27FC236}">
                <a16:creationId xmlns:a16="http://schemas.microsoft.com/office/drawing/2014/main" id="{8EDF96DF-E37C-426C-AC8D-A515B3CBC2BA}"/>
              </a:ext>
            </a:extLst>
          </p:cNvPr>
          <p:cNvSpPr txBox="1"/>
          <p:nvPr/>
        </p:nvSpPr>
        <p:spPr>
          <a:xfrm>
            <a:off x="152400" y="3374787"/>
            <a:ext cx="4136230" cy="246221"/>
          </a:xfrm>
          <a:prstGeom prst="rect">
            <a:avLst/>
          </a:prstGeom>
          <a:noFill/>
        </p:spPr>
        <p:txBody>
          <a:bodyPr wrap="square">
            <a:spAutoFit/>
          </a:bodyPr>
          <a:lstStyle/>
          <a:p>
            <a:r>
              <a:rPr lang="en-US" sz="1000" dirty="0">
                <a:solidFill>
                  <a:srgbClr val="7030A0"/>
                </a:solidFill>
              </a:rPr>
              <a:t>https://www.e-education.psu.edu/geog862/book/export/html/1659</a:t>
            </a:r>
          </a:p>
        </p:txBody>
      </p:sp>
    </p:spTree>
    <p:extLst>
      <p:ext uri="{BB962C8B-B14F-4D97-AF65-F5344CB8AC3E}">
        <p14:creationId xmlns:p14="http://schemas.microsoft.com/office/powerpoint/2010/main" val="3908050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Antenna</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12" name="TextBox 11">
            <a:extLst>
              <a:ext uri="{FF2B5EF4-FFF2-40B4-BE49-F238E27FC236}">
                <a16:creationId xmlns:a16="http://schemas.microsoft.com/office/drawing/2014/main" id="{4F4772BC-3490-4B4E-A576-122C7ADDD46D}"/>
              </a:ext>
            </a:extLst>
          </p:cNvPr>
          <p:cNvSpPr txBox="1"/>
          <p:nvPr/>
        </p:nvSpPr>
        <p:spPr>
          <a:xfrm>
            <a:off x="-18267" y="4804832"/>
            <a:ext cx="6546532" cy="246221"/>
          </a:xfrm>
          <a:prstGeom prst="rect">
            <a:avLst/>
          </a:prstGeom>
          <a:noFill/>
        </p:spPr>
        <p:txBody>
          <a:bodyPr wrap="square">
            <a:spAutoFit/>
          </a:bodyPr>
          <a:lstStyle/>
          <a:p>
            <a:r>
              <a:rPr lang="en-US" sz="1000" dirty="0">
                <a:solidFill>
                  <a:srgbClr val="7030A0"/>
                </a:solidFill>
              </a:rPr>
              <a:t>http://trl.trimble.com/docushare/dsweb/Get/Document-882667</a:t>
            </a:r>
          </a:p>
        </p:txBody>
      </p:sp>
      <p:pic>
        <p:nvPicPr>
          <p:cNvPr id="6" name="Picture 5">
            <a:extLst>
              <a:ext uri="{FF2B5EF4-FFF2-40B4-BE49-F238E27FC236}">
                <a16:creationId xmlns:a16="http://schemas.microsoft.com/office/drawing/2014/main" id="{A0845006-B5AE-420E-8116-B11A9F5BEC2A}"/>
              </a:ext>
            </a:extLst>
          </p:cNvPr>
          <p:cNvPicPr>
            <a:picLocks noChangeAspect="1"/>
          </p:cNvPicPr>
          <p:nvPr/>
        </p:nvPicPr>
        <p:blipFill rotWithShape="1">
          <a:blip r:embed="rId3"/>
          <a:srcRect r="47032" b="76613"/>
          <a:stretch/>
        </p:blipFill>
        <p:spPr>
          <a:xfrm>
            <a:off x="87277" y="1262877"/>
            <a:ext cx="7791594" cy="1165785"/>
          </a:xfrm>
          <a:prstGeom prst="rect">
            <a:avLst/>
          </a:prstGeom>
        </p:spPr>
      </p:pic>
      <p:pic>
        <p:nvPicPr>
          <p:cNvPr id="3" name="Picture 2">
            <a:extLst>
              <a:ext uri="{FF2B5EF4-FFF2-40B4-BE49-F238E27FC236}">
                <a16:creationId xmlns:a16="http://schemas.microsoft.com/office/drawing/2014/main" id="{0B8FE086-44B0-491D-8CF4-FB6238E01C31}"/>
              </a:ext>
            </a:extLst>
          </p:cNvPr>
          <p:cNvPicPr>
            <a:picLocks noChangeAspect="1"/>
          </p:cNvPicPr>
          <p:nvPr/>
        </p:nvPicPr>
        <p:blipFill rotWithShape="1">
          <a:blip r:embed="rId3"/>
          <a:srcRect l="52968" t="1" b="76613"/>
          <a:stretch/>
        </p:blipFill>
        <p:spPr>
          <a:xfrm>
            <a:off x="45886" y="2942656"/>
            <a:ext cx="8001000" cy="1348182"/>
          </a:xfrm>
          <a:prstGeom prst="rect">
            <a:avLst/>
          </a:prstGeom>
        </p:spPr>
      </p:pic>
    </p:spTree>
    <p:extLst>
      <p:ext uri="{BB962C8B-B14F-4D97-AF65-F5344CB8AC3E}">
        <p14:creationId xmlns:p14="http://schemas.microsoft.com/office/powerpoint/2010/main" val="2509642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a:t>
            </a:r>
            <a:r>
              <a:rPr lang="en-US" altLang="zh-CN" sz="3200" dirty="0">
                <a:solidFill>
                  <a:srgbClr val="7030A0"/>
                </a:solidFill>
              </a:rPr>
              <a:t>ontroller</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lnSpcReduction="10000"/>
          </a:bodyPr>
          <a:lstStyle/>
          <a:p>
            <a:pPr>
              <a:spcBef>
                <a:spcPts val="0"/>
              </a:spcBef>
              <a:buFont typeface="Courier New" panose="02070309020205020404" pitchFamily="49" charset="0"/>
              <a:buChar char="o"/>
            </a:pPr>
            <a:r>
              <a:rPr lang="en-US" dirty="0"/>
              <a:t>A palmtop computer with I/O unit</a:t>
            </a:r>
          </a:p>
          <a:p>
            <a:pPr>
              <a:spcBef>
                <a:spcPts val="0"/>
              </a:spcBef>
              <a:buFont typeface="Courier New" panose="02070309020205020404" pitchFamily="49" charset="0"/>
              <a:buChar char="o"/>
            </a:pPr>
            <a:r>
              <a:rPr lang="en-US" dirty="0"/>
              <a:t>Present either as an independent unit or as built-in with the GPS receiver. Field software and real time application software, if required, get installed. </a:t>
            </a:r>
          </a:p>
          <a:p>
            <a:pPr>
              <a:spcBef>
                <a:spcPts val="0"/>
              </a:spcBef>
              <a:buFont typeface="Courier New" panose="02070309020205020404" pitchFamily="49" charset="0"/>
              <a:buChar char="o"/>
            </a:pPr>
            <a:r>
              <a:rPr lang="en-US" b="0" dirty="0"/>
              <a:t>Provides commands to carry out different operation</a:t>
            </a:r>
          </a:p>
          <a:p>
            <a:pPr>
              <a:spcBef>
                <a:spcPts val="0"/>
              </a:spcBef>
              <a:buFont typeface="Courier New" panose="02070309020205020404" pitchFamily="49" charset="0"/>
              <a:buChar char="o"/>
            </a:pPr>
            <a:r>
              <a:rPr lang="en-US" b="0" dirty="0"/>
              <a:t>Displays real time field conditions such as SV positions, geometry status etc. </a:t>
            </a:r>
          </a:p>
        </p:txBody>
      </p:sp>
    </p:spTree>
    <p:extLst>
      <p:ext uri="{BB962C8B-B14F-4D97-AF65-F5344CB8AC3E}">
        <p14:creationId xmlns:p14="http://schemas.microsoft.com/office/powerpoint/2010/main" val="4330540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a:t>
            </a:r>
            <a:r>
              <a:rPr lang="en-US" altLang="zh-CN" sz="3200" dirty="0">
                <a:solidFill>
                  <a:srgbClr val="7030A0"/>
                </a:solidFill>
              </a:rPr>
              <a:t>ontroller</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10</a:t>
            </a:fld>
            <a:endParaRPr lang="en-US"/>
          </a:p>
        </p:txBody>
      </p:sp>
      <p:pic>
        <p:nvPicPr>
          <p:cNvPr id="3074" name="Picture 2" descr="Trimble TSC3 Controller - Mercator Test Bed">
            <a:extLst>
              <a:ext uri="{FF2B5EF4-FFF2-40B4-BE49-F238E27FC236}">
                <a16:creationId xmlns:a16="http://schemas.microsoft.com/office/drawing/2014/main" id="{DA99BB0D-BD0F-427A-B191-2F8A4138BC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2449" y="1078771"/>
            <a:ext cx="1790700" cy="333375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7E8742A-2114-4418-AE3E-D5E055D3CCBD}"/>
              </a:ext>
            </a:extLst>
          </p:cNvPr>
          <p:cNvSpPr txBox="1"/>
          <p:nvPr/>
        </p:nvSpPr>
        <p:spPr>
          <a:xfrm>
            <a:off x="720406" y="4305598"/>
            <a:ext cx="3336607" cy="461665"/>
          </a:xfrm>
          <a:prstGeom prst="rect">
            <a:avLst/>
          </a:prstGeom>
          <a:noFill/>
        </p:spPr>
        <p:txBody>
          <a:bodyPr wrap="square" rtlCol="0">
            <a:spAutoFit/>
          </a:bodyPr>
          <a:lstStyle/>
          <a:p>
            <a:r>
              <a:rPr lang="en-US" sz="2400" dirty="0"/>
              <a:t>Trimble TSC3 Controller</a:t>
            </a:r>
          </a:p>
        </p:txBody>
      </p:sp>
      <p:pic>
        <p:nvPicPr>
          <p:cNvPr id="3076" name="Picture 4" descr="main product photo">
            <a:extLst>
              <a:ext uri="{FF2B5EF4-FFF2-40B4-BE49-F238E27FC236}">
                <a16:creationId xmlns:a16="http://schemas.microsoft.com/office/drawing/2014/main" id="{82AC31EB-5F49-43BF-8E5F-FCBD01BC55F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25018" y="473876"/>
            <a:ext cx="2388715" cy="441244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1A216B9-B712-4327-8886-4C0F4A72EC34}"/>
              </a:ext>
            </a:extLst>
          </p:cNvPr>
          <p:cNvSpPr txBox="1"/>
          <p:nvPr/>
        </p:nvSpPr>
        <p:spPr>
          <a:xfrm>
            <a:off x="4877942" y="4372132"/>
            <a:ext cx="2388715" cy="461665"/>
          </a:xfrm>
          <a:prstGeom prst="rect">
            <a:avLst/>
          </a:prstGeom>
          <a:noFill/>
        </p:spPr>
        <p:txBody>
          <a:bodyPr wrap="square" rtlCol="0">
            <a:spAutoFit/>
          </a:bodyPr>
          <a:lstStyle/>
          <a:p>
            <a:r>
              <a:rPr lang="en-US" sz="2400" dirty="0"/>
              <a:t>Trimble TDC150</a:t>
            </a:r>
          </a:p>
        </p:txBody>
      </p:sp>
      <p:sp>
        <p:nvSpPr>
          <p:cNvPr id="6" name="TextBox 5">
            <a:extLst>
              <a:ext uri="{FF2B5EF4-FFF2-40B4-BE49-F238E27FC236}">
                <a16:creationId xmlns:a16="http://schemas.microsoft.com/office/drawing/2014/main" id="{49E44E6B-E17C-4B6B-8ECD-5C47523CB9CC}"/>
              </a:ext>
            </a:extLst>
          </p:cNvPr>
          <p:cNvSpPr txBox="1"/>
          <p:nvPr/>
        </p:nvSpPr>
        <p:spPr>
          <a:xfrm>
            <a:off x="446086" y="4829035"/>
            <a:ext cx="3226503" cy="246221"/>
          </a:xfrm>
          <a:prstGeom prst="rect">
            <a:avLst/>
          </a:prstGeom>
          <a:noFill/>
        </p:spPr>
        <p:txBody>
          <a:bodyPr wrap="square" rtlCol="0">
            <a:spAutoFit/>
          </a:bodyPr>
          <a:lstStyle/>
          <a:p>
            <a:r>
              <a:rPr lang="en-US" sz="1000" dirty="0">
                <a:solidFill>
                  <a:srgbClr val="7030A0"/>
                </a:solidFill>
              </a:rPr>
              <a:t>Trimble website</a:t>
            </a:r>
          </a:p>
        </p:txBody>
      </p:sp>
    </p:spTree>
    <p:extLst>
      <p:ext uri="{BB962C8B-B14F-4D97-AF65-F5344CB8AC3E}">
        <p14:creationId xmlns:p14="http://schemas.microsoft.com/office/powerpoint/2010/main" val="18528979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a:t>
            </a:r>
            <a:r>
              <a:rPr lang="en-US" altLang="zh-CN" sz="3200" dirty="0">
                <a:solidFill>
                  <a:srgbClr val="7030A0"/>
                </a:solidFill>
              </a:rPr>
              <a:t>ontroller</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10" name="Picture 9" descr="A picture containing book, monitor&#10;&#10;Description automatically generated">
            <a:extLst>
              <a:ext uri="{FF2B5EF4-FFF2-40B4-BE49-F238E27FC236}">
                <a16:creationId xmlns:a16="http://schemas.microsoft.com/office/drawing/2014/main" id="{60FDE244-E593-43D3-97D4-A95640BB545C}"/>
              </a:ext>
            </a:extLst>
          </p:cNvPr>
          <p:cNvPicPr>
            <a:picLocks noChangeAspect="1"/>
          </p:cNvPicPr>
          <p:nvPr/>
        </p:nvPicPr>
        <p:blipFill>
          <a:blip r:embed="rId3"/>
          <a:stretch>
            <a:fillRect/>
          </a:stretch>
        </p:blipFill>
        <p:spPr>
          <a:xfrm rot="5400000">
            <a:off x="2306962" y="1673795"/>
            <a:ext cx="3691875" cy="2768906"/>
          </a:xfrm>
          <a:prstGeom prst="rect">
            <a:avLst/>
          </a:prstGeom>
        </p:spPr>
      </p:pic>
    </p:spTree>
    <p:extLst>
      <p:ext uri="{BB962C8B-B14F-4D97-AF65-F5344CB8AC3E}">
        <p14:creationId xmlns:p14="http://schemas.microsoft.com/office/powerpoint/2010/main" val="31320609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t>
            </a:r>
            <a:r>
              <a:rPr lang="en-US" altLang="zh-CN" sz="3200" dirty="0">
                <a:solidFill>
                  <a:srgbClr val="7030A0"/>
                </a:solidFill>
              </a:rPr>
              <a:t>eceiver hardware</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a:bodyPr>
          <a:lstStyle/>
          <a:p>
            <a:pPr>
              <a:spcBef>
                <a:spcPts val="0"/>
              </a:spcBef>
              <a:buFont typeface="Courier New" panose="02070309020205020404" pitchFamily="49" charset="0"/>
              <a:buChar char="o"/>
            </a:pPr>
            <a:r>
              <a:rPr lang="en-US" dirty="0"/>
              <a:t>Many functional elements present within a GPS receiver hardware</a:t>
            </a:r>
          </a:p>
          <a:p>
            <a:pPr lvl="1">
              <a:spcBef>
                <a:spcPts val="0"/>
              </a:spcBef>
              <a:buFont typeface="Wingdings" panose="05000000000000000000" pitchFamily="2" charset="2"/>
              <a:buChar char="ü"/>
            </a:pPr>
            <a:r>
              <a:rPr lang="en-US" dirty="0"/>
              <a:t>Filters, Amplifier, Frequency unit, Process unit</a:t>
            </a:r>
          </a:p>
          <a:p>
            <a:pPr>
              <a:spcBef>
                <a:spcPts val="0"/>
              </a:spcBef>
              <a:buFont typeface="Courier New" panose="02070309020205020404" pitchFamily="49" charset="0"/>
              <a:buChar char="o"/>
            </a:pPr>
            <a:endParaRPr lang="en-US" dirty="0"/>
          </a:p>
        </p:txBody>
      </p:sp>
      <p:pic>
        <p:nvPicPr>
          <p:cNvPr id="9" name="Picture 8">
            <a:extLst>
              <a:ext uri="{FF2B5EF4-FFF2-40B4-BE49-F238E27FC236}">
                <a16:creationId xmlns:a16="http://schemas.microsoft.com/office/drawing/2014/main" id="{80A2E9F9-2A8B-42F4-9295-FC1D7BB8019B}"/>
              </a:ext>
            </a:extLst>
          </p:cNvPr>
          <p:cNvPicPr>
            <a:picLocks noChangeAspect="1"/>
          </p:cNvPicPr>
          <p:nvPr/>
        </p:nvPicPr>
        <p:blipFill>
          <a:blip r:embed="rId3"/>
          <a:stretch>
            <a:fillRect/>
          </a:stretch>
        </p:blipFill>
        <p:spPr>
          <a:xfrm>
            <a:off x="2382988" y="2436993"/>
            <a:ext cx="3539824" cy="2583396"/>
          </a:xfrm>
          <a:prstGeom prst="rect">
            <a:avLst/>
          </a:prstGeom>
        </p:spPr>
      </p:pic>
      <p:sp>
        <p:nvSpPr>
          <p:cNvPr id="10" name="Rectangle 9">
            <a:extLst>
              <a:ext uri="{FF2B5EF4-FFF2-40B4-BE49-F238E27FC236}">
                <a16:creationId xmlns:a16="http://schemas.microsoft.com/office/drawing/2014/main" id="{C8E39AE1-D75B-4F34-80D5-574D16647649}"/>
              </a:ext>
            </a:extLst>
          </p:cNvPr>
          <p:cNvSpPr/>
          <p:nvPr/>
        </p:nvSpPr>
        <p:spPr>
          <a:xfrm>
            <a:off x="2570205" y="3076832"/>
            <a:ext cx="580768" cy="605482"/>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5E73E86-79D2-42CE-9E92-69128DA3E9E6}"/>
              </a:ext>
            </a:extLst>
          </p:cNvPr>
          <p:cNvSpPr/>
          <p:nvPr/>
        </p:nvSpPr>
        <p:spPr>
          <a:xfrm>
            <a:off x="3227475" y="3076832"/>
            <a:ext cx="580768" cy="605482"/>
          </a:xfrm>
          <a:prstGeom prst="rect">
            <a:avLst/>
          </a:prstGeom>
          <a:noFill/>
          <a:ln>
            <a:solidFill>
              <a:schemeClr val="accent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2E0CF17-C1F5-4E9F-89EB-F630AE579A42}"/>
              </a:ext>
            </a:extLst>
          </p:cNvPr>
          <p:cNvSpPr/>
          <p:nvPr/>
        </p:nvSpPr>
        <p:spPr>
          <a:xfrm>
            <a:off x="3862392" y="2571750"/>
            <a:ext cx="1920569" cy="1541600"/>
          </a:xfrm>
          <a:prstGeom prst="rect">
            <a:avLst/>
          </a:prstGeom>
          <a:no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E242180-F701-481B-B083-90918A951194}"/>
              </a:ext>
            </a:extLst>
          </p:cNvPr>
          <p:cNvSpPr txBox="1"/>
          <p:nvPr/>
        </p:nvSpPr>
        <p:spPr>
          <a:xfrm>
            <a:off x="5233686" y="4850571"/>
            <a:ext cx="1587244" cy="246221"/>
          </a:xfrm>
          <a:prstGeom prst="rect">
            <a:avLst/>
          </a:prstGeom>
          <a:noFill/>
        </p:spPr>
        <p:txBody>
          <a:bodyPr wrap="square" rtlCol="0">
            <a:spAutoFit/>
          </a:bodyPr>
          <a:lstStyle/>
          <a:p>
            <a:r>
              <a:rPr lang="en-US" sz="1000" dirty="0">
                <a:solidFill>
                  <a:srgbClr val="7030A0"/>
                </a:solidFill>
              </a:rPr>
              <a:t>Kaplan &amp; Hegarty, 2006</a:t>
            </a:r>
          </a:p>
        </p:txBody>
      </p:sp>
    </p:spTree>
    <p:extLst>
      <p:ext uri="{BB962C8B-B14F-4D97-AF65-F5344CB8AC3E}">
        <p14:creationId xmlns:p14="http://schemas.microsoft.com/office/powerpoint/2010/main" val="1956313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t>
            </a:r>
            <a:r>
              <a:rPr lang="en-US" altLang="zh-CN" sz="3200" dirty="0">
                <a:solidFill>
                  <a:srgbClr val="7030A0"/>
                </a:solidFill>
              </a:rPr>
              <a:t>eceiver hardware</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6" name="Picture 5">
            <a:extLst>
              <a:ext uri="{FF2B5EF4-FFF2-40B4-BE49-F238E27FC236}">
                <a16:creationId xmlns:a16="http://schemas.microsoft.com/office/drawing/2014/main" id="{B1A1195C-3FDF-4141-B2EC-66A6DA293CE8}"/>
              </a:ext>
            </a:extLst>
          </p:cNvPr>
          <p:cNvPicPr>
            <a:picLocks noChangeAspect="1"/>
          </p:cNvPicPr>
          <p:nvPr/>
        </p:nvPicPr>
        <p:blipFill>
          <a:blip r:embed="rId3"/>
          <a:stretch>
            <a:fillRect/>
          </a:stretch>
        </p:blipFill>
        <p:spPr>
          <a:xfrm>
            <a:off x="2795587" y="1895475"/>
            <a:ext cx="1695450" cy="1638300"/>
          </a:xfrm>
          <a:prstGeom prst="rect">
            <a:avLst/>
          </a:prstGeom>
        </p:spPr>
      </p:pic>
    </p:spTree>
    <p:extLst>
      <p:ext uri="{BB962C8B-B14F-4D97-AF65-F5344CB8AC3E}">
        <p14:creationId xmlns:p14="http://schemas.microsoft.com/office/powerpoint/2010/main" val="93557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t>
            </a:r>
            <a:r>
              <a:rPr lang="en-US" altLang="zh-CN" sz="3200" dirty="0">
                <a:solidFill>
                  <a:srgbClr val="7030A0"/>
                </a:solidFill>
              </a:rPr>
              <a:t>eceiver</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14</a:t>
            </a:fld>
            <a:endParaRPr lang="en-US"/>
          </a:p>
        </p:txBody>
      </p:sp>
      <p:sp>
        <p:nvSpPr>
          <p:cNvPr id="15" name="TextBox 14">
            <a:extLst>
              <a:ext uri="{FF2B5EF4-FFF2-40B4-BE49-F238E27FC236}">
                <a16:creationId xmlns:a16="http://schemas.microsoft.com/office/drawing/2014/main" id="{596E2EFB-256B-4269-ABCE-6114F809C4F5}"/>
              </a:ext>
            </a:extLst>
          </p:cNvPr>
          <p:cNvSpPr txBox="1"/>
          <p:nvPr/>
        </p:nvSpPr>
        <p:spPr>
          <a:xfrm>
            <a:off x="286791" y="4526914"/>
            <a:ext cx="2388715" cy="461665"/>
          </a:xfrm>
          <a:prstGeom prst="rect">
            <a:avLst/>
          </a:prstGeom>
          <a:noFill/>
        </p:spPr>
        <p:txBody>
          <a:bodyPr wrap="square" rtlCol="0">
            <a:spAutoFit/>
          </a:bodyPr>
          <a:lstStyle/>
          <a:p>
            <a:r>
              <a:rPr lang="en-US" sz="2400" dirty="0"/>
              <a:t>Trimble R7</a:t>
            </a:r>
          </a:p>
        </p:txBody>
      </p:sp>
      <p:sp>
        <p:nvSpPr>
          <p:cNvPr id="18" name="TextBox 17">
            <a:extLst>
              <a:ext uri="{FF2B5EF4-FFF2-40B4-BE49-F238E27FC236}">
                <a16:creationId xmlns:a16="http://schemas.microsoft.com/office/drawing/2014/main" id="{43749AA5-8A6A-4404-8270-E1E123C083D0}"/>
              </a:ext>
            </a:extLst>
          </p:cNvPr>
          <p:cNvSpPr txBox="1"/>
          <p:nvPr/>
        </p:nvSpPr>
        <p:spPr>
          <a:xfrm>
            <a:off x="3485981" y="4704130"/>
            <a:ext cx="4136230" cy="246221"/>
          </a:xfrm>
          <a:prstGeom prst="rect">
            <a:avLst/>
          </a:prstGeom>
          <a:noFill/>
        </p:spPr>
        <p:txBody>
          <a:bodyPr wrap="square">
            <a:spAutoFit/>
          </a:bodyPr>
          <a:lstStyle/>
          <a:p>
            <a:r>
              <a:rPr lang="en-US" sz="1000" dirty="0">
                <a:solidFill>
                  <a:srgbClr val="7030A0"/>
                </a:solidFill>
              </a:rPr>
              <a:t>https://commons.wikimedia.org/wiki/File:Station_GPS_receiver.jpg</a:t>
            </a:r>
          </a:p>
        </p:txBody>
      </p:sp>
      <p:pic>
        <p:nvPicPr>
          <p:cNvPr id="19" name="Picture 18">
            <a:extLst>
              <a:ext uri="{FF2B5EF4-FFF2-40B4-BE49-F238E27FC236}">
                <a16:creationId xmlns:a16="http://schemas.microsoft.com/office/drawing/2014/main" id="{19B68AFC-9EFC-4DE0-A94C-FEFC48BBC4AC}"/>
              </a:ext>
            </a:extLst>
          </p:cNvPr>
          <p:cNvPicPr>
            <a:picLocks noChangeAspect="1"/>
          </p:cNvPicPr>
          <p:nvPr/>
        </p:nvPicPr>
        <p:blipFill>
          <a:blip r:embed="rId3"/>
          <a:stretch>
            <a:fillRect/>
          </a:stretch>
        </p:blipFill>
        <p:spPr>
          <a:xfrm>
            <a:off x="256156" y="1187858"/>
            <a:ext cx="2419350" cy="3000375"/>
          </a:xfrm>
          <a:prstGeom prst="rect">
            <a:avLst/>
          </a:prstGeom>
        </p:spPr>
      </p:pic>
      <p:pic>
        <p:nvPicPr>
          <p:cNvPr id="1026" name="Picture 2">
            <a:extLst>
              <a:ext uri="{FF2B5EF4-FFF2-40B4-BE49-F238E27FC236}">
                <a16:creationId xmlns:a16="http://schemas.microsoft.com/office/drawing/2014/main" id="{3F25C4B4-FAF2-45FB-95DB-DC89DFC110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53946" y="1102133"/>
            <a:ext cx="2400300" cy="32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5436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GPS receivers</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a:bodyPr>
          <a:lstStyle/>
          <a:p>
            <a:pPr>
              <a:spcBef>
                <a:spcPts val="0"/>
              </a:spcBef>
              <a:buFont typeface="Courier New" panose="02070309020205020404" pitchFamily="49" charset="0"/>
              <a:buChar char="o"/>
            </a:pPr>
            <a:r>
              <a:rPr lang="en-US" dirty="0"/>
              <a:t>All receivers have the capability to decipher C/A code</a:t>
            </a:r>
          </a:p>
          <a:p>
            <a:pPr lvl="1">
              <a:spcBef>
                <a:spcPts val="0"/>
              </a:spcBef>
              <a:buFont typeface="Wingdings" panose="05000000000000000000" pitchFamily="2" charset="2"/>
              <a:buChar char="ü"/>
            </a:pPr>
            <a:r>
              <a:rPr lang="en-US" dirty="0"/>
              <a:t>Code receiver</a:t>
            </a:r>
          </a:p>
          <a:p>
            <a:pPr lvl="2">
              <a:spcBef>
                <a:spcPts val="0"/>
              </a:spcBef>
              <a:buFont typeface="Arial" panose="020B0604020202020204" pitchFamily="34" charset="0"/>
              <a:buChar char="•"/>
            </a:pPr>
            <a:r>
              <a:rPr lang="en-US" dirty="0"/>
              <a:t>Single code receivers </a:t>
            </a:r>
          </a:p>
          <a:p>
            <a:pPr lvl="3">
              <a:spcBef>
                <a:spcPts val="0"/>
              </a:spcBef>
              <a:buFont typeface="Wingdings" panose="05000000000000000000" pitchFamily="2" charset="2"/>
              <a:buChar char="Ø"/>
            </a:pPr>
            <a:r>
              <a:rPr lang="en-US" dirty="0"/>
              <a:t>Acquire only the C/A code</a:t>
            </a:r>
          </a:p>
          <a:p>
            <a:pPr lvl="3">
              <a:spcBef>
                <a:spcPts val="0"/>
              </a:spcBef>
              <a:buFont typeface="Wingdings" panose="05000000000000000000" pitchFamily="2" charset="2"/>
              <a:buChar char="Ø"/>
            </a:pPr>
            <a:r>
              <a:rPr lang="en-US" dirty="0"/>
              <a:t>Least accurate</a:t>
            </a:r>
          </a:p>
          <a:p>
            <a:pPr lvl="3">
              <a:spcBef>
                <a:spcPts val="0"/>
              </a:spcBef>
              <a:buFont typeface="Wingdings" panose="05000000000000000000" pitchFamily="2" charset="2"/>
              <a:buChar char="Ø"/>
            </a:pPr>
            <a:r>
              <a:rPr lang="en-US" dirty="0"/>
              <a:t>Useful for reconnaissance</a:t>
            </a:r>
          </a:p>
          <a:p>
            <a:pPr lvl="2">
              <a:spcBef>
                <a:spcPts val="0"/>
              </a:spcBef>
              <a:buFont typeface="Arial" panose="020B0604020202020204" pitchFamily="34" charset="0"/>
              <a:buChar char="•"/>
            </a:pPr>
            <a:r>
              <a:rPr lang="en-US" dirty="0"/>
              <a:t>Dual-code receiver</a:t>
            </a:r>
          </a:p>
          <a:p>
            <a:pPr lvl="3">
              <a:spcBef>
                <a:spcPts val="0"/>
              </a:spcBef>
              <a:buFont typeface="Wingdings" panose="05000000000000000000" pitchFamily="2" charset="2"/>
              <a:buChar char="Ø"/>
            </a:pPr>
            <a:r>
              <a:rPr lang="en-US" dirty="0"/>
              <a:t>Acquire C/A and any other civil codes</a:t>
            </a:r>
          </a:p>
          <a:p>
            <a:pPr lvl="3">
              <a:spcBef>
                <a:spcPts val="0"/>
              </a:spcBef>
              <a:buFont typeface="Wingdings" panose="05000000000000000000" pitchFamily="2" charset="2"/>
              <a:buChar char="Ø"/>
            </a:pPr>
            <a:r>
              <a:rPr lang="en-US" dirty="0"/>
              <a:t>Provides accuracy in position ~1- 5 meter</a:t>
            </a:r>
          </a:p>
          <a:p>
            <a:pPr lvl="3">
              <a:spcBef>
                <a:spcPts val="0"/>
              </a:spcBef>
              <a:buFont typeface="Wingdings" panose="05000000000000000000" pitchFamily="2" charset="2"/>
              <a:buChar char="Ø"/>
            </a:pPr>
            <a:r>
              <a:rPr lang="en-US" dirty="0"/>
              <a:t>Useful for preparation of small/medium scale map</a:t>
            </a:r>
          </a:p>
        </p:txBody>
      </p:sp>
    </p:spTree>
    <p:extLst>
      <p:ext uri="{BB962C8B-B14F-4D97-AF65-F5344CB8AC3E}">
        <p14:creationId xmlns:p14="http://schemas.microsoft.com/office/powerpoint/2010/main" val="7368618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GPS receivers</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lnSpcReduction="10000"/>
          </a:bodyPr>
          <a:lstStyle/>
          <a:p>
            <a:pPr>
              <a:spcBef>
                <a:spcPts val="0"/>
              </a:spcBef>
              <a:buFont typeface="Courier New" panose="02070309020205020404" pitchFamily="49" charset="0"/>
              <a:buChar char="o"/>
            </a:pPr>
            <a:r>
              <a:rPr lang="en-US" dirty="0"/>
              <a:t>All receivers have the capability to decipher C/A code</a:t>
            </a:r>
          </a:p>
          <a:p>
            <a:pPr lvl="1">
              <a:spcBef>
                <a:spcPts val="0"/>
              </a:spcBef>
              <a:buFont typeface="Wingdings" panose="05000000000000000000" pitchFamily="2" charset="2"/>
              <a:buChar char="ü"/>
            </a:pPr>
            <a:r>
              <a:rPr lang="en-US" dirty="0"/>
              <a:t>Frequency receiver</a:t>
            </a:r>
          </a:p>
          <a:p>
            <a:pPr lvl="2">
              <a:spcBef>
                <a:spcPts val="0"/>
              </a:spcBef>
              <a:buFont typeface="Arial" panose="020B0604020202020204" pitchFamily="34" charset="0"/>
              <a:buChar char="•"/>
            </a:pPr>
            <a:r>
              <a:rPr lang="en-US" dirty="0"/>
              <a:t>Single frequency</a:t>
            </a:r>
          </a:p>
          <a:p>
            <a:pPr lvl="3">
              <a:spcBef>
                <a:spcPts val="0"/>
              </a:spcBef>
              <a:buFont typeface="Wingdings" panose="05000000000000000000" pitchFamily="2" charset="2"/>
              <a:buChar char="Ø"/>
            </a:pPr>
            <a:r>
              <a:rPr lang="en-US" dirty="0"/>
              <a:t>Position based on phase of L1 frequency</a:t>
            </a:r>
          </a:p>
          <a:p>
            <a:pPr lvl="3">
              <a:spcBef>
                <a:spcPts val="0"/>
              </a:spcBef>
              <a:buFont typeface="Wingdings" panose="05000000000000000000" pitchFamily="2" charset="2"/>
              <a:buChar char="Ø"/>
            </a:pPr>
            <a:r>
              <a:rPr lang="en-US" dirty="0"/>
              <a:t>Accuracy up to centimeter level</a:t>
            </a:r>
          </a:p>
          <a:p>
            <a:pPr lvl="3">
              <a:spcBef>
                <a:spcPts val="0"/>
              </a:spcBef>
              <a:buFont typeface="Wingdings" panose="05000000000000000000" pitchFamily="2" charset="2"/>
              <a:buChar char="Ø"/>
            </a:pPr>
            <a:r>
              <a:rPr lang="en-US" dirty="0"/>
              <a:t>Useful for higher order control points and large scale mapping of GPS surveying </a:t>
            </a:r>
          </a:p>
          <a:p>
            <a:pPr lvl="2">
              <a:spcBef>
                <a:spcPts val="0"/>
              </a:spcBef>
              <a:buFont typeface="Arial" panose="020B0604020202020204" pitchFamily="34" charset="0"/>
              <a:buChar char="•"/>
            </a:pPr>
            <a:r>
              <a:rPr lang="en-US" dirty="0"/>
              <a:t>Dual-frequency receiver</a:t>
            </a:r>
          </a:p>
          <a:p>
            <a:pPr lvl="3">
              <a:spcBef>
                <a:spcPts val="0"/>
              </a:spcBef>
              <a:buFont typeface="Wingdings" panose="05000000000000000000" pitchFamily="2" charset="2"/>
              <a:buChar char="Ø"/>
            </a:pPr>
            <a:r>
              <a:rPr lang="en-US" dirty="0"/>
              <a:t>Position based on phase of L1, L2, or L5 frequencies</a:t>
            </a:r>
          </a:p>
          <a:p>
            <a:pPr lvl="3">
              <a:spcBef>
                <a:spcPts val="0"/>
              </a:spcBef>
              <a:buFont typeface="Wingdings" panose="05000000000000000000" pitchFamily="2" charset="2"/>
              <a:buChar char="Ø"/>
            </a:pPr>
            <a:r>
              <a:rPr lang="en-US" dirty="0"/>
              <a:t>Positional accuracy in millimeter</a:t>
            </a:r>
          </a:p>
          <a:p>
            <a:pPr lvl="3">
              <a:spcBef>
                <a:spcPts val="0"/>
              </a:spcBef>
              <a:buFont typeface="Wingdings" panose="05000000000000000000" pitchFamily="2" charset="2"/>
              <a:buChar char="Ø"/>
            </a:pPr>
            <a:r>
              <a:rPr lang="en-US" dirty="0"/>
              <a:t>Used for establishment of control points</a:t>
            </a:r>
          </a:p>
          <a:p>
            <a:pPr lvl="3">
              <a:spcBef>
                <a:spcPts val="0"/>
              </a:spcBef>
              <a:buFont typeface="Wingdings" panose="05000000000000000000" pitchFamily="2" charset="2"/>
              <a:buChar char="Ø"/>
            </a:pPr>
            <a:r>
              <a:rPr lang="en-US" dirty="0"/>
              <a:t>Useful for very precise measurements.</a:t>
            </a:r>
          </a:p>
        </p:txBody>
      </p:sp>
    </p:spTree>
    <p:extLst>
      <p:ext uri="{BB962C8B-B14F-4D97-AF65-F5344CB8AC3E}">
        <p14:creationId xmlns:p14="http://schemas.microsoft.com/office/powerpoint/2010/main" val="40152446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GPS receivers</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a:bodyPr>
          <a:lstStyle/>
          <a:p>
            <a:pPr>
              <a:spcBef>
                <a:spcPts val="0"/>
              </a:spcBef>
              <a:buFont typeface="Courier New" panose="02070309020205020404" pitchFamily="49" charset="0"/>
              <a:buChar char="o"/>
            </a:pPr>
            <a:r>
              <a:rPr lang="en-US" dirty="0"/>
              <a:t>All receivers have the capability to decipher C/A code</a:t>
            </a:r>
          </a:p>
          <a:p>
            <a:pPr lvl="1">
              <a:spcBef>
                <a:spcPts val="0"/>
              </a:spcBef>
              <a:buFont typeface="Wingdings" panose="05000000000000000000" pitchFamily="2" charset="2"/>
              <a:buChar char="ü"/>
            </a:pPr>
            <a:r>
              <a:rPr lang="en-US" dirty="0"/>
              <a:t>Frequency receiver</a:t>
            </a:r>
          </a:p>
          <a:p>
            <a:pPr lvl="2">
              <a:spcBef>
                <a:spcPts val="0"/>
              </a:spcBef>
              <a:buFont typeface="Arial" panose="020B0604020202020204" pitchFamily="34" charset="0"/>
              <a:buChar char="•"/>
            </a:pPr>
            <a:r>
              <a:rPr lang="en-US" dirty="0"/>
              <a:t>Triple-frequency receiver</a:t>
            </a:r>
          </a:p>
          <a:p>
            <a:pPr lvl="3">
              <a:spcBef>
                <a:spcPts val="0"/>
              </a:spcBef>
              <a:buFont typeface="Wingdings" panose="05000000000000000000" pitchFamily="2" charset="2"/>
              <a:buChar char="Ø"/>
            </a:pPr>
            <a:r>
              <a:rPr lang="en-US" dirty="0"/>
              <a:t>Position based on phase of L1, L2, and L5 frequencies</a:t>
            </a:r>
          </a:p>
          <a:p>
            <a:pPr lvl="3">
              <a:spcBef>
                <a:spcPts val="0"/>
              </a:spcBef>
              <a:buFont typeface="Wingdings" panose="05000000000000000000" pitchFamily="2" charset="2"/>
              <a:buChar char="Ø"/>
            </a:pPr>
            <a:r>
              <a:rPr lang="en-US" dirty="0"/>
              <a:t>Most accurate, robust and versatile system</a:t>
            </a:r>
          </a:p>
          <a:p>
            <a:pPr lvl="3">
              <a:spcBef>
                <a:spcPts val="0"/>
              </a:spcBef>
              <a:buFont typeface="Wingdings" panose="05000000000000000000" pitchFamily="2" charset="2"/>
              <a:buChar char="Ø"/>
            </a:pPr>
            <a:r>
              <a:rPr lang="en-US" dirty="0"/>
              <a:t>Useful for very precise continuous monitoring activities and air navigation</a:t>
            </a:r>
          </a:p>
          <a:p>
            <a:pPr lvl="3">
              <a:spcBef>
                <a:spcPts val="0"/>
              </a:spcBef>
              <a:buFont typeface="Wingdings" panose="05000000000000000000" pitchFamily="2" charset="2"/>
              <a:buChar char="Ø"/>
            </a:pPr>
            <a:r>
              <a:rPr lang="en-US" dirty="0"/>
              <a:t>For atmospheric study, specifically for study of ionosphere</a:t>
            </a:r>
          </a:p>
        </p:txBody>
      </p:sp>
    </p:spTree>
    <p:extLst>
      <p:ext uri="{BB962C8B-B14F-4D97-AF65-F5344CB8AC3E}">
        <p14:creationId xmlns:p14="http://schemas.microsoft.com/office/powerpoint/2010/main" val="37002600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GPS receivers</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18</a:t>
            </a:fld>
            <a:endParaRPr lang="en-US"/>
          </a:p>
        </p:txBody>
      </p:sp>
      <p:sp>
        <p:nvSpPr>
          <p:cNvPr id="8" name="Content Placeholder 2">
            <a:extLst>
              <a:ext uri="{FF2B5EF4-FFF2-40B4-BE49-F238E27FC236}">
                <a16:creationId xmlns:a16="http://schemas.microsoft.com/office/drawing/2014/main" id="{B39E6661-3EBE-4587-AE2F-09CE39F6F0DD}"/>
              </a:ext>
            </a:extLst>
          </p:cNvPr>
          <p:cNvSpPr>
            <a:spLocks noGrp="1"/>
          </p:cNvSpPr>
          <p:nvPr>
            <p:ph idx="1"/>
          </p:nvPr>
        </p:nvSpPr>
        <p:spPr>
          <a:xfrm>
            <a:off x="118533" y="1030150"/>
            <a:ext cx="7825317" cy="3811347"/>
          </a:xfrm>
        </p:spPr>
        <p:txBody>
          <a:bodyPr>
            <a:normAutofit lnSpcReduction="10000"/>
          </a:bodyPr>
          <a:lstStyle/>
          <a:p>
            <a:pPr>
              <a:spcBef>
                <a:spcPts val="0"/>
              </a:spcBef>
              <a:buFont typeface="Courier New" panose="02070309020205020404" pitchFamily="49" charset="0"/>
              <a:buChar char="o"/>
            </a:pPr>
            <a:r>
              <a:rPr lang="en-US" dirty="0"/>
              <a:t>Acquire signals simultaneously from different types of GNSS, such GPS, GLONASS, GALILEO, </a:t>
            </a:r>
            <a:r>
              <a:rPr lang="en-US" dirty="0" err="1"/>
              <a:t>Beidou</a:t>
            </a:r>
            <a:endParaRPr lang="en-US" dirty="0"/>
          </a:p>
          <a:p>
            <a:pPr>
              <a:spcBef>
                <a:spcPts val="0"/>
              </a:spcBef>
              <a:buFont typeface="Courier New" panose="02070309020205020404" pitchFamily="49" charset="0"/>
              <a:buChar char="o"/>
            </a:pPr>
            <a:endParaRPr lang="en-US" dirty="0"/>
          </a:p>
          <a:p>
            <a:pPr>
              <a:spcBef>
                <a:spcPts val="0"/>
              </a:spcBef>
              <a:buFont typeface="Courier New" panose="02070309020205020404" pitchFamily="49" charset="0"/>
              <a:buChar char="o"/>
            </a:pPr>
            <a:r>
              <a:rPr lang="en-US" dirty="0"/>
              <a:t>Receive signals from more satellites</a:t>
            </a:r>
            <a:endParaRPr lang="en-US" sz="1800" b="0" i="0" u="none" strike="noStrike" baseline="0" dirty="0">
              <a:solidFill>
                <a:srgbClr val="000000"/>
              </a:solidFill>
              <a:latin typeface="Open Sans" panose="020B0606030504020204" pitchFamily="34" charset="0"/>
            </a:endParaRPr>
          </a:p>
          <a:p>
            <a:pPr lvl="1">
              <a:buFont typeface="Wingdings" panose="05000000000000000000" pitchFamily="2" charset="2"/>
              <a:buChar char="ü"/>
            </a:pPr>
            <a:r>
              <a:rPr lang="en-US" sz="1600" b="0" i="0" u="none" strike="noStrike" baseline="0" dirty="0">
                <a:solidFill>
                  <a:srgbClr val="000000"/>
                </a:solidFill>
              </a:rPr>
              <a:t>TDC 100 supporting GPS, GPS plus GLONASS, or GPS plus </a:t>
            </a:r>
            <a:r>
              <a:rPr lang="en-US" sz="1600" b="0" i="0" u="none" strike="noStrike" baseline="0" dirty="0" err="1">
                <a:solidFill>
                  <a:srgbClr val="000000"/>
                </a:solidFill>
              </a:rPr>
              <a:t>Beidou</a:t>
            </a:r>
            <a:r>
              <a:rPr lang="en-US" sz="1600" b="0" i="0" u="none" strike="noStrike" baseline="0" dirty="0">
                <a:solidFill>
                  <a:srgbClr val="000000"/>
                </a:solidFill>
              </a:rPr>
              <a:t> </a:t>
            </a:r>
          </a:p>
          <a:p>
            <a:pPr marL="0" indent="0">
              <a:spcBef>
                <a:spcPts val="0"/>
              </a:spcBef>
              <a:buNone/>
            </a:pPr>
            <a:endParaRPr lang="en-US" dirty="0"/>
          </a:p>
          <a:p>
            <a:pPr>
              <a:spcBef>
                <a:spcPts val="0"/>
              </a:spcBef>
              <a:buFont typeface="Courier New" panose="02070309020205020404" pitchFamily="49" charset="0"/>
              <a:buChar char="o"/>
            </a:pPr>
            <a:r>
              <a:rPr lang="en-US" dirty="0"/>
              <a:t>Useful for accurate real-time staking out/navigation and surveying work</a:t>
            </a:r>
          </a:p>
        </p:txBody>
      </p:sp>
      <p:pic>
        <p:nvPicPr>
          <p:cNvPr id="6" name="Picture 5">
            <a:extLst>
              <a:ext uri="{FF2B5EF4-FFF2-40B4-BE49-F238E27FC236}">
                <a16:creationId xmlns:a16="http://schemas.microsoft.com/office/drawing/2014/main" id="{F1000B40-B4C6-431F-AAF1-8CC03F51B9B5}"/>
              </a:ext>
            </a:extLst>
          </p:cNvPr>
          <p:cNvPicPr>
            <a:picLocks noChangeAspect="1"/>
          </p:cNvPicPr>
          <p:nvPr/>
        </p:nvPicPr>
        <p:blipFill>
          <a:blip r:embed="rId3"/>
          <a:stretch>
            <a:fillRect/>
          </a:stretch>
        </p:blipFill>
        <p:spPr>
          <a:xfrm>
            <a:off x="6720823" y="2351314"/>
            <a:ext cx="675966" cy="2286131"/>
          </a:xfrm>
          <a:prstGeom prst="rect">
            <a:avLst/>
          </a:prstGeom>
        </p:spPr>
      </p:pic>
      <p:sp>
        <p:nvSpPr>
          <p:cNvPr id="7" name="TextBox 6">
            <a:extLst>
              <a:ext uri="{FF2B5EF4-FFF2-40B4-BE49-F238E27FC236}">
                <a16:creationId xmlns:a16="http://schemas.microsoft.com/office/drawing/2014/main" id="{CF58FB12-E765-4D35-96A5-09934716F513}"/>
              </a:ext>
            </a:extLst>
          </p:cNvPr>
          <p:cNvSpPr txBox="1"/>
          <p:nvPr/>
        </p:nvSpPr>
        <p:spPr>
          <a:xfrm>
            <a:off x="5928360" y="4841497"/>
            <a:ext cx="1590195" cy="246221"/>
          </a:xfrm>
          <a:prstGeom prst="rect">
            <a:avLst/>
          </a:prstGeom>
          <a:noFill/>
        </p:spPr>
        <p:txBody>
          <a:bodyPr wrap="square" rtlCol="0">
            <a:spAutoFit/>
          </a:bodyPr>
          <a:lstStyle/>
          <a:p>
            <a:r>
              <a:rPr lang="en-US" sz="1000" dirty="0"/>
              <a:t>Dr. Jayanta Kumar Ghosh</a:t>
            </a:r>
          </a:p>
        </p:txBody>
      </p:sp>
    </p:spTree>
    <p:extLst>
      <p:ext uri="{BB962C8B-B14F-4D97-AF65-F5344CB8AC3E}">
        <p14:creationId xmlns:p14="http://schemas.microsoft.com/office/powerpoint/2010/main" val="16376325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9" name="Content Placeholder 2">
            <a:extLst>
              <a:ext uri="{FF2B5EF4-FFF2-40B4-BE49-F238E27FC236}">
                <a16:creationId xmlns:a16="http://schemas.microsoft.com/office/drawing/2014/main" id="{32CDBEE1-9601-4263-A365-F3F6F0E987D2}"/>
              </a:ext>
            </a:extLst>
          </p:cNvPr>
          <p:cNvSpPr>
            <a:spLocks noGrp="1"/>
          </p:cNvSpPr>
          <p:nvPr>
            <p:ph idx="1"/>
          </p:nvPr>
        </p:nvSpPr>
        <p:spPr>
          <a:xfrm>
            <a:off x="118533" y="1030150"/>
            <a:ext cx="7825317" cy="3811347"/>
          </a:xfrm>
        </p:spPr>
        <p:txBody>
          <a:bodyPr>
            <a:normAutofit fontScale="92500" lnSpcReduction="20000"/>
          </a:bodyPr>
          <a:lstStyle/>
          <a:p>
            <a:pPr>
              <a:spcBef>
                <a:spcPts val="0"/>
              </a:spcBef>
              <a:buFont typeface="Courier New" panose="02070309020205020404" pitchFamily="49" charset="0"/>
              <a:buChar char="o"/>
            </a:pPr>
            <a:r>
              <a:rPr lang="en-US" b="0" dirty="0"/>
              <a:t>GPS receiver limitations</a:t>
            </a:r>
          </a:p>
          <a:p>
            <a:pPr lvl="1">
              <a:spcBef>
                <a:spcPts val="0"/>
              </a:spcBef>
              <a:buFont typeface="Wingdings" panose="05000000000000000000" pitchFamily="2" charset="2"/>
              <a:buChar char="ü"/>
            </a:pPr>
            <a:r>
              <a:rPr lang="en-US" dirty="0"/>
              <a:t>Time to first fix (TIFF): the time it takes the GPS receiver to calculate its position when turned on.</a:t>
            </a:r>
          </a:p>
          <a:p>
            <a:pPr lvl="2">
              <a:spcBef>
                <a:spcPts val="0"/>
              </a:spcBef>
              <a:buFont typeface="Arial" panose="020B0604020202020204" pitchFamily="34" charset="0"/>
              <a:buChar char="•"/>
            </a:pPr>
            <a:r>
              <a:rPr lang="en-US" dirty="0"/>
              <a:t>12.5 minutes, too long</a:t>
            </a:r>
            <a:endParaRPr lang="en-US" dirty="0">
              <a:solidFill>
                <a:srgbClr val="FF0000"/>
              </a:solidFill>
              <a:sym typeface="Wingdings" panose="05000000000000000000" pitchFamily="2" charset="2"/>
            </a:endParaRPr>
          </a:p>
          <a:p>
            <a:pPr lvl="2">
              <a:spcBef>
                <a:spcPts val="0"/>
              </a:spcBef>
              <a:buFont typeface="Arial" panose="020B0604020202020204" pitchFamily="34" charset="0"/>
              <a:buChar char="•"/>
            </a:pPr>
            <a:r>
              <a:rPr lang="en-US" dirty="0">
                <a:sym typeface="Wingdings" panose="05000000000000000000" pitchFamily="2" charset="2"/>
              </a:rPr>
              <a:t>30 seconds to 1 </a:t>
            </a:r>
            <a:r>
              <a:rPr lang="en-US">
                <a:sym typeface="Wingdings" panose="05000000000000000000" pitchFamily="2" charset="2"/>
              </a:rPr>
              <a:t>minutes more </a:t>
            </a:r>
            <a:r>
              <a:rPr lang="en-US">
                <a:solidFill>
                  <a:srgbClr val="FF0000"/>
                </a:solidFill>
                <a:sym typeface="Wingdings" panose="05000000000000000000" pitchFamily="2" charset="2"/>
              </a:rPr>
              <a:t> </a:t>
            </a:r>
            <a:r>
              <a:rPr lang="en-US" dirty="0">
                <a:solidFill>
                  <a:srgbClr val="FF0000"/>
                </a:solidFill>
                <a:sym typeface="Wingdings" panose="05000000000000000000" pitchFamily="2" charset="2"/>
              </a:rPr>
              <a:t>Fast acquisition</a:t>
            </a:r>
            <a:endParaRPr lang="en-US" dirty="0"/>
          </a:p>
          <a:p>
            <a:pPr lvl="1">
              <a:spcBef>
                <a:spcPts val="0"/>
              </a:spcBef>
              <a:buFont typeface="Wingdings" panose="05000000000000000000" pitchFamily="2" charset="2"/>
              <a:buChar char="ü"/>
            </a:pPr>
            <a:r>
              <a:rPr lang="en-US" dirty="0"/>
              <a:t>Weak signals</a:t>
            </a:r>
          </a:p>
          <a:p>
            <a:pPr lvl="2">
              <a:spcBef>
                <a:spcPts val="0"/>
              </a:spcBef>
              <a:buFont typeface="Arial" panose="020B0604020202020204" pitchFamily="34" charset="0"/>
              <a:buChar char="•"/>
            </a:pPr>
            <a:r>
              <a:rPr lang="en-US" dirty="0"/>
              <a:t>Indoor locations like malls, offices buildings are problematic for GPS receivers </a:t>
            </a:r>
            <a:r>
              <a:rPr lang="en-US" dirty="0">
                <a:solidFill>
                  <a:srgbClr val="FF0000"/>
                </a:solidFill>
                <a:sym typeface="Wingdings" panose="05000000000000000000" pitchFamily="2" charset="2"/>
              </a:rPr>
              <a:t> High sensitivity</a:t>
            </a:r>
          </a:p>
          <a:p>
            <a:pPr lvl="1">
              <a:spcBef>
                <a:spcPts val="0"/>
              </a:spcBef>
              <a:buFont typeface="Wingdings" panose="05000000000000000000" pitchFamily="2" charset="2"/>
              <a:buChar char="ü"/>
            </a:pPr>
            <a:r>
              <a:rPr lang="en-US" dirty="0"/>
              <a:t>Doppler shift</a:t>
            </a:r>
          </a:p>
          <a:p>
            <a:pPr lvl="2">
              <a:spcBef>
                <a:spcPts val="0"/>
              </a:spcBef>
              <a:buFont typeface="Arial" panose="020B0604020202020204" pitchFamily="34" charset="0"/>
              <a:buChar char="•"/>
            </a:pPr>
            <a:r>
              <a:rPr lang="en-US" dirty="0"/>
              <a:t>The change in frequency of a wave in relation to an observer who is moving relative to the wave source. </a:t>
            </a:r>
          </a:p>
          <a:p>
            <a:pPr lvl="2">
              <a:spcBef>
                <a:spcPts val="0"/>
              </a:spcBef>
              <a:buFont typeface="Arial" panose="020B0604020202020204" pitchFamily="34" charset="0"/>
              <a:buChar char="•"/>
            </a:pPr>
            <a:r>
              <a:rPr lang="en-US" dirty="0">
                <a:solidFill>
                  <a:srgbClr val="222222"/>
                </a:solidFill>
              </a:rPr>
              <a:t>Due to t</a:t>
            </a:r>
            <a:r>
              <a:rPr lang="en-US" dirty="0"/>
              <a:t>he satellite motion, the GPS receiver motion, and the local oscillator at the GPS receiver</a:t>
            </a:r>
          </a:p>
          <a:p>
            <a:pPr lvl="2">
              <a:spcBef>
                <a:spcPts val="0"/>
              </a:spcBef>
              <a:buFont typeface="Arial" panose="020B0604020202020204" pitchFamily="34" charset="0"/>
              <a:buChar char="•"/>
            </a:pPr>
            <a:r>
              <a:rPr lang="en-US" dirty="0"/>
              <a:t>Search satellite signal ~ 40 seconds </a:t>
            </a:r>
            <a:r>
              <a:rPr lang="en-US" dirty="0">
                <a:solidFill>
                  <a:srgbClr val="FF0000"/>
                </a:solidFill>
                <a:sym typeface="Wingdings" panose="05000000000000000000" pitchFamily="2" charset="2"/>
              </a:rPr>
              <a:t> Fast acquisition</a:t>
            </a:r>
            <a:endParaRPr lang="en-US" dirty="0"/>
          </a:p>
          <a:p>
            <a:pPr marL="822960" lvl="2" indent="0">
              <a:spcBef>
                <a:spcPts val="0"/>
              </a:spcBef>
              <a:buNone/>
            </a:pPr>
            <a:endParaRPr lang="en-US" dirty="0">
              <a:solidFill>
                <a:srgbClr val="FF0000"/>
              </a:solidFill>
            </a:endParaRPr>
          </a:p>
        </p:txBody>
      </p:sp>
      <p:sp>
        <p:nvSpPr>
          <p:cNvPr id="6" name="Title 1">
            <a:extLst>
              <a:ext uri="{FF2B5EF4-FFF2-40B4-BE49-F238E27FC236}">
                <a16:creationId xmlns:a16="http://schemas.microsoft.com/office/drawing/2014/main" id="{1EDE631A-87B1-43E4-9F44-C53E83E3C5DF}"/>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GPS receivers</a:t>
            </a:r>
            <a:endParaRPr lang="en-US" sz="2600" dirty="0">
              <a:solidFill>
                <a:srgbClr val="7030A0"/>
              </a:solidFill>
            </a:endParaRPr>
          </a:p>
        </p:txBody>
      </p:sp>
    </p:spTree>
    <p:extLst>
      <p:ext uri="{BB962C8B-B14F-4D97-AF65-F5344CB8AC3E}">
        <p14:creationId xmlns:p14="http://schemas.microsoft.com/office/powerpoint/2010/main" val="2134630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20</a:t>
            </a:fld>
            <a:endParaRPr lang="en-US"/>
          </a:p>
        </p:txBody>
      </p:sp>
      <p:sp>
        <p:nvSpPr>
          <p:cNvPr id="9" name="Content Placeholder 2">
            <a:extLst>
              <a:ext uri="{FF2B5EF4-FFF2-40B4-BE49-F238E27FC236}">
                <a16:creationId xmlns:a16="http://schemas.microsoft.com/office/drawing/2014/main" id="{32CDBEE1-9601-4263-A365-F3F6F0E987D2}"/>
              </a:ext>
            </a:extLst>
          </p:cNvPr>
          <p:cNvSpPr>
            <a:spLocks noGrp="1"/>
          </p:cNvSpPr>
          <p:nvPr>
            <p:ph idx="1"/>
          </p:nvPr>
        </p:nvSpPr>
        <p:spPr>
          <a:xfrm>
            <a:off x="118533" y="1030150"/>
            <a:ext cx="7825317" cy="3811347"/>
          </a:xfrm>
        </p:spPr>
        <p:txBody>
          <a:bodyPr>
            <a:normAutofit/>
          </a:bodyPr>
          <a:lstStyle/>
          <a:p>
            <a:pPr>
              <a:spcBef>
                <a:spcPts val="0"/>
              </a:spcBef>
              <a:buFont typeface="Courier New" panose="02070309020205020404" pitchFamily="49" charset="0"/>
              <a:buChar char="o"/>
            </a:pPr>
            <a:r>
              <a:rPr lang="en-US" dirty="0"/>
              <a:t>A-GPS</a:t>
            </a:r>
            <a:endParaRPr lang="en-US" b="0" dirty="0"/>
          </a:p>
          <a:p>
            <a:pPr lvl="1">
              <a:spcBef>
                <a:spcPts val="0"/>
              </a:spcBef>
              <a:buFont typeface="Wingdings" panose="05000000000000000000" pitchFamily="2" charset="2"/>
              <a:buChar char="ü"/>
            </a:pPr>
            <a:r>
              <a:rPr lang="en-US" dirty="0"/>
              <a:t>Provide the GPS receiver with information that will help to reduce the time it takes the receiver to calculate its location.</a:t>
            </a:r>
          </a:p>
          <a:p>
            <a:pPr lvl="1">
              <a:spcBef>
                <a:spcPts val="0"/>
              </a:spcBef>
              <a:buFont typeface="Wingdings" panose="05000000000000000000" pitchFamily="2" charset="2"/>
              <a:buChar char="ü"/>
            </a:pPr>
            <a:r>
              <a:rPr lang="en-US" dirty="0"/>
              <a:t>Proposed in 1981</a:t>
            </a:r>
          </a:p>
          <a:p>
            <a:pPr lvl="1">
              <a:spcBef>
                <a:spcPts val="0"/>
              </a:spcBef>
              <a:buFont typeface="Wingdings" panose="05000000000000000000" pitchFamily="2" charset="2"/>
              <a:buChar char="ü"/>
            </a:pPr>
            <a:r>
              <a:rPr lang="en-US" dirty="0"/>
              <a:t>NASA</a:t>
            </a:r>
          </a:p>
          <a:p>
            <a:pPr lvl="1">
              <a:spcBef>
                <a:spcPts val="0"/>
              </a:spcBef>
              <a:buFont typeface="Wingdings" panose="05000000000000000000" pitchFamily="2" charset="2"/>
              <a:buChar char="ü"/>
            </a:pPr>
            <a:r>
              <a:rPr lang="en-US" dirty="0"/>
              <a:t>1985 Motorola EAGLE line of GPS</a:t>
            </a:r>
          </a:p>
          <a:p>
            <a:pPr lvl="1">
              <a:spcBef>
                <a:spcPts val="0"/>
              </a:spcBef>
              <a:buFont typeface="Wingdings" panose="05000000000000000000" pitchFamily="2" charset="2"/>
              <a:buChar char="ü"/>
            </a:pPr>
            <a:endParaRPr lang="en-US" dirty="0"/>
          </a:p>
        </p:txBody>
      </p:sp>
      <p:sp>
        <p:nvSpPr>
          <p:cNvPr id="3" name="Title 1">
            <a:extLst>
              <a:ext uri="{FF2B5EF4-FFF2-40B4-BE49-F238E27FC236}">
                <a16:creationId xmlns:a16="http://schemas.microsoft.com/office/drawing/2014/main" id="{638254BF-EAF3-4D47-A430-C2DACED9D6CE}"/>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Assisted GPS </a:t>
            </a:r>
            <a:endParaRPr lang="en-US" sz="2600" i="1" dirty="0">
              <a:solidFill>
                <a:srgbClr val="7030A0"/>
              </a:solidFill>
            </a:endParaRPr>
          </a:p>
        </p:txBody>
      </p:sp>
    </p:spTree>
    <p:extLst>
      <p:ext uri="{BB962C8B-B14F-4D97-AF65-F5344CB8AC3E}">
        <p14:creationId xmlns:p14="http://schemas.microsoft.com/office/powerpoint/2010/main" val="7490147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21</a:t>
            </a:fld>
            <a:endParaRPr lang="en-US"/>
          </a:p>
        </p:txBody>
      </p:sp>
      <p:sp>
        <p:nvSpPr>
          <p:cNvPr id="7" name="Title 1">
            <a:extLst>
              <a:ext uri="{FF2B5EF4-FFF2-40B4-BE49-F238E27FC236}">
                <a16:creationId xmlns:a16="http://schemas.microsoft.com/office/drawing/2014/main" id="{A238FF32-2A24-47F0-AC06-4EA23229A68B}"/>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Assisted GPS </a:t>
            </a:r>
            <a:endParaRPr lang="en-US" sz="2600" i="1" dirty="0">
              <a:solidFill>
                <a:srgbClr val="7030A0"/>
              </a:solidFill>
            </a:endParaRPr>
          </a:p>
        </p:txBody>
      </p:sp>
      <p:pic>
        <p:nvPicPr>
          <p:cNvPr id="11" name="Picture 10">
            <a:extLst>
              <a:ext uri="{FF2B5EF4-FFF2-40B4-BE49-F238E27FC236}">
                <a16:creationId xmlns:a16="http://schemas.microsoft.com/office/drawing/2014/main" id="{737A95C6-0305-4FE2-8CD1-7D57263A371D}"/>
              </a:ext>
            </a:extLst>
          </p:cNvPr>
          <p:cNvPicPr>
            <a:picLocks noChangeAspect="1"/>
          </p:cNvPicPr>
          <p:nvPr/>
        </p:nvPicPr>
        <p:blipFill>
          <a:blip r:embed="rId3"/>
          <a:stretch>
            <a:fillRect/>
          </a:stretch>
        </p:blipFill>
        <p:spPr>
          <a:xfrm>
            <a:off x="1859817" y="1212466"/>
            <a:ext cx="4509965" cy="3240882"/>
          </a:xfrm>
          <a:prstGeom prst="rect">
            <a:avLst/>
          </a:prstGeom>
        </p:spPr>
      </p:pic>
      <p:sp>
        <p:nvSpPr>
          <p:cNvPr id="12" name="TextBox 11">
            <a:extLst>
              <a:ext uri="{FF2B5EF4-FFF2-40B4-BE49-F238E27FC236}">
                <a16:creationId xmlns:a16="http://schemas.microsoft.com/office/drawing/2014/main" id="{99F99063-A8FB-4CE4-BE62-1350EE2F25F9}"/>
              </a:ext>
            </a:extLst>
          </p:cNvPr>
          <p:cNvSpPr txBox="1"/>
          <p:nvPr/>
        </p:nvSpPr>
        <p:spPr>
          <a:xfrm>
            <a:off x="6174683" y="4788769"/>
            <a:ext cx="2756046" cy="230832"/>
          </a:xfrm>
          <a:prstGeom prst="rect">
            <a:avLst/>
          </a:prstGeom>
          <a:noFill/>
        </p:spPr>
        <p:txBody>
          <a:bodyPr wrap="square" rtlCol="0">
            <a:spAutoFit/>
          </a:bodyPr>
          <a:lstStyle/>
          <a:p>
            <a:r>
              <a:rPr lang="en-US" sz="900" dirty="0" err="1">
                <a:solidFill>
                  <a:srgbClr val="7030A0"/>
                </a:solidFill>
              </a:rPr>
              <a:t>Gidon</a:t>
            </a:r>
            <a:r>
              <a:rPr lang="en-US" sz="900" dirty="0">
                <a:solidFill>
                  <a:srgbClr val="7030A0"/>
                </a:solidFill>
              </a:rPr>
              <a:t> </a:t>
            </a:r>
            <a:r>
              <a:rPr lang="en-US" sz="900" dirty="0" err="1">
                <a:solidFill>
                  <a:srgbClr val="7030A0"/>
                </a:solidFill>
              </a:rPr>
              <a:t>Lissai</a:t>
            </a:r>
            <a:r>
              <a:rPr lang="en-US" sz="900" dirty="0">
                <a:solidFill>
                  <a:srgbClr val="7030A0"/>
                </a:solidFill>
              </a:rPr>
              <a:t>, 2006</a:t>
            </a:r>
          </a:p>
        </p:txBody>
      </p:sp>
      <p:sp>
        <p:nvSpPr>
          <p:cNvPr id="3" name="TextBox 2">
            <a:extLst>
              <a:ext uri="{FF2B5EF4-FFF2-40B4-BE49-F238E27FC236}">
                <a16:creationId xmlns:a16="http://schemas.microsoft.com/office/drawing/2014/main" id="{50172E57-5198-4338-BE11-4F0CEEE39D0D}"/>
              </a:ext>
            </a:extLst>
          </p:cNvPr>
          <p:cNvSpPr txBox="1"/>
          <p:nvPr/>
        </p:nvSpPr>
        <p:spPr>
          <a:xfrm>
            <a:off x="6080166" y="1935678"/>
            <a:ext cx="1472540" cy="369332"/>
          </a:xfrm>
          <a:prstGeom prst="rect">
            <a:avLst/>
          </a:prstGeom>
          <a:noFill/>
        </p:spPr>
        <p:txBody>
          <a:bodyPr wrap="square" rtlCol="0">
            <a:spAutoFit/>
          </a:bodyPr>
          <a:lstStyle/>
          <a:p>
            <a:r>
              <a:rPr lang="en-US" dirty="0">
                <a:solidFill>
                  <a:srgbClr val="FF0000"/>
                </a:solidFill>
              </a:rPr>
              <a:t>50 bps</a:t>
            </a:r>
          </a:p>
        </p:txBody>
      </p:sp>
      <p:sp>
        <p:nvSpPr>
          <p:cNvPr id="9" name="TextBox 8">
            <a:extLst>
              <a:ext uri="{FF2B5EF4-FFF2-40B4-BE49-F238E27FC236}">
                <a16:creationId xmlns:a16="http://schemas.microsoft.com/office/drawing/2014/main" id="{687F90BB-A0C6-4AF6-A0BE-AFEA3B3D650F}"/>
              </a:ext>
            </a:extLst>
          </p:cNvPr>
          <p:cNvSpPr txBox="1"/>
          <p:nvPr/>
        </p:nvSpPr>
        <p:spPr>
          <a:xfrm>
            <a:off x="2290709" y="3073730"/>
            <a:ext cx="1472540" cy="369332"/>
          </a:xfrm>
          <a:prstGeom prst="rect">
            <a:avLst/>
          </a:prstGeom>
          <a:noFill/>
        </p:spPr>
        <p:txBody>
          <a:bodyPr wrap="square" rtlCol="0">
            <a:spAutoFit/>
          </a:bodyPr>
          <a:lstStyle/>
          <a:p>
            <a:r>
              <a:rPr lang="en-US" dirty="0">
                <a:solidFill>
                  <a:srgbClr val="FF0000"/>
                </a:solidFill>
              </a:rPr>
              <a:t>1 </a:t>
            </a:r>
            <a:r>
              <a:rPr lang="en-US" dirty="0" err="1">
                <a:solidFill>
                  <a:srgbClr val="FF0000"/>
                </a:solidFill>
              </a:rPr>
              <a:t>mbps</a:t>
            </a:r>
            <a:endParaRPr lang="en-US" dirty="0">
              <a:solidFill>
                <a:srgbClr val="FF0000"/>
              </a:solidFill>
            </a:endParaRPr>
          </a:p>
        </p:txBody>
      </p:sp>
    </p:spTree>
    <p:extLst>
      <p:ext uri="{BB962C8B-B14F-4D97-AF65-F5344CB8AC3E}">
        <p14:creationId xmlns:p14="http://schemas.microsoft.com/office/powerpoint/2010/main" val="319989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7" name="Title 1">
            <a:extLst>
              <a:ext uri="{FF2B5EF4-FFF2-40B4-BE49-F238E27FC236}">
                <a16:creationId xmlns:a16="http://schemas.microsoft.com/office/drawing/2014/main" id="{A238FF32-2A24-47F0-AC06-4EA23229A68B}"/>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Information</a:t>
            </a:r>
            <a:endParaRPr lang="en-US" sz="2600" i="1" dirty="0">
              <a:solidFill>
                <a:srgbClr val="7030A0"/>
              </a:solidFill>
            </a:endParaRPr>
          </a:p>
        </p:txBody>
      </p:sp>
      <p:sp>
        <p:nvSpPr>
          <p:cNvPr id="8" name="Content Placeholder 2">
            <a:extLst>
              <a:ext uri="{FF2B5EF4-FFF2-40B4-BE49-F238E27FC236}">
                <a16:creationId xmlns:a16="http://schemas.microsoft.com/office/drawing/2014/main" id="{B57C16F0-08A8-40B6-8B55-76A3FF1B5112}"/>
              </a:ext>
            </a:extLst>
          </p:cNvPr>
          <p:cNvSpPr>
            <a:spLocks noGrp="1"/>
          </p:cNvSpPr>
          <p:nvPr>
            <p:ph idx="1"/>
          </p:nvPr>
        </p:nvSpPr>
        <p:spPr>
          <a:xfrm>
            <a:off x="118533" y="1030150"/>
            <a:ext cx="7825317" cy="3811347"/>
          </a:xfrm>
        </p:spPr>
        <p:txBody>
          <a:bodyPr>
            <a:normAutofit lnSpcReduction="10000"/>
          </a:bodyPr>
          <a:lstStyle/>
          <a:p>
            <a:pPr>
              <a:spcBef>
                <a:spcPts val="0"/>
              </a:spcBef>
              <a:buFont typeface="Courier New" panose="02070309020205020404" pitchFamily="49" charset="0"/>
              <a:buChar char="o"/>
            </a:pPr>
            <a:r>
              <a:rPr lang="en-US" b="0" dirty="0"/>
              <a:t>Information sen</a:t>
            </a:r>
            <a:r>
              <a:rPr lang="en-US" dirty="0"/>
              <a:t>t to cellular device</a:t>
            </a:r>
            <a:endParaRPr lang="en-US" b="0" dirty="0"/>
          </a:p>
          <a:p>
            <a:pPr lvl="1">
              <a:spcBef>
                <a:spcPts val="0"/>
              </a:spcBef>
              <a:buFont typeface="Wingdings" panose="05000000000000000000" pitchFamily="2" charset="2"/>
              <a:buChar char="ü"/>
            </a:pPr>
            <a:r>
              <a:rPr lang="en-US" dirty="0"/>
              <a:t>Doppler shift</a:t>
            </a:r>
          </a:p>
          <a:p>
            <a:pPr lvl="1">
              <a:spcBef>
                <a:spcPts val="0"/>
              </a:spcBef>
              <a:buFont typeface="Wingdings" panose="05000000000000000000" pitchFamily="2" charset="2"/>
              <a:buChar char="ü"/>
            </a:pPr>
            <a:r>
              <a:rPr lang="en-US" dirty="0"/>
              <a:t>Code phase</a:t>
            </a:r>
          </a:p>
          <a:p>
            <a:pPr lvl="1">
              <a:spcBef>
                <a:spcPts val="0"/>
              </a:spcBef>
              <a:buFont typeface="Wingdings" panose="05000000000000000000" pitchFamily="2" charset="2"/>
              <a:buChar char="ü"/>
            </a:pPr>
            <a:r>
              <a:rPr lang="en-US" dirty="0"/>
              <a:t>List of available satellite</a:t>
            </a:r>
          </a:p>
          <a:p>
            <a:pPr lvl="1">
              <a:spcBef>
                <a:spcPts val="0"/>
              </a:spcBef>
              <a:buFont typeface="Wingdings" panose="05000000000000000000" pitchFamily="2" charset="2"/>
              <a:buChar char="ü"/>
            </a:pPr>
            <a:r>
              <a:rPr lang="en-US" dirty="0"/>
              <a:t>Azimuth and elevation angles for the visible satellites</a:t>
            </a:r>
          </a:p>
          <a:p>
            <a:pPr lvl="1">
              <a:spcBef>
                <a:spcPts val="0"/>
              </a:spcBef>
              <a:buFont typeface="Wingdings" panose="05000000000000000000" pitchFamily="2" charset="2"/>
              <a:buChar char="ü"/>
            </a:pPr>
            <a:r>
              <a:rPr lang="en-US" dirty="0"/>
              <a:t>Approximate mobile locations</a:t>
            </a:r>
          </a:p>
          <a:p>
            <a:pPr lvl="1">
              <a:spcBef>
                <a:spcPts val="0"/>
              </a:spcBef>
              <a:buFont typeface="Wingdings" panose="05000000000000000000" pitchFamily="2" charset="2"/>
              <a:buChar char="ü"/>
            </a:pPr>
            <a:r>
              <a:rPr lang="en-US" dirty="0"/>
              <a:t>Ephemeris of the satellites</a:t>
            </a:r>
          </a:p>
          <a:p>
            <a:pPr lvl="1">
              <a:spcBef>
                <a:spcPts val="0"/>
              </a:spcBef>
              <a:buFont typeface="Wingdings" panose="05000000000000000000" pitchFamily="2" charset="2"/>
              <a:buChar char="ü"/>
            </a:pPr>
            <a:r>
              <a:rPr lang="en-US" dirty="0"/>
              <a:t>GPS Almanac</a:t>
            </a:r>
          </a:p>
          <a:p>
            <a:pPr lvl="1">
              <a:spcBef>
                <a:spcPts val="0"/>
              </a:spcBef>
              <a:buFont typeface="Wingdings" panose="05000000000000000000" pitchFamily="2" charset="2"/>
              <a:buChar char="ü"/>
            </a:pPr>
            <a:r>
              <a:rPr lang="en-US" dirty="0"/>
              <a:t>GPS reference time</a:t>
            </a:r>
          </a:p>
          <a:p>
            <a:pPr lvl="1">
              <a:spcBef>
                <a:spcPts val="0"/>
              </a:spcBef>
              <a:buFont typeface="Wingdings" panose="05000000000000000000" pitchFamily="2" charset="2"/>
              <a:buChar char="ü"/>
            </a:pPr>
            <a:r>
              <a:rPr lang="en-US" dirty="0"/>
              <a:t>Satellite clock correction time</a:t>
            </a:r>
          </a:p>
          <a:p>
            <a:pPr lvl="1">
              <a:spcBef>
                <a:spcPts val="0"/>
              </a:spcBef>
              <a:buFont typeface="Wingdings" panose="05000000000000000000" pitchFamily="2" charset="2"/>
              <a:buChar char="ü"/>
            </a:pPr>
            <a:endParaRPr lang="en-US" dirty="0"/>
          </a:p>
          <a:p>
            <a:pPr lvl="1">
              <a:spcBef>
                <a:spcPts val="0"/>
              </a:spcBef>
              <a:buFont typeface="Wingdings" panose="05000000000000000000" pitchFamily="2" charset="2"/>
              <a:buChar char="ü"/>
            </a:pPr>
            <a:endParaRPr lang="en-US" dirty="0"/>
          </a:p>
        </p:txBody>
      </p:sp>
    </p:spTree>
    <p:extLst>
      <p:ext uri="{BB962C8B-B14F-4D97-AF65-F5344CB8AC3E}">
        <p14:creationId xmlns:p14="http://schemas.microsoft.com/office/powerpoint/2010/main" val="25371216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23</a:t>
            </a:fld>
            <a:endParaRPr lang="en-US"/>
          </a:p>
        </p:txBody>
      </p:sp>
      <p:sp>
        <p:nvSpPr>
          <p:cNvPr id="7" name="Title 1">
            <a:extLst>
              <a:ext uri="{FF2B5EF4-FFF2-40B4-BE49-F238E27FC236}">
                <a16:creationId xmlns:a16="http://schemas.microsoft.com/office/drawing/2014/main" id="{A238FF32-2A24-47F0-AC06-4EA23229A68B}"/>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en-US" sz="3200" dirty="0">
                <a:solidFill>
                  <a:srgbClr val="7030A0"/>
                </a:solidFill>
              </a:rPr>
              <a:t>Differential GPS</a:t>
            </a:r>
          </a:p>
        </p:txBody>
      </p:sp>
      <p:sp>
        <p:nvSpPr>
          <p:cNvPr id="8" name="Content Placeholder 2">
            <a:extLst>
              <a:ext uri="{FF2B5EF4-FFF2-40B4-BE49-F238E27FC236}">
                <a16:creationId xmlns:a16="http://schemas.microsoft.com/office/drawing/2014/main" id="{CA171774-5D98-4BAC-9987-79ED16141032}"/>
              </a:ext>
            </a:extLst>
          </p:cNvPr>
          <p:cNvSpPr>
            <a:spLocks noGrp="1"/>
          </p:cNvSpPr>
          <p:nvPr>
            <p:ph idx="1"/>
          </p:nvPr>
        </p:nvSpPr>
        <p:spPr>
          <a:xfrm>
            <a:off x="118533" y="1030150"/>
            <a:ext cx="7825317" cy="3811347"/>
          </a:xfrm>
        </p:spPr>
        <p:txBody>
          <a:bodyPr>
            <a:normAutofit/>
          </a:bodyPr>
          <a:lstStyle/>
          <a:p>
            <a:pPr>
              <a:spcBef>
                <a:spcPts val="0"/>
              </a:spcBef>
              <a:buFont typeface="Courier New" panose="02070309020205020404" pitchFamily="49" charset="0"/>
              <a:buChar char="o"/>
            </a:pPr>
            <a:r>
              <a:rPr lang="en-US" b="0" dirty="0"/>
              <a:t>DGPS</a:t>
            </a:r>
          </a:p>
          <a:p>
            <a:pPr lvl="1">
              <a:spcBef>
                <a:spcPts val="0"/>
              </a:spcBef>
              <a:buFont typeface="Wingdings" panose="05000000000000000000" pitchFamily="2" charset="2"/>
              <a:buChar char="ü"/>
            </a:pPr>
            <a:r>
              <a:rPr lang="en-US" dirty="0"/>
              <a:t>Deals with timing delays caused by the atmosphere layers, multipath, and satellite and receiver clocks</a:t>
            </a:r>
          </a:p>
          <a:p>
            <a:pPr lvl="1">
              <a:spcBef>
                <a:spcPts val="0"/>
              </a:spcBef>
              <a:buFont typeface="Wingdings" panose="05000000000000000000" pitchFamily="2" charset="2"/>
              <a:buChar char="ü"/>
            </a:pPr>
            <a:r>
              <a:rPr lang="en-US" dirty="0"/>
              <a:t>Through a nearby reference receiver that measures the timing error of all the satellites in range and broadcasts the information to all the DGPS receivers in the area</a:t>
            </a:r>
          </a:p>
          <a:p>
            <a:pPr lvl="1">
              <a:spcBef>
                <a:spcPts val="0"/>
              </a:spcBef>
              <a:buFont typeface="Wingdings" panose="05000000000000000000" pitchFamily="2" charset="2"/>
              <a:buChar char="ü"/>
            </a:pPr>
            <a:r>
              <a:rPr lang="en-US" dirty="0"/>
              <a:t>Local area (10-100 km)</a:t>
            </a:r>
          </a:p>
        </p:txBody>
      </p:sp>
    </p:spTree>
    <p:extLst>
      <p:ext uri="{BB962C8B-B14F-4D97-AF65-F5344CB8AC3E}">
        <p14:creationId xmlns:p14="http://schemas.microsoft.com/office/powerpoint/2010/main" val="30640236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24</a:t>
            </a:fld>
            <a:endParaRPr lang="en-US"/>
          </a:p>
        </p:txBody>
      </p:sp>
      <p:sp>
        <p:nvSpPr>
          <p:cNvPr id="7" name="Title 1">
            <a:extLst>
              <a:ext uri="{FF2B5EF4-FFF2-40B4-BE49-F238E27FC236}">
                <a16:creationId xmlns:a16="http://schemas.microsoft.com/office/drawing/2014/main" id="{A238FF32-2A24-47F0-AC06-4EA23229A68B}"/>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en-US" sz="3200" dirty="0">
                <a:solidFill>
                  <a:srgbClr val="7030A0"/>
                </a:solidFill>
              </a:rPr>
              <a:t>Differential GPS</a:t>
            </a:r>
          </a:p>
        </p:txBody>
      </p:sp>
      <p:pic>
        <p:nvPicPr>
          <p:cNvPr id="1026" name="Picture 2" descr="Differential GPS/DGPS">
            <a:extLst>
              <a:ext uri="{FF2B5EF4-FFF2-40B4-BE49-F238E27FC236}">
                <a16:creationId xmlns:a16="http://schemas.microsoft.com/office/drawing/2014/main" id="{7D0E6251-504F-43E7-9641-82BE463A1C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7726" y="1075310"/>
            <a:ext cx="5269558" cy="391001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B271650-83D5-47EE-A1F7-F8BAF43C8698}"/>
              </a:ext>
            </a:extLst>
          </p:cNvPr>
          <p:cNvSpPr txBox="1"/>
          <p:nvPr/>
        </p:nvSpPr>
        <p:spPr>
          <a:xfrm>
            <a:off x="399986" y="4848314"/>
            <a:ext cx="4551811" cy="246221"/>
          </a:xfrm>
          <a:prstGeom prst="rect">
            <a:avLst/>
          </a:prstGeom>
          <a:noFill/>
        </p:spPr>
        <p:txBody>
          <a:bodyPr wrap="square">
            <a:spAutoFit/>
          </a:bodyPr>
          <a:lstStyle/>
          <a:p>
            <a:r>
              <a:rPr lang="en-US" sz="1000" dirty="0">
                <a:solidFill>
                  <a:srgbClr val="7030A0"/>
                </a:solidFill>
              </a:rPr>
              <a:t>https://www.e-education.psu.edu/geog862/node/1828</a:t>
            </a:r>
          </a:p>
        </p:txBody>
      </p:sp>
    </p:spTree>
    <p:extLst>
      <p:ext uri="{BB962C8B-B14F-4D97-AF65-F5344CB8AC3E}">
        <p14:creationId xmlns:p14="http://schemas.microsoft.com/office/powerpoint/2010/main" val="15902137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a:xfrm>
            <a:off x="246934" y="1052732"/>
            <a:ext cx="4223622" cy="4090768"/>
          </a:xfrm>
        </p:spPr>
        <p:txBody>
          <a:bodyPr>
            <a:normAutofit fontScale="55000" lnSpcReduction="20000"/>
          </a:bodyPr>
          <a:lstStyle/>
          <a:p>
            <a:pPr>
              <a:buFont typeface="Courier New" panose="02070309020205020404" pitchFamily="49" charset="0"/>
              <a:buChar char="o"/>
            </a:pPr>
            <a:r>
              <a:rPr lang="en-US" sz="4200" b="1" dirty="0">
                <a:solidFill>
                  <a:srgbClr val="E3874F"/>
                </a:solidFill>
              </a:rPr>
              <a:t>W</a:t>
            </a:r>
            <a:r>
              <a:rPr lang="en-US" altLang="zh-CN" sz="4200" b="1" dirty="0">
                <a:solidFill>
                  <a:srgbClr val="E3874F"/>
                </a:solidFill>
              </a:rPr>
              <a:t>ide Area Augmentation System (WAAS)</a:t>
            </a:r>
            <a:endParaRPr lang="en-US" sz="4200" b="1" dirty="0">
              <a:solidFill>
                <a:srgbClr val="E3874F"/>
              </a:solidFill>
            </a:endParaRPr>
          </a:p>
          <a:p>
            <a:pPr lvl="1">
              <a:buFont typeface="Wingdings" panose="05000000000000000000" pitchFamily="2" charset="2"/>
              <a:buChar char="ü"/>
            </a:pPr>
            <a:r>
              <a:rPr lang="en-US" sz="2940" dirty="0"/>
              <a:t>Satellite-Based Augmentation System (SBAS)</a:t>
            </a:r>
          </a:p>
          <a:p>
            <a:pPr lvl="1">
              <a:buFont typeface="Wingdings" panose="05000000000000000000" pitchFamily="2" charset="2"/>
              <a:buChar char="ü"/>
            </a:pPr>
            <a:r>
              <a:rPr lang="en-US" sz="2940" dirty="0"/>
              <a:t>U.S. Federal Aviation Administration</a:t>
            </a:r>
          </a:p>
          <a:p>
            <a:pPr lvl="1">
              <a:buFont typeface="Wingdings" panose="05000000000000000000" pitchFamily="2" charset="2"/>
              <a:buChar char="ü"/>
            </a:pPr>
            <a:r>
              <a:rPr lang="en-US" sz="2940" dirty="0"/>
              <a:t>Real-time accuracies for single fixes within 4-7 meters</a:t>
            </a:r>
          </a:p>
          <a:p>
            <a:pPr lvl="1">
              <a:buFont typeface="Wingdings" panose="05000000000000000000" pitchFamily="2" charset="2"/>
              <a:buChar char="ü"/>
            </a:pPr>
            <a:r>
              <a:rPr lang="en-US" sz="2940" dirty="0"/>
              <a:t>Can average multiple fixes for increased accuracy</a:t>
            </a:r>
          </a:p>
          <a:p>
            <a:pPr lvl="1">
              <a:buFont typeface="Wingdings" panose="05000000000000000000" pitchFamily="2" charset="2"/>
              <a:buChar char="ü"/>
            </a:pPr>
            <a:r>
              <a:rPr lang="en-US" sz="2940" dirty="0"/>
              <a:t>Broadcasted correction data from ground stations</a:t>
            </a:r>
          </a:p>
          <a:p>
            <a:pPr lvl="1">
              <a:buFont typeface="Wingdings" panose="05000000000000000000" pitchFamily="2" charset="2"/>
              <a:buChar char="ü"/>
            </a:pPr>
            <a:r>
              <a:rPr lang="en-US" sz="2940" dirty="0"/>
              <a:t>Only for NAVSTAR GPS (US System)</a:t>
            </a:r>
          </a:p>
          <a:p>
            <a:pPr lvl="1">
              <a:buFont typeface="Wingdings" panose="05000000000000000000" pitchFamily="2" charset="2"/>
              <a:buChar char="ü"/>
            </a:pPr>
            <a:r>
              <a:rPr lang="en-US" sz="2940" dirty="0"/>
              <a:t>Most handheld units are WAAS enabled</a:t>
            </a:r>
          </a:p>
          <a:p>
            <a:pPr lvl="1">
              <a:buFont typeface="Wingdings" panose="05000000000000000000" pitchFamily="2" charset="2"/>
              <a:buChar char="ü"/>
            </a:pPr>
            <a:r>
              <a:rPr lang="en-US" sz="2940" dirty="0"/>
              <a:t>For real-time needs</a:t>
            </a:r>
          </a:p>
          <a:p>
            <a:pPr lvl="1">
              <a:buFont typeface="Wingdings" panose="05000000000000000000" pitchFamily="2" charset="2"/>
              <a:buChar char="ü"/>
            </a:pPr>
            <a:r>
              <a:rPr lang="en-US" sz="2940" dirty="0"/>
              <a:t>Others: European: EGNOS , Japan: MSAS and QZSS, India: GAGAN, Russia: SDCM </a:t>
            </a:r>
          </a:p>
        </p:txBody>
      </p:sp>
      <p:pic>
        <p:nvPicPr>
          <p:cNvPr id="5122" name="Picture 2" descr="WAAS - Step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0555" y="1388437"/>
            <a:ext cx="3495129" cy="2702331"/>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361733" y="4343744"/>
            <a:ext cx="3867867" cy="587084"/>
          </a:xfrm>
          <a:prstGeom prst="rect">
            <a:avLst/>
          </a:prstGeom>
        </p:spPr>
        <p:txBody>
          <a:bodyPr wrap="square">
            <a:spAutoFit/>
          </a:bodyPr>
          <a:lstStyle/>
          <a:p>
            <a:r>
              <a:rPr lang="en-US" sz="1000" dirty="0">
                <a:hlinkClick r:id="rId4"/>
              </a:rPr>
              <a:t>https://www.faa.gov/about/office_org/headquarters_offices/ato/service_units/techops/navservices/gnss/waas/howitworks/</a:t>
            </a:r>
            <a:endParaRPr lang="en-US" sz="1000" dirty="0"/>
          </a:p>
          <a:p>
            <a:endParaRPr lang="en-US" sz="1215" dirty="0"/>
          </a:p>
        </p:txBody>
      </p:sp>
      <p:cxnSp>
        <p:nvCxnSpPr>
          <p:cNvPr id="7" name="Straight Connector 6">
            <a:extLst>
              <a:ext uri="{FF2B5EF4-FFF2-40B4-BE49-F238E27FC236}">
                <a16:creationId xmlns:a16="http://schemas.microsoft.com/office/drawing/2014/main" id="{80465FAB-3351-4BE0-96E0-4690D497366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B5C674F2-25AB-4539-BD1D-8B93BAB89E13}"/>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en-US" sz="3200" dirty="0">
                <a:solidFill>
                  <a:srgbClr val="7030A0"/>
                </a:solidFill>
              </a:rPr>
              <a:t>Wide Area Augmentation System</a:t>
            </a:r>
          </a:p>
        </p:txBody>
      </p:sp>
    </p:spTree>
    <p:extLst>
      <p:ext uri="{BB962C8B-B14F-4D97-AF65-F5344CB8AC3E}">
        <p14:creationId xmlns:p14="http://schemas.microsoft.com/office/powerpoint/2010/main" val="30577612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68727" y="1206502"/>
            <a:ext cx="3030527" cy="3741516"/>
          </a:xfrm>
        </p:spPr>
        <p:txBody>
          <a:bodyPr>
            <a:normAutofit fontScale="77500" lnSpcReduction="20000"/>
          </a:bodyPr>
          <a:lstStyle/>
          <a:p>
            <a:pPr>
              <a:buFont typeface="Courier New" panose="02070309020205020404" pitchFamily="49" charset="0"/>
              <a:buChar char="o"/>
            </a:pPr>
            <a:r>
              <a:rPr lang="en-US" dirty="0"/>
              <a:t>Correction are made using a </a:t>
            </a:r>
            <a:r>
              <a:rPr lang="en-US" b="1" dirty="0">
                <a:solidFill>
                  <a:srgbClr val="E3874F"/>
                </a:solidFill>
              </a:rPr>
              <a:t>base station</a:t>
            </a:r>
          </a:p>
          <a:p>
            <a:pPr>
              <a:buFont typeface="Courier New" panose="02070309020205020404" pitchFamily="49" charset="0"/>
              <a:buChar char="o"/>
            </a:pPr>
            <a:r>
              <a:rPr lang="en-US" dirty="0"/>
              <a:t>Corrections are transmitted from base station to rover</a:t>
            </a:r>
          </a:p>
          <a:p>
            <a:pPr lvl="1">
              <a:buFont typeface="Wingdings" panose="05000000000000000000" pitchFamily="2" charset="2"/>
              <a:buChar char="ü"/>
            </a:pPr>
            <a:r>
              <a:rPr lang="en-US" dirty="0"/>
              <a:t>Corrections obtained during post-processing </a:t>
            </a:r>
          </a:p>
          <a:p>
            <a:pPr>
              <a:buFont typeface="Courier New" panose="02070309020205020404" pitchFamily="49" charset="0"/>
              <a:buChar char="o"/>
            </a:pPr>
            <a:r>
              <a:rPr lang="en-US" dirty="0"/>
              <a:t>The rover collects data relating to its distance from the based station</a:t>
            </a:r>
          </a:p>
          <a:p>
            <a:endParaRPr lang="en-US" dirty="0"/>
          </a:p>
        </p:txBody>
      </p:sp>
      <p:pic>
        <p:nvPicPr>
          <p:cNvPr id="4" name="Picture 3"/>
          <p:cNvPicPr>
            <a:picLocks noChangeAspect="1"/>
          </p:cNvPicPr>
          <p:nvPr/>
        </p:nvPicPr>
        <p:blipFill>
          <a:blip r:embed="rId3"/>
          <a:stretch>
            <a:fillRect/>
          </a:stretch>
        </p:blipFill>
        <p:spPr>
          <a:xfrm>
            <a:off x="3385751" y="1700342"/>
            <a:ext cx="4723224" cy="2816668"/>
          </a:xfrm>
          <a:prstGeom prst="rect">
            <a:avLst/>
          </a:prstGeom>
        </p:spPr>
      </p:pic>
      <p:cxnSp>
        <p:nvCxnSpPr>
          <p:cNvPr id="5" name="Straight Connector 4">
            <a:extLst>
              <a:ext uri="{FF2B5EF4-FFF2-40B4-BE49-F238E27FC236}">
                <a16:creationId xmlns:a16="http://schemas.microsoft.com/office/drawing/2014/main" id="{3A58808B-326E-49C8-804D-FA9A35454DF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E7B79DC9-C1D5-4601-A971-7FE3A9E20277}"/>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en-US" sz="3200" dirty="0">
                <a:solidFill>
                  <a:srgbClr val="7030A0"/>
                </a:solidFill>
              </a:rPr>
              <a:t>Real-Time Kinematic (RTK)</a:t>
            </a:r>
          </a:p>
        </p:txBody>
      </p:sp>
    </p:spTree>
    <p:extLst>
      <p:ext uri="{BB962C8B-B14F-4D97-AF65-F5344CB8AC3E}">
        <p14:creationId xmlns:p14="http://schemas.microsoft.com/office/powerpoint/2010/main" val="31284427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0933" y="1131194"/>
            <a:ext cx="5151299" cy="3164077"/>
          </a:xfrm>
        </p:spPr>
        <p:txBody>
          <a:bodyPr>
            <a:normAutofit lnSpcReduction="10000"/>
          </a:bodyPr>
          <a:lstStyle/>
          <a:p>
            <a:pPr>
              <a:buFont typeface="Courier New" panose="02070309020205020404" pitchFamily="49" charset="0"/>
              <a:buChar char="o"/>
            </a:pPr>
            <a:r>
              <a:rPr lang="en-US" dirty="0"/>
              <a:t>Base Stations</a:t>
            </a:r>
          </a:p>
          <a:p>
            <a:pPr lvl="1">
              <a:buFont typeface="Wingdings" panose="05000000000000000000" pitchFamily="2" charset="2"/>
              <a:buChar char="ü"/>
            </a:pPr>
            <a:r>
              <a:rPr lang="en-US" dirty="0"/>
              <a:t>Survey-grade quality GPS unit</a:t>
            </a:r>
          </a:p>
          <a:p>
            <a:pPr lvl="1">
              <a:buFont typeface="Wingdings" panose="05000000000000000000" pitchFamily="2" charset="2"/>
              <a:buChar char="ü"/>
            </a:pPr>
            <a:r>
              <a:rPr lang="en-US" dirty="0"/>
              <a:t>If GPS data are continuously collected at a location for at least two hours, the location is considered to be a highly precise/accurate reference location</a:t>
            </a:r>
          </a:p>
        </p:txBody>
      </p:sp>
      <p:pic>
        <p:nvPicPr>
          <p:cNvPr id="6146" name="Picture 2" descr="File:CORS spicewood lcrh.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8252" y="1491334"/>
            <a:ext cx="2064367" cy="2752489"/>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4063352" y="4295272"/>
            <a:ext cx="4113728" cy="653256"/>
          </a:xfrm>
          <a:prstGeom prst="rect">
            <a:avLst/>
          </a:prstGeom>
        </p:spPr>
        <p:txBody>
          <a:bodyPr>
            <a:spAutoFit/>
          </a:bodyPr>
          <a:lstStyle/>
          <a:p>
            <a:r>
              <a:rPr lang="en-US" sz="1215" dirty="0">
                <a:hlinkClick r:id="rId4"/>
              </a:rPr>
              <a:t>https://commons.wikimedia.org/wiki/File:CORS_spicewood_lcrh.jpg</a:t>
            </a:r>
            <a:endParaRPr lang="en-US" sz="1215" dirty="0"/>
          </a:p>
          <a:p>
            <a:endParaRPr lang="en-US" sz="1215" dirty="0"/>
          </a:p>
        </p:txBody>
      </p:sp>
      <p:cxnSp>
        <p:nvCxnSpPr>
          <p:cNvPr id="6" name="Straight Connector 5">
            <a:extLst>
              <a:ext uri="{FF2B5EF4-FFF2-40B4-BE49-F238E27FC236}">
                <a16:creationId xmlns:a16="http://schemas.microsoft.com/office/drawing/2014/main" id="{F218F31F-6772-481B-8B24-E09CDF999B6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D4A680A5-95E7-40D5-B42B-65C79018F92D}"/>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en-US" sz="3200" dirty="0">
                <a:solidFill>
                  <a:srgbClr val="7030A0"/>
                </a:solidFill>
              </a:rPr>
              <a:t>Real-Time Kinematic (RTK)</a:t>
            </a:r>
          </a:p>
        </p:txBody>
      </p:sp>
    </p:spTree>
    <p:extLst>
      <p:ext uri="{BB962C8B-B14F-4D97-AF65-F5344CB8AC3E}">
        <p14:creationId xmlns:p14="http://schemas.microsoft.com/office/powerpoint/2010/main" val="1529698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F218F31F-6772-481B-8B24-E09CDF999B6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3" name="Video 2">
            <a:hlinkClick r:id="" action="ppaction://media"/>
            <a:extLst>
              <a:ext uri="{FF2B5EF4-FFF2-40B4-BE49-F238E27FC236}">
                <a16:creationId xmlns:a16="http://schemas.microsoft.com/office/drawing/2014/main" id="{3C93885C-AB77-443B-8433-0D3E950ED0BF}"/>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4025900" y="1250950"/>
            <a:ext cx="3809998" cy="2146478"/>
          </a:xfrm>
          <a:prstGeom prst="rect">
            <a:avLst/>
          </a:prstGeom>
        </p:spPr>
      </p:pic>
      <p:sp>
        <p:nvSpPr>
          <p:cNvPr id="7" name="Title 1">
            <a:extLst>
              <a:ext uri="{FF2B5EF4-FFF2-40B4-BE49-F238E27FC236}">
                <a16:creationId xmlns:a16="http://schemas.microsoft.com/office/drawing/2014/main" id="{6727F939-AEFB-4F43-A99D-FAD78869AB52}"/>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en-US" sz="3200" dirty="0">
                <a:solidFill>
                  <a:srgbClr val="7030A0"/>
                </a:solidFill>
              </a:rPr>
              <a:t>Real-Time Kinematic (RTK)</a:t>
            </a:r>
          </a:p>
        </p:txBody>
      </p:sp>
      <p:pic>
        <p:nvPicPr>
          <p:cNvPr id="5" name="Video 4">
            <a:hlinkClick r:id="" action="ppaction://media"/>
            <a:extLst>
              <a:ext uri="{FF2B5EF4-FFF2-40B4-BE49-F238E27FC236}">
                <a16:creationId xmlns:a16="http://schemas.microsoft.com/office/drawing/2014/main" id="{4A5FFB79-8FC9-4837-9FDE-2F6315AF0195}"/>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811919" y="1052732"/>
            <a:ext cx="2103143" cy="3733800"/>
          </a:xfrm>
          <a:prstGeom prst="rect">
            <a:avLst/>
          </a:prstGeom>
        </p:spPr>
      </p:pic>
    </p:spTree>
    <p:extLst>
      <p:ext uri="{BB962C8B-B14F-4D97-AF65-F5344CB8AC3E}">
        <p14:creationId xmlns:p14="http://schemas.microsoft.com/office/powerpoint/2010/main" val="1909548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715" fill="hold"/>
                                        <p:tgtEl>
                                          <p:spTgt spid="5"/>
                                        </p:tgtEl>
                                      </p:cBhvr>
                                    </p:cmd>
                                  </p:childTnLst>
                                </p:cTn>
                              </p:par>
                              <p:par>
                                <p:cTn id="7" presetID="1" presetClass="mediacall" presetSubtype="0" fill="hold" nodeType="withEffect">
                                  <p:stCondLst>
                                    <p:cond delay="0"/>
                                  </p:stCondLst>
                                  <p:childTnLst>
                                    <p:cmd type="call" cmd="playFrom(0.0)">
                                      <p:cBhvr>
                                        <p:cTn id="8" dur="17645"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9" repeatCount="indefinite" fill="hold" display="0">
                  <p:stCondLst>
                    <p:cond delay="indefinite"/>
                  </p:stCondLst>
                </p:cTn>
                <p:tgtEl>
                  <p:spTgt spid="3"/>
                </p:tgtEl>
              </p:cMediaNode>
            </p:video>
            <p:seq concurrent="1" nextAc="seek">
              <p:cTn id="10" restart="whenNotActive" fill="hold" evtFilter="cancelBubble" nodeType="interactiveSeq">
                <p:stCondLst>
                  <p:cond evt="onClick" delay="0">
                    <p:tgtEl>
                      <p:spTgt spid="3"/>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3"/>
                                        </p:tgtEl>
                                      </p:cBhvr>
                                    </p:cmd>
                                  </p:childTnLst>
                                </p:cTn>
                              </p:par>
                            </p:childTnLst>
                          </p:cTn>
                        </p:par>
                      </p:childTnLst>
                    </p:cTn>
                  </p:par>
                </p:childTnLst>
              </p:cTn>
              <p:nextCondLst>
                <p:cond evt="onClick" delay="0">
                  <p:tgtEl>
                    <p:spTgt spid="3"/>
                  </p:tgtEl>
                </p:cond>
              </p:nextCondLst>
            </p:seq>
            <p:video>
              <p:cMediaNode vol="80000" mute="1">
                <p:cTn id="15" repeatCount="indefinite" fill="hold" display="0">
                  <p:stCondLst>
                    <p:cond delay="indefinite"/>
                  </p:stCondLst>
                </p:cTn>
                <p:tgtEl>
                  <p:spTgt spid="5"/>
                </p:tgtEl>
              </p:cMediaNode>
            </p:video>
            <p:seq concurrent="1" nextAc="seek">
              <p:cTn id="16" restart="whenNotActive" fill="hold" evtFilter="cancelBubble" nodeType="interactiveSeq">
                <p:stCondLst>
                  <p:cond evt="onClick" delay="0">
                    <p:tgtEl>
                      <p:spTgt spid="5"/>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F218F31F-6772-481B-8B24-E09CDF999B6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6727F939-AEFB-4F43-A99D-FAD78869AB52}"/>
              </a:ext>
            </a:extLst>
          </p:cNvPr>
          <p:cNvSpPr txBox="1">
            <a:spLocks/>
          </p:cNvSpPr>
          <p:nvPr/>
        </p:nvSpPr>
        <p:spPr>
          <a:xfrm>
            <a:off x="270933"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altLang="en-US" sz="3200" dirty="0">
                <a:solidFill>
                  <a:srgbClr val="7030A0"/>
                </a:solidFill>
              </a:rPr>
              <a:t>Real-Time Kinematic (RTK)</a:t>
            </a:r>
          </a:p>
        </p:txBody>
      </p:sp>
      <p:pic>
        <p:nvPicPr>
          <p:cNvPr id="4" name="Picture 3" descr="A picture containing outdoor, person&#10;&#10;Description automatically generated">
            <a:extLst>
              <a:ext uri="{FF2B5EF4-FFF2-40B4-BE49-F238E27FC236}">
                <a16:creationId xmlns:a16="http://schemas.microsoft.com/office/drawing/2014/main" id="{70E2F314-26CE-493D-959B-5604B941F90F}"/>
              </a:ext>
            </a:extLst>
          </p:cNvPr>
          <p:cNvPicPr>
            <a:picLocks noChangeAspect="1"/>
          </p:cNvPicPr>
          <p:nvPr/>
        </p:nvPicPr>
        <p:blipFill>
          <a:blip r:embed="rId3"/>
          <a:stretch>
            <a:fillRect/>
          </a:stretch>
        </p:blipFill>
        <p:spPr>
          <a:xfrm rot="5400000">
            <a:off x="-107534" y="1571318"/>
            <a:ext cx="3027740" cy="2270805"/>
          </a:xfrm>
          <a:prstGeom prst="rect">
            <a:avLst/>
          </a:prstGeom>
        </p:spPr>
      </p:pic>
      <p:pic>
        <p:nvPicPr>
          <p:cNvPr id="9" name="Picture 8" descr="A picture containing sky, outdoor, grass, ground&#10;&#10;Description automatically generated">
            <a:extLst>
              <a:ext uri="{FF2B5EF4-FFF2-40B4-BE49-F238E27FC236}">
                <a16:creationId xmlns:a16="http://schemas.microsoft.com/office/drawing/2014/main" id="{16A97085-69C1-4771-91EC-6B085FDCCB7C}"/>
              </a:ext>
            </a:extLst>
          </p:cNvPr>
          <p:cNvPicPr>
            <a:picLocks noChangeAspect="1"/>
          </p:cNvPicPr>
          <p:nvPr/>
        </p:nvPicPr>
        <p:blipFill>
          <a:blip r:embed="rId4"/>
          <a:stretch>
            <a:fillRect/>
          </a:stretch>
        </p:blipFill>
        <p:spPr>
          <a:xfrm>
            <a:off x="2649610" y="1650339"/>
            <a:ext cx="3006580" cy="2254935"/>
          </a:xfrm>
          <a:prstGeom prst="rect">
            <a:avLst/>
          </a:prstGeom>
        </p:spPr>
      </p:pic>
      <p:pic>
        <p:nvPicPr>
          <p:cNvPr id="11" name="Picture 10" descr="A picture containing outdoor&#10;&#10;Description automatically generated">
            <a:extLst>
              <a:ext uri="{FF2B5EF4-FFF2-40B4-BE49-F238E27FC236}">
                <a16:creationId xmlns:a16="http://schemas.microsoft.com/office/drawing/2014/main" id="{8D7A23BE-D100-439F-8F69-F889195615A4}"/>
              </a:ext>
            </a:extLst>
          </p:cNvPr>
          <p:cNvPicPr>
            <a:picLocks noChangeAspect="1"/>
          </p:cNvPicPr>
          <p:nvPr/>
        </p:nvPicPr>
        <p:blipFill>
          <a:blip r:embed="rId5"/>
          <a:stretch>
            <a:fillRect/>
          </a:stretch>
        </p:blipFill>
        <p:spPr>
          <a:xfrm rot="5400000">
            <a:off x="5401826" y="1632000"/>
            <a:ext cx="2922104" cy="2191578"/>
          </a:xfrm>
          <a:prstGeom prst="rect">
            <a:avLst/>
          </a:prstGeom>
        </p:spPr>
      </p:pic>
    </p:spTree>
    <p:extLst>
      <p:ext uri="{BB962C8B-B14F-4D97-AF65-F5344CB8AC3E}">
        <p14:creationId xmlns:p14="http://schemas.microsoft.com/office/powerpoint/2010/main" val="3381978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30</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9140</TotalTime>
  <Words>2777</Words>
  <Application>Microsoft Office PowerPoint</Application>
  <PresentationFormat>Custom</PresentationFormat>
  <Paragraphs>313</Paragraphs>
  <Slides>30</Slides>
  <Notes>30</Notes>
  <HiddenSlides>0</HiddenSlides>
  <MMClips>2</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vt:i4>
      </vt:variant>
    </vt:vector>
  </HeadingPairs>
  <TitlesOfParts>
    <vt:vector size="41" baseType="lpstr">
      <vt:lpstr>Lucida Grande</vt:lpstr>
      <vt:lpstr>Sabon-Roman</vt:lpstr>
      <vt:lpstr>Arial</vt:lpstr>
      <vt:lpstr>Calibri</vt:lpstr>
      <vt:lpstr>Courier New</vt:lpstr>
      <vt:lpstr>Open Sans</vt:lpstr>
      <vt:lpstr>Open Sans</vt:lpstr>
      <vt:lpstr>Roboto</vt:lpstr>
      <vt:lpstr>Titillium Web</vt:lpstr>
      <vt:lpstr>Wingdings</vt:lpstr>
      <vt:lpstr>Office Theme</vt:lpstr>
      <vt:lpstr>GEOG 3319: Geographic Field Techniques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Field Techniques</dc:title>
  <dc:creator>Yaqian He</dc:creator>
  <cp:lastModifiedBy>Yaqian He</cp:lastModifiedBy>
  <cp:revision>402</cp:revision>
  <dcterms:created xsi:type="dcterms:W3CDTF">2020-07-26T21:20:11Z</dcterms:created>
  <dcterms:modified xsi:type="dcterms:W3CDTF">2022-09-14T15:05:02Z</dcterms:modified>
</cp:coreProperties>
</file>