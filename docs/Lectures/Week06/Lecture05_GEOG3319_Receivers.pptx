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1" r:id="rId6"/>
  </p:sldMasterIdLst>
  <p:notesMasterIdLst>
    <p:notesMasterId r:id="rId33"/>
  </p:notesMasterIdLst>
  <p:sldIdLst>
    <p:sldId id="914" r:id="rId7"/>
    <p:sldId id="1647" r:id="rId8"/>
    <p:sldId id="677" r:id="rId9"/>
    <p:sldId id="654" r:id="rId10"/>
    <p:sldId id="655" r:id="rId11"/>
    <p:sldId id="1648" r:id="rId12"/>
    <p:sldId id="1649" r:id="rId13"/>
    <p:sldId id="1650" r:id="rId14"/>
    <p:sldId id="1651" r:id="rId15"/>
    <p:sldId id="678" r:id="rId16"/>
    <p:sldId id="687" r:id="rId17"/>
    <p:sldId id="686" r:id="rId18"/>
    <p:sldId id="1653" r:id="rId19"/>
    <p:sldId id="1654" r:id="rId20"/>
    <p:sldId id="1655" r:id="rId21"/>
    <p:sldId id="1664" r:id="rId22"/>
    <p:sldId id="1660" r:id="rId23"/>
    <p:sldId id="1661" r:id="rId24"/>
    <p:sldId id="1662" r:id="rId25"/>
    <p:sldId id="1663" r:id="rId26"/>
    <p:sldId id="1656" r:id="rId27"/>
    <p:sldId id="1657" r:id="rId28"/>
    <p:sldId id="1658" r:id="rId29"/>
    <p:sldId id="1659" r:id="rId30"/>
    <p:sldId id="685" r:id="rId31"/>
    <p:sldId id="270" r:id="rId32"/>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5603" autoAdjust="0"/>
  </p:normalViewPr>
  <p:slideViewPr>
    <p:cSldViewPr snapToGrid="0" snapToObjects="1">
      <p:cViewPr>
        <p:scale>
          <a:sx n="100" d="100"/>
          <a:sy n="100" d="100"/>
        </p:scale>
        <p:origin x="2232" y="504"/>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9/22/2025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Amplifier"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136068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4</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marR="61770" algn="l"/>
            <a:endParaRPr lang="en-US" altLang="en-US" dirty="0"/>
          </a:p>
        </p:txBody>
      </p:sp>
    </p:spTree>
    <p:extLst>
      <p:ext uri="{BB962C8B-B14F-4D97-AF65-F5344CB8AC3E}">
        <p14:creationId xmlns:p14="http://schemas.microsoft.com/office/powerpoint/2010/main" val="3724272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endParaRPr lang="en-US" altLang="en-US" dirty="0"/>
          </a:p>
        </p:txBody>
      </p:sp>
    </p:spTree>
    <p:extLst>
      <p:ext uri="{BB962C8B-B14F-4D97-AF65-F5344CB8AC3E}">
        <p14:creationId xmlns:p14="http://schemas.microsoft.com/office/powerpoint/2010/main" val="3486834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r>
              <a:rPr lang="en-US" altLang="en-US" dirty="0"/>
              <a:t>Trimble TDC100 and Trimble TSC3</a:t>
            </a:r>
          </a:p>
        </p:txBody>
      </p:sp>
    </p:spTree>
    <p:extLst>
      <p:ext uri="{BB962C8B-B14F-4D97-AF65-F5344CB8AC3E}">
        <p14:creationId xmlns:p14="http://schemas.microsoft.com/office/powerpoint/2010/main" val="259683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11</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endParaRPr lang="en-US" altLang="en-US" dirty="0"/>
          </a:p>
        </p:txBody>
      </p:sp>
    </p:spTree>
    <p:extLst>
      <p:ext uri="{BB962C8B-B14F-4D97-AF65-F5344CB8AC3E}">
        <p14:creationId xmlns:p14="http://schemas.microsoft.com/office/powerpoint/2010/main" val="3794886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endParaRPr lang="en-US" altLang="en-US" dirty="0"/>
          </a:p>
        </p:txBody>
      </p:sp>
    </p:spTree>
    <p:extLst>
      <p:ext uri="{BB962C8B-B14F-4D97-AF65-F5344CB8AC3E}">
        <p14:creationId xmlns:p14="http://schemas.microsoft.com/office/powerpoint/2010/main" val="1706178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r>
              <a:rPr lang="en-US" altLang="en-US" dirty="0"/>
              <a:t>GPS signals are very low in power, as well as it get merged with interference from the higher powerful signals. So we need to improve the power or in the signal as well as we need to filter the interference as well as we need to for the process the signal to get our desire parameters. In order to get those things the GPS receiver hardware contains filters, amplifiers, frequency unity, digital signal, processing unit.</a:t>
            </a:r>
          </a:p>
          <a:p>
            <a:pPr algn="l"/>
            <a:endParaRPr lang="en-US" altLang="en-US" dirty="0"/>
          </a:p>
          <a:p>
            <a:pPr algn="l"/>
            <a:r>
              <a:rPr lang="en-US" altLang="en-US" dirty="0"/>
              <a:t>We wanted at an intermediate frequency a lower frequency than one and a half </a:t>
            </a:r>
            <a:r>
              <a:rPr lang="en-US" altLang="en-US" dirty="0" err="1"/>
              <a:t>gighertz</a:t>
            </a:r>
            <a:r>
              <a:rPr lang="en-US" altLang="en-US" dirty="0"/>
              <a:t> so we can sample and digitally store the signal.</a:t>
            </a:r>
          </a:p>
          <a:p>
            <a:pPr algn="l"/>
            <a:r>
              <a:rPr lang="en-US" altLang="en-US" dirty="0"/>
              <a:t>IF: intermediate frequency, in which  </a:t>
            </a:r>
            <a:r>
              <a:rPr lang="en-US" b="0" i="0" dirty="0">
                <a:solidFill>
                  <a:srgbClr val="202122"/>
                </a:solidFill>
                <a:effectLst/>
                <a:latin typeface="Arial" panose="020B0604020202020204" pitchFamily="34" charset="0"/>
              </a:rPr>
              <a:t>incoming signal is shifted to an IF for </a:t>
            </a:r>
            <a:r>
              <a:rPr lang="en-US" b="0" i="0" u="none" strike="noStrike" dirty="0">
                <a:solidFill>
                  <a:srgbClr val="0B0080"/>
                </a:solidFill>
                <a:effectLst/>
                <a:latin typeface="Arial" panose="020B0604020202020204" pitchFamily="34" charset="0"/>
                <a:hlinkClick r:id="rId3"/>
              </a:rPr>
              <a:t>amplification</a:t>
            </a:r>
            <a:r>
              <a:rPr lang="en-US" b="0" i="0" u="none" strike="noStrike" dirty="0">
                <a:solidFill>
                  <a:srgbClr val="0B0080"/>
                </a:solidFill>
                <a:effectLst/>
                <a:latin typeface="Arial" panose="020B0604020202020204" pitchFamily="34" charset="0"/>
              </a:rPr>
              <a:t>.</a:t>
            </a:r>
          </a:p>
          <a:p>
            <a:pPr algn="l"/>
            <a:r>
              <a:rPr lang="en-US" altLang="en-US" b="0" i="0" u="none" strike="noStrike" dirty="0">
                <a:solidFill>
                  <a:srgbClr val="0B0080"/>
                </a:solidFill>
                <a:effectLst/>
                <a:latin typeface="Arial" panose="020B0604020202020204" pitchFamily="34" charset="0"/>
              </a:rPr>
              <a:t>Converted it to intermediate frequency signal, that means the signal will be possible to be processed through digital signal processor. </a:t>
            </a:r>
          </a:p>
        </p:txBody>
      </p:sp>
    </p:spTree>
    <p:extLst>
      <p:ext uri="{BB962C8B-B14F-4D97-AF65-F5344CB8AC3E}">
        <p14:creationId xmlns:p14="http://schemas.microsoft.com/office/powerpoint/2010/main" val="631713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26</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D00F9BB-97E2-4F5E-A9A6-FAC40A4E9E52}" type="datetime1">
              <a:rPr lang="en-US" smtClean="0"/>
              <a:t>9/22/2025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46510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DFA16EE0-F357-46ED-94FA-906C52536BC8}" type="datetime1">
              <a:rPr lang="en-US" smtClean="0"/>
              <a:t>9/22/2025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55003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70A555F4-0623-4308-89A4-2EF3C67F970E}" type="datetime1">
              <a:rPr lang="en-US" smtClean="0"/>
              <a:t>9/22/2025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02662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6C2C25ED-83A1-4E27-9E45-CB4ECD4F0BBC}" type="datetime1">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445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FBC24F89-8A4A-4667-ACA3-D44E384795DF}" type="datetime1">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9381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8A613FE4-A8B1-43D2-900A-0789A75D843A}" type="datetime1">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71957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E2B1E2-CA70-4E33-B1AB-E13FFAB976F0}" type="datetime1">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00861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E20A27F-A940-4DB1-BFA3-6B00386BFBB8}" type="datetime1">
              <a:rPr lang="en-US" smtClean="0"/>
              <a:t>9/22/2025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28556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FC8B4FF-525C-4739-8620-1BBEF31D3000}" type="datetime1">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48602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B66B1A4-BA96-45DD-B69E-04FB88AA18D4}" type="datetime1">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69359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986499E-7FB9-4175-B5CC-46A07FADF573}" type="datetime1">
              <a:rPr lang="en-US" smtClean="0"/>
              <a:t>9/22/2025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61455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9/22/2025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72290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9/22/2025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0479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9/22/2025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319766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17019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93240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51829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89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9/22/2025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025731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45723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45795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9/22/2025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981224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9/22/2025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83746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9/22/2025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883505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9/22/2025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8786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8589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405310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041222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80243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9/22/2025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9264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159930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067780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9/22/2025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817384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964757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74926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258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061303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6061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672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213412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0232124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770402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05690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499017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4139814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66311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04273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23802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701925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130098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21842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899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59706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53597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471571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18360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793298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39272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41111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4385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373884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711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053888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843865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1769773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418894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050270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898116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1E1391E-2A44-4376-9A8A-15039D79744E}" type="datetime1">
              <a:rPr lang="en-US" smtClean="0"/>
              <a:t>9/22/2025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591592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9/22/2025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0448395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9/22/2025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25631281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9/22/2025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19878257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9/22/2025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78951782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9/22/2025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23988426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fontScale="90000"/>
          </a:bodyPr>
          <a:lstStyle/>
          <a:p>
            <a:r>
              <a:rPr lang="en-US" sz="2700" dirty="0">
                <a:solidFill>
                  <a:srgbClr val="FFFFFF"/>
                </a:solidFill>
              </a:rPr>
              <a:t>WEEK 06</a:t>
            </a:r>
            <a:br>
              <a:rPr lang="en-US" sz="2700" dirty="0">
                <a:solidFill>
                  <a:srgbClr val="FFFFFF"/>
                </a:solidFill>
              </a:rPr>
            </a:br>
            <a:r>
              <a:rPr lang="en-US" altLang="zh-CN" sz="2800" dirty="0"/>
              <a:t>GPS Receiver</a:t>
            </a:r>
            <a:br>
              <a:rPr lang="en-US" altLang="zh-CN" sz="2800" dirty="0"/>
            </a:br>
            <a:r>
              <a:rPr lang="en-US" altLang="zh-CN" sz="2800" dirty="0" err="1"/>
              <a:t>gps</a:t>
            </a:r>
            <a:r>
              <a:rPr lang="en-US" altLang="zh-CN" sz="2800" dirty="0"/>
              <a:t> augmentation</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6.1 </a:t>
            </a:r>
            <a:br>
              <a:rPr lang="en-US" sz="4050" dirty="0">
                <a:solidFill>
                  <a:srgbClr val="FFFFFF"/>
                </a:solidFill>
              </a:rPr>
            </a:br>
            <a:r>
              <a:rPr lang="en-US" sz="4050" dirty="0">
                <a:solidFill>
                  <a:srgbClr val="FFFFFF"/>
                </a:solidFill>
              </a:rPr>
              <a:t>Attribute table</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1"/>
            <a:ext cx="7679724" cy="4011145"/>
          </a:xfrm>
        </p:spPr>
        <p:txBody>
          <a:bodyPr>
            <a:normAutofit fontScale="47500" lnSpcReduction="20000"/>
          </a:bodyPr>
          <a:lstStyle/>
          <a:p>
            <a:pPr>
              <a:buFont typeface="Courier New" panose="02070309020205020404" pitchFamily="49" charset="0"/>
              <a:buChar char="o"/>
            </a:pPr>
            <a:r>
              <a:rPr lang="en-US" altLang="zh-CN" sz="2600" dirty="0"/>
              <a:t>GPS receiver</a:t>
            </a:r>
          </a:p>
          <a:p>
            <a:pPr lvl="1">
              <a:buFont typeface="Wingdings" panose="05000000000000000000" pitchFamily="2" charset="2"/>
              <a:buChar char="ü"/>
            </a:pPr>
            <a:r>
              <a:rPr lang="en-US" altLang="zh-CN" sz="2600" dirty="0"/>
              <a:t>Antenna</a:t>
            </a:r>
          </a:p>
          <a:p>
            <a:pPr lvl="1">
              <a:buFont typeface="Wingdings" panose="05000000000000000000" pitchFamily="2" charset="2"/>
              <a:buChar char="ü"/>
            </a:pPr>
            <a:r>
              <a:rPr lang="en-US" altLang="en-US" sz="2600" dirty="0"/>
              <a:t>Controller</a:t>
            </a:r>
          </a:p>
          <a:p>
            <a:pPr lvl="1">
              <a:buFont typeface="Wingdings" panose="05000000000000000000" pitchFamily="2" charset="2"/>
              <a:buChar char="ü"/>
            </a:pPr>
            <a:r>
              <a:rPr lang="en-US" altLang="en-US" sz="2600" dirty="0"/>
              <a:t>Receiver Hardware</a:t>
            </a:r>
          </a:p>
          <a:p>
            <a:pPr lvl="1">
              <a:buFont typeface="Wingdings" panose="05000000000000000000" pitchFamily="2" charset="2"/>
              <a:buChar char="ü"/>
            </a:pPr>
            <a:r>
              <a:rPr lang="en-US" altLang="en-US" sz="2600" dirty="0"/>
              <a:t>GPS Receiver types</a:t>
            </a:r>
          </a:p>
          <a:p>
            <a:pPr lvl="2">
              <a:buFont typeface="Arial" panose="020B0604020202020204" pitchFamily="34" charset="0"/>
              <a:buChar char="•"/>
            </a:pPr>
            <a:r>
              <a:rPr lang="en-US" altLang="en-US" sz="1880" dirty="0"/>
              <a:t>Code Receivers</a:t>
            </a:r>
          </a:p>
          <a:p>
            <a:pPr lvl="2">
              <a:buFont typeface="Arial" panose="020B0604020202020204" pitchFamily="34" charset="0"/>
              <a:buChar char="•"/>
            </a:pPr>
            <a:r>
              <a:rPr lang="en-US" altLang="en-US" sz="2240" dirty="0"/>
              <a:t>Frequency Receivers</a:t>
            </a:r>
          </a:p>
          <a:p>
            <a:pPr lvl="1">
              <a:buFont typeface="Wingdings" panose="05000000000000000000" pitchFamily="2" charset="2"/>
              <a:buChar char="ü"/>
            </a:pPr>
            <a:r>
              <a:rPr lang="en-US" altLang="zh-CN" sz="2600" dirty="0"/>
              <a:t>GPS receiver limitation</a:t>
            </a:r>
          </a:p>
          <a:p>
            <a:pPr>
              <a:buFont typeface="Courier New" panose="02070309020205020404" pitchFamily="49" charset="0"/>
              <a:buChar char="o"/>
            </a:pPr>
            <a:r>
              <a:rPr lang="en-US" altLang="en-US" sz="2600" dirty="0"/>
              <a:t>Assisted GPS</a:t>
            </a:r>
          </a:p>
          <a:p>
            <a:pPr lvl="1">
              <a:buFont typeface="Wingdings" panose="05000000000000000000" pitchFamily="2" charset="2"/>
              <a:buChar char="ü"/>
            </a:pPr>
            <a:r>
              <a:rPr lang="en-US" altLang="en-US" sz="2600" dirty="0"/>
              <a:t>Information send to cellular device</a:t>
            </a:r>
          </a:p>
          <a:p>
            <a:pPr lvl="1">
              <a:buFont typeface="Wingdings" panose="05000000000000000000" pitchFamily="2" charset="2"/>
              <a:buChar char="ü"/>
            </a:pPr>
            <a:r>
              <a:rPr lang="en-US" altLang="en-US" sz="2600" dirty="0"/>
              <a:t>A-GPS mode</a:t>
            </a:r>
          </a:p>
          <a:p>
            <a:pPr lvl="2">
              <a:buFont typeface="Arial" panose="020B0604020202020204" pitchFamily="34" charset="0"/>
              <a:buChar char="•"/>
            </a:pPr>
            <a:r>
              <a:rPr lang="en-US" altLang="en-US" sz="1880" dirty="0"/>
              <a:t>UE-assisted</a:t>
            </a:r>
          </a:p>
          <a:p>
            <a:pPr lvl="2">
              <a:buFont typeface="Arial" panose="020B0604020202020204" pitchFamily="34" charset="0"/>
              <a:buChar char="•"/>
            </a:pPr>
            <a:r>
              <a:rPr lang="en-US" altLang="en-US" sz="1900" dirty="0"/>
              <a:t>UE-based</a:t>
            </a:r>
          </a:p>
          <a:p>
            <a:pPr marL="308610" lvl="2" indent="-308610">
              <a:buFont typeface="Courier New" panose="02070309020205020404" pitchFamily="49" charset="0"/>
              <a:buChar char="o"/>
            </a:pPr>
            <a:r>
              <a:rPr lang="en-US" altLang="en-US" sz="2600" dirty="0"/>
              <a:t>Differential GPS</a:t>
            </a:r>
          </a:p>
          <a:p>
            <a:pPr marL="308610" lvl="2" indent="-308610">
              <a:buFont typeface="Courier New" panose="02070309020205020404" pitchFamily="49" charset="0"/>
              <a:buChar char="o"/>
            </a:pPr>
            <a:r>
              <a:rPr lang="en-US" altLang="en-US" sz="2600" dirty="0"/>
              <a:t>WAAS</a:t>
            </a:r>
          </a:p>
          <a:p>
            <a:pPr marL="308610" lvl="2" indent="-308610">
              <a:buFont typeface="Courier New" panose="02070309020205020404" pitchFamily="49" charset="0"/>
              <a:buChar char="o"/>
            </a:pPr>
            <a:r>
              <a:rPr lang="en-US" altLang="en-US" sz="2600" dirty="0"/>
              <a:t>RTK</a:t>
            </a:r>
          </a:p>
          <a:p>
            <a:pPr marL="411480" lvl="1" indent="0">
              <a:buNone/>
            </a:pPr>
            <a:endParaRPr lang="en-US" altLang="en-US" sz="224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02741" y="172711"/>
            <a:ext cx="5221759"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3497018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sp>
        <p:nvSpPr>
          <p:cNvPr id="9" name="Content Placeholder 2">
            <a:extLst>
              <a:ext uri="{FF2B5EF4-FFF2-40B4-BE49-F238E27FC236}">
                <a16:creationId xmlns:a16="http://schemas.microsoft.com/office/drawing/2014/main" id="{32CDBEE1-9601-4263-A365-F3F6F0E987D2}"/>
              </a:ext>
            </a:extLst>
          </p:cNvPr>
          <p:cNvSpPr>
            <a:spLocks noGrp="1"/>
          </p:cNvSpPr>
          <p:nvPr>
            <p:ph idx="1"/>
          </p:nvPr>
        </p:nvSpPr>
        <p:spPr>
          <a:xfrm>
            <a:off x="118533" y="1030151"/>
            <a:ext cx="7825317" cy="1362530"/>
          </a:xfrm>
        </p:spPr>
        <p:txBody>
          <a:bodyPr>
            <a:normAutofit/>
          </a:bodyPr>
          <a:lstStyle/>
          <a:p>
            <a:pPr>
              <a:spcBef>
                <a:spcPts val="0"/>
              </a:spcBef>
              <a:buFont typeface="Courier New" panose="02070309020205020404" pitchFamily="49" charset="0"/>
              <a:buChar char="o"/>
            </a:pPr>
            <a:r>
              <a:rPr lang="en-US" sz="1600" dirty="0"/>
              <a:t>GPS receiver</a:t>
            </a:r>
            <a:endParaRPr lang="en-US" sz="1600" b="0" dirty="0"/>
          </a:p>
          <a:p>
            <a:pPr lvl="1">
              <a:spcBef>
                <a:spcPts val="0"/>
              </a:spcBef>
              <a:buFont typeface="Wingdings" panose="05000000000000000000" pitchFamily="2" charset="2"/>
              <a:buChar char="ü"/>
            </a:pPr>
            <a:r>
              <a:rPr lang="en-US" sz="1600" dirty="0"/>
              <a:t>An electronic instrument</a:t>
            </a:r>
          </a:p>
          <a:p>
            <a:pPr lvl="1">
              <a:spcBef>
                <a:spcPts val="0"/>
              </a:spcBef>
              <a:buFont typeface="Wingdings" panose="05000000000000000000" pitchFamily="2" charset="2"/>
              <a:buChar char="ü"/>
            </a:pPr>
            <a:r>
              <a:rPr lang="en-US" sz="1600" dirty="0"/>
              <a:t>Consists: an antenna, a hardware receiver, and a controller</a:t>
            </a:r>
          </a:p>
          <a:p>
            <a:pPr lvl="1">
              <a:spcBef>
                <a:spcPts val="0"/>
              </a:spcBef>
              <a:buFont typeface="Wingdings" panose="05000000000000000000" pitchFamily="2" charset="2"/>
              <a:buChar char="ü"/>
            </a:pPr>
            <a:r>
              <a:rPr lang="en-US" sz="1600" dirty="0"/>
              <a:t>GPS signals are extremely low in power and get masked with interference </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4</a:t>
            </a:fld>
            <a:endParaRPr lang="en-US"/>
          </a:p>
        </p:txBody>
      </p:sp>
      <p:pic>
        <p:nvPicPr>
          <p:cNvPr id="6" name="Picture 5">
            <a:extLst>
              <a:ext uri="{FF2B5EF4-FFF2-40B4-BE49-F238E27FC236}">
                <a16:creationId xmlns:a16="http://schemas.microsoft.com/office/drawing/2014/main" id="{5599F066-7780-4AAB-B6A5-821267D0FA41}"/>
              </a:ext>
            </a:extLst>
          </p:cNvPr>
          <p:cNvPicPr>
            <a:picLocks noChangeAspect="1"/>
          </p:cNvPicPr>
          <p:nvPr/>
        </p:nvPicPr>
        <p:blipFill>
          <a:blip r:embed="rId3"/>
          <a:stretch>
            <a:fillRect/>
          </a:stretch>
        </p:blipFill>
        <p:spPr>
          <a:xfrm>
            <a:off x="2782016" y="2693773"/>
            <a:ext cx="3951335" cy="2242495"/>
          </a:xfrm>
          <a:prstGeom prst="rect">
            <a:avLst/>
          </a:prstGeom>
        </p:spPr>
      </p:pic>
      <p:sp>
        <p:nvSpPr>
          <p:cNvPr id="8" name="TextBox 7">
            <a:extLst>
              <a:ext uri="{FF2B5EF4-FFF2-40B4-BE49-F238E27FC236}">
                <a16:creationId xmlns:a16="http://schemas.microsoft.com/office/drawing/2014/main" id="{C5D297AC-838D-456B-92C5-131C84C4273B}"/>
              </a:ext>
            </a:extLst>
          </p:cNvPr>
          <p:cNvSpPr txBox="1"/>
          <p:nvPr/>
        </p:nvSpPr>
        <p:spPr>
          <a:xfrm>
            <a:off x="5233686" y="4850571"/>
            <a:ext cx="1587244" cy="246221"/>
          </a:xfrm>
          <a:prstGeom prst="rect">
            <a:avLst/>
          </a:prstGeom>
          <a:noFill/>
        </p:spPr>
        <p:txBody>
          <a:bodyPr wrap="square" rtlCol="0">
            <a:spAutoFit/>
          </a:bodyPr>
          <a:lstStyle/>
          <a:p>
            <a:r>
              <a:rPr lang="en-US" sz="1000" dirty="0">
                <a:solidFill>
                  <a:srgbClr val="7030A0"/>
                </a:solidFill>
              </a:rPr>
              <a:t>Kaplan &amp; Hegarty, 2006</a:t>
            </a:r>
          </a:p>
        </p:txBody>
      </p:sp>
    </p:spTree>
    <p:extLst>
      <p:ext uri="{BB962C8B-B14F-4D97-AF65-F5344CB8AC3E}">
        <p14:creationId xmlns:p14="http://schemas.microsoft.com/office/powerpoint/2010/main" val="4962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85750" y="17290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Antenna</a:t>
            </a:r>
            <a:endParaRPr lang="en-US" sz="2600" dirty="0">
              <a:solidFill>
                <a:srgbClr val="7030A0"/>
              </a:solidFill>
            </a:endParaRPr>
          </a:p>
        </p:txBody>
      </p:sp>
      <p:sp>
        <p:nvSpPr>
          <p:cNvPr id="8" name="Content Placeholder 2">
            <a:extLst>
              <a:ext uri="{FF2B5EF4-FFF2-40B4-BE49-F238E27FC236}">
                <a16:creationId xmlns:a16="http://schemas.microsoft.com/office/drawing/2014/main" id="{B39E6661-3EBE-4587-AE2F-09CE39F6F0DD}"/>
              </a:ext>
            </a:extLst>
          </p:cNvPr>
          <p:cNvSpPr>
            <a:spLocks noGrp="1"/>
          </p:cNvSpPr>
          <p:nvPr>
            <p:ph idx="1"/>
          </p:nvPr>
        </p:nvSpPr>
        <p:spPr>
          <a:xfrm>
            <a:off x="118533" y="1030151"/>
            <a:ext cx="7825317" cy="2421710"/>
          </a:xfrm>
        </p:spPr>
        <p:txBody>
          <a:bodyPr>
            <a:normAutofit/>
          </a:bodyPr>
          <a:lstStyle/>
          <a:p>
            <a:pPr>
              <a:spcBef>
                <a:spcPts val="0"/>
              </a:spcBef>
              <a:buFont typeface="Courier New" panose="02070309020205020404" pitchFamily="49" charset="0"/>
              <a:buChar char="o"/>
            </a:pPr>
            <a:r>
              <a:rPr lang="en-US" sz="2000" dirty="0"/>
              <a:t>Gathers GNSS/GPS signals from satellite and transform into guided wave</a:t>
            </a:r>
          </a:p>
          <a:p>
            <a:pPr>
              <a:spcBef>
                <a:spcPts val="0"/>
              </a:spcBef>
              <a:buFont typeface="Courier New" panose="02070309020205020404" pitchFamily="49" charset="0"/>
              <a:buChar char="o"/>
            </a:pPr>
            <a:r>
              <a:rPr lang="en-US" sz="2000" b="0" dirty="0"/>
              <a:t>Quality of GNSS/GPS observation primarily depends on the antenna</a:t>
            </a:r>
          </a:p>
          <a:p>
            <a:pPr>
              <a:spcBef>
                <a:spcPts val="0"/>
              </a:spcBef>
              <a:buFont typeface="Courier New" panose="02070309020205020404" pitchFamily="49" charset="0"/>
              <a:buChar char="o"/>
            </a:pPr>
            <a:r>
              <a:rPr lang="en-US" sz="2000" b="0" dirty="0"/>
              <a:t>A</a:t>
            </a:r>
            <a:r>
              <a:rPr lang="en-US" sz="2000" dirty="0"/>
              <a:t>ntenna remains integrated with the receiver electronics and all are kept in a single rugged case</a:t>
            </a:r>
          </a:p>
          <a:p>
            <a:pPr>
              <a:spcBef>
                <a:spcPts val="0"/>
              </a:spcBef>
              <a:buFont typeface="Courier New" panose="02070309020205020404" pitchFamily="49" charset="0"/>
              <a:buChar char="o"/>
            </a:pPr>
            <a:r>
              <a:rPr lang="en-US" sz="2000" b="0" dirty="0"/>
              <a:t>Antenna can also present as an independent unit.</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482322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F8314-1248-76B0-E165-A81F867473B0}"/>
              </a:ext>
            </a:extLst>
          </p:cNvPr>
          <p:cNvSpPr>
            <a:spLocks noGrp="1"/>
          </p:cNvSpPr>
          <p:nvPr>
            <p:ph type="title"/>
          </p:nvPr>
        </p:nvSpPr>
        <p:spPr>
          <a:xfrm>
            <a:off x="392305" y="526617"/>
            <a:ext cx="7444991" cy="433503"/>
          </a:xfrm>
        </p:spPr>
        <p:txBody>
          <a:bodyPr/>
          <a:lstStyle/>
          <a:p>
            <a:r>
              <a:rPr lang="en-US" altLang="zh-CN" dirty="0"/>
              <a:t>Global Navigation Satellite Systems (GNSS)</a:t>
            </a:r>
            <a:endParaRPr lang="zh-CN" altLang="en-US" dirty="0"/>
          </a:p>
        </p:txBody>
      </p:sp>
      <p:sp>
        <p:nvSpPr>
          <p:cNvPr id="3" name="Content Placeholder 2">
            <a:extLst>
              <a:ext uri="{FF2B5EF4-FFF2-40B4-BE49-F238E27FC236}">
                <a16:creationId xmlns:a16="http://schemas.microsoft.com/office/drawing/2014/main" id="{87C6A0FA-AEF6-D8D7-5E5A-4B3C26449DBE}"/>
              </a:ext>
            </a:extLst>
          </p:cNvPr>
          <p:cNvSpPr>
            <a:spLocks noGrp="1"/>
          </p:cNvSpPr>
          <p:nvPr>
            <p:ph idx="1"/>
          </p:nvPr>
        </p:nvSpPr>
        <p:spPr>
          <a:xfrm>
            <a:off x="476125" y="1161289"/>
            <a:ext cx="7444990" cy="1772411"/>
          </a:xfrm>
        </p:spPr>
        <p:txBody>
          <a:bodyPr>
            <a:normAutofit/>
          </a:bodyPr>
          <a:lstStyle/>
          <a:p>
            <a:r>
              <a:rPr lang="en-US" altLang="zh-CN" sz="1600" b="1" dirty="0"/>
              <a:t>GPS (Global Positioning System – USA)</a:t>
            </a:r>
          </a:p>
          <a:p>
            <a:pPr lvl="1">
              <a:buFont typeface="Wingdings" panose="05000000000000000000" pitchFamily="2" charset="2"/>
              <a:buChar char="Ø"/>
            </a:pPr>
            <a:r>
              <a:rPr lang="en-US" altLang="zh-CN" sz="1600" dirty="0"/>
              <a:t>Developed and operated by the </a:t>
            </a:r>
            <a:r>
              <a:rPr lang="en-US" altLang="zh-CN" sz="1600" b="1" dirty="0"/>
              <a:t>United States Department of Defense</a:t>
            </a:r>
            <a:r>
              <a:rPr lang="en-US" altLang="zh-CN" sz="1600" dirty="0"/>
              <a:t>.</a:t>
            </a:r>
          </a:p>
          <a:p>
            <a:pPr lvl="1">
              <a:buFont typeface="Wingdings" panose="05000000000000000000" pitchFamily="2" charset="2"/>
              <a:buChar char="Ø"/>
            </a:pPr>
            <a:r>
              <a:rPr lang="en-US" altLang="zh-CN" sz="1600" dirty="0"/>
              <a:t>First fully operational GNSS (since the 1990s).</a:t>
            </a:r>
          </a:p>
          <a:p>
            <a:pPr lvl="1">
              <a:buFont typeface="Wingdings" panose="05000000000000000000" pitchFamily="2" charset="2"/>
              <a:buChar char="Ø"/>
            </a:pPr>
            <a:r>
              <a:rPr lang="en-US" altLang="zh-CN" sz="1600" dirty="0"/>
              <a:t>Constellation: about </a:t>
            </a:r>
            <a:r>
              <a:rPr lang="en-US" altLang="zh-CN" sz="1600" b="1" dirty="0"/>
              <a:t>31 active satellites</a:t>
            </a:r>
            <a:r>
              <a:rPr lang="en-US" altLang="zh-CN" sz="1600" dirty="0"/>
              <a:t>.</a:t>
            </a:r>
          </a:p>
          <a:p>
            <a:pPr lvl="1">
              <a:buFont typeface="Wingdings" panose="05000000000000000000" pitchFamily="2" charset="2"/>
              <a:buChar char="Ø"/>
            </a:pPr>
            <a:r>
              <a:rPr lang="en-US" altLang="zh-CN" sz="1600" dirty="0"/>
              <a:t>Provides global coverage with ~</a:t>
            </a:r>
            <a:r>
              <a:rPr lang="en-US" altLang="zh-CN" sz="1600" b="1" dirty="0"/>
              <a:t>5–10 m accuracy</a:t>
            </a:r>
            <a:r>
              <a:rPr lang="en-US" altLang="zh-CN" sz="1600" dirty="0"/>
              <a:t> (better with augmentation).</a:t>
            </a:r>
          </a:p>
        </p:txBody>
      </p:sp>
      <p:sp>
        <p:nvSpPr>
          <p:cNvPr id="4" name="Slide Number Placeholder 3">
            <a:extLst>
              <a:ext uri="{FF2B5EF4-FFF2-40B4-BE49-F238E27FC236}">
                <a16:creationId xmlns:a16="http://schemas.microsoft.com/office/drawing/2014/main" id="{08A33F64-4619-A181-0F99-76F118984A3E}"/>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843591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7A9BBE-D280-FA06-1337-786007CB8C94}"/>
              </a:ext>
            </a:extLst>
          </p:cNvPr>
          <p:cNvSpPr>
            <a:spLocks noGrp="1"/>
          </p:cNvSpPr>
          <p:nvPr>
            <p:ph idx="1"/>
          </p:nvPr>
        </p:nvSpPr>
        <p:spPr>
          <a:xfrm>
            <a:off x="392308" y="899161"/>
            <a:ext cx="7444990" cy="2202179"/>
          </a:xfrm>
        </p:spPr>
        <p:txBody>
          <a:bodyPr>
            <a:normAutofit/>
          </a:bodyPr>
          <a:lstStyle/>
          <a:p>
            <a:r>
              <a:rPr lang="en-US" altLang="zh-CN" sz="1600" b="1" dirty="0"/>
              <a:t>GLONASS (</a:t>
            </a:r>
            <a:r>
              <a:rPr lang="en-US" altLang="zh-CN" sz="1600" b="1" dirty="0" err="1"/>
              <a:t>Globalnaya</a:t>
            </a:r>
            <a:r>
              <a:rPr lang="en-US" altLang="zh-CN" sz="1600" b="1" dirty="0"/>
              <a:t> </a:t>
            </a:r>
            <a:r>
              <a:rPr lang="en-US" altLang="zh-CN" sz="1600" b="1" dirty="0" err="1"/>
              <a:t>Navigatsionnaya</a:t>
            </a:r>
            <a:r>
              <a:rPr lang="en-US" altLang="zh-CN" sz="1600" b="1" dirty="0"/>
              <a:t> </a:t>
            </a:r>
            <a:r>
              <a:rPr lang="en-US" altLang="zh-CN" sz="1600" b="1" dirty="0" err="1"/>
              <a:t>Sputnikovaya</a:t>
            </a:r>
            <a:r>
              <a:rPr lang="en-US" altLang="zh-CN" sz="1600" b="1" dirty="0"/>
              <a:t> Sistema – Russia)</a:t>
            </a:r>
          </a:p>
          <a:p>
            <a:pPr lvl="1">
              <a:buFont typeface="Wingdings" panose="05000000000000000000" pitchFamily="2" charset="2"/>
              <a:buChar char="Ø"/>
            </a:pPr>
            <a:r>
              <a:rPr lang="en-US" altLang="zh-CN" sz="1465" dirty="0"/>
              <a:t>Operated by the </a:t>
            </a:r>
            <a:r>
              <a:rPr lang="en-US" altLang="zh-CN" sz="1465" b="1" dirty="0"/>
              <a:t>Russian Federation</a:t>
            </a:r>
            <a:r>
              <a:rPr lang="en-US" altLang="zh-CN" sz="1465" dirty="0"/>
              <a:t>.</a:t>
            </a:r>
          </a:p>
          <a:p>
            <a:pPr lvl="1">
              <a:buFont typeface="Wingdings" panose="05000000000000000000" pitchFamily="2" charset="2"/>
              <a:buChar char="Ø"/>
            </a:pPr>
            <a:r>
              <a:rPr lang="en-US" altLang="zh-CN" sz="1465" dirty="0"/>
              <a:t>Constellation: about </a:t>
            </a:r>
            <a:r>
              <a:rPr lang="en-US" altLang="zh-CN" sz="1465" b="1" dirty="0"/>
              <a:t>24 satellites</a:t>
            </a:r>
            <a:r>
              <a:rPr lang="en-US" altLang="zh-CN" sz="1465" dirty="0"/>
              <a:t>.</a:t>
            </a:r>
          </a:p>
          <a:p>
            <a:pPr lvl="1">
              <a:buFont typeface="Wingdings" panose="05000000000000000000" pitchFamily="2" charset="2"/>
              <a:buChar char="Ø"/>
            </a:pPr>
            <a:r>
              <a:rPr lang="en-US" altLang="zh-CN" sz="1465" dirty="0"/>
              <a:t>Provides global coverage similar to GPS.</a:t>
            </a:r>
          </a:p>
          <a:p>
            <a:pPr lvl="1">
              <a:buFont typeface="Wingdings" panose="05000000000000000000" pitchFamily="2" charset="2"/>
              <a:buChar char="Ø"/>
            </a:pPr>
            <a:r>
              <a:rPr lang="en-US" altLang="zh-CN" sz="1465" dirty="0"/>
              <a:t>Often used together with GPS for better accuracy and reliability, especially in northern latitudes.</a:t>
            </a:r>
          </a:p>
        </p:txBody>
      </p:sp>
      <p:sp>
        <p:nvSpPr>
          <p:cNvPr id="4" name="Slide Number Placeholder 3">
            <a:extLst>
              <a:ext uri="{FF2B5EF4-FFF2-40B4-BE49-F238E27FC236}">
                <a16:creationId xmlns:a16="http://schemas.microsoft.com/office/drawing/2014/main" id="{CBEC0D52-B66F-F131-1F25-95C0798CFD5E}"/>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5" name="Title 1">
            <a:extLst>
              <a:ext uri="{FF2B5EF4-FFF2-40B4-BE49-F238E27FC236}">
                <a16:creationId xmlns:a16="http://schemas.microsoft.com/office/drawing/2014/main" id="{7FBA1496-7889-0985-C1E9-9A5086FF7277}"/>
              </a:ext>
            </a:extLst>
          </p:cNvPr>
          <p:cNvSpPr txBox="1">
            <a:spLocks/>
          </p:cNvSpPr>
          <p:nvPr/>
        </p:nvSpPr>
        <p:spPr>
          <a:xfrm>
            <a:off x="392307" y="465657"/>
            <a:ext cx="7444991" cy="433503"/>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a:t>Global Navigation Satellite Systems (GNSS)</a:t>
            </a:r>
            <a:endParaRPr lang="zh-CN" altLang="en-US" dirty="0"/>
          </a:p>
        </p:txBody>
      </p:sp>
    </p:spTree>
    <p:extLst>
      <p:ext uri="{BB962C8B-B14F-4D97-AF65-F5344CB8AC3E}">
        <p14:creationId xmlns:p14="http://schemas.microsoft.com/office/powerpoint/2010/main" val="1253045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1425BD-28A4-0225-30A9-05E3A7E3E9C7}"/>
              </a:ext>
            </a:extLst>
          </p:cNvPr>
          <p:cNvSpPr>
            <a:spLocks noGrp="1"/>
          </p:cNvSpPr>
          <p:nvPr>
            <p:ph idx="1"/>
          </p:nvPr>
        </p:nvSpPr>
        <p:spPr>
          <a:xfrm>
            <a:off x="460885" y="986029"/>
            <a:ext cx="7444990" cy="1894331"/>
          </a:xfrm>
        </p:spPr>
        <p:txBody>
          <a:bodyPr>
            <a:noAutofit/>
          </a:bodyPr>
          <a:lstStyle/>
          <a:p>
            <a:r>
              <a:rPr lang="en-US" altLang="zh-CN" sz="1400" b="1" dirty="0"/>
              <a:t>Galileo (European Union)</a:t>
            </a:r>
          </a:p>
          <a:p>
            <a:pPr lvl="1">
              <a:buFont typeface="Wingdings" panose="05000000000000000000" pitchFamily="2" charset="2"/>
              <a:buChar char="Ø"/>
            </a:pPr>
            <a:r>
              <a:rPr lang="en-US" altLang="zh-CN" sz="1400" dirty="0"/>
              <a:t>Developed by the </a:t>
            </a:r>
            <a:r>
              <a:rPr lang="en-US" altLang="zh-CN" sz="1400" b="1" dirty="0"/>
              <a:t>European Union &amp; European Space Agency</a:t>
            </a:r>
            <a:r>
              <a:rPr lang="en-US" altLang="zh-CN" sz="1400" dirty="0"/>
              <a:t>.</a:t>
            </a:r>
          </a:p>
          <a:p>
            <a:pPr lvl="1">
              <a:buFont typeface="Wingdings" panose="05000000000000000000" pitchFamily="2" charset="2"/>
              <a:buChar char="Ø"/>
            </a:pPr>
            <a:r>
              <a:rPr lang="en-US" altLang="zh-CN" sz="1400" dirty="0"/>
              <a:t>Fully operational since </a:t>
            </a:r>
            <a:r>
              <a:rPr lang="en-US" altLang="zh-CN" sz="1400" b="1" dirty="0"/>
              <a:t>2016</a:t>
            </a:r>
            <a:r>
              <a:rPr lang="en-US" altLang="zh-CN" sz="1400" dirty="0"/>
              <a:t>.</a:t>
            </a:r>
          </a:p>
          <a:p>
            <a:pPr lvl="1">
              <a:buFont typeface="Wingdings" panose="05000000000000000000" pitchFamily="2" charset="2"/>
              <a:buChar char="Ø"/>
            </a:pPr>
            <a:r>
              <a:rPr lang="en-US" altLang="zh-CN" sz="1400" dirty="0"/>
              <a:t>Constellation: about </a:t>
            </a:r>
            <a:r>
              <a:rPr lang="en-US" altLang="zh-CN" sz="1400" b="1" dirty="0"/>
              <a:t>30 satellites</a:t>
            </a:r>
            <a:r>
              <a:rPr lang="en-US" altLang="zh-CN" sz="1400" dirty="0"/>
              <a:t>.</a:t>
            </a:r>
          </a:p>
          <a:p>
            <a:pPr lvl="1">
              <a:buFont typeface="Wingdings" panose="05000000000000000000" pitchFamily="2" charset="2"/>
              <a:buChar char="Ø"/>
            </a:pPr>
            <a:r>
              <a:rPr lang="en-US" altLang="zh-CN" sz="1400" dirty="0"/>
              <a:t>Known for </a:t>
            </a:r>
            <a:r>
              <a:rPr lang="en-US" altLang="zh-CN" sz="1400" b="1" dirty="0"/>
              <a:t>high accuracy</a:t>
            </a:r>
            <a:r>
              <a:rPr lang="en-US" altLang="zh-CN" sz="1400" dirty="0"/>
              <a:t> — open service aims for 1 meter, with encrypted services for safety-critical use.</a:t>
            </a:r>
          </a:p>
        </p:txBody>
      </p:sp>
      <p:sp>
        <p:nvSpPr>
          <p:cNvPr id="4" name="Slide Number Placeholder 3">
            <a:extLst>
              <a:ext uri="{FF2B5EF4-FFF2-40B4-BE49-F238E27FC236}">
                <a16:creationId xmlns:a16="http://schemas.microsoft.com/office/drawing/2014/main" id="{74300E45-D173-1213-EE27-7E5009E30B16}"/>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5" name="Title 1">
            <a:extLst>
              <a:ext uri="{FF2B5EF4-FFF2-40B4-BE49-F238E27FC236}">
                <a16:creationId xmlns:a16="http://schemas.microsoft.com/office/drawing/2014/main" id="{6A6D09E3-9AC0-1DFA-4E31-581929804776}"/>
              </a:ext>
            </a:extLst>
          </p:cNvPr>
          <p:cNvSpPr txBox="1">
            <a:spLocks/>
          </p:cNvSpPr>
          <p:nvPr/>
        </p:nvSpPr>
        <p:spPr>
          <a:xfrm>
            <a:off x="392307" y="465657"/>
            <a:ext cx="7444991" cy="433503"/>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a:t>Global Navigation Satellite Systems (GNSS)</a:t>
            </a:r>
            <a:endParaRPr lang="zh-CN" altLang="en-US" dirty="0"/>
          </a:p>
        </p:txBody>
      </p:sp>
    </p:spTree>
    <p:extLst>
      <p:ext uri="{BB962C8B-B14F-4D97-AF65-F5344CB8AC3E}">
        <p14:creationId xmlns:p14="http://schemas.microsoft.com/office/powerpoint/2010/main" val="4186361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30C5E-FC4D-B68E-A0AF-54B48F17B2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FB296-FBE3-7D03-E0B4-025F0189D1DD}"/>
              </a:ext>
            </a:extLst>
          </p:cNvPr>
          <p:cNvSpPr>
            <a:spLocks noGrp="1"/>
          </p:cNvSpPr>
          <p:nvPr>
            <p:ph idx="1"/>
          </p:nvPr>
        </p:nvSpPr>
        <p:spPr>
          <a:xfrm>
            <a:off x="460885" y="986029"/>
            <a:ext cx="7444990" cy="2084831"/>
          </a:xfrm>
        </p:spPr>
        <p:txBody>
          <a:bodyPr>
            <a:noAutofit/>
          </a:bodyPr>
          <a:lstStyle/>
          <a:p>
            <a:r>
              <a:rPr lang="en-US" altLang="zh-CN" sz="1400" dirty="0"/>
              <a:t>BeiDou ( China)</a:t>
            </a:r>
          </a:p>
          <a:p>
            <a:pPr lvl="1">
              <a:buFont typeface="Wingdings" panose="05000000000000000000" pitchFamily="2" charset="2"/>
              <a:buChar char="Ø"/>
            </a:pPr>
            <a:r>
              <a:rPr lang="en-US" altLang="zh-CN" sz="1400" dirty="0"/>
              <a:t>Built and operated by </a:t>
            </a:r>
            <a:r>
              <a:rPr lang="en-US" altLang="zh-CN" sz="1400" b="1" dirty="0"/>
              <a:t>China</a:t>
            </a:r>
            <a:r>
              <a:rPr lang="en-US" altLang="zh-CN" sz="1400" dirty="0"/>
              <a:t>.</a:t>
            </a:r>
          </a:p>
          <a:p>
            <a:pPr lvl="1">
              <a:buFont typeface="Wingdings" panose="05000000000000000000" pitchFamily="2" charset="2"/>
              <a:buChar char="Ø"/>
            </a:pPr>
            <a:r>
              <a:rPr lang="en-US" altLang="zh-CN" sz="1400" dirty="0"/>
              <a:t>Third generation (BeiDou-3) became fully global in </a:t>
            </a:r>
            <a:r>
              <a:rPr lang="en-US" altLang="zh-CN" sz="1400" b="1" dirty="0"/>
              <a:t>2020</a:t>
            </a:r>
            <a:r>
              <a:rPr lang="en-US" altLang="zh-CN" sz="1400" dirty="0"/>
              <a:t>.</a:t>
            </a:r>
          </a:p>
          <a:p>
            <a:pPr lvl="1">
              <a:buFont typeface="Wingdings" panose="05000000000000000000" pitchFamily="2" charset="2"/>
              <a:buChar char="Ø"/>
            </a:pPr>
            <a:r>
              <a:rPr lang="en-US" altLang="zh-CN" sz="1400" dirty="0"/>
              <a:t>Constellation: about </a:t>
            </a:r>
            <a:r>
              <a:rPr lang="en-US" altLang="zh-CN" sz="1400" b="1" dirty="0"/>
              <a:t>35 satellites</a:t>
            </a:r>
            <a:r>
              <a:rPr lang="en-US" altLang="zh-CN" sz="1400" dirty="0"/>
              <a:t>.</a:t>
            </a:r>
          </a:p>
          <a:p>
            <a:pPr lvl="1">
              <a:buFont typeface="Wingdings" panose="05000000000000000000" pitchFamily="2" charset="2"/>
              <a:buChar char="Ø"/>
            </a:pPr>
            <a:r>
              <a:rPr lang="en-US" altLang="zh-CN" sz="1400" dirty="0"/>
              <a:t>Provides regional and global services, with navigation, timing, and even short message communication.</a:t>
            </a:r>
          </a:p>
        </p:txBody>
      </p:sp>
      <p:sp>
        <p:nvSpPr>
          <p:cNvPr id="4" name="Slide Number Placeholder 3">
            <a:extLst>
              <a:ext uri="{FF2B5EF4-FFF2-40B4-BE49-F238E27FC236}">
                <a16:creationId xmlns:a16="http://schemas.microsoft.com/office/drawing/2014/main" id="{E6CFC1EC-3C6C-1974-CC06-9F92BE256F9E}"/>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5" name="Title 1">
            <a:extLst>
              <a:ext uri="{FF2B5EF4-FFF2-40B4-BE49-F238E27FC236}">
                <a16:creationId xmlns:a16="http://schemas.microsoft.com/office/drawing/2014/main" id="{2F231512-2828-99A9-22AF-EDA355A7FA5D}"/>
              </a:ext>
            </a:extLst>
          </p:cNvPr>
          <p:cNvSpPr txBox="1">
            <a:spLocks/>
          </p:cNvSpPr>
          <p:nvPr/>
        </p:nvSpPr>
        <p:spPr>
          <a:xfrm>
            <a:off x="392307" y="465657"/>
            <a:ext cx="7444991" cy="433503"/>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a:t>Global Navigation Satellite Systems (GNSS)</a:t>
            </a:r>
            <a:endParaRPr lang="zh-CN" altLang="en-US" dirty="0"/>
          </a:p>
        </p:txBody>
      </p:sp>
    </p:spTree>
    <p:extLst>
      <p:ext uri="{BB962C8B-B14F-4D97-AF65-F5344CB8AC3E}">
        <p14:creationId xmlns:p14="http://schemas.microsoft.com/office/powerpoint/2010/main" val="300118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17394" y="16166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Antenna</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1030" name="Picture 6" descr="Trimble TDC100 - 4G Android">
            <a:extLst>
              <a:ext uri="{FF2B5EF4-FFF2-40B4-BE49-F238E27FC236}">
                <a16:creationId xmlns:a16="http://schemas.microsoft.com/office/drawing/2014/main" id="{BBD35913-48CE-4E73-8016-4ADF3E933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416" y="1162785"/>
            <a:ext cx="2023634" cy="27588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49BE342-C4C5-42CC-9A80-BAEA046A0314}"/>
              </a:ext>
            </a:extLst>
          </p:cNvPr>
          <p:cNvSpPr txBox="1"/>
          <p:nvPr/>
        </p:nvSpPr>
        <p:spPr>
          <a:xfrm>
            <a:off x="442913" y="4767263"/>
            <a:ext cx="3226503" cy="246221"/>
          </a:xfrm>
          <a:prstGeom prst="rect">
            <a:avLst/>
          </a:prstGeom>
          <a:noFill/>
        </p:spPr>
        <p:txBody>
          <a:bodyPr wrap="square" rtlCol="0">
            <a:spAutoFit/>
          </a:bodyPr>
          <a:lstStyle/>
          <a:p>
            <a:r>
              <a:rPr lang="en-US" sz="1000" dirty="0">
                <a:solidFill>
                  <a:srgbClr val="7030A0"/>
                </a:solidFill>
              </a:rPr>
              <a:t>Trimble website</a:t>
            </a:r>
          </a:p>
        </p:txBody>
      </p:sp>
      <p:sp>
        <p:nvSpPr>
          <p:cNvPr id="3" name="TextBox 2">
            <a:extLst>
              <a:ext uri="{FF2B5EF4-FFF2-40B4-BE49-F238E27FC236}">
                <a16:creationId xmlns:a16="http://schemas.microsoft.com/office/drawing/2014/main" id="{C2A8D52D-EA63-4A13-BF07-D1DDFFEB8BA4}"/>
              </a:ext>
            </a:extLst>
          </p:cNvPr>
          <p:cNvSpPr txBox="1"/>
          <p:nvPr/>
        </p:nvSpPr>
        <p:spPr>
          <a:xfrm>
            <a:off x="1050325" y="4206706"/>
            <a:ext cx="1334530" cy="369332"/>
          </a:xfrm>
          <a:prstGeom prst="rect">
            <a:avLst/>
          </a:prstGeom>
          <a:noFill/>
        </p:spPr>
        <p:txBody>
          <a:bodyPr wrap="square" rtlCol="0">
            <a:spAutoFit/>
          </a:bodyPr>
          <a:lstStyle/>
          <a:p>
            <a:r>
              <a:rPr lang="en-US" dirty="0"/>
              <a:t>TDC 100</a:t>
            </a:r>
          </a:p>
        </p:txBody>
      </p:sp>
      <p:sp>
        <p:nvSpPr>
          <p:cNvPr id="6" name="TextBox 5">
            <a:extLst>
              <a:ext uri="{FF2B5EF4-FFF2-40B4-BE49-F238E27FC236}">
                <a16:creationId xmlns:a16="http://schemas.microsoft.com/office/drawing/2014/main" id="{3B72F9F4-3D8D-DB41-DF2E-4CB9472FF4ED}"/>
              </a:ext>
            </a:extLst>
          </p:cNvPr>
          <p:cNvSpPr txBox="1"/>
          <p:nvPr/>
        </p:nvSpPr>
        <p:spPr>
          <a:xfrm>
            <a:off x="2880360" y="1131901"/>
            <a:ext cx="5189220" cy="3375283"/>
          </a:xfrm>
          <a:prstGeom prst="rect">
            <a:avLst/>
          </a:prstGeom>
          <a:noFill/>
        </p:spPr>
        <p:txBody>
          <a:bodyPr wrap="square" rtlCol="0">
            <a:spAutoFit/>
          </a:bodyPr>
          <a:lstStyle/>
          <a:p>
            <a:pPr marL="206550" indent="-206550" defTabSz="308610">
              <a:spcAft>
                <a:spcPts val="405"/>
              </a:spcAft>
              <a:buClr>
                <a:schemeClr val="accent1"/>
              </a:buClr>
              <a:buSzPct val="92000"/>
              <a:buFont typeface="Courier New" panose="02070309020205020404" pitchFamily="49" charset="0"/>
              <a:buChar char="o"/>
            </a:pPr>
            <a:r>
              <a:rPr lang="en-US" altLang="zh-CN" sz="2000" dirty="0">
                <a:solidFill>
                  <a:schemeClr val="tx1">
                    <a:lumMod val="75000"/>
                    <a:lumOff val="25000"/>
                  </a:schemeClr>
                </a:solidFill>
              </a:rPr>
              <a:t>The TDC100 has a built-in GNSS antenna inside the rugged handheld body (</a:t>
            </a:r>
            <a:r>
              <a:rPr lang="en-US" altLang="zh-CN" sz="2000" dirty="0"/>
              <a:t>at the top left of the device, near the speaker</a:t>
            </a:r>
            <a:r>
              <a:rPr lang="en-US" altLang="zh-CN" sz="2000" dirty="0">
                <a:solidFill>
                  <a:schemeClr val="tx1">
                    <a:lumMod val="75000"/>
                    <a:lumOff val="25000"/>
                  </a:schemeClr>
                </a:solidFill>
              </a:rPr>
              <a:t>).</a:t>
            </a:r>
          </a:p>
          <a:p>
            <a:pPr marL="206550" indent="-206550" defTabSz="308610">
              <a:spcAft>
                <a:spcPts val="405"/>
              </a:spcAft>
              <a:buClr>
                <a:schemeClr val="accent1"/>
              </a:buClr>
              <a:buSzPct val="92000"/>
              <a:buFont typeface="Courier New" panose="02070309020205020404" pitchFamily="49" charset="0"/>
              <a:buChar char="o"/>
            </a:pPr>
            <a:endParaRPr lang="en-US" altLang="zh-CN" sz="2000" dirty="0">
              <a:solidFill>
                <a:schemeClr val="tx1">
                  <a:lumMod val="75000"/>
                  <a:lumOff val="25000"/>
                </a:schemeClr>
              </a:solidFill>
            </a:endParaRPr>
          </a:p>
          <a:p>
            <a:pPr marL="206550" indent="-206550" defTabSz="308610">
              <a:spcAft>
                <a:spcPts val="405"/>
              </a:spcAft>
              <a:buClr>
                <a:schemeClr val="accent1"/>
              </a:buClr>
              <a:buSzPct val="92000"/>
              <a:buFont typeface="Courier New" panose="02070309020205020404" pitchFamily="49" charset="0"/>
              <a:buChar char="o"/>
            </a:pPr>
            <a:r>
              <a:rPr lang="en-US" altLang="zh-CN" sz="2000" dirty="0">
                <a:solidFill>
                  <a:schemeClr val="tx1">
                    <a:lumMod val="75000"/>
                    <a:lumOff val="25000"/>
                  </a:schemeClr>
                </a:solidFill>
              </a:rPr>
              <a:t>It receives satellite signals (GPS, GLONASS, Galileo, BeiDou) directly without needing an external antenna.</a:t>
            </a:r>
          </a:p>
          <a:p>
            <a:pPr marL="206550" indent="-206550" defTabSz="308610">
              <a:spcAft>
                <a:spcPts val="405"/>
              </a:spcAft>
              <a:buClr>
                <a:schemeClr val="accent1"/>
              </a:buClr>
              <a:buSzPct val="92000"/>
              <a:buFont typeface="Courier New" panose="02070309020205020404" pitchFamily="49" charset="0"/>
              <a:buChar char="o"/>
            </a:pPr>
            <a:endParaRPr lang="en-US" altLang="zh-CN" sz="2000" dirty="0">
              <a:solidFill>
                <a:schemeClr val="tx1">
                  <a:lumMod val="75000"/>
                  <a:lumOff val="25000"/>
                </a:schemeClr>
              </a:solidFill>
            </a:endParaRPr>
          </a:p>
          <a:p>
            <a:pPr marL="206550" indent="-206550" defTabSz="308610">
              <a:spcAft>
                <a:spcPts val="405"/>
              </a:spcAft>
              <a:buClr>
                <a:schemeClr val="accent1"/>
              </a:buClr>
              <a:buSzPct val="92000"/>
              <a:buFont typeface="Courier New" panose="02070309020205020404" pitchFamily="49" charset="0"/>
              <a:buChar char="o"/>
            </a:pPr>
            <a:r>
              <a:rPr lang="en-US" altLang="zh-CN" sz="2000" dirty="0">
                <a:solidFill>
                  <a:schemeClr val="tx1">
                    <a:lumMod val="75000"/>
                    <a:lumOff val="25000"/>
                  </a:schemeClr>
                </a:solidFill>
              </a:rPr>
              <a:t>Designed to work outdoors, it minimizes multipath errors and interference.</a:t>
            </a:r>
            <a:endParaRPr lang="zh-CN" altLang="en-US" sz="2000" dirty="0">
              <a:solidFill>
                <a:schemeClr val="tx1">
                  <a:lumMod val="75000"/>
                  <a:lumOff val="25000"/>
                </a:schemeClr>
              </a:solidFill>
            </a:endParaRPr>
          </a:p>
        </p:txBody>
      </p:sp>
    </p:spTree>
    <p:extLst>
      <p:ext uri="{BB962C8B-B14F-4D97-AF65-F5344CB8AC3E}">
        <p14:creationId xmlns:p14="http://schemas.microsoft.com/office/powerpoint/2010/main" val="135113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56658" y="2240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t>
            </a:r>
            <a:r>
              <a:rPr lang="en-US" altLang="zh-CN" sz="3200" dirty="0">
                <a:solidFill>
                  <a:srgbClr val="7030A0"/>
                </a:solidFill>
              </a:rPr>
              <a:t>eceiver hardware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6" name="Picture 5">
            <a:extLst>
              <a:ext uri="{FF2B5EF4-FFF2-40B4-BE49-F238E27FC236}">
                <a16:creationId xmlns:a16="http://schemas.microsoft.com/office/drawing/2014/main" id="{B1A1195C-3FDF-4141-B2EC-66A6DA293CE8}"/>
              </a:ext>
            </a:extLst>
          </p:cNvPr>
          <p:cNvPicPr>
            <a:picLocks noChangeAspect="1"/>
          </p:cNvPicPr>
          <p:nvPr/>
        </p:nvPicPr>
        <p:blipFill>
          <a:blip r:embed="rId3"/>
          <a:stretch>
            <a:fillRect/>
          </a:stretch>
        </p:blipFill>
        <p:spPr>
          <a:xfrm>
            <a:off x="2795587" y="1895475"/>
            <a:ext cx="1695450" cy="1638300"/>
          </a:xfrm>
          <a:prstGeom prst="rect">
            <a:avLst/>
          </a:prstGeom>
        </p:spPr>
      </p:pic>
    </p:spTree>
    <p:extLst>
      <p:ext uri="{BB962C8B-B14F-4D97-AF65-F5344CB8AC3E}">
        <p14:creationId xmlns:p14="http://schemas.microsoft.com/office/powerpoint/2010/main" val="967411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85233" y="19314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t>
            </a:r>
            <a:r>
              <a:rPr lang="en-US" altLang="zh-CN" sz="3200" dirty="0">
                <a:solidFill>
                  <a:srgbClr val="7030A0"/>
                </a:solidFill>
              </a:rPr>
              <a:t>eceiver</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15" name="TextBox 14">
            <a:extLst>
              <a:ext uri="{FF2B5EF4-FFF2-40B4-BE49-F238E27FC236}">
                <a16:creationId xmlns:a16="http://schemas.microsoft.com/office/drawing/2014/main" id="{596E2EFB-256B-4269-ABCE-6114F809C4F5}"/>
              </a:ext>
            </a:extLst>
          </p:cNvPr>
          <p:cNvSpPr txBox="1"/>
          <p:nvPr/>
        </p:nvSpPr>
        <p:spPr>
          <a:xfrm>
            <a:off x="286791" y="4526914"/>
            <a:ext cx="2388715" cy="461665"/>
          </a:xfrm>
          <a:prstGeom prst="rect">
            <a:avLst/>
          </a:prstGeom>
          <a:noFill/>
        </p:spPr>
        <p:txBody>
          <a:bodyPr wrap="square" rtlCol="0">
            <a:spAutoFit/>
          </a:bodyPr>
          <a:lstStyle/>
          <a:p>
            <a:r>
              <a:rPr lang="en-US" sz="2400" dirty="0"/>
              <a:t>Trimble R7</a:t>
            </a:r>
          </a:p>
        </p:txBody>
      </p:sp>
      <p:sp>
        <p:nvSpPr>
          <p:cNvPr id="18" name="TextBox 17">
            <a:extLst>
              <a:ext uri="{FF2B5EF4-FFF2-40B4-BE49-F238E27FC236}">
                <a16:creationId xmlns:a16="http://schemas.microsoft.com/office/drawing/2014/main" id="{43749AA5-8A6A-4404-8270-E1E123C083D0}"/>
              </a:ext>
            </a:extLst>
          </p:cNvPr>
          <p:cNvSpPr txBox="1"/>
          <p:nvPr/>
        </p:nvSpPr>
        <p:spPr>
          <a:xfrm>
            <a:off x="3485981" y="4704130"/>
            <a:ext cx="4136230" cy="246221"/>
          </a:xfrm>
          <a:prstGeom prst="rect">
            <a:avLst/>
          </a:prstGeom>
          <a:noFill/>
        </p:spPr>
        <p:txBody>
          <a:bodyPr wrap="square">
            <a:spAutoFit/>
          </a:bodyPr>
          <a:lstStyle/>
          <a:p>
            <a:r>
              <a:rPr lang="en-US" sz="1000" dirty="0">
                <a:solidFill>
                  <a:srgbClr val="7030A0"/>
                </a:solidFill>
              </a:rPr>
              <a:t>https://commons.wikimedia.org/wiki/File:Station_GPS_receiver.jpg</a:t>
            </a:r>
          </a:p>
        </p:txBody>
      </p:sp>
      <p:pic>
        <p:nvPicPr>
          <p:cNvPr id="19" name="Picture 18">
            <a:extLst>
              <a:ext uri="{FF2B5EF4-FFF2-40B4-BE49-F238E27FC236}">
                <a16:creationId xmlns:a16="http://schemas.microsoft.com/office/drawing/2014/main" id="{19B68AFC-9EFC-4DE0-A94C-FEFC48BBC4AC}"/>
              </a:ext>
            </a:extLst>
          </p:cNvPr>
          <p:cNvPicPr>
            <a:picLocks noChangeAspect="1"/>
          </p:cNvPicPr>
          <p:nvPr/>
        </p:nvPicPr>
        <p:blipFill>
          <a:blip r:embed="rId3"/>
          <a:stretch>
            <a:fillRect/>
          </a:stretch>
        </p:blipFill>
        <p:spPr>
          <a:xfrm>
            <a:off x="256156" y="1187858"/>
            <a:ext cx="2419350" cy="3000375"/>
          </a:xfrm>
          <a:prstGeom prst="rect">
            <a:avLst/>
          </a:prstGeom>
        </p:spPr>
      </p:pic>
      <p:pic>
        <p:nvPicPr>
          <p:cNvPr id="1026" name="Picture 2">
            <a:extLst>
              <a:ext uri="{FF2B5EF4-FFF2-40B4-BE49-F238E27FC236}">
                <a16:creationId xmlns:a16="http://schemas.microsoft.com/office/drawing/2014/main" id="{3F25C4B4-FAF2-45FB-95DB-DC89DFC110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3946" y="1102133"/>
            <a:ext cx="24003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311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13FD1-95A0-39FC-A147-9395458686D2}"/>
              </a:ext>
            </a:extLst>
          </p:cNvPr>
          <p:cNvSpPr>
            <a:spLocks noGrp="1"/>
          </p:cNvSpPr>
          <p:nvPr>
            <p:ph type="title"/>
          </p:nvPr>
        </p:nvSpPr>
        <p:spPr>
          <a:xfrm>
            <a:off x="392305" y="427557"/>
            <a:ext cx="7444991" cy="471603"/>
          </a:xfrm>
        </p:spPr>
        <p:txBody>
          <a:bodyPr>
            <a:normAutofit/>
          </a:bodyPr>
          <a:lstStyle/>
          <a:p>
            <a:r>
              <a:rPr lang="en-US" altLang="zh-CN" sz="2000" dirty="0">
                <a:solidFill>
                  <a:srgbClr val="7030A0"/>
                </a:solidFill>
              </a:rPr>
              <a:t>Processor</a:t>
            </a:r>
            <a:endParaRPr lang="zh-CN" altLang="en-US" dirty="0"/>
          </a:p>
        </p:txBody>
      </p:sp>
      <p:sp>
        <p:nvSpPr>
          <p:cNvPr id="3" name="Content Placeholder 2">
            <a:extLst>
              <a:ext uri="{FF2B5EF4-FFF2-40B4-BE49-F238E27FC236}">
                <a16:creationId xmlns:a16="http://schemas.microsoft.com/office/drawing/2014/main" id="{67ED3E9A-CC8A-9CE3-1208-6A359EC657E9}"/>
              </a:ext>
            </a:extLst>
          </p:cNvPr>
          <p:cNvSpPr>
            <a:spLocks noGrp="1"/>
          </p:cNvSpPr>
          <p:nvPr>
            <p:ph idx="1"/>
          </p:nvPr>
        </p:nvSpPr>
        <p:spPr>
          <a:xfrm>
            <a:off x="392307" y="899160"/>
            <a:ext cx="7444990" cy="1725643"/>
          </a:xfrm>
        </p:spPr>
        <p:txBody>
          <a:bodyPr>
            <a:normAutofit/>
          </a:bodyPr>
          <a:lstStyle/>
          <a:p>
            <a:r>
              <a:rPr lang="en-US" altLang="zh-CN" sz="1600" dirty="0"/>
              <a:t>The device runs on </a:t>
            </a:r>
            <a:r>
              <a:rPr lang="en-US" altLang="zh-CN" sz="1600" b="1" dirty="0"/>
              <a:t>Android OS</a:t>
            </a:r>
            <a:r>
              <a:rPr lang="en-US" altLang="zh-CN" sz="1600" dirty="0"/>
              <a:t>.</a:t>
            </a:r>
          </a:p>
          <a:p>
            <a:r>
              <a:rPr lang="en-US" altLang="zh-CN" sz="1600" dirty="0"/>
              <a:t>This processor not only handles GNSS signal processing but also runs field apps like </a:t>
            </a:r>
            <a:r>
              <a:rPr lang="en-US" altLang="zh-CN" sz="1600" b="1" dirty="0"/>
              <a:t>Trimble </a:t>
            </a:r>
            <a:r>
              <a:rPr lang="en-US" altLang="zh-CN" sz="1600" b="1" dirty="0" err="1"/>
              <a:t>TerraFlex</a:t>
            </a:r>
            <a:r>
              <a:rPr lang="en-US" altLang="zh-CN" sz="1600" b="1" dirty="0"/>
              <a:t>, Esri Field Maps, or Collector</a:t>
            </a:r>
            <a:r>
              <a:rPr lang="en-US" altLang="zh-CN" sz="1600" dirty="0"/>
              <a:t>.</a:t>
            </a:r>
          </a:p>
          <a:p>
            <a:r>
              <a:rPr lang="en-US" altLang="zh-CN" sz="1600" dirty="0"/>
              <a:t>It integrates GNSS calculations with mapping, data entry, and communication functions.</a:t>
            </a:r>
          </a:p>
        </p:txBody>
      </p:sp>
      <p:sp>
        <p:nvSpPr>
          <p:cNvPr id="4" name="Slide Number Placeholder 3">
            <a:extLst>
              <a:ext uri="{FF2B5EF4-FFF2-40B4-BE49-F238E27FC236}">
                <a16:creationId xmlns:a16="http://schemas.microsoft.com/office/drawing/2014/main" id="{93D24E8C-EF49-FAE4-772E-55CD97807616}"/>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232811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A6737-9DB4-869C-3499-8C4F2106B8B8}"/>
              </a:ext>
            </a:extLst>
          </p:cNvPr>
          <p:cNvSpPr>
            <a:spLocks noGrp="1"/>
          </p:cNvSpPr>
          <p:nvPr>
            <p:ph type="title"/>
          </p:nvPr>
        </p:nvSpPr>
        <p:spPr>
          <a:xfrm>
            <a:off x="392305" y="526617"/>
            <a:ext cx="7444991" cy="410643"/>
          </a:xfrm>
        </p:spPr>
        <p:txBody>
          <a:bodyPr/>
          <a:lstStyle/>
          <a:p>
            <a:r>
              <a:rPr lang="en-US" altLang="zh-CN" sz="2000" dirty="0">
                <a:solidFill>
                  <a:srgbClr val="7030A0"/>
                </a:solidFill>
              </a:rPr>
              <a:t>I/O (Input/Output)</a:t>
            </a:r>
            <a:endParaRPr lang="zh-CN" altLang="en-US" sz="2000" dirty="0">
              <a:solidFill>
                <a:srgbClr val="7030A0"/>
              </a:solidFill>
            </a:endParaRPr>
          </a:p>
        </p:txBody>
      </p:sp>
      <p:sp>
        <p:nvSpPr>
          <p:cNvPr id="3" name="Content Placeholder 2">
            <a:extLst>
              <a:ext uri="{FF2B5EF4-FFF2-40B4-BE49-F238E27FC236}">
                <a16:creationId xmlns:a16="http://schemas.microsoft.com/office/drawing/2014/main" id="{08310925-C680-2D2C-1C73-C1C5FC74700A}"/>
              </a:ext>
            </a:extLst>
          </p:cNvPr>
          <p:cNvSpPr>
            <a:spLocks noGrp="1"/>
          </p:cNvSpPr>
          <p:nvPr>
            <p:ph idx="1"/>
          </p:nvPr>
        </p:nvSpPr>
        <p:spPr>
          <a:xfrm>
            <a:off x="392307" y="937260"/>
            <a:ext cx="7444990" cy="2351532"/>
          </a:xfrm>
        </p:spPr>
        <p:txBody>
          <a:bodyPr>
            <a:normAutofit/>
          </a:bodyPr>
          <a:lstStyle/>
          <a:p>
            <a:r>
              <a:rPr lang="en-US" altLang="zh-CN" sz="1600" dirty="0"/>
              <a:t>On the TDC100, I/O is through:</a:t>
            </a:r>
          </a:p>
          <a:p>
            <a:pPr lvl="1"/>
            <a:r>
              <a:rPr lang="en-US" altLang="zh-CN" sz="1600" b="1" dirty="0"/>
              <a:t>Touchscreen</a:t>
            </a:r>
            <a:r>
              <a:rPr lang="en-US" altLang="zh-CN" sz="1600" dirty="0"/>
              <a:t> (main user input/output).</a:t>
            </a:r>
          </a:p>
          <a:p>
            <a:pPr lvl="1"/>
            <a:r>
              <a:rPr lang="en-US" altLang="zh-CN" sz="1600" b="1" dirty="0"/>
              <a:t>USB-C and Bluetooth/Wi-Fi</a:t>
            </a:r>
            <a:r>
              <a:rPr lang="en-US" altLang="zh-CN" sz="1600" dirty="0"/>
              <a:t> (data transfer, connectivity with PCs, sensors, or cloud).</a:t>
            </a:r>
          </a:p>
          <a:p>
            <a:pPr lvl="1"/>
            <a:r>
              <a:rPr lang="en-US" altLang="zh-CN" sz="1600" b="1" dirty="0"/>
              <a:t>Cellular 4G LTE</a:t>
            </a:r>
            <a:r>
              <a:rPr lang="en-US" altLang="zh-CN" sz="1600" dirty="0"/>
              <a:t> (real-time sync to ArcGIS Online, Trimble Connect, etc.).</a:t>
            </a:r>
          </a:p>
          <a:p>
            <a:r>
              <a:rPr lang="en-US" altLang="zh-CN" sz="1600" dirty="0"/>
              <a:t>These allow data collected in the field to move seamlessly into enterprise GIS systems.</a:t>
            </a:r>
          </a:p>
        </p:txBody>
      </p:sp>
      <p:sp>
        <p:nvSpPr>
          <p:cNvPr id="4" name="Slide Number Placeholder 3">
            <a:extLst>
              <a:ext uri="{FF2B5EF4-FFF2-40B4-BE49-F238E27FC236}">
                <a16:creationId xmlns:a16="http://schemas.microsoft.com/office/drawing/2014/main" id="{9D4FC28B-FBEA-4C1E-095F-F02EA7C8816D}"/>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507497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4B37B-BB15-7777-C701-EFCB8D2501BD}"/>
              </a:ext>
            </a:extLst>
          </p:cNvPr>
          <p:cNvSpPr>
            <a:spLocks noGrp="1"/>
          </p:cNvSpPr>
          <p:nvPr>
            <p:ph type="title"/>
          </p:nvPr>
        </p:nvSpPr>
        <p:spPr>
          <a:xfrm>
            <a:off x="392307" y="442797"/>
            <a:ext cx="7444991" cy="463983"/>
          </a:xfrm>
        </p:spPr>
        <p:txBody>
          <a:bodyPr/>
          <a:lstStyle/>
          <a:p>
            <a:r>
              <a:rPr lang="en-US" altLang="zh-CN" sz="2000" dirty="0">
                <a:solidFill>
                  <a:srgbClr val="7030A0"/>
                </a:solidFill>
              </a:rPr>
              <a:t>Control Display Unit</a:t>
            </a:r>
            <a:endParaRPr lang="zh-CN" altLang="en-US" dirty="0"/>
          </a:p>
        </p:txBody>
      </p:sp>
      <p:sp>
        <p:nvSpPr>
          <p:cNvPr id="3" name="Content Placeholder 2">
            <a:extLst>
              <a:ext uri="{FF2B5EF4-FFF2-40B4-BE49-F238E27FC236}">
                <a16:creationId xmlns:a16="http://schemas.microsoft.com/office/drawing/2014/main" id="{CCE10841-AF2C-9B04-36CF-2F8A9C07B257}"/>
              </a:ext>
            </a:extLst>
          </p:cNvPr>
          <p:cNvSpPr>
            <a:spLocks noGrp="1"/>
          </p:cNvSpPr>
          <p:nvPr>
            <p:ph idx="1"/>
          </p:nvPr>
        </p:nvSpPr>
        <p:spPr>
          <a:xfrm>
            <a:off x="392307" y="1046988"/>
            <a:ext cx="7444990" cy="2100071"/>
          </a:xfrm>
        </p:spPr>
        <p:txBody>
          <a:bodyPr>
            <a:noAutofit/>
          </a:bodyPr>
          <a:lstStyle/>
          <a:p>
            <a:r>
              <a:rPr lang="en-US" altLang="zh-CN" sz="1600" dirty="0"/>
              <a:t>The </a:t>
            </a:r>
            <a:r>
              <a:rPr lang="en-US" altLang="zh-CN" sz="1600" b="1" dirty="0"/>
              <a:t>rugged touchscreen display</a:t>
            </a:r>
            <a:r>
              <a:rPr lang="en-US" altLang="zh-CN" sz="1600" dirty="0"/>
              <a:t> is the control and display unit.</a:t>
            </a:r>
          </a:p>
          <a:p>
            <a:r>
              <a:rPr lang="en-US" altLang="zh-CN" sz="1600" dirty="0"/>
              <a:t>Users can:</a:t>
            </a:r>
          </a:p>
          <a:p>
            <a:pPr lvl="1">
              <a:buFont typeface="Wingdings" panose="05000000000000000000" pitchFamily="2" charset="2"/>
              <a:buChar char="Ø"/>
            </a:pPr>
            <a:r>
              <a:rPr lang="en-US" altLang="zh-CN" sz="1600" dirty="0"/>
              <a:t>View GNSS status (satellite strength, accuracy, corrections).</a:t>
            </a:r>
          </a:p>
          <a:p>
            <a:pPr lvl="1">
              <a:buFont typeface="Wingdings" panose="05000000000000000000" pitchFamily="2" charset="2"/>
              <a:buChar char="Ø"/>
            </a:pPr>
            <a:r>
              <a:rPr lang="en-US" altLang="zh-CN" sz="1600" dirty="0"/>
              <a:t>Interact with GIS apps, maps, forms, and data layers.</a:t>
            </a:r>
          </a:p>
          <a:p>
            <a:pPr lvl="1">
              <a:buFont typeface="Wingdings" panose="05000000000000000000" pitchFamily="2" charset="2"/>
              <a:buChar char="Ø"/>
            </a:pPr>
            <a:r>
              <a:rPr lang="en-US" altLang="zh-CN" sz="1600" dirty="0"/>
              <a:t>Control system settings and monitor battery/power.</a:t>
            </a:r>
          </a:p>
          <a:p>
            <a:r>
              <a:rPr lang="en-US" altLang="zh-CN" sz="1600" dirty="0"/>
              <a:t>Brightness and ruggedness are optimized for </a:t>
            </a:r>
            <a:r>
              <a:rPr lang="en-US" altLang="zh-CN" sz="1600" b="1" dirty="0"/>
              <a:t>field visibility and durability</a:t>
            </a:r>
            <a:r>
              <a:rPr lang="en-US" altLang="zh-CN" sz="1600" dirty="0"/>
              <a:t>.</a:t>
            </a:r>
          </a:p>
        </p:txBody>
      </p:sp>
      <p:sp>
        <p:nvSpPr>
          <p:cNvPr id="4" name="Slide Number Placeholder 3">
            <a:extLst>
              <a:ext uri="{FF2B5EF4-FFF2-40B4-BE49-F238E27FC236}">
                <a16:creationId xmlns:a16="http://schemas.microsoft.com/office/drawing/2014/main" id="{E82513E6-444D-14B7-B5DD-752A4D333910}"/>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274900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FC72-7A82-0650-B29F-648E094CC979}"/>
              </a:ext>
            </a:extLst>
          </p:cNvPr>
          <p:cNvSpPr>
            <a:spLocks noGrp="1"/>
          </p:cNvSpPr>
          <p:nvPr>
            <p:ph type="title"/>
          </p:nvPr>
        </p:nvSpPr>
        <p:spPr>
          <a:xfrm>
            <a:off x="392305" y="526617"/>
            <a:ext cx="7444991" cy="403023"/>
          </a:xfrm>
        </p:spPr>
        <p:txBody>
          <a:bodyPr/>
          <a:lstStyle/>
          <a:p>
            <a:r>
              <a:rPr lang="en-US" altLang="zh-CN" dirty="0"/>
              <a:t>Trimble </a:t>
            </a:r>
            <a:r>
              <a:rPr lang="en-US" altLang="zh-CN" dirty="0" err="1"/>
              <a:t>tdc</a:t>
            </a:r>
            <a:r>
              <a:rPr lang="en-US" altLang="zh-CN" dirty="0"/>
              <a:t> 100 series handheld overview</a:t>
            </a:r>
            <a:endParaRPr lang="zh-CN" altLang="en-US" dirty="0"/>
          </a:p>
        </p:txBody>
      </p:sp>
      <p:sp>
        <p:nvSpPr>
          <p:cNvPr id="3" name="Content Placeholder 2">
            <a:extLst>
              <a:ext uri="{FF2B5EF4-FFF2-40B4-BE49-F238E27FC236}">
                <a16:creationId xmlns:a16="http://schemas.microsoft.com/office/drawing/2014/main" id="{6FBA0C13-FAE7-8733-9A05-C4962EFD46C6}"/>
              </a:ext>
            </a:extLst>
          </p:cNvPr>
          <p:cNvSpPr>
            <a:spLocks noGrp="1"/>
          </p:cNvSpPr>
          <p:nvPr>
            <p:ph idx="1"/>
          </p:nvPr>
        </p:nvSpPr>
        <p:spPr>
          <a:xfrm>
            <a:off x="392304" y="1118617"/>
            <a:ext cx="7444990" cy="637032"/>
          </a:xfrm>
        </p:spPr>
        <p:txBody>
          <a:bodyPr/>
          <a:lstStyle/>
          <a:p>
            <a:r>
              <a:rPr lang="en-US" altLang="zh-CN" dirty="0"/>
              <a:t>https://www.youtube.com/watch?v=fimWxYMRiF8</a:t>
            </a:r>
            <a:endParaRPr lang="zh-CN" altLang="en-US" dirty="0"/>
          </a:p>
        </p:txBody>
      </p:sp>
      <p:sp>
        <p:nvSpPr>
          <p:cNvPr id="4" name="Slide Number Placeholder 3">
            <a:extLst>
              <a:ext uri="{FF2B5EF4-FFF2-40B4-BE49-F238E27FC236}">
                <a16:creationId xmlns:a16="http://schemas.microsoft.com/office/drawing/2014/main" id="{64AA36AD-947B-43ED-804C-08693D83D8A8}"/>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416848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F46BF-B5CD-D6E7-49F8-2846B90E2FF5}"/>
              </a:ext>
            </a:extLst>
          </p:cNvPr>
          <p:cNvSpPr>
            <a:spLocks noGrp="1"/>
          </p:cNvSpPr>
          <p:nvPr>
            <p:ph type="title"/>
          </p:nvPr>
        </p:nvSpPr>
        <p:spPr>
          <a:xfrm>
            <a:off x="392305" y="526617"/>
            <a:ext cx="7444991" cy="471603"/>
          </a:xfrm>
        </p:spPr>
        <p:txBody>
          <a:bodyPr/>
          <a:lstStyle/>
          <a:p>
            <a:r>
              <a:rPr lang="en-US" altLang="zh-CN" sz="2000" dirty="0">
                <a:solidFill>
                  <a:srgbClr val="7030A0"/>
                </a:solidFill>
              </a:rPr>
              <a:t>In-Class Activity: Exploring GNSS with </a:t>
            </a:r>
            <a:r>
              <a:rPr lang="en-US" altLang="zh-CN" sz="2000" dirty="0" err="1">
                <a:solidFill>
                  <a:srgbClr val="7030A0"/>
                </a:solidFill>
              </a:rPr>
              <a:t>SatLook</a:t>
            </a:r>
            <a:endParaRPr lang="zh-CN" altLang="en-US" sz="2000" dirty="0">
              <a:solidFill>
                <a:srgbClr val="7030A0"/>
              </a:solidFill>
            </a:endParaRPr>
          </a:p>
        </p:txBody>
      </p:sp>
      <p:sp>
        <p:nvSpPr>
          <p:cNvPr id="3" name="Content Placeholder 2">
            <a:extLst>
              <a:ext uri="{FF2B5EF4-FFF2-40B4-BE49-F238E27FC236}">
                <a16:creationId xmlns:a16="http://schemas.microsoft.com/office/drawing/2014/main" id="{830E38D9-98D2-F45D-B01B-0A676B492622}"/>
              </a:ext>
            </a:extLst>
          </p:cNvPr>
          <p:cNvSpPr>
            <a:spLocks noGrp="1"/>
          </p:cNvSpPr>
          <p:nvPr>
            <p:ph idx="1"/>
          </p:nvPr>
        </p:nvSpPr>
        <p:spPr>
          <a:xfrm>
            <a:off x="392307" y="1060700"/>
            <a:ext cx="7444990" cy="621792"/>
          </a:xfrm>
        </p:spPr>
        <p:txBody>
          <a:bodyPr>
            <a:normAutofit/>
          </a:bodyPr>
          <a:lstStyle/>
          <a:p>
            <a:r>
              <a:rPr lang="en-US" altLang="zh-CN" sz="1600" dirty="0"/>
              <a:t>What do you think affects GPS accuracy?</a:t>
            </a:r>
            <a:endParaRPr lang="zh-CN" altLang="en-US" sz="1600" dirty="0"/>
          </a:p>
        </p:txBody>
      </p:sp>
      <p:sp>
        <p:nvSpPr>
          <p:cNvPr id="4" name="Slide Number Placeholder 3">
            <a:extLst>
              <a:ext uri="{FF2B5EF4-FFF2-40B4-BE49-F238E27FC236}">
                <a16:creationId xmlns:a16="http://schemas.microsoft.com/office/drawing/2014/main" id="{87AFF3DF-1D5B-444D-13A9-F9F72ADF32FA}"/>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6" name="TextBox 5">
            <a:extLst>
              <a:ext uri="{FF2B5EF4-FFF2-40B4-BE49-F238E27FC236}">
                <a16:creationId xmlns:a16="http://schemas.microsoft.com/office/drawing/2014/main" id="{9A06EE18-841C-473C-E877-255939906159}"/>
              </a:ext>
            </a:extLst>
          </p:cNvPr>
          <p:cNvSpPr txBox="1"/>
          <p:nvPr/>
        </p:nvSpPr>
        <p:spPr>
          <a:xfrm>
            <a:off x="1085977" y="1752601"/>
            <a:ext cx="6751320" cy="2318583"/>
          </a:xfrm>
          <a:prstGeom prst="rect">
            <a:avLst/>
          </a:prstGeom>
          <a:noFill/>
        </p:spPr>
        <p:txBody>
          <a:bodyPr wrap="square" rtlCol="0">
            <a:spAutoFit/>
          </a:bodyPr>
          <a:lstStyle/>
          <a:p>
            <a:pPr marL="342900" indent="-342900" defTabSz="308610">
              <a:spcBef>
                <a:spcPct val="20000"/>
              </a:spcBef>
              <a:spcAft>
                <a:spcPts val="405"/>
              </a:spcAft>
              <a:buClr>
                <a:schemeClr val="accent1"/>
              </a:buClr>
              <a:buSzPct val="92000"/>
              <a:buFont typeface="+mj-lt"/>
              <a:buAutoNum type="arabicPeriod"/>
            </a:pPr>
            <a:r>
              <a:rPr lang="en-US" altLang="zh-CN" sz="1600" dirty="0">
                <a:solidFill>
                  <a:schemeClr val="tx1">
                    <a:lumMod val="75000"/>
                    <a:lumOff val="25000"/>
                  </a:schemeClr>
                </a:solidFill>
              </a:rPr>
              <a:t>Open </a:t>
            </a:r>
            <a:r>
              <a:rPr lang="en-US" altLang="zh-CN" sz="1600" dirty="0" err="1">
                <a:solidFill>
                  <a:schemeClr val="tx1">
                    <a:lumMod val="75000"/>
                    <a:lumOff val="25000"/>
                  </a:schemeClr>
                </a:solidFill>
              </a:rPr>
              <a:t>SatLook</a:t>
            </a:r>
            <a:r>
              <a:rPr lang="en-US" altLang="zh-CN" sz="1600" dirty="0">
                <a:solidFill>
                  <a:schemeClr val="tx1">
                    <a:lumMod val="75000"/>
                    <a:lumOff val="25000"/>
                  </a:schemeClr>
                </a:solidFill>
              </a:rPr>
              <a:t> on your TDC100.</a:t>
            </a:r>
          </a:p>
          <a:p>
            <a:pPr marL="342900" indent="-342900" defTabSz="308610">
              <a:spcBef>
                <a:spcPct val="20000"/>
              </a:spcBef>
              <a:spcAft>
                <a:spcPts val="405"/>
              </a:spcAft>
              <a:buClr>
                <a:schemeClr val="accent1"/>
              </a:buClr>
              <a:buSzPct val="92000"/>
              <a:buFont typeface="+mj-lt"/>
              <a:buAutoNum type="arabicPeriod"/>
            </a:pPr>
            <a:r>
              <a:rPr lang="en-US" altLang="zh-CN" sz="1600" dirty="0">
                <a:solidFill>
                  <a:schemeClr val="tx1">
                    <a:lumMod val="75000"/>
                    <a:lumOff val="25000"/>
                  </a:schemeClr>
                </a:solidFill>
              </a:rPr>
              <a:t>Show the 3 tabs:</a:t>
            </a:r>
          </a:p>
          <a:p>
            <a:pPr marL="663750" lvl="1" indent="-206550" defTabSz="308610">
              <a:spcBef>
                <a:spcPct val="20000"/>
              </a:spcBef>
              <a:spcAft>
                <a:spcPts val="405"/>
              </a:spcAft>
              <a:buClr>
                <a:schemeClr val="accent1"/>
              </a:buClr>
              <a:buSzPct val="92000"/>
              <a:buFont typeface="Wingdings 2" panose="05020102010507070707" pitchFamily="18" charset="2"/>
              <a:buChar char=""/>
            </a:pPr>
            <a:r>
              <a:rPr lang="en-US" altLang="zh-CN" sz="1600" dirty="0">
                <a:solidFill>
                  <a:schemeClr val="tx1">
                    <a:lumMod val="75000"/>
                    <a:lumOff val="25000"/>
                  </a:schemeClr>
                </a:solidFill>
              </a:rPr>
              <a:t>Sky Plot → Satellites in the sky (constellation + geometry).</a:t>
            </a:r>
          </a:p>
          <a:p>
            <a:pPr marL="663750" lvl="1" indent="-206550" defTabSz="308610">
              <a:spcBef>
                <a:spcPct val="20000"/>
              </a:spcBef>
              <a:spcAft>
                <a:spcPts val="405"/>
              </a:spcAft>
              <a:buClr>
                <a:schemeClr val="accent1"/>
              </a:buClr>
              <a:buSzPct val="92000"/>
              <a:buFont typeface="Wingdings 2" panose="05020102010507070707" pitchFamily="18" charset="2"/>
              <a:buChar char=""/>
            </a:pPr>
            <a:r>
              <a:rPr lang="en-US" altLang="zh-CN" sz="1600" dirty="0">
                <a:solidFill>
                  <a:schemeClr val="tx1">
                    <a:lumMod val="75000"/>
                    <a:lumOff val="25000"/>
                  </a:schemeClr>
                </a:solidFill>
              </a:rPr>
              <a:t>NMEA → Raw GNSS data (for advanced logging).</a:t>
            </a:r>
          </a:p>
          <a:p>
            <a:pPr marL="663750" lvl="1" indent="-206550" defTabSz="308610">
              <a:spcBef>
                <a:spcPct val="20000"/>
              </a:spcBef>
              <a:spcAft>
                <a:spcPts val="405"/>
              </a:spcAft>
              <a:buClr>
                <a:schemeClr val="accent1"/>
              </a:buClr>
              <a:buSzPct val="92000"/>
              <a:buFont typeface="Wingdings 2" panose="05020102010507070707" pitchFamily="18" charset="2"/>
              <a:buChar char=""/>
            </a:pPr>
            <a:r>
              <a:rPr lang="en-US" altLang="zh-CN" sz="1600" dirty="0">
                <a:solidFill>
                  <a:schemeClr val="tx1">
                    <a:lumMod val="75000"/>
                    <a:lumOff val="25000"/>
                  </a:schemeClr>
                </a:solidFill>
              </a:rPr>
              <a:t>SNR → Signal strength for each satellite.</a:t>
            </a:r>
          </a:p>
          <a:p>
            <a:pPr marL="663750" lvl="1" indent="-206550" defTabSz="308610">
              <a:spcBef>
                <a:spcPct val="20000"/>
              </a:spcBef>
              <a:spcAft>
                <a:spcPts val="405"/>
              </a:spcAft>
              <a:buClr>
                <a:schemeClr val="accent1"/>
              </a:buClr>
              <a:buSzPct val="92000"/>
              <a:buFont typeface="Wingdings 2" panose="05020102010507070707" pitchFamily="18" charset="2"/>
              <a:buChar char=""/>
            </a:pPr>
            <a:r>
              <a:rPr lang="en-US" altLang="zh-CN" sz="1600" dirty="0">
                <a:solidFill>
                  <a:schemeClr val="tx1">
                    <a:lumMod val="75000"/>
                    <a:lumOff val="25000"/>
                  </a:schemeClr>
                </a:solidFill>
              </a:rPr>
              <a:t>Highlight: “Tracked vs Used satellites”, SNR levels, and constellations (GPS, GLONASS, BeiDou, Galileo).</a:t>
            </a:r>
            <a:endParaRPr lang="zh-CN" altLang="en-US" sz="1600" dirty="0">
              <a:solidFill>
                <a:schemeClr val="tx1">
                  <a:lumMod val="75000"/>
                  <a:lumOff val="25000"/>
                </a:schemeClr>
              </a:solidFill>
            </a:endParaRPr>
          </a:p>
        </p:txBody>
      </p:sp>
    </p:spTree>
    <p:extLst>
      <p:ext uri="{BB962C8B-B14F-4D97-AF65-F5344CB8AC3E}">
        <p14:creationId xmlns:p14="http://schemas.microsoft.com/office/powerpoint/2010/main" val="2321144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ell phone&#10;&#10;AI-generated content may be incorrect.">
            <a:extLst>
              <a:ext uri="{FF2B5EF4-FFF2-40B4-BE49-F238E27FC236}">
                <a16:creationId xmlns:a16="http://schemas.microsoft.com/office/drawing/2014/main" id="{DE80989D-19AC-0207-776D-DEB9DFADF45C}"/>
              </a:ext>
            </a:extLst>
          </p:cNvPr>
          <p:cNvPicPr>
            <a:picLocks noGrp="1" noChangeAspect="1"/>
          </p:cNvPicPr>
          <p:nvPr>
            <p:ph idx="1"/>
          </p:nvPr>
        </p:nvPicPr>
        <p:blipFill>
          <a:blip r:embed="rId2"/>
          <a:stretch>
            <a:fillRect/>
          </a:stretch>
        </p:blipFill>
        <p:spPr>
          <a:xfrm>
            <a:off x="5463540" y="1072549"/>
            <a:ext cx="2148075" cy="3818801"/>
          </a:xfrm>
        </p:spPr>
      </p:pic>
      <p:sp>
        <p:nvSpPr>
          <p:cNvPr id="4" name="Slide Number Placeholder 3">
            <a:extLst>
              <a:ext uri="{FF2B5EF4-FFF2-40B4-BE49-F238E27FC236}">
                <a16:creationId xmlns:a16="http://schemas.microsoft.com/office/drawing/2014/main" id="{FC11821D-148B-55FE-43BD-159608F6886D}"/>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5" name="Title 1">
            <a:extLst>
              <a:ext uri="{FF2B5EF4-FFF2-40B4-BE49-F238E27FC236}">
                <a16:creationId xmlns:a16="http://schemas.microsoft.com/office/drawing/2014/main" id="{ED80DDB9-68EA-5F81-A54A-F26E46511FD9}"/>
              </a:ext>
            </a:extLst>
          </p:cNvPr>
          <p:cNvSpPr txBox="1">
            <a:spLocks/>
          </p:cNvSpPr>
          <p:nvPr/>
        </p:nvSpPr>
        <p:spPr>
          <a:xfrm>
            <a:off x="392305" y="526617"/>
            <a:ext cx="7444991" cy="471603"/>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000" dirty="0">
                <a:solidFill>
                  <a:srgbClr val="7030A0"/>
                </a:solidFill>
              </a:rPr>
              <a:t>In-Class Activity: Exploring GNSS with </a:t>
            </a:r>
            <a:r>
              <a:rPr lang="en-US" altLang="zh-CN" sz="2000" dirty="0" err="1">
                <a:solidFill>
                  <a:srgbClr val="7030A0"/>
                </a:solidFill>
              </a:rPr>
              <a:t>SatLook</a:t>
            </a:r>
            <a:endParaRPr lang="zh-CN" altLang="en-US" sz="2000" dirty="0">
              <a:solidFill>
                <a:srgbClr val="7030A0"/>
              </a:solidFill>
            </a:endParaRPr>
          </a:p>
        </p:txBody>
      </p:sp>
      <p:sp>
        <p:nvSpPr>
          <p:cNvPr id="8" name="TextBox 7">
            <a:extLst>
              <a:ext uri="{FF2B5EF4-FFF2-40B4-BE49-F238E27FC236}">
                <a16:creationId xmlns:a16="http://schemas.microsoft.com/office/drawing/2014/main" id="{5795BA1E-57E6-0652-1E2F-3AEED7AF1557}"/>
              </a:ext>
            </a:extLst>
          </p:cNvPr>
          <p:cNvSpPr txBox="1"/>
          <p:nvPr/>
        </p:nvSpPr>
        <p:spPr>
          <a:xfrm>
            <a:off x="287336" y="1367877"/>
            <a:ext cx="4937760" cy="2556597"/>
          </a:xfrm>
          <a:prstGeom prst="rect">
            <a:avLst/>
          </a:prstGeom>
          <a:noFill/>
        </p:spPr>
        <p:txBody>
          <a:bodyPr wrap="square" rtlCol="0">
            <a:spAutoFit/>
          </a:bodyPr>
          <a:lstStyle/>
          <a:p>
            <a:pPr marL="206550" indent="-206550" defTabSz="308610">
              <a:spcBef>
                <a:spcPct val="20000"/>
              </a:spcBef>
              <a:spcAft>
                <a:spcPts val="405"/>
              </a:spcAft>
              <a:buClr>
                <a:schemeClr val="accent1"/>
              </a:buClr>
              <a:buSzPct val="92000"/>
              <a:buFont typeface="Wingdings 2" panose="05020102010507070707" pitchFamily="18" charset="2"/>
              <a:buChar char=""/>
            </a:pPr>
            <a:r>
              <a:rPr lang="en-US" altLang="zh-CN" sz="1200" dirty="0">
                <a:solidFill>
                  <a:schemeClr val="tx1">
                    <a:lumMod val="75000"/>
                    <a:lumOff val="25000"/>
                  </a:schemeClr>
                </a:solidFill>
              </a:rPr>
              <a:t>The polar plot shows the sky overhead, with your device in the center.</a:t>
            </a:r>
          </a:p>
          <a:p>
            <a:pPr marL="206550" indent="-206550" defTabSz="308610">
              <a:spcBef>
                <a:spcPct val="20000"/>
              </a:spcBef>
              <a:spcAft>
                <a:spcPts val="405"/>
              </a:spcAft>
              <a:buClr>
                <a:schemeClr val="accent1"/>
              </a:buClr>
              <a:buSzPct val="92000"/>
              <a:buFont typeface="Wingdings 2" panose="05020102010507070707" pitchFamily="18" charset="2"/>
              <a:buChar char=""/>
            </a:pPr>
            <a:r>
              <a:rPr lang="en-US" altLang="zh-CN" sz="1200" dirty="0">
                <a:solidFill>
                  <a:schemeClr val="tx1">
                    <a:lumMod val="75000"/>
                    <a:lumOff val="25000"/>
                  </a:schemeClr>
                </a:solidFill>
              </a:rPr>
              <a:t>Each dot = a satellite being tracked.</a:t>
            </a:r>
          </a:p>
          <a:p>
            <a:pPr marL="206550" indent="-206550" defTabSz="308610">
              <a:spcBef>
                <a:spcPct val="20000"/>
              </a:spcBef>
              <a:spcAft>
                <a:spcPts val="405"/>
              </a:spcAft>
              <a:buClr>
                <a:schemeClr val="accent1"/>
              </a:buClr>
              <a:buSzPct val="92000"/>
              <a:buFont typeface="Wingdings 2" panose="05020102010507070707" pitchFamily="18" charset="2"/>
              <a:buChar char=""/>
            </a:pPr>
            <a:r>
              <a:rPr lang="en-US" altLang="zh-CN" sz="1200" dirty="0">
                <a:solidFill>
                  <a:schemeClr val="tx1">
                    <a:lumMod val="75000"/>
                    <a:lumOff val="25000"/>
                  </a:schemeClr>
                </a:solidFill>
              </a:rPr>
              <a:t>Numbers inside the circles = satellite PRN numbers (identifiers).</a:t>
            </a:r>
          </a:p>
          <a:p>
            <a:pPr marL="206550" indent="-206550" defTabSz="308610">
              <a:spcBef>
                <a:spcPct val="20000"/>
              </a:spcBef>
              <a:spcAft>
                <a:spcPts val="405"/>
              </a:spcAft>
              <a:buClr>
                <a:schemeClr val="accent1"/>
              </a:buClr>
              <a:buSzPct val="92000"/>
              <a:buFont typeface="Wingdings 2" panose="05020102010507070707" pitchFamily="18" charset="2"/>
              <a:buChar char=""/>
            </a:pPr>
            <a:r>
              <a:rPr lang="en-US" altLang="zh-CN" sz="1200" dirty="0">
                <a:solidFill>
                  <a:schemeClr val="tx1">
                    <a:lumMod val="75000"/>
                    <a:lumOff val="25000"/>
                  </a:schemeClr>
                </a:solidFill>
              </a:rPr>
              <a:t>Position of the dot = where the satellite is in the sky (azimuth &amp; elevation).</a:t>
            </a:r>
          </a:p>
          <a:p>
            <a:pPr marL="206550" indent="-206550" defTabSz="308610">
              <a:spcBef>
                <a:spcPct val="20000"/>
              </a:spcBef>
              <a:spcAft>
                <a:spcPts val="405"/>
              </a:spcAft>
              <a:buClr>
                <a:schemeClr val="accent1"/>
              </a:buClr>
              <a:buSzPct val="92000"/>
              <a:buFont typeface="Wingdings 2" panose="05020102010507070707" pitchFamily="18" charset="2"/>
              <a:buChar char=""/>
            </a:pPr>
            <a:r>
              <a:rPr lang="en-US" altLang="zh-CN" sz="1200" dirty="0">
                <a:solidFill>
                  <a:schemeClr val="tx1">
                    <a:lumMod val="75000"/>
                    <a:lumOff val="25000"/>
                  </a:schemeClr>
                </a:solidFill>
              </a:rPr>
              <a:t>“Tracked: 9 Used: 5” at the bottom means:</a:t>
            </a:r>
          </a:p>
          <a:p>
            <a:pPr marL="663750" lvl="1" indent="-206550" defTabSz="308610">
              <a:spcBef>
                <a:spcPct val="20000"/>
              </a:spcBef>
              <a:spcAft>
                <a:spcPts val="405"/>
              </a:spcAft>
              <a:buClr>
                <a:schemeClr val="accent1"/>
              </a:buClr>
              <a:buSzPct val="92000"/>
              <a:buFont typeface="Wingdings" panose="05000000000000000000" pitchFamily="2" charset="2"/>
              <a:buChar char="Ø"/>
            </a:pPr>
            <a:r>
              <a:rPr lang="en-US" altLang="zh-CN" sz="1200" dirty="0">
                <a:solidFill>
                  <a:schemeClr val="tx1">
                    <a:lumMod val="75000"/>
                    <a:lumOff val="25000"/>
                  </a:schemeClr>
                </a:solidFill>
              </a:rPr>
              <a:t>9 satellites are visible</a:t>
            </a:r>
          </a:p>
          <a:p>
            <a:pPr marL="663750" lvl="1" indent="-206550" defTabSz="308610">
              <a:spcBef>
                <a:spcPct val="20000"/>
              </a:spcBef>
              <a:spcAft>
                <a:spcPts val="405"/>
              </a:spcAft>
              <a:buClr>
                <a:schemeClr val="accent1"/>
              </a:buClr>
              <a:buSzPct val="92000"/>
              <a:buFont typeface="Wingdings" panose="05000000000000000000" pitchFamily="2" charset="2"/>
              <a:buChar char="Ø"/>
            </a:pPr>
            <a:r>
              <a:rPr lang="en-US" altLang="zh-CN" sz="1200" dirty="0">
                <a:solidFill>
                  <a:schemeClr val="tx1">
                    <a:lumMod val="75000"/>
                    <a:lumOff val="25000"/>
                  </a:schemeClr>
                </a:solidFill>
              </a:rPr>
              <a:t>5 are actually being used in your position calculation</a:t>
            </a:r>
          </a:p>
          <a:p>
            <a:pPr marL="206550" indent="-206550" defTabSz="308610">
              <a:spcBef>
                <a:spcPct val="20000"/>
              </a:spcBef>
              <a:spcAft>
                <a:spcPts val="405"/>
              </a:spcAft>
              <a:buClr>
                <a:schemeClr val="accent1"/>
              </a:buClr>
              <a:buSzPct val="92000"/>
              <a:buFont typeface="Wingdings 2" panose="05020102010507070707" pitchFamily="18" charset="2"/>
              <a:buChar char=""/>
            </a:pPr>
            <a:r>
              <a:rPr lang="zh-CN" altLang="en-US" sz="1200" dirty="0">
                <a:solidFill>
                  <a:schemeClr val="tx1">
                    <a:lumMod val="75000"/>
                    <a:lumOff val="25000"/>
                  </a:schemeClr>
                </a:solidFill>
              </a:rPr>
              <a:t>👉 </a:t>
            </a:r>
            <a:r>
              <a:rPr lang="en-US" altLang="zh-CN" sz="1200" dirty="0">
                <a:solidFill>
                  <a:schemeClr val="tx1">
                    <a:lumMod val="75000"/>
                    <a:lumOff val="25000"/>
                  </a:schemeClr>
                </a:solidFill>
              </a:rPr>
              <a:t>This tells you how well the antenna is seeing the sky. If many satellites are visible and used, your accuracy improves.</a:t>
            </a:r>
            <a:endParaRPr lang="zh-CN" altLang="en-US" sz="1200" dirty="0">
              <a:solidFill>
                <a:schemeClr val="tx1">
                  <a:lumMod val="75000"/>
                  <a:lumOff val="25000"/>
                </a:schemeClr>
              </a:solidFill>
            </a:endParaRPr>
          </a:p>
        </p:txBody>
      </p:sp>
    </p:spTree>
    <p:extLst>
      <p:ext uri="{BB962C8B-B14F-4D97-AF65-F5344CB8AC3E}">
        <p14:creationId xmlns:p14="http://schemas.microsoft.com/office/powerpoint/2010/main" val="3525545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2A89E-24C8-CA12-845C-727631E88812}"/>
              </a:ext>
            </a:extLst>
          </p:cNvPr>
          <p:cNvSpPr>
            <a:spLocks noGrp="1"/>
          </p:cNvSpPr>
          <p:nvPr>
            <p:ph idx="1"/>
          </p:nvPr>
        </p:nvSpPr>
        <p:spPr>
          <a:xfrm>
            <a:off x="253589" y="1255014"/>
            <a:ext cx="5124575" cy="2633472"/>
          </a:xfrm>
        </p:spPr>
        <p:txBody>
          <a:bodyPr>
            <a:normAutofit/>
          </a:bodyPr>
          <a:lstStyle/>
          <a:p>
            <a:r>
              <a:rPr lang="en-US" altLang="zh-CN" sz="1200" dirty="0"/>
              <a:t>NMEA Data (NMEA tab)</a:t>
            </a:r>
          </a:p>
          <a:p>
            <a:r>
              <a:rPr lang="en-US" altLang="zh-CN" sz="1200" dirty="0"/>
              <a:t>NMEA = a standard GPS message format.</a:t>
            </a:r>
          </a:p>
          <a:p>
            <a:r>
              <a:rPr lang="en-US" altLang="zh-CN" sz="1200" dirty="0"/>
              <a:t>Each line starts with $ and a code that tells you what the sentence means. For example:</a:t>
            </a:r>
          </a:p>
          <a:p>
            <a:pPr lvl="1">
              <a:buFont typeface="Wingdings" panose="05000000000000000000" pitchFamily="2" charset="2"/>
              <a:buChar char="Ø"/>
            </a:pPr>
            <a:r>
              <a:rPr lang="en-US" altLang="zh-CN" sz="1200" dirty="0"/>
              <a:t>$GNGSA → GNSS DOP and active satellites (Dilution of Precision info).</a:t>
            </a:r>
          </a:p>
          <a:p>
            <a:pPr lvl="1">
              <a:buFont typeface="Wingdings" panose="05000000000000000000" pitchFamily="2" charset="2"/>
              <a:buChar char="Ø"/>
            </a:pPr>
            <a:r>
              <a:rPr lang="en-US" altLang="zh-CN" sz="1200" dirty="0"/>
              <a:t>$GNGGA → Fix data (time, latitude, longitude, altitude, fix quality).</a:t>
            </a:r>
          </a:p>
          <a:p>
            <a:pPr lvl="1">
              <a:buFont typeface="Wingdings" panose="05000000000000000000" pitchFamily="2" charset="2"/>
              <a:buChar char="Ø"/>
            </a:pPr>
            <a:r>
              <a:rPr lang="en-US" altLang="zh-CN" sz="1200" dirty="0"/>
              <a:t>$GNRMC → Recommended Minimum GPS Data (time, date, position, speed).</a:t>
            </a:r>
          </a:p>
          <a:p>
            <a:pPr lvl="1">
              <a:buFont typeface="Wingdings" panose="05000000000000000000" pitchFamily="2" charset="2"/>
              <a:buChar char="Ø"/>
            </a:pPr>
            <a:r>
              <a:rPr lang="en-US" altLang="zh-CN" sz="1200" dirty="0"/>
              <a:t>$GLGSV → Satellites in view (from GLONASS).</a:t>
            </a:r>
          </a:p>
          <a:p>
            <a:pPr>
              <a:buFont typeface="Wingdings" panose="05000000000000000000" pitchFamily="2" charset="2"/>
              <a:buChar char="n"/>
            </a:pPr>
            <a:r>
              <a:rPr lang="en-US" altLang="zh-CN" sz="1335" dirty="0"/>
              <a:t>Explore Start Recording</a:t>
            </a:r>
          </a:p>
        </p:txBody>
      </p:sp>
      <p:sp>
        <p:nvSpPr>
          <p:cNvPr id="4" name="Slide Number Placeholder 3">
            <a:extLst>
              <a:ext uri="{FF2B5EF4-FFF2-40B4-BE49-F238E27FC236}">
                <a16:creationId xmlns:a16="http://schemas.microsoft.com/office/drawing/2014/main" id="{BCBA5436-4BDB-3531-4F4E-F2E0E3FD1F7C}"/>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5" name="Title 1">
            <a:extLst>
              <a:ext uri="{FF2B5EF4-FFF2-40B4-BE49-F238E27FC236}">
                <a16:creationId xmlns:a16="http://schemas.microsoft.com/office/drawing/2014/main" id="{33A8B8D2-DFB2-A2E9-CCBB-F56433DDBC24}"/>
              </a:ext>
            </a:extLst>
          </p:cNvPr>
          <p:cNvSpPr txBox="1">
            <a:spLocks/>
          </p:cNvSpPr>
          <p:nvPr/>
        </p:nvSpPr>
        <p:spPr>
          <a:xfrm>
            <a:off x="392306" y="358977"/>
            <a:ext cx="7444991" cy="471603"/>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000" dirty="0">
                <a:solidFill>
                  <a:srgbClr val="7030A0"/>
                </a:solidFill>
              </a:rPr>
              <a:t>In-Class Activity: Exploring GNSS with </a:t>
            </a:r>
            <a:r>
              <a:rPr lang="en-US" altLang="zh-CN" sz="2000" dirty="0" err="1">
                <a:solidFill>
                  <a:srgbClr val="7030A0"/>
                </a:solidFill>
              </a:rPr>
              <a:t>SatLook</a:t>
            </a:r>
            <a:endParaRPr lang="zh-CN" altLang="en-US" sz="2000" dirty="0">
              <a:solidFill>
                <a:srgbClr val="7030A0"/>
              </a:solidFill>
            </a:endParaRPr>
          </a:p>
        </p:txBody>
      </p:sp>
      <p:pic>
        <p:nvPicPr>
          <p:cNvPr id="7" name="Picture 6" descr="A screenshot of a computer&#10;&#10;AI-generated content may be incorrect.">
            <a:extLst>
              <a:ext uri="{FF2B5EF4-FFF2-40B4-BE49-F238E27FC236}">
                <a16:creationId xmlns:a16="http://schemas.microsoft.com/office/drawing/2014/main" id="{F07DE8F6-AB1D-657E-F8F7-2D12BFFDDE9E}"/>
              </a:ext>
            </a:extLst>
          </p:cNvPr>
          <p:cNvPicPr>
            <a:picLocks noChangeAspect="1"/>
          </p:cNvPicPr>
          <p:nvPr/>
        </p:nvPicPr>
        <p:blipFill>
          <a:blip r:embed="rId2"/>
          <a:stretch>
            <a:fillRect/>
          </a:stretch>
        </p:blipFill>
        <p:spPr>
          <a:xfrm>
            <a:off x="5655596" y="830580"/>
            <a:ext cx="2181701" cy="3878580"/>
          </a:xfrm>
          <a:prstGeom prst="rect">
            <a:avLst/>
          </a:prstGeom>
        </p:spPr>
      </p:pic>
    </p:spTree>
    <p:extLst>
      <p:ext uri="{BB962C8B-B14F-4D97-AF65-F5344CB8AC3E}">
        <p14:creationId xmlns:p14="http://schemas.microsoft.com/office/powerpoint/2010/main" val="3346982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graph&#10;&#10;AI-generated content may be incorrect.">
            <a:extLst>
              <a:ext uri="{FF2B5EF4-FFF2-40B4-BE49-F238E27FC236}">
                <a16:creationId xmlns:a16="http://schemas.microsoft.com/office/drawing/2014/main" id="{5868A7F6-FCAF-81CB-C867-C47B4EA201B4}"/>
              </a:ext>
            </a:extLst>
          </p:cNvPr>
          <p:cNvPicPr>
            <a:picLocks noGrp="1" noChangeAspect="1"/>
          </p:cNvPicPr>
          <p:nvPr>
            <p:ph idx="1"/>
          </p:nvPr>
        </p:nvPicPr>
        <p:blipFill>
          <a:blip r:embed="rId2"/>
          <a:stretch>
            <a:fillRect/>
          </a:stretch>
        </p:blipFill>
        <p:spPr>
          <a:xfrm>
            <a:off x="5436067" y="855890"/>
            <a:ext cx="2214413" cy="3936736"/>
          </a:xfrm>
        </p:spPr>
      </p:pic>
      <p:sp>
        <p:nvSpPr>
          <p:cNvPr id="4" name="Slide Number Placeholder 3">
            <a:extLst>
              <a:ext uri="{FF2B5EF4-FFF2-40B4-BE49-F238E27FC236}">
                <a16:creationId xmlns:a16="http://schemas.microsoft.com/office/drawing/2014/main" id="{BABB1224-F71C-FD78-343D-4929AEBDD738}"/>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7" name="Title 1">
            <a:extLst>
              <a:ext uri="{FF2B5EF4-FFF2-40B4-BE49-F238E27FC236}">
                <a16:creationId xmlns:a16="http://schemas.microsoft.com/office/drawing/2014/main" id="{5FC29C91-691F-5292-D901-30A0BCAF2169}"/>
              </a:ext>
            </a:extLst>
          </p:cNvPr>
          <p:cNvSpPr txBox="1">
            <a:spLocks/>
          </p:cNvSpPr>
          <p:nvPr/>
        </p:nvSpPr>
        <p:spPr>
          <a:xfrm>
            <a:off x="392306" y="358977"/>
            <a:ext cx="7444991" cy="471603"/>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000" dirty="0">
                <a:solidFill>
                  <a:srgbClr val="7030A0"/>
                </a:solidFill>
              </a:rPr>
              <a:t>In-Class Activity: Exploring GNSS with </a:t>
            </a:r>
            <a:r>
              <a:rPr lang="en-US" altLang="zh-CN" sz="2000" dirty="0" err="1">
                <a:solidFill>
                  <a:srgbClr val="7030A0"/>
                </a:solidFill>
              </a:rPr>
              <a:t>SatLook</a:t>
            </a:r>
            <a:endParaRPr lang="zh-CN" altLang="en-US" sz="2000" dirty="0">
              <a:solidFill>
                <a:srgbClr val="7030A0"/>
              </a:solidFill>
            </a:endParaRPr>
          </a:p>
        </p:txBody>
      </p:sp>
      <p:sp>
        <p:nvSpPr>
          <p:cNvPr id="8" name="TextBox 7">
            <a:extLst>
              <a:ext uri="{FF2B5EF4-FFF2-40B4-BE49-F238E27FC236}">
                <a16:creationId xmlns:a16="http://schemas.microsoft.com/office/drawing/2014/main" id="{9B3B75D5-2D02-4B4E-3DED-303579A9F17E}"/>
              </a:ext>
            </a:extLst>
          </p:cNvPr>
          <p:cNvSpPr txBox="1"/>
          <p:nvPr/>
        </p:nvSpPr>
        <p:spPr>
          <a:xfrm>
            <a:off x="502920" y="1663809"/>
            <a:ext cx="4297680" cy="1815882"/>
          </a:xfrm>
          <a:prstGeom prst="rect">
            <a:avLst/>
          </a:prstGeom>
          <a:noFill/>
        </p:spPr>
        <p:txBody>
          <a:bodyPr wrap="square" rtlCol="0">
            <a:spAutoFit/>
          </a:bodyPr>
          <a:lstStyle/>
          <a:p>
            <a:r>
              <a:rPr lang="en-US" altLang="zh-CN" sz="1400" dirty="0"/>
              <a:t>SNR = Signal-to-Noise Ratio</a:t>
            </a:r>
          </a:p>
          <a:p>
            <a:endParaRPr lang="en-US" altLang="zh-CN" sz="1400" dirty="0"/>
          </a:p>
          <a:p>
            <a:r>
              <a:rPr lang="en-US" altLang="zh-CN" sz="1400" dirty="0"/>
              <a:t>SNR measures how strong and clean the satellite’s signal is compared to background noise.</a:t>
            </a:r>
          </a:p>
          <a:p>
            <a:endParaRPr lang="en-US" altLang="zh-CN" sz="1400" dirty="0"/>
          </a:p>
          <a:p>
            <a:r>
              <a:rPr lang="en-US" altLang="zh-CN" sz="1400" dirty="0"/>
              <a:t>Units: dB-Hz (decibels relative to 1 Hz).</a:t>
            </a:r>
          </a:p>
          <a:p>
            <a:endParaRPr lang="en-US" altLang="zh-CN" sz="1400" dirty="0"/>
          </a:p>
          <a:p>
            <a:r>
              <a:rPr lang="en-US" altLang="zh-CN" sz="1400" dirty="0"/>
              <a:t>Higher = better (stronger, clearer signal).</a:t>
            </a:r>
            <a:endParaRPr lang="zh-CN" altLang="en-US" sz="1400" dirty="0"/>
          </a:p>
        </p:txBody>
      </p:sp>
    </p:spTree>
    <p:extLst>
      <p:ext uri="{BB962C8B-B14F-4D97-AF65-F5344CB8AC3E}">
        <p14:creationId xmlns:p14="http://schemas.microsoft.com/office/powerpoint/2010/main" val="1294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C717D-A1F0-36D1-D8F2-6EB46B16B9CE}"/>
              </a:ext>
            </a:extLst>
          </p:cNvPr>
          <p:cNvSpPr>
            <a:spLocks noGrp="1"/>
          </p:cNvSpPr>
          <p:nvPr>
            <p:ph type="title"/>
          </p:nvPr>
        </p:nvSpPr>
        <p:spPr>
          <a:xfrm>
            <a:off x="392305" y="526617"/>
            <a:ext cx="7444991" cy="418263"/>
          </a:xfrm>
        </p:spPr>
        <p:txBody>
          <a:bodyPr/>
          <a:lstStyle/>
          <a:p>
            <a:r>
              <a:rPr lang="en-US" altLang="zh-CN" sz="2000" dirty="0">
                <a:solidFill>
                  <a:srgbClr val="7030A0"/>
                </a:solidFill>
              </a:rPr>
              <a:t>In class activity</a:t>
            </a:r>
            <a:endParaRPr lang="zh-CN" altLang="en-US" sz="2000" dirty="0">
              <a:solidFill>
                <a:srgbClr val="7030A0"/>
              </a:solidFill>
            </a:endParaRPr>
          </a:p>
        </p:txBody>
      </p:sp>
      <p:sp>
        <p:nvSpPr>
          <p:cNvPr id="3" name="Content Placeholder 2">
            <a:extLst>
              <a:ext uri="{FF2B5EF4-FFF2-40B4-BE49-F238E27FC236}">
                <a16:creationId xmlns:a16="http://schemas.microsoft.com/office/drawing/2014/main" id="{29151E6C-5FB6-5D71-31AA-01A3A2F00797}"/>
              </a:ext>
            </a:extLst>
          </p:cNvPr>
          <p:cNvSpPr>
            <a:spLocks noGrp="1"/>
          </p:cNvSpPr>
          <p:nvPr>
            <p:ph idx="1"/>
          </p:nvPr>
        </p:nvSpPr>
        <p:spPr>
          <a:xfrm>
            <a:off x="392307" y="982980"/>
            <a:ext cx="7444990" cy="2735580"/>
          </a:xfrm>
        </p:spPr>
        <p:txBody>
          <a:bodyPr>
            <a:noAutofit/>
          </a:bodyPr>
          <a:lstStyle/>
          <a:p>
            <a:r>
              <a:rPr lang="en-US" altLang="zh-CN" sz="1600" dirty="0"/>
              <a:t>For optimal GNSS reception, hold the handheld at 15° from horizontal allowing it visibility of the sky. </a:t>
            </a:r>
          </a:p>
          <a:p>
            <a:r>
              <a:rPr lang="en-US" altLang="zh-CN" sz="1600" dirty="0"/>
              <a:t>When collecting point data with a TDC100 handheld, it is recommended that you remain stationary at the point for at least 10 seconds before beginning to log GNSS positions. </a:t>
            </a:r>
          </a:p>
          <a:p>
            <a:r>
              <a:rPr lang="en-US" altLang="zh-CN" sz="1600" dirty="0"/>
              <a:t>This allows the GNSS receiver’s internal algorithms to stabilize, and ensures the best possible point feature accuracy</a:t>
            </a:r>
            <a:endParaRPr lang="zh-CN" altLang="en-US" sz="1600" dirty="0"/>
          </a:p>
        </p:txBody>
      </p:sp>
      <p:sp>
        <p:nvSpPr>
          <p:cNvPr id="4" name="Slide Number Placeholder 3">
            <a:extLst>
              <a:ext uri="{FF2B5EF4-FFF2-40B4-BE49-F238E27FC236}">
                <a16:creationId xmlns:a16="http://schemas.microsoft.com/office/drawing/2014/main" id="{64B62200-57D0-1127-987C-99A7C1BC77D7}"/>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1060793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3A4D7-69DC-E1E8-9B73-5C4261EDDAEF}"/>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71648C00-FC69-5CE5-87DA-9EEAE9836966}"/>
              </a:ext>
            </a:extLst>
          </p:cNvPr>
          <p:cNvSpPr>
            <a:spLocks noGrp="1"/>
          </p:cNvSpPr>
          <p:nvPr>
            <p:ph idx="1"/>
          </p:nvPr>
        </p:nvSpPr>
        <p:spPr/>
        <p:txBody>
          <a:bodyPr/>
          <a:lstStyle/>
          <a:p>
            <a:r>
              <a:rPr lang="en-US" altLang="zh-CN" dirty="0"/>
              <a:t>To use the GNSS receiver: 1. In the Apps screen, tap Settings then tap Location. 2. Slide the Location slider to On. 3. Tap Mode then select the mode you want the device to use to determine your location: l High accuracy. Uses GNSS satellites, WLAN, and cellular networks to determine your location. l Battery saving. Uses WLAN and cellular networks to determine your location. l Device only. Uses GNSS only to determine your location. 4. Tap NMEA output to turn it on or off. 5. Tap SBAS mode to turn it on or off. 6. Tap Location mode then select the Location mode you want the device to use (GPS + BDS; GPS + GLONASS; GPS only). 7. Tap Update rate to modify the update rate of the GNSS solution. Two settings are available; 1s and 2s. By default the receiver is set to 2s but it is recommended that you use 1s to maximize reactivity of any GNSS applications.</a:t>
            </a:r>
            <a:endParaRPr lang="zh-CN" altLang="en-US" dirty="0"/>
          </a:p>
        </p:txBody>
      </p:sp>
      <p:sp>
        <p:nvSpPr>
          <p:cNvPr id="4" name="Slide Number Placeholder 3">
            <a:extLst>
              <a:ext uri="{FF2B5EF4-FFF2-40B4-BE49-F238E27FC236}">
                <a16:creationId xmlns:a16="http://schemas.microsoft.com/office/drawing/2014/main" id="{44F7B7CF-D1D6-40F9-DC78-CA7321180948}"/>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368391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DC8C5-FECA-BD40-2288-90941E0BC430}"/>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4A84AAEF-5F81-5F14-1331-4A618E284901}"/>
              </a:ext>
            </a:extLst>
          </p:cNvPr>
          <p:cNvSpPr>
            <a:spLocks noGrp="1"/>
          </p:cNvSpPr>
          <p:nvPr>
            <p:ph idx="1"/>
          </p:nvPr>
        </p:nvSpPr>
        <p:spPr/>
        <p:txBody>
          <a:bodyPr/>
          <a:lstStyle/>
          <a:p>
            <a:r>
              <a:rPr lang="en-US" altLang="zh-CN" dirty="0"/>
              <a:t>The TDC100 handheld achieves optimal GNSS results when used with the Trimble </a:t>
            </a:r>
            <a:r>
              <a:rPr lang="en-US" altLang="zh-CN" dirty="0" err="1"/>
              <a:t>TerraFlex</a:t>
            </a:r>
            <a:r>
              <a:rPr lang="en-US" altLang="zh-CN" dirty="0"/>
              <a:t>™ software (available mid-August 2016).</a:t>
            </a:r>
            <a:endParaRPr lang="zh-CN" altLang="en-US" dirty="0"/>
          </a:p>
        </p:txBody>
      </p:sp>
      <p:sp>
        <p:nvSpPr>
          <p:cNvPr id="4" name="Slide Number Placeholder 3">
            <a:extLst>
              <a:ext uri="{FF2B5EF4-FFF2-40B4-BE49-F238E27FC236}">
                <a16:creationId xmlns:a16="http://schemas.microsoft.com/office/drawing/2014/main" id="{521D5864-379C-7EB6-0BC5-686D1AD5E3F0}"/>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1626013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AC2C-7EC0-AA45-1C3D-58061895B019}"/>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813C6F3A-399B-FBA1-E4CC-3333590A3973}"/>
              </a:ext>
            </a:extLst>
          </p:cNvPr>
          <p:cNvSpPr>
            <a:spLocks noGrp="1"/>
          </p:cNvSpPr>
          <p:nvPr>
            <p:ph idx="1"/>
          </p:nvPr>
        </p:nvSpPr>
        <p:spPr/>
        <p:txBody>
          <a:bodyPr/>
          <a:lstStyle/>
          <a:p>
            <a:r>
              <a:rPr lang="en-US" altLang="zh-CN" b="1" dirty="0"/>
              <a:t>How to access the photo gallery</a:t>
            </a:r>
          </a:p>
          <a:p>
            <a:r>
              <a:rPr lang="en-US" altLang="zh-CN" dirty="0"/>
              <a:t>Connect TDC100 to your computer with a USB cable.</a:t>
            </a:r>
          </a:p>
          <a:p>
            <a:r>
              <a:rPr lang="en-US" altLang="zh-CN" dirty="0"/>
              <a:t>On the TDC100 screen, swipe down from the top → you’ll see a notification like </a:t>
            </a:r>
            <a:r>
              <a:rPr lang="en-US" altLang="zh-CN" b="1" dirty="0"/>
              <a:t>“USB charging this device.”</a:t>
            </a:r>
            <a:endParaRPr lang="en-US" altLang="zh-CN" dirty="0"/>
          </a:p>
          <a:p>
            <a:r>
              <a:rPr lang="en-US" altLang="zh-CN" dirty="0"/>
              <a:t>Tap the notification → select </a:t>
            </a:r>
            <a:r>
              <a:rPr lang="en-US" altLang="zh-CN" b="1" dirty="0"/>
              <a:t>File Transfer (MTP)</a:t>
            </a:r>
            <a:r>
              <a:rPr lang="en-US" altLang="zh-CN" dirty="0"/>
              <a:t> or </a:t>
            </a:r>
            <a:r>
              <a:rPr lang="en-US" altLang="zh-CN" b="1" dirty="0"/>
              <a:t>Media Transfer</a:t>
            </a:r>
            <a:r>
              <a:rPr lang="en-US" altLang="zh-CN" dirty="0"/>
              <a:t>.</a:t>
            </a:r>
          </a:p>
          <a:p>
            <a:r>
              <a:rPr lang="en-US" altLang="zh-CN" dirty="0"/>
              <a:t>Now, on your computer, open </a:t>
            </a:r>
            <a:r>
              <a:rPr lang="en-US" altLang="zh-CN" b="1" dirty="0"/>
              <a:t>This PC → TDC100 → Internal Storage → pictures</a:t>
            </a:r>
            <a:r>
              <a:rPr lang="en-US" altLang="zh-CN" dirty="0"/>
              <a:t>.</a:t>
            </a:r>
          </a:p>
          <a:p>
            <a:pPr lvl="1"/>
            <a:r>
              <a:rPr lang="en-US" altLang="zh-CN" dirty="0"/>
              <a:t>Your photos and screenshots should be there.</a:t>
            </a:r>
          </a:p>
          <a:p>
            <a:endParaRPr lang="zh-CN" altLang="en-US" dirty="0"/>
          </a:p>
        </p:txBody>
      </p:sp>
      <p:sp>
        <p:nvSpPr>
          <p:cNvPr id="4" name="Slide Number Placeholder 3">
            <a:extLst>
              <a:ext uri="{FF2B5EF4-FFF2-40B4-BE49-F238E27FC236}">
                <a16:creationId xmlns:a16="http://schemas.microsoft.com/office/drawing/2014/main" id="{1941403D-B3B2-B544-3771-BDEEBDAECB9F}"/>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697722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t>
            </a:r>
            <a:r>
              <a:rPr lang="en-US" altLang="zh-CN" sz="3200" dirty="0">
                <a:solidFill>
                  <a:srgbClr val="7030A0"/>
                </a:solidFill>
              </a:rPr>
              <a:t>eceiver hardware</a:t>
            </a:r>
            <a:endParaRPr lang="en-US" sz="2600" dirty="0">
              <a:solidFill>
                <a:srgbClr val="7030A0"/>
              </a:solidFill>
            </a:endParaRPr>
          </a:p>
        </p:txBody>
      </p:sp>
      <p:sp>
        <p:nvSpPr>
          <p:cNvPr id="8" name="Content Placeholder 2">
            <a:extLst>
              <a:ext uri="{FF2B5EF4-FFF2-40B4-BE49-F238E27FC236}">
                <a16:creationId xmlns:a16="http://schemas.microsoft.com/office/drawing/2014/main" id="{B39E6661-3EBE-4587-AE2F-09CE39F6F0DD}"/>
              </a:ext>
            </a:extLst>
          </p:cNvPr>
          <p:cNvSpPr>
            <a:spLocks noGrp="1"/>
          </p:cNvSpPr>
          <p:nvPr>
            <p:ph idx="1"/>
          </p:nvPr>
        </p:nvSpPr>
        <p:spPr>
          <a:xfrm>
            <a:off x="118533" y="1030151"/>
            <a:ext cx="7825317" cy="1111070"/>
          </a:xfrm>
        </p:spPr>
        <p:txBody>
          <a:bodyPr>
            <a:normAutofit/>
          </a:bodyPr>
          <a:lstStyle/>
          <a:p>
            <a:pPr>
              <a:spcBef>
                <a:spcPts val="0"/>
              </a:spcBef>
              <a:buFont typeface="Courier New" panose="02070309020205020404" pitchFamily="49" charset="0"/>
              <a:buChar char="o"/>
            </a:pPr>
            <a:r>
              <a:rPr lang="en-US" dirty="0"/>
              <a:t>Many functional elements present within a GPS receiver hardware</a:t>
            </a:r>
          </a:p>
          <a:p>
            <a:pPr lvl="1">
              <a:spcBef>
                <a:spcPts val="0"/>
              </a:spcBef>
              <a:buFont typeface="Wingdings" panose="05000000000000000000" pitchFamily="2" charset="2"/>
              <a:buChar char="ü"/>
            </a:pPr>
            <a:r>
              <a:rPr lang="en-US" dirty="0"/>
              <a:t>Filters, Amplifier, Frequency unit, Process unit</a:t>
            </a:r>
          </a:p>
          <a:p>
            <a:pPr>
              <a:spcBef>
                <a:spcPts val="0"/>
              </a:spcBef>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9" name="Picture 8">
            <a:extLst>
              <a:ext uri="{FF2B5EF4-FFF2-40B4-BE49-F238E27FC236}">
                <a16:creationId xmlns:a16="http://schemas.microsoft.com/office/drawing/2014/main" id="{80A2E9F9-2A8B-42F4-9295-FC1D7BB8019B}"/>
              </a:ext>
            </a:extLst>
          </p:cNvPr>
          <p:cNvPicPr>
            <a:picLocks noChangeAspect="1"/>
          </p:cNvPicPr>
          <p:nvPr/>
        </p:nvPicPr>
        <p:blipFill>
          <a:blip r:embed="rId3"/>
          <a:stretch>
            <a:fillRect/>
          </a:stretch>
        </p:blipFill>
        <p:spPr>
          <a:xfrm>
            <a:off x="2382988" y="2436993"/>
            <a:ext cx="3539824" cy="2583396"/>
          </a:xfrm>
          <a:prstGeom prst="rect">
            <a:avLst/>
          </a:prstGeom>
        </p:spPr>
      </p:pic>
      <p:sp>
        <p:nvSpPr>
          <p:cNvPr id="10" name="Rectangle 9">
            <a:extLst>
              <a:ext uri="{FF2B5EF4-FFF2-40B4-BE49-F238E27FC236}">
                <a16:creationId xmlns:a16="http://schemas.microsoft.com/office/drawing/2014/main" id="{C8E39AE1-D75B-4F34-80D5-574D16647649}"/>
              </a:ext>
            </a:extLst>
          </p:cNvPr>
          <p:cNvSpPr/>
          <p:nvPr/>
        </p:nvSpPr>
        <p:spPr>
          <a:xfrm>
            <a:off x="2570205" y="3076832"/>
            <a:ext cx="580768" cy="60548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E73E86-79D2-42CE-9E92-69128DA3E9E6}"/>
              </a:ext>
            </a:extLst>
          </p:cNvPr>
          <p:cNvSpPr/>
          <p:nvPr/>
        </p:nvSpPr>
        <p:spPr>
          <a:xfrm>
            <a:off x="3227475" y="3076832"/>
            <a:ext cx="580768" cy="605482"/>
          </a:xfrm>
          <a:prstGeom prst="rect">
            <a:avLst/>
          </a:prstGeom>
          <a:no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E0CF17-C1F5-4E9F-89EB-F630AE579A42}"/>
              </a:ext>
            </a:extLst>
          </p:cNvPr>
          <p:cNvSpPr/>
          <p:nvPr/>
        </p:nvSpPr>
        <p:spPr>
          <a:xfrm>
            <a:off x="3862392" y="2571750"/>
            <a:ext cx="1920569" cy="1541600"/>
          </a:xfrm>
          <a:prstGeom prst="rect">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E242180-F701-481B-B083-90918A951194}"/>
              </a:ext>
            </a:extLst>
          </p:cNvPr>
          <p:cNvSpPr txBox="1"/>
          <p:nvPr/>
        </p:nvSpPr>
        <p:spPr>
          <a:xfrm>
            <a:off x="5233686" y="4850571"/>
            <a:ext cx="1587244" cy="246221"/>
          </a:xfrm>
          <a:prstGeom prst="rect">
            <a:avLst/>
          </a:prstGeom>
          <a:noFill/>
        </p:spPr>
        <p:txBody>
          <a:bodyPr wrap="square" rtlCol="0">
            <a:spAutoFit/>
          </a:bodyPr>
          <a:lstStyle/>
          <a:p>
            <a:r>
              <a:rPr lang="en-US" sz="1000" dirty="0">
                <a:solidFill>
                  <a:srgbClr val="7030A0"/>
                </a:solidFill>
              </a:rPr>
              <a:t>Kaplan &amp; Hegarty, 2006</a:t>
            </a:r>
          </a:p>
        </p:txBody>
      </p:sp>
    </p:spTree>
    <p:extLst>
      <p:ext uri="{BB962C8B-B14F-4D97-AF65-F5344CB8AC3E}">
        <p14:creationId xmlns:p14="http://schemas.microsoft.com/office/powerpoint/2010/main" val="195631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Week04_GEOG3319_FieldMap</Template>
  <TotalTime>9382</TotalTime>
  <Words>1537</Words>
  <Application>Microsoft Office PowerPoint</Application>
  <PresentationFormat>Custom</PresentationFormat>
  <Paragraphs>177</Paragraphs>
  <Slides>26</Slides>
  <Notes>9</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26</vt:i4>
      </vt:variant>
    </vt:vector>
  </HeadingPairs>
  <TitlesOfParts>
    <vt:vector size="38" baseType="lpstr">
      <vt:lpstr>Arial</vt:lpstr>
      <vt:lpstr>Arial Black</vt:lpstr>
      <vt:lpstr>Calibri</vt:lpstr>
      <vt:lpstr>Courier New</vt:lpstr>
      <vt:lpstr>Wingdings</vt:lpstr>
      <vt:lpstr>Wingdings 2</vt:lpstr>
      <vt:lpstr>3_DividendVTI</vt:lpstr>
      <vt:lpstr>2_DividendVTI</vt:lpstr>
      <vt:lpstr>DividendVTI</vt:lpstr>
      <vt:lpstr>1_DividendVTI</vt:lpstr>
      <vt:lpstr>5_DividendVTI</vt:lpstr>
      <vt:lpstr>6_DividendVTI</vt:lpstr>
      <vt:lpstr>WEEK 06 GPS Receiver gps augmentation  lecture</vt:lpstr>
      <vt:lpstr>6.1  Attribute table</vt:lpstr>
      <vt:lpstr>PowerPoint Presentation</vt:lpstr>
      <vt:lpstr>PowerPoint Presentation</vt:lpstr>
      <vt:lpstr>PowerPoint Presentation</vt:lpstr>
      <vt:lpstr>Global Navigation Satellite Systems (GNSS)</vt:lpstr>
      <vt:lpstr>PowerPoint Presentation</vt:lpstr>
      <vt:lpstr>PowerPoint Presentation</vt:lpstr>
      <vt:lpstr>PowerPoint Presentation</vt:lpstr>
      <vt:lpstr>PowerPoint Presentation</vt:lpstr>
      <vt:lpstr>PowerPoint Presentation</vt:lpstr>
      <vt:lpstr>PowerPoint Presentation</vt:lpstr>
      <vt:lpstr>Processor</vt:lpstr>
      <vt:lpstr>I/O (Input/Output)</vt:lpstr>
      <vt:lpstr>Control Display Unit</vt:lpstr>
      <vt:lpstr>Trimble tdc 100 series handheld overview</vt:lpstr>
      <vt:lpstr>In-Class Activity: Exploring GNSS with SatLook</vt:lpstr>
      <vt:lpstr>PowerPoint Presentation</vt:lpstr>
      <vt:lpstr>PowerPoint Presentation</vt:lpstr>
      <vt:lpstr>PowerPoint Presentation</vt:lpstr>
      <vt:lpstr>In class activity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416</cp:revision>
  <dcterms:created xsi:type="dcterms:W3CDTF">2020-07-26T21:20:11Z</dcterms:created>
  <dcterms:modified xsi:type="dcterms:W3CDTF">2025-09-23T01:28:48Z</dcterms:modified>
</cp:coreProperties>
</file>