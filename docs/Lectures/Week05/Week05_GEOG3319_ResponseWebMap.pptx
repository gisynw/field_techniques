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672" r:id="rId2"/>
    <p:sldMasterId id="2147483684" r:id="rId3"/>
    <p:sldMasterId id="2147483697" r:id="rId4"/>
  </p:sldMasterIdLst>
  <p:notesMasterIdLst>
    <p:notesMasterId r:id="rId15"/>
  </p:notesMasterIdLst>
  <p:sldIdLst>
    <p:sldId id="914" r:id="rId5"/>
    <p:sldId id="1647" r:id="rId6"/>
    <p:sldId id="1648" r:id="rId7"/>
    <p:sldId id="1650" r:id="rId8"/>
    <p:sldId id="1651" r:id="rId9"/>
    <p:sldId id="1649" r:id="rId10"/>
    <p:sldId id="1652" r:id="rId11"/>
    <p:sldId id="1653" r:id="rId12"/>
    <p:sldId id="1654" r:id="rId13"/>
    <p:sldId id="270" r:id="rId14"/>
  </p:sldIdLst>
  <p:sldSz cx="8229600" cy="51435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5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3969" autoAdjust="0"/>
  </p:normalViewPr>
  <p:slideViewPr>
    <p:cSldViewPr snapToGrid="0" snapToObjects="1">
      <p:cViewPr varScale="1">
        <p:scale>
          <a:sx n="146" d="100"/>
          <a:sy n="146" d="100"/>
        </p:scale>
        <p:origin x="1014" y="114"/>
      </p:cViewPr>
      <p:guideLst>
        <p:guide orient="horz" pos="1620"/>
        <p:guide pos="259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66C520B4-85AA-9542-8CF7-3D2DDCE6041D}" type="datetimeFigureOut">
              <a:rPr lang="en-US" smtClean="0"/>
              <a:pPr/>
              <a:t>9/15/2025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696913"/>
            <a:ext cx="5578475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6507943-197E-CE46-82F0-5A323A24AE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73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007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C3EF4-AD61-48A1-B51C-86BBC26A07EE}" type="datetime1">
              <a:rPr lang="en-US" smtClean="0"/>
              <a:t>9/15/2025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265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E9FF5-A3A3-421D-9FE4-C97ACA9B4B66}" type="datetime1">
              <a:rPr lang="en-US" smtClean="0"/>
              <a:t>9/15/2025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27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74F4B-9A6E-4B50-BE3E-090D5038F3B5}" type="datetime1">
              <a:rPr lang="en-US" smtClean="0"/>
              <a:t>9/15/2025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250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9AE4F-ECA9-4391-85A0-0BDC121BC912}" type="datetime1">
              <a:rPr lang="en-US" smtClean="0"/>
              <a:t>9/15/2025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145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F0038-C403-4E4E-A358-F4B6321C12F5}" type="datetime1">
              <a:rPr lang="en-US" smtClean="0"/>
              <a:t>9/15/2025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118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52514-E107-4B51-A0E4-6CCBE2731D63}" type="datetime1">
              <a:rPr lang="en-US" smtClean="0"/>
              <a:t>9/15/2025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692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5C0F4-646D-457B-9990-7D4E2FD4A597}" type="datetime1">
              <a:rPr lang="en-US" smtClean="0"/>
              <a:t>9/15/2025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4778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8E4477A8-A506-4192-A810-B96D85416BE8}" type="datetime1">
              <a:rPr lang="en-US" smtClean="0"/>
              <a:t>9/15/2025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808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01744-7364-4EA9-A9E9-43D8A126DBDD}" type="datetime1">
              <a:rPr lang="en-US" smtClean="0"/>
              <a:t>9/15/2025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08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992A1-5616-4927-9B49-E60372E9FC72}" type="datetime1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583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DECA2-35DB-4F3A-8A04-28A5742D3AB4}" type="datetime1">
              <a:rPr lang="en-US" smtClean="0"/>
              <a:t>9/15/2025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6260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C3EF4-AD61-48A1-B51C-86BBC26A07EE}" type="datetime1">
              <a:rPr lang="en-US" smtClean="0"/>
              <a:t>9/15/2025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338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E9FF5-A3A3-421D-9FE4-C97ACA9B4B66}" type="datetime1">
              <a:rPr lang="en-US" smtClean="0"/>
              <a:t>9/15/2025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0545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74F4B-9A6E-4B50-BE3E-090D5038F3B5}" type="datetime1">
              <a:rPr lang="en-US" smtClean="0"/>
              <a:t>9/15/2025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9682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9AE4F-ECA9-4391-85A0-0BDC121BC912}" type="datetime1">
              <a:rPr lang="en-US" smtClean="0"/>
              <a:t>9/15/2025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3618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F0038-C403-4E4E-A358-F4B6321C12F5}" type="datetime1">
              <a:rPr lang="en-US" smtClean="0"/>
              <a:t>9/15/2025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2267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52514-E107-4B51-A0E4-6CCBE2731D63}" type="datetime1">
              <a:rPr lang="en-US" smtClean="0"/>
              <a:t>9/15/2025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3405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5C0F4-646D-457B-9990-7D4E2FD4A597}" type="datetime1">
              <a:rPr lang="en-US" smtClean="0"/>
              <a:t>9/15/2025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95695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8E4477A8-A506-4192-A810-B96D85416BE8}" type="datetime1">
              <a:rPr lang="en-US" smtClean="0"/>
              <a:t>9/15/2025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6780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01744-7364-4EA9-A9E9-43D8A126DBDD}" type="datetime1">
              <a:rPr lang="en-US" smtClean="0"/>
              <a:t>9/15/2025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69641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992A1-5616-4927-9B49-E60372E9FC72}" type="datetime1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61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DECA2-35DB-4F3A-8A04-28A5742D3AB4}" type="datetime1">
              <a:rPr lang="en-US" smtClean="0"/>
              <a:t>9/15/2025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5862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3141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89947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7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8080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621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8263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9317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3656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58803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409780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8568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8764491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78093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51410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35500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657176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0801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9807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645019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037307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01230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26463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849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3D9F797-665E-490A-B876-3E21189284AA}" type="datetime1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13088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3D9F797-665E-490A-B876-3E21189284AA}" type="datetime1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81538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17543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39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oc.arcgis.com/en/arcgis-storymaps/gallery/" TargetMode="Externa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doc.arcgis.com/en/dashboards/gallery/" TargetMode="Externa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doc.arcgis.com/en/instant-apps/gallery/" TargetMode="Externa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esri.com/arcgis-blog/products/experience-builder/announcements/arcgis-experience-builder-showcased-web-apps-of-2023" TargetMode="Externa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hyperlink" Target="https://hub-lewisville.opendata.arcgis.com/" TargetMode="External"/><Relationship Id="rId1" Type="http://schemas.openxmlformats.org/officeDocument/2006/relationships/slideLayout" Target="../slideLayouts/slideLayout24.xml"/><Relationship Id="rId6" Type="http://schemas.openxmlformats.org/officeDocument/2006/relationships/hyperlink" Target="https://data-conwayargis.opendata.arcgis.com/" TargetMode="External"/><Relationship Id="rId5" Type="http://schemas.openxmlformats.org/officeDocument/2006/relationships/image" Target="../media/image7.png"/><Relationship Id="rId4" Type="http://schemas.openxmlformats.org/officeDocument/2006/relationships/hyperlink" Target="https://gis.dallascityhall.com/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5485B9-8EE1-447A-9C08-F7D6B532A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57176"/>
            <a:ext cx="8229599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 descr="A colorful background with waves&#10;&#10;Description automatically generated with medium confidence">
            <a:extLst>
              <a:ext uri="{FF2B5EF4-FFF2-40B4-BE49-F238E27FC236}">
                <a16:creationId xmlns:a16="http://schemas.microsoft.com/office/drawing/2014/main" id="{1734BD9E-DDD5-C150-8BA0-0B1B13AE06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111"/>
          <a:stretch/>
        </p:blipFill>
        <p:spPr>
          <a:xfrm>
            <a:off x="13" y="257175"/>
            <a:ext cx="8229587" cy="462914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963707F-B98C-4143-AFCF-D6B56C975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6990" y="565785"/>
            <a:ext cx="3382366" cy="617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D2DFBB-460D-4ECB-BD76-509C99DAD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018" y="662983"/>
            <a:ext cx="3381337" cy="39078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3439C-E1CA-A039-1552-7B23AB700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990" y="672325"/>
            <a:ext cx="3846545" cy="1997675"/>
          </a:xfrm>
        </p:spPr>
        <p:txBody>
          <a:bodyPr>
            <a:normAutofit fontScale="90000"/>
          </a:bodyPr>
          <a:lstStyle/>
          <a:p>
            <a:r>
              <a:rPr lang="en-US" sz="2700" dirty="0">
                <a:solidFill>
                  <a:srgbClr val="FFFFFF"/>
                </a:solidFill>
              </a:rPr>
              <a:t>WEEK 04 </a:t>
            </a:r>
            <a:br>
              <a:rPr lang="en-US" sz="2700" dirty="0">
                <a:solidFill>
                  <a:srgbClr val="FFFFFF"/>
                </a:solidFill>
              </a:rPr>
            </a:br>
            <a:br>
              <a:rPr lang="en-US" sz="2700" dirty="0">
                <a:solidFill>
                  <a:srgbClr val="FFFFFF"/>
                </a:solidFill>
              </a:rPr>
            </a:br>
            <a:r>
              <a:rPr lang="en-US" sz="2700" dirty="0" err="1">
                <a:solidFill>
                  <a:srgbClr val="FFFFFF"/>
                </a:solidFill>
              </a:rPr>
              <a:t>arcgis</a:t>
            </a:r>
            <a:r>
              <a:rPr lang="en-US" sz="2700" dirty="0">
                <a:solidFill>
                  <a:srgbClr val="FFFFFF"/>
                </a:solidFill>
              </a:rPr>
              <a:t> field map</a:t>
            </a:r>
            <a:br>
              <a:rPr lang="en-US" sz="2700" dirty="0">
                <a:solidFill>
                  <a:srgbClr val="FFFFFF"/>
                </a:solidFill>
              </a:rPr>
            </a:br>
            <a:br>
              <a:rPr lang="en-US" sz="2700" dirty="0">
                <a:solidFill>
                  <a:srgbClr val="FFFFFF"/>
                </a:solidFill>
              </a:rPr>
            </a:br>
            <a:r>
              <a:rPr lang="en-US" sz="2700" dirty="0">
                <a:solidFill>
                  <a:srgbClr val="FFFFFF"/>
                </a:solidFill>
              </a:rPr>
              <a:t>lecture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D6AEC8-AD7D-2F2A-F638-325ACB8C9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8018" y="3000092"/>
            <a:ext cx="2916154" cy="1537292"/>
          </a:xfrm>
        </p:spPr>
        <p:txBody>
          <a:bodyPr>
            <a:noAutofit/>
          </a:bodyPr>
          <a:lstStyle/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Instructor: Yanan Wu</a:t>
            </a:r>
          </a:p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890" dirty="0" err="1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fALL</a:t>
            </a:r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2025</a:t>
            </a:r>
          </a:p>
          <a:p>
            <a:endParaRPr lang="en-US" sz="1890" dirty="0">
              <a:solidFill>
                <a:srgbClr val="FFFFFF">
                  <a:alpha val="75000"/>
                </a:srgb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9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1301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CF4EB5C-ED25-4675-8255-2F5B12CFF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0" y="565785"/>
            <a:ext cx="2499741" cy="641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14EC6E-A557-42A2-BCDC-3ABFFC5E5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28449" y="563384"/>
            <a:ext cx="2499741" cy="6652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05482C9-EB42-4BFE-95BF-7FD661F0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3235" y="565785"/>
            <a:ext cx="2499741" cy="6172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539E646-A625-4A26-86ED-BD90EDD329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1" y="2340066"/>
            <a:ext cx="7626779" cy="22532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39171204-6A50-40E1-B631-84CEDFC93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7175"/>
            <a:ext cx="8229600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6C973F6-5187-412F-AACC-6E3FF8A6A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3999" y="592623"/>
            <a:ext cx="746661" cy="395532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1AE14F-1B7E-41E6-B579-2F71D1350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78" y="592621"/>
            <a:ext cx="6723707" cy="248269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78BAB5-C1DE-8DAD-E76F-BECA6F24C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8258" y="735412"/>
            <a:ext cx="6492542" cy="2247787"/>
          </a:xfrm>
        </p:spPr>
        <p:txBody>
          <a:bodyPr vert="horz" lIns="61722" tIns="30861" rIns="61722" bIns="30861" rtlCol="0" anchor="ctr">
            <a:normAutofit/>
          </a:bodyPr>
          <a:lstStyle/>
          <a:p>
            <a:r>
              <a:rPr lang="en-US" sz="4050" dirty="0">
                <a:solidFill>
                  <a:srgbClr val="FFFFFF"/>
                </a:solidFill>
              </a:rPr>
              <a:t>4.1 </a:t>
            </a:r>
            <a:br>
              <a:rPr lang="en-US" sz="4050" dirty="0">
                <a:solidFill>
                  <a:srgbClr val="FFFFFF"/>
                </a:solidFill>
              </a:rPr>
            </a:br>
            <a:r>
              <a:rPr lang="en-US" sz="4050" dirty="0">
                <a:solidFill>
                  <a:srgbClr val="FFFFFF"/>
                </a:solidFill>
              </a:rPr>
              <a:t>introduction 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52BB805-F7B7-4B80-A1C5-385D4DAF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33" y="3149018"/>
            <a:ext cx="6723753" cy="1398925"/>
          </a:xfrm>
          <a:prstGeom prst="rect">
            <a:avLst/>
          </a:prstGeom>
          <a:solidFill>
            <a:srgbClr val="6C7781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951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376BE-052B-BF9B-5F0E-AE0378EDB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459629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Response web-map</a:t>
            </a:r>
            <a:endParaRPr lang="zh-CN" alt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000E3-4113-4749-7EF7-012E7EEE9F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834" y="1026414"/>
            <a:ext cx="6792686" cy="309067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/>
              <a:t>Browser-based web apps generally require an internet connection to function adequately, but when connected with sufficient bandwidth, they can effectively deliver and collect data from the field.</a:t>
            </a:r>
          </a:p>
          <a:p>
            <a:pPr>
              <a:lnSpc>
                <a:spcPct val="150000"/>
              </a:lnSpc>
            </a:pPr>
            <a:r>
              <a:rPr lang="en-US" altLang="zh-CN" sz="1400" dirty="0"/>
              <a:t>Designed to adjust their layouts to accommodate the smaller screen sizes of mobile devices, ensuring a smooth user experience for field operations. </a:t>
            </a:r>
          </a:p>
          <a:p>
            <a:pPr>
              <a:lnSpc>
                <a:spcPct val="150000"/>
              </a:lnSpc>
            </a:pPr>
            <a:r>
              <a:rPr lang="en-US" altLang="zh-CN" sz="1400" dirty="0"/>
              <a:t>They are commonly used for data review in office settings using desktop browsers. </a:t>
            </a:r>
          </a:p>
          <a:p>
            <a:pPr>
              <a:lnSpc>
                <a:spcPct val="150000"/>
              </a:lnSpc>
            </a:pPr>
            <a:r>
              <a:rPr lang="en-US" altLang="zh-CN" sz="1400" dirty="0"/>
              <a:t>This versatility makes web apps a crucial component of the Mobile GIS workflow and an important option for field use.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70833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64029-E2BD-BB11-3609-70158D060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454771"/>
            <a:ext cx="7444991" cy="427976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Configurable web app template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858B-D769-1373-9B74-BDD089C33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4" y="961124"/>
            <a:ext cx="7444990" cy="1954203"/>
          </a:xfrm>
        </p:spPr>
        <p:txBody>
          <a:bodyPr>
            <a:normAutofit/>
          </a:bodyPr>
          <a:lstStyle/>
          <a:p>
            <a:r>
              <a:rPr lang="en-US" altLang="zh-CN" sz="1400" dirty="0"/>
              <a:t>ArcGIS </a:t>
            </a:r>
            <a:r>
              <a:rPr lang="en-US" altLang="zh-CN" sz="1400" dirty="0" err="1"/>
              <a:t>StoryMaps</a:t>
            </a:r>
            <a:r>
              <a:rPr lang="en-US" altLang="zh-CN" sz="1400" dirty="0"/>
              <a:t>: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Allows users to craft interactive stories by combining maps with narrative text, images, and multimedia content.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This tool is designed to engage and inspire audiences with geographically enriched storytelling, making it perfect for educational purposes, advocacy, and public engagement.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ArcGIS </a:t>
            </a:r>
            <a:r>
              <a:rPr lang="en-US" altLang="zh-CN" sz="1400" dirty="0" err="1"/>
              <a:t>StoryMaps</a:t>
            </a:r>
            <a:r>
              <a:rPr lang="en-US" altLang="zh-CN" sz="1400" dirty="0"/>
              <a:t> provides a user-friendly interface that helps you connect with your audience through compelling geographic narratives.</a:t>
            </a:r>
            <a:endParaRPr lang="en-US" sz="1400" dirty="0"/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6629CCE3-6F1F-EAD6-94C5-D35B7ACC7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514" y="2993704"/>
            <a:ext cx="4696097" cy="17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12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1C307-F554-08B8-001B-0DCC08D7C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6" y="467834"/>
            <a:ext cx="7444991" cy="458121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rgbClr val="7030A0"/>
                </a:solidFill>
              </a:rPr>
              <a:t>Configurable web app template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8045F-FCCE-5C78-E375-F60A5DA83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7" y="925955"/>
            <a:ext cx="7444990" cy="1568849"/>
          </a:xfrm>
        </p:spPr>
        <p:txBody>
          <a:bodyPr>
            <a:normAutofit/>
          </a:bodyPr>
          <a:lstStyle/>
          <a:p>
            <a:r>
              <a:rPr lang="en-US" altLang="zh-CN" sz="1400" dirty="0">
                <a:solidFill>
                  <a:schemeClr val="tx1"/>
                </a:solidFill>
              </a:rPr>
              <a:t>Dashboards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>
                <a:solidFill>
                  <a:schemeClr val="tx1"/>
                </a:solidFill>
              </a:rPr>
              <a:t>Displays geographic information as interactive maps, charts, gauges, and more, allowing for real-time data visualization and awareness at a glance.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>
                <a:solidFill>
                  <a:schemeClr val="tx1"/>
                </a:solidFill>
              </a:rPr>
              <a:t>Dashboards are widely used in emergency management, public services, and business operations to provide insights.</a:t>
            </a:r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7D64998A-9C64-C698-16B0-AFC26EC72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943" y="2494804"/>
            <a:ext cx="5264331" cy="2366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63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0DCA2-F853-5F77-468E-98F0E2B16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413909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Configurable web app template</a:t>
            </a:r>
            <a:endParaRPr lang="zh-CN" alt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4BB31-DF73-A2B6-AF60-0D246C5CD1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4" y="1076380"/>
            <a:ext cx="7444990" cy="1771323"/>
          </a:xfrm>
        </p:spPr>
        <p:txBody>
          <a:bodyPr>
            <a:normAutofit/>
          </a:bodyPr>
          <a:lstStyle/>
          <a:p>
            <a:r>
              <a:rPr lang="en-US" altLang="zh-CN" sz="1400" dirty="0"/>
              <a:t>Instant Apps: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Enables users to quickly design and deploy web apps tailored to specific tasks and audiences.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The template-driven tools require minimal configuration, making it easier for users to visualize, present, and share geographic information.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sz="1400" dirty="0"/>
              <a:t>Instant Apps are ideal for projects requiring simple functions, rapid deployment, and straightforward user interfaces.</a:t>
            </a:r>
            <a:endParaRPr lang="zh-CN" altLang="en-US" sz="1400" dirty="0"/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85B428B6-FE01-999A-4236-E7D59C490F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1012" y="2847703"/>
            <a:ext cx="5009606" cy="189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100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C6FB7-E627-5EB1-ABBE-717D5C86F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434504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Configurable web app template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BA07D-E06D-FE80-D065-607CBC4C1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6" y="1081529"/>
            <a:ext cx="7444990" cy="1955347"/>
          </a:xfrm>
        </p:spPr>
        <p:txBody>
          <a:bodyPr>
            <a:noAutofit/>
          </a:bodyPr>
          <a:lstStyle/>
          <a:p>
            <a:r>
              <a:rPr lang="en-US" sz="1400" dirty="0"/>
              <a:t>Experience Builder: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/>
              <a:t>Offers a flexible and advanced approach to creating web apps with rich data and rich user experiences.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/>
              <a:t>With drag-and-drop functionality, users can integrate maps, text, images, and other widgets into fully responsive layouts that work across all devices.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/>
              <a:t>Experience Builder is designed for those who want to customize and extend their web applications beyond standard templates.</a:t>
            </a:r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C0078395-6B20-CFA9-17C6-181B5EF7E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5498" y="3036876"/>
            <a:ext cx="4518604" cy="1948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058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70B0C-667D-E92B-778A-A0097EEF6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420440"/>
          </a:xfrm>
        </p:spPr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</a:rPr>
              <a:t>Configurable web app template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FF743-C5DE-B39B-0EA7-533370F9E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304" y="1017597"/>
            <a:ext cx="7444990" cy="1686415"/>
          </a:xfrm>
        </p:spPr>
        <p:txBody>
          <a:bodyPr/>
          <a:lstStyle/>
          <a:p>
            <a:r>
              <a:rPr lang="en-US" altLang="zh-CN" dirty="0">
                <a:solidFill>
                  <a:schemeClr val="tx1"/>
                </a:solidFill>
              </a:rPr>
              <a:t>Hub: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chemeClr val="tx1"/>
                </a:solidFill>
              </a:rPr>
              <a:t>An engagement platform that enables organizations to connect with their communities through open data, web apps, and interactive initiatives.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chemeClr val="tx1"/>
                </a:solidFill>
              </a:rPr>
              <a:t>It supports collaboration between government, the private sector, and the public to tackle community challenges effectively.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chemeClr val="tx1"/>
                </a:solidFill>
              </a:rPr>
              <a:t>By facilitating easier access to data and tools, Hub helps foster a more informed and involved community, advancing public awareness and participation.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DE12C3FE-86AC-296A-4385-2992FBC56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445" y="2965270"/>
            <a:ext cx="4265023" cy="2083908"/>
          </a:xfrm>
          <a:prstGeom prst="rect">
            <a:avLst/>
          </a:prstGeom>
        </p:spPr>
      </p:pic>
      <p:pic>
        <p:nvPicPr>
          <p:cNvPr id="7" name="Picture 6">
            <a:hlinkClick r:id="rId4"/>
            <a:extLst>
              <a:ext uri="{FF2B5EF4-FFF2-40B4-BE49-F238E27FC236}">
                <a16:creationId xmlns:a16="http://schemas.microsoft.com/office/drawing/2014/main" id="{1F00645F-8743-EBDF-18B2-713EAD87B1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559" y="2965270"/>
            <a:ext cx="2936616" cy="1910018"/>
          </a:xfrm>
          <a:prstGeom prst="rect">
            <a:avLst/>
          </a:prstGeom>
        </p:spPr>
      </p:pic>
      <p:pic>
        <p:nvPicPr>
          <p:cNvPr id="9" name="Picture 8">
            <a:hlinkClick r:id="rId6"/>
            <a:extLst>
              <a:ext uri="{FF2B5EF4-FFF2-40B4-BE49-F238E27FC236}">
                <a16:creationId xmlns:a16="http://schemas.microsoft.com/office/drawing/2014/main" id="{9D256423-C6E6-3A7D-8957-9ABD4D4A39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6335" y="2965270"/>
            <a:ext cx="2783247" cy="209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147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0E850-505C-AF0A-E950-581E253A0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407377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</a:rPr>
              <a:t>web app templates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4D9E1FC-1967-A7D7-0715-1D9249D6B1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999003" y="1124794"/>
            <a:ext cx="6231593" cy="3617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1557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71305" y="1325254"/>
            <a:ext cx="3286989" cy="830997"/>
          </a:xfrm>
          <a:prstGeom prst="rect">
            <a:avLst/>
          </a:prstGeom>
          <a:noFill/>
        </p:spPr>
        <p:txBody>
          <a:bodyPr wrap="none" lIns="82296" tIns="41148" rIns="82296" bIns="41148">
            <a:spAutoFit/>
          </a:bodyPr>
          <a:lstStyle/>
          <a:p>
            <a:pPr algn="ctr"/>
            <a:r>
              <a:rPr lang="en-US" sz="4860" b="1" spc="180" dirty="0">
                <a:ln w="29210">
                  <a:solidFill>
                    <a:schemeClr val="accent3">
                      <a:tint val="10000"/>
                    </a:schemeClr>
                  </a:solidFill>
                </a:ln>
                <a:solidFill>
                  <a:srgbClr val="008000">
                    <a:alpha val="50000"/>
                  </a:srgbClr>
                </a:solidFill>
                <a:effectLst>
                  <a:innerShdw blurRad="50800" dist="50800" dir="8100000">
                    <a:srgbClr val="7D7D7D">
                      <a:alpha val="73000"/>
                    </a:srgbClr>
                  </a:innerShdw>
                </a:effectLst>
              </a:rPr>
              <a:t>Thank you!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3C9EAE-E5B7-4784-94CD-D062E17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 descr="Geography department logo">
            <a:extLst>
              <a:ext uri="{FF2B5EF4-FFF2-40B4-BE49-F238E27FC236}">
                <a16:creationId xmlns:a16="http://schemas.microsoft.com/office/drawing/2014/main" id="{32DE135F-68C6-4911-85BA-92ABB3F9F85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52400" y="4275667"/>
            <a:ext cx="5915025" cy="75819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DF13BC-3A5F-4415-94E6-85FAF42998C9}"/>
              </a:ext>
            </a:extLst>
          </p:cNvPr>
          <p:cNvCxnSpPr/>
          <p:nvPr/>
        </p:nvCxnSpPr>
        <p:spPr>
          <a:xfrm>
            <a:off x="152400" y="4182575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223018"/>
      </p:ext>
    </p:extLst>
  </p:cSld>
  <p:clrMapOvr>
    <a:masterClrMapping/>
  </p:clrMapOvr>
</p:sld>
</file>

<file path=ppt/theme/theme1.xml><?xml version="1.0" encoding="utf-8"?>
<a:theme xmlns:a="http://schemas.openxmlformats.org/drawingml/2006/main" name="2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1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4.xml><?xml version="1.0" encoding="utf-8"?>
<a:theme xmlns:a="http://schemas.openxmlformats.org/drawingml/2006/main" name="3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Week03_GEOG3319_Suvery123</Template>
  <TotalTime>3529</TotalTime>
  <Words>443</Words>
  <Application>Microsoft Office PowerPoint</Application>
  <PresentationFormat>Custom</PresentationFormat>
  <Paragraphs>38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Arial</vt:lpstr>
      <vt:lpstr>Arial Black</vt:lpstr>
      <vt:lpstr>Calibri</vt:lpstr>
      <vt:lpstr>Wingdings</vt:lpstr>
      <vt:lpstr>Wingdings 2</vt:lpstr>
      <vt:lpstr>2_DividendVTI</vt:lpstr>
      <vt:lpstr>DividendVTI</vt:lpstr>
      <vt:lpstr>1_DividendVTI</vt:lpstr>
      <vt:lpstr>3_DividendVTI</vt:lpstr>
      <vt:lpstr>WEEK 04   arcgis field map  lecture</vt:lpstr>
      <vt:lpstr>4.1  introduction </vt:lpstr>
      <vt:lpstr>Response web-map</vt:lpstr>
      <vt:lpstr>Configurable web app template</vt:lpstr>
      <vt:lpstr>Configurable web app template</vt:lpstr>
      <vt:lpstr>Configurable web app template</vt:lpstr>
      <vt:lpstr>Configurable web app template</vt:lpstr>
      <vt:lpstr>Configurable web app template</vt:lpstr>
      <vt:lpstr>web app templates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Geographic Field Techniques</dc:title>
  <dc:creator>Yaqian He</dc:creator>
  <cp:lastModifiedBy>Yanan Wu</cp:lastModifiedBy>
  <cp:revision>107</cp:revision>
  <dcterms:created xsi:type="dcterms:W3CDTF">2020-07-26T21:20:11Z</dcterms:created>
  <dcterms:modified xsi:type="dcterms:W3CDTF">2025-09-16T03:59:49Z</dcterms:modified>
</cp:coreProperties>
</file>