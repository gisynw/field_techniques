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3" r:id="rId2"/>
  </p:sldMasterIdLst>
  <p:notesMasterIdLst>
    <p:notesMasterId r:id="rId25"/>
  </p:notesMasterIdLst>
  <p:sldIdLst>
    <p:sldId id="914" r:id="rId3"/>
    <p:sldId id="1647" r:id="rId4"/>
    <p:sldId id="449" r:id="rId5"/>
    <p:sldId id="1649" r:id="rId6"/>
    <p:sldId id="1651" r:id="rId7"/>
    <p:sldId id="1652" r:id="rId8"/>
    <p:sldId id="1661" r:id="rId9"/>
    <p:sldId id="1653" r:id="rId10"/>
    <p:sldId id="1654" r:id="rId11"/>
    <p:sldId id="1655" r:id="rId12"/>
    <p:sldId id="592" r:id="rId13"/>
    <p:sldId id="1656" r:id="rId14"/>
    <p:sldId id="591" r:id="rId15"/>
    <p:sldId id="1657" r:id="rId16"/>
    <p:sldId id="1658" r:id="rId17"/>
    <p:sldId id="1659" r:id="rId18"/>
    <p:sldId id="1660" r:id="rId19"/>
    <p:sldId id="658" r:id="rId20"/>
    <p:sldId id="1648" r:id="rId21"/>
    <p:sldId id="1650" r:id="rId22"/>
    <p:sldId id="1662" r:id="rId23"/>
    <p:sldId id="919"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5" d="100"/>
          <a:sy n="95" d="100"/>
        </p:scale>
        <p:origin x="11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177616-8C77-4C41-B55F-F205E689F129}" type="datetimeFigureOut">
              <a:rPr lang="en-US" smtClean="0"/>
              <a:t>8/24/2025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9A20324-739D-4E0C-9336-87AA17CCA423}" type="slidenum">
              <a:rPr lang="en-US" smtClean="0"/>
              <a:t>‹#›</a:t>
            </a:fld>
            <a:endParaRPr lang="en-US"/>
          </a:p>
        </p:txBody>
      </p:sp>
    </p:spTree>
    <p:extLst>
      <p:ext uri="{BB962C8B-B14F-4D97-AF65-F5344CB8AC3E}">
        <p14:creationId xmlns:p14="http://schemas.microsoft.com/office/powerpoint/2010/main" val="24344777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90000"/>
              </a:lnSpc>
            </a:pPr>
            <a:r>
              <a:rPr lang="en-US" sz="1600" dirty="0">
                <a:solidFill>
                  <a:schemeClr val="tx2"/>
                </a:solidFill>
              </a:rPr>
              <a:t>Next, let us go to the history of modern GIS.</a:t>
            </a:r>
          </a:p>
          <a:p>
            <a:pPr>
              <a:lnSpc>
                <a:spcPct val="90000"/>
              </a:lnSpc>
            </a:pPr>
            <a:endParaRPr lang="en-US" sz="1600" b="1" dirty="0">
              <a:solidFill>
                <a:schemeClr val="tx2"/>
              </a:solidFill>
            </a:endParaRPr>
          </a:p>
          <a:p>
            <a:pPr>
              <a:lnSpc>
                <a:spcPct val="90000"/>
              </a:lnSpc>
            </a:pPr>
            <a:r>
              <a:rPr lang="en-US" sz="1600" b="1" dirty="0">
                <a:solidFill>
                  <a:schemeClr val="tx2"/>
                </a:solidFill>
              </a:rPr>
              <a:t>During the early 1960s, </a:t>
            </a:r>
            <a:r>
              <a:rPr lang="en-US" sz="1600" dirty="0">
                <a:solidFill>
                  <a:schemeClr val="tx2"/>
                </a:solidFill>
              </a:rPr>
              <a:t>GIS started as computers and early concepts of quantitative and computational geography emerged.</a:t>
            </a:r>
            <a:r>
              <a:rPr lang="en-US" sz="1600" b="1" dirty="0">
                <a:solidFill>
                  <a:schemeClr val="tx2"/>
                </a:solidFill>
              </a:rPr>
              <a:t>  </a:t>
            </a:r>
            <a:r>
              <a:rPr lang="en-US" dirty="0">
                <a:solidFill>
                  <a:schemeClr val="tx2"/>
                </a:solidFill>
              </a:rPr>
              <a:t>Dr. Roger Tomlinson </a:t>
            </a:r>
            <a:r>
              <a:rPr lang="en-US" dirty="0"/>
              <a:t>has been acknowledged as the "father of GIS.“ His work on creating a manageable inventory of Canadian natural resources during 1960s is the first computerized GIS in the world. He also gave GIS its name.</a:t>
            </a:r>
            <a:endParaRPr lang="en-US" dirty="0">
              <a:solidFill>
                <a:schemeClr val="tx2"/>
              </a:solidFill>
            </a:endParaRPr>
          </a:p>
          <a:p>
            <a:pPr>
              <a:lnSpc>
                <a:spcPct val="90000"/>
              </a:lnSpc>
            </a:pPr>
            <a:endParaRPr lang="en-US" sz="1600" b="1" dirty="0">
              <a:solidFill>
                <a:schemeClr val="tx2"/>
              </a:solidFill>
            </a:endParaRPr>
          </a:p>
          <a:p>
            <a:pPr>
              <a:lnSpc>
                <a:spcPct val="90000"/>
              </a:lnSpc>
            </a:pPr>
            <a:r>
              <a:rPr lang="en-US" sz="1600" b="1" dirty="0">
                <a:solidFill>
                  <a:schemeClr val="tx2"/>
                </a:solidFill>
              </a:rPr>
              <a:t>1965: </a:t>
            </a:r>
            <a:r>
              <a:rPr lang="en-US" sz="1600" dirty="0">
                <a:solidFill>
                  <a:schemeClr val="tx2"/>
                </a:solidFill>
              </a:rPr>
              <a:t>Mr. Howard Fisher,</a:t>
            </a:r>
            <a:r>
              <a:rPr lang="en-US" dirty="0"/>
              <a:t> a Chicago architect,</a:t>
            </a:r>
            <a:r>
              <a:rPr lang="en-US" sz="1600" dirty="0">
                <a:solidFill>
                  <a:schemeClr val="tx2"/>
                </a:solidFill>
              </a:rPr>
              <a:t> established the Harvard Laboratory for Computer Graphics. Some of the first computer map-making software was created and refined at the Lab, such as one of the first mapping software SYMAP. Many of the early concepts of GIS and applications were also conceived at the lab.</a:t>
            </a:r>
          </a:p>
          <a:p>
            <a:pPr>
              <a:lnSpc>
                <a:spcPct val="90000"/>
              </a:lnSpc>
            </a:pPr>
            <a:endParaRPr lang="en-US" sz="1600" b="1" dirty="0">
              <a:solidFill>
                <a:schemeClr val="tx2"/>
              </a:solidFill>
            </a:endParaRPr>
          </a:p>
          <a:p>
            <a:pPr>
              <a:lnSpc>
                <a:spcPct val="90000"/>
              </a:lnSpc>
            </a:pPr>
            <a:r>
              <a:rPr lang="en-US" sz="1600" b="1" dirty="0">
                <a:solidFill>
                  <a:schemeClr val="tx2"/>
                </a:solidFill>
              </a:rPr>
              <a:t>1969: </a:t>
            </a:r>
            <a:r>
              <a:rPr lang="en-US" dirty="0">
                <a:solidFill>
                  <a:schemeClr val="tx2"/>
                </a:solidFill>
              </a:rPr>
              <a:t>Jack </a:t>
            </a:r>
            <a:r>
              <a:rPr lang="en-US" dirty="0" err="1">
                <a:solidFill>
                  <a:schemeClr val="tx2"/>
                </a:solidFill>
              </a:rPr>
              <a:t>Dangermond</a:t>
            </a:r>
            <a:r>
              <a:rPr lang="en-US" dirty="0">
                <a:solidFill>
                  <a:schemeClr val="tx2"/>
                </a:solidFill>
              </a:rPr>
              <a:t>, a member of the Harvard Lab and his wife Laura founded ESRI (Environmental Systems Research Institute). This consulting firm applied this computer mapping and spatial analysis to help land use planners and land resource managers make informed decisions. Now it develops and cover almost entire sectors. ERSI also developed toolboxes and work-flows, which are now standard of GIS. The ArcGIS created by ESRI are the most popular GIS software. </a:t>
            </a:r>
          </a:p>
          <a:p>
            <a:pPr>
              <a:lnSpc>
                <a:spcPct val="90000"/>
              </a:lnSpc>
            </a:pPr>
            <a:endParaRPr lang="en-US" dirty="0">
              <a:solidFill>
                <a:schemeClr val="tx2"/>
              </a:solidFill>
            </a:endParaRPr>
          </a:p>
          <a:p>
            <a:pPr>
              <a:lnSpc>
                <a:spcPct val="90000"/>
              </a:lnSpc>
            </a:pPr>
            <a:r>
              <a:rPr lang="en-US" sz="1600" b="1" dirty="0">
                <a:solidFill>
                  <a:schemeClr val="tx2"/>
                </a:solidFill>
              </a:rPr>
              <a:t>1970s:</a:t>
            </a:r>
            <a:r>
              <a:rPr lang="en-US" sz="1600" dirty="0">
                <a:solidFill>
                  <a:schemeClr val="tx2"/>
                </a:solidFill>
              </a:rPr>
              <a:t> During the era of satellite</a:t>
            </a:r>
            <a:r>
              <a:rPr lang="en-US" sz="1600" b="1" dirty="0">
                <a:solidFill>
                  <a:schemeClr val="tx2"/>
                </a:solidFill>
              </a:rPr>
              <a:t>, </a:t>
            </a:r>
            <a:r>
              <a:rPr lang="en-US" sz="1600" dirty="0">
                <a:solidFill>
                  <a:schemeClr val="tx2"/>
                </a:solidFill>
              </a:rPr>
              <a:t>starting around early 1970s</a:t>
            </a:r>
            <a:r>
              <a:rPr lang="en-US" sz="1600" b="1" dirty="0">
                <a:solidFill>
                  <a:schemeClr val="tx2"/>
                </a:solidFill>
              </a:rPr>
              <a:t>, </a:t>
            </a:r>
            <a:r>
              <a:rPr lang="en-US" dirty="0">
                <a:solidFill>
                  <a:schemeClr val="tx2"/>
                </a:solidFill>
              </a:rPr>
              <a:t>National agencies, such as NOAA and NASA developed very quickly to capture data from space.</a:t>
            </a:r>
          </a:p>
          <a:p>
            <a:pPr>
              <a:lnSpc>
                <a:spcPct val="90000"/>
              </a:lnSpc>
            </a:pPr>
            <a:endParaRPr lang="en-US" dirty="0">
              <a:solidFill>
                <a:schemeClr val="tx2"/>
              </a:solidFill>
            </a:endParaRPr>
          </a:p>
          <a:p>
            <a:pPr>
              <a:lnSpc>
                <a:spcPct val="90000"/>
              </a:lnSpc>
            </a:pPr>
            <a:r>
              <a:rPr lang="en-US" sz="1600" b="1" dirty="0">
                <a:solidFill>
                  <a:schemeClr val="tx2"/>
                </a:solidFill>
              </a:rPr>
              <a:t>1980s: </a:t>
            </a:r>
            <a:r>
              <a:rPr lang="en-US" dirty="0">
                <a:solidFill>
                  <a:schemeClr val="tx2"/>
                </a:solidFill>
              </a:rPr>
              <a:t>Commercial GIS emerged, such as the Arc/Info, the first commercial GIS software and </a:t>
            </a:r>
            <a:r>
              <a:rPr lang="en-US" dirty="0"/>
              <a:t> Mapping Display and Analysis System (the first desktop GIS product)</a:t>
            </a:r>
            <a:r>
              <a:rPr lang="en-US" dirty="0">
                <a:solidFill>
                  <a:schemeClr val="tx2"/>
                </a:solidFill>
              </a:rPr>
              <a:t> developed by </a:t>
            </a:r>
            <a:r>
              <a:rPr lang="en-US" dirty="0" err="1">
                <a:solidFill>
                  <a:schemeClr val="tx2"/>
                </a:solidFill>
              </a:rPr>
              <a:t>Manpinfo</a:t>
            </a:r>
            <a:r>
              <a:rPr lang="en-US" dirty="0">
                <a:solidFill>
                  <a:schemeClr val="tx2"/>
                </a:solidFill>
              </a:rPr>
              <a:t> cooperation.</a:t>
            </a:r>
          </a:p>
          <a:p>
            <a:pPr>
              <a:lnSpc>
                <a:spcPct val="90000"/>
              </a:lnSpc>
            </a:pPr>
            <a:endParaRPr lang="en-US" sz="1600" b="1" dirty="0">
              <a:solidFill>
                <a:schemeClr val="tx2"/>
              </a:solidFill>
            </a:endParaRPr>
          </a:p>
          <a:p>
            <a:pPr>
              <a:lnSpc>
                <a:spcPct val="90000"/>
              </a:lnSpc>
            </a:pPr>
            <a:r>
              <a:rPr lang="en-US" b="1" dirty="0"/>
              <a:t>Begin 1990s</a:t>
            </a:r>
            <a:r>
              <a:rPr lang="en-US" sz="1600" b="1" dirty="0">
                <a:solidFill>
                  <a:schemeClr val="tx2"/>
                </a:solidFill>
              </a:rPr>
              <a:t>: </a:t>
            </a:r>
            <a:r>
              <a:rPr lang="en-US" dirty="0">
                <a:solidFill>
                  <a:schemeClr val="tx2"/>
                </a:solidFill>
              </a:rPr>
              <a:t>Users started to explore GIS data through internet and mobile phone. And some open source software, such as QGIS is developing.</a:t>
            </a:r>
          </a:p>
          <a:p>
            <a:endParaRPr lang="en-US" dirty="0"/>
          </a:p>
          <a:p>
            <a:r>
              <a:rPr lang="en-US" b="1" dirty="0"/>
              <a:t>In the future: </a:t>
            </a:r>
            <a:r>
              <a:rPr lang="en-US" dirty="0"/>
              <a:t>Web and cloud computing GIS will continue developing. Integration with real-time information via the Internet of Things, GIS will become more dynamics.</a:t>
            </a:r>
          </a:p>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3</a:t>
            </a:fld>
            <a:endParaRPr lang="en-US"/>
          </a:p>
        </p:txBody>
      </p:sp>
    </p:spTree>
    <p:extLst>
      <p:ext uri="{BB962C8B-B14F-4D97-AF65-F5344CB8AC3E}">
        <p14:creationId xmlns:p14="http://schemas.microsoft.com/office/powerpoint/2010/main" val="16989292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11</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7672098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2078540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1742105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8/24/2025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988470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8/24/2025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980463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8/24/2025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284154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8/24/2025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54358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8/24/2025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472479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8/24/2025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218080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8/24/2025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99713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8/24/2025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852926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8/24/2025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458531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8/24/2025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58072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8/24/2025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76426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415600" y="796567"/>
            <a:ext cx="11360800" cy="7636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4635685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8/24/2025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522429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dirty="0"/>
              <a:t>Click to edit Master title style</a:t>
            </a:r>
          </a:p>
        </p:txBody>
      </p:sp>
      <p:sp>
        <p:nvSpPr>
          <p:cNvPr id="3" name="Content Placeholder 2"/>
          <p:cNvSpPr>
            <a:spLocks noGrp="1"/>
          </p:cNvSpPr>
          <p:nvPr>
            <p:ph idx="1"/>
          </p:nvPr>
        </p:nvSpPr>
        <p:spPr>
          <a:xfrm>
            <a:off x="581192" y="2340864"/>
            <a:ext cx="11029615" cy="363448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8/24/2025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9187801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8/24/2025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262236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8/24/2025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429469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8/24/2025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660881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8/24/2025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081320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8/24/2025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0919226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8/24/2025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8562496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8/24/2025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512476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8/24/2025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40359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8/24/2025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81193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8/24/2025</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46416855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8/24/2025</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4012633702"/>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4.xml"/><Relationship Id="rId1" Type="http://schemas.openxmlformats.org/officeDocument/2006/relationships/slideLayout" Target="../slideLayouts/slideLayout14.xml"/><Relationship Id="rId5" Type="http://schemas.openxmlformats.org/officeDocument/2006/relationships/image" Target="../media/image19.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20" y="0"/>
            <a:ext cx="12191980" cy="6857988"/>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4059" y="457200"/>
            <a:ext cx="5010912" cy="9144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5583" y="601197"/>
            <a:ext cx="5009388" cy="578936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837126" y="1178065"/>
            <a:ext cx="4687845" cy="2009774"/>
          </a:xfrm>
        </p:spPr>
        <p:txBody>
          <a:bodyPr>
            <a:normAutofit/>
          </a:bodyPr>
          <a:lstStyle/>
          <a:p>
            <a:r>
              <a:rPr lang="en-US" sz="4000" dirty="0">
                <a:solidFill>
                  <a:srgbClr val="FFFFFF"/>
                </a:solidFill>
              </a:rPr>
              <a:t>WEEK 02 What is </a:t>
            </a:r>
            <a:r>
              <a:rPr lang="en-US" sz="4000" dirty="0" err="1">
                <a:solidFill>
                  <a:srgbClr val="FFFFFF"/>
                </a:solidFill>
              </a:rPr>
              <a:t>gis</a:t>
            </a:r>
            <a:br>
              <a:rPr lang="en-US" sz="4000" dirty="0">
                <a:solidFill>
                  <a:srgbClr val="FFFFFF"/>
                </a:solidFill>
              </a:rPr>
            </a:br>
            <a:br>
              <a:rPr lang="en-US" sz="4000" dirty="0">
                <a:solidFill>
                  <a:srgbClr val="FFFFFF"/>
                </a:solidFill>
              </a:rPr>
            </a:br>
            <a:r>
              <a:rPr lang="en-US" sz="40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837126" y="3764707"/>
            <a:ext cx="4320228" cy="2277470"/>
          </a:xfrm>
        </p:spPr>
        <p:txBody>
          <a:bodyPr>
            <a:noAutofit/>
          </a:bodyPr>
          <a:lstStyle/>
          <a:p>
            <a:r>
              <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280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28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9628" y="496959"/>
            <a:ext cx="1106164" cy="585973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856" y="496958"/>
            <a:ext cx="9961047" cy="3678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893715" y="708498"/>
            <a:ext cx="9618581" cy="3330055"/>
          </a:xfrm>
        </p:spPr>
        <p:txBody>
          <a:bodyPr vert="horz" lIns="91440" tIns="45720" rIns="91440" bIns="45720" rtlCol="0" anchor="ctr">
            <a:normAutofit/>
          </a:bodyPr>
          <a:lstStyle/>
          <a:p>
            <a:r>
              <a:rPr lang="en-US" sz="6000" dirty="0">
                <a:solidFill>
                  <a:srgbClr val="FFFFFF"/>
                </a:solidFill>
              </a:rPr>
              <a:t>2.1</a:t>
            </a:r>
            <a:r>
              <a:rPr lang="en-US" sz="6000" b="0" kern="1200" cap="all" dirty="0">
                <a:solidFill>
                  <a:srgbClr val="FFFFFF"/>
                </a:solidFill>
                <a:latin typeface="+mj-lt"/>
                <a:ea typeface="+mj-ea"/>
                <a:cs typeface="+mj-cs"/>
              </a:rPr>
              <a:t> </a:t>
            </a:r>
            <a:br>
              <a:rPr lang="en-US" sz="6000" b="0" kern="1200" cap="all" dirty="0">
                <a:solidFill>
                  <a:srgbClr val="FFFFFF"/>
                </a:solidFill>
                <a:latin typeface="+mj-lt"/>
                <a:ea typeface="+mj-ea"/>
                <a:cs typeface="+mj-cs"/>
              </a:rPr>
            </a:br>
            <a:r>
              <a:rPr lang="en-US" sz="6000" b="0" kern="1200" cap="all" dirty="0">
                <a:solidFill>
                  <a:srgbClr val="FFFFFF"/>
                </a:solidFill>
                <a:latin typeface="+mj-lt"/>
                <a:ea typeface="+mj-ea"/>
                <a:cs typeface="+mj-cs"/>
              </a:rPr>
              <a:t>Introduction to field techniques</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789" y="4284212"/>
            <a:ext cx="9961115" cy="2072481"/>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4" name="Straight Connector 23">
            <a:extLst>
              <a:ext uri="{FF2B5EF4-FFF2-40B4-BE49-F238E27FC236}">
                <a16:creationId xmlns:a16="http://schemas.microsoft.com/office/drawing/2014/main" id="{735D0FBC-48F2-4D80-AAD1-AEB8FCCA86BC}"/>
              </a:ext>
            </a:extLst>
          </p:cNvPr>
          <p:cNvCxnSpPr>
            <a:cxnSpLocks/>
          </p:cNvCxnSpPr>
          <p:nvPr/>
        </p:nvCxnSpPr>
        <p:spPr>
          <a:xfrm>
            <a:off x="2085533" y="6137395"/>
            <a:ext cx="8496195" cy="46925"/>
          </a:xfrm>
          <a:prstGeom prst="line">
            <a:avLst/>
          </a:prstGeom>
          <a:ln w="76200">
            <a:gradFill flip="none" rotWithShape="1">
              <a:gsLst>
                <a:gs pos="0">
                  <a:schemeClr val="accent1">
                    <a:lumMod val="5000"/>
                    <a:lumOff val="95000"/>
                  </a:schemeClr>
                </a:gs>
                <a:gs pos="55000">
                  <a:schemeClr val="tx2"/>
                </a:gs>
                <a:gs pos="100000">
                  <a:schemeClr val="bg1"/>
                </a:gs>
              </a:gsLst>
              <a:path path="circle">
                <a:fillToRect l="100000" t="100000"/>
              </a:path>
              <a:tileRect r="-100000" b="-100000"/>
            </a:gradFill>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C83E3ABE-A21E-44F4-A4CB-D513F0249586}"/>
              </a:ext>
            </a:extLst>
          </p:cNvPr>
          <p:cNvSpPr>
            <a:spLocks noGrp="1"/>
          </p:cNvSpPr>
          <p:nvPr>
            <p:ph type="sldNum" sz="quarter" idx="12"/>
          </p:nvPr>
        </p:nvSpPr>
        <p:spPr/>
        <p:txBody>
          <a:bodyPr/>
          <a:lstStyle/>
          <a:p>
            <a:fld id="{4FFA5068-6C98-4B51-9190-23CE74466776}" type="slidenum">
              <a:rPr lang="en-US" smtClean="0">
                <a:solidFill>
                  <a:prstClr val="black"/>
                </a:solidFill>
              </a:rPr>
              <a:pPr/>
              <a:t>3</a:t>
            </a:fld>
            <a:endParaRPr lang="en-US" dirty="0">
              <a:solidFill>
                <a:prstClr val="black"/>
              </a:solidFill>
            </a:endParaRPr>
          </a:p>
        </p:txBody>
      </p:sp>
      <p:pic>
        <p:nvPicPr>
          <p:cNvPr id="5" name="Picture 4" descr="Dr. Roger Tomlinson">
            <a:extLst>
              <a:ext uri="{FF2B5EF4-FFF2-40B4-BE49-F238E27FC236}">
                <a16:creationId xmlns:a16="http://schemas.microsoft.com/office/drawing/2014/main" id="{5AF20C4C-6DCA-4191-A462-E2041338EDC1}"/>
              </a:ext>
            </a:extLst>
          </p:cNvPr>
          <p:cNvPicPr>
            <a:picLocks noChangeAspect="1"/>
          </p:cNvPicPr>
          <p:nvPr/>
        </p:nvPicPr>
        <p:blipFill>
          <a:blip r:embed="rId3"/>
          <a:stretch>
            <a:fillRect/>
          </a:stretch>
        </p:blipFill>
        <p:spPr>
          <a:xfrm>
            <a:off x="2576383" y="1297546"/>
            <a:ext cx="1156628" cy="1285673"/>
          </a:xfrm>
          <a:prstGeom prst="rect">
            <a:avLst/>
          </a:prstGeom>
        </p:spPr>
      </p:pic>
      <p:pic>
        <p:nvPicPr>
          <p:cNvPr id="4104" name="Picture 8" descr="Arc/info">
            <a:extLst>
              <a:ext uri="{FF2B5EF4-FFF2-40B4-BE49-F238E27FC236}">
                <a16:creationId xmlns:a16="http://schemas.microsoft.com/office/drawing/2014/main" id="{BA01289B-76E5-47AA-A97B-879F4AC2D06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44949" r="68333"/>
          <a:stretch/>
        </p:blipFill>
        <p:spPr bwMode="auto">
          <a:xfrm>
            <a:off x="4389213" y="1168469"/>
            <a:ext cx="2473401" cy="1692327"/>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5A90F3AB-B9DA-40FA-8730-CF033098AD46}"/>
              </a:ext>
            </a:extLst>
          </p:cNvPr>
          <p:cNvCxnSpPr/>
          <p:nvPr/>
        </p:nvCxnSpPr>
        <p:spPr>
          <a:xfrm>
            <a:off x="2085533" y="2860796"/>
            <a:ext cx="7433955" cy="0"/>
          </a:xfrm>
          <a:prstGeom prst="line">
            <a:avLst/>
          </a:prstGeom>
          <a:ln w="76200">
            <a:gradFill flip="none" rotWithShape="1">
              <a:gsLst>
                <a:gs pos="0">
                  <a:schemeClr val="accent1">
                    <a:lumMod val="5000"/>
                    <a:lumOff val="95000"/>
                  </a:schemeClr>
                </a:gs>
                <a:gs pos="55000">
                  <a:schemeClr val="tx2"/>
                </a:gs>
                <a:gs pos="100000">
                  <a:schemeClr val="bg1"/>
                </a:gs>
              </a:gsLst>
              <a:path path="circle">
                <a:fillToRect l="100000" t="100000"/>
              </a:path>
              <a:tileRect r="-100000" b="-100000"/>
            </a:gradFill>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6A5939CD-E69E-4664-84EA-B3F7AE5FDABA}"/>
              </a:ext>
            </a:extLst>
          </p:cNvPr>
          <p:cNvSpPr/>
          <p:nvPr/>
        </p:nvSpPr>
        <p:spPr>
          <a:xfrm>
            <a:off x="3094244" y="278081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E0288CD7-5E6E-44DC-8036-FBABD532C547}"/>
              </a:ext>
            </a:extLst>
          </p:cNvPr>
          <p:cNvSpPr/>
          <p:nvPr/>
        </p:nvSpPr>
        <p:spPr>
          <a:xfrm>
            <a:off x="5677822" y="278081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54BF094E-DD0B-4091-AA1A-CD721294D86B}"/>
              </a:ext>
            </a:extLst>
          </p:cNvPr>
          <p:cNvSpPr/>
          <p:nvPr/>
        </p:nvSpPr>
        <p:spPr>
          <a:xfrm>
            <a:off x="8318887" y="280067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1FBC1216-83B2-41A3-8D6B-83AEC02B2D25}"/>
              </a:ext>
            </a:extLst>
          </p:cNvPr>
          <p:cNvSpPr/>
          <p:nvPr/>
        </p:nvSpPr>
        <p:spPr>
          <a:xfrm>
            <a:off x="3074710" y="605741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B3CDC005-3AA8-4BBB-8454-E37778B3D944}"/>
              </a:ext>
            </a:extLst>
          </p:cNvPr>
          <p:cNvSpPr/>
          <p:nvPr/>
        </p:nvSpPr>
        <p:spPr>
          <a:xfrm>
            <a:off x="8383259" y="6047776"/>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Box 25">
            <a:extLst>
              <a:ext uri="{FF2B5EF4-FFF2-40B4-BE49-F238E27FC236}">
                <a16:creationId xmlns:a16="http://schemas.microsoft.com/office/drawing/2014/main" id="{2206128F-D49C-442A-9096-698EB47D13E9}"/>
              </a:ext>
            </a:extLst>
          </p:cNvPr>
          <p:cNvSpPr txBox="1"/>
          <p:nvPr/>
        </p:nvSpPr>
        <p:spPr>
          <a:xfrm>
            <a:off x="2120816" y="2983805"/>
            <a:ext cx="2010075" cy="892552"/>
          </a:xfrm>
          <a:prstGeom prst="rect">
            <a:avLst/>
          </a:prstGeom>
          <a:noFill/>
        </p:spPr>
        <p:txBody>
          <a:bodyPr wrap="square" rtlCol="0">
            <a:spAutoFit/>
          </a:bodyPr>
          <a:lstStyle/>
          <a:p>
            <a:r>
              <a:rPr lang="en-US" sz="2400" dirty="0">
                <a:solidFill>
                  <a:schemeClr val="tx2"/>
                </a:solidFill>
              </a:rPr>
              <a:t>         1960s </a:t>
            </a:r>
          </a:p>
          <a:p>
            <a:pPr algn="ctr"/>
            <a:r>
              <a:rPr lang="en-US" sz="1400" dirty="0">
                <a:solidFill>
                  <a:schemeClr val="tx2"/>
                </a:solidFill>
              </a:rPr>
              <a:t>Dr. Roger Tomlinson</a:t>
            </a:r>
          </a:p>
          <a:p>
            <a:pPr algn="ctr"/>
            <a:r>
              <a:rPr lang="en-US" sz="1400" dirty="0">
                <a:solidFill>
                  <a:schemeClr val="tx2"/>
                </a:solidFill>
              </a:rPr>
              <a:t>Canada GIS</a:t>
            </a:r>
          </a:p>
        </p:txBody>
      </p:sp>
      <p:sp>
        <p:nvSpPr>
          <p:cNvPr id="29" name="TextBox 28">
            <a:extLst>
              <a:ext uri="{FF2B5EF4-FFF2-40B4-BE49-F238E27FC236}">
                <a16:creationId xmlns:a16="http://schemas.microsoft.com/office/drawing/2014/main" id="{72B66007-4ECE-4A2A-AD99-DA0413E4C153}"/>
              </a:ext>
            </a:extLst>
          </p:cNvPr>
          <p:cNvSpPr txBox="1"/>
          <p:nvPr/>
        </p:nvSpPr>
        <p:spPr>
          <a:xfrm>
            <a:off x="2748082" y="6279635"/>
            <a:ext cx="1062924" cy="461665"/>
          </a:xfrm>
          <a:prstGeom prst="rect">
            <a:avLst/>
          </a:prstGeom>
          <a:noFill/>
        </p:spPr>
        <p:txBody>
          <a:bodyPr wrap="square" rtlCol="0">
            <a:spAutoFit/>
          </a:bodyPr>
          <a:lstStyle/>
          <a:p>
            <a:r>
              <a:rPr lang="en-US" sz="2400" dirty="0">
                <a:solidFill>
                  <a:schemeClr val="tx2"/>
                </a:solidFill>
              </a:rPr>
              <a:t>2010S</a:t>
            </a:r>
          </a:p>
        </p:txBody>
      </p:sp>
      <p:sp>
        <p:nvSpPr>
          <p:cNvPr id="10" name="Arrow: Right 9">
            <a:extLst>
              <a:ext uri="{FF2B5EF4-FFF2-40B4-BE49-F238E27FC236}">
                <a16:creationId xmlns:a16="http://schemas.microsoft.com/office/drawing/2014/main" id="{47F505CF-BEBE-4D33-AF41-4DF53B38ABAE}"/>
              </a:ext>
            </a:extLst>
          </p:cNvPr>
          <p:cNvSpPr/>
          <p:nvPr/>
        </p:nvSpPr>
        <p:spPr>
          <a:xfrm>
            <a:off x="4130891" y="2687416"/>
            <a:ext cx="513676" cy="323077"/>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Arrow: Right 30">
            <a:extLst>
              <a:ext uri="{FF2B5EF4-FFF2-40B4-BE49-F238E27FC236}">
                <a16:creationId xmlns:a16="http://schemas.microsoft.com/office/drawing/2014/main" id="{D35B2ACD-4CED-4535-A2F8-AA56E949936B}"/>
              </a:ext>
            </a:extLst>
          </p:cNvPr>
          <p:cNvSpPr/>
          <p:nvPr/>
        </p:nvSpPr>
        <p:spPr>
          <a:xfrm>
            <a:off x="6928538" y="2688687"/>
            <a:ext cx="513676" cy="323077"/>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7181B8CF-495E-4AF4-8681-99231843DACD}"/>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8" name="Title 1">
            <a:extLst>
              <a:ext uri="{FF2B5EF4-FFF2-40B4-BE49-F238E27FC236}">
                <a16:creationId xmlns:a16="http://schemas.microsoft.com/office/drawing/2014/main" id="{8B0EB58A-6B11-4F3E-B1F2-CF58F801D7C1}"/>
              </a:ext>
            </a:extLst>
          </p:cNvPr>
          <p:cNvSpPr>
            <a:spLocks noGrp="1"/>
          </p:cNvSpPr>
          <p:nvPr>
            <p:ph type="title"/>
          </p:nvPr>
        </p:nvSpPr>
        <p:spPr>
          <a:xfrm>
            <a:off x="767644" y="57443"/>
            <a:ext cx="10769600" cy="1143000"/>
          </a:xfrm>
        </p:spPr>
        <p:txBody>
          <a:bodyPr>
            <a:normAutofit/>
          </a:bodyPr>
          <a:lstStyle/>
          <a:p>
            <a:pPr algn="l"/>
            <a:r>
              <a:rPr lang="en-US" sz="4267" dirty="0">
                <a:solidFill>
                  <a:srgbClr val="7030A0"/>
                </a:solidFill>
              </a:rPr>
              <a:t>History</a:t>
            </a:r>
          </a:p>
        </p:txBody>
      </p:sp>
      <p:sp>
        <p:nvSpPr>
          <p:cNvPr id="2" name="TextBox 1">
            <a:extLst>
              <a:ext uri="{FF2B5EF4-FFF2-40B4-BE49-F238E27FC236}">
                <a16:creationId xmlns:a16="http://schemas.microsoft.com/office/drawing/2014/main" id="{649243F2-C740-49A9-BCB8-1EBC93A4BAD1}"/>
              </a:ext>
            </a:extLst>
          </p:cNvPr>
          <p:cNvSpPr txBox="1"/>
          <p:nvPr/>
        </p:nvSpPr>
        <p:spPr>
          <a:xfrm>
            <a:off x="6928538" y="1273187"/>
            <a:ext cx="3338409" cy="461665"/>
          </a:xfrm>
          <a:prstGeom prst="rect">
            <a:avLst/>
          </a:prstGeom>
          <a:noFill/>
        </p:spPr>
        <p:txBody>
          <a:bodyPr wrap="square" rtlCol="0">
            <a:spAutoFit/>
          </a:bodyPr>
          <a:lstStyle/>
          <a:p>
            <a:pPr algn="ctr"/>
            <a:r>
              <a:rPr lang="en-US" sz="2400" dirty="0"/>
              <a:t>Web GIS 1.0</a:t>
            </a:r>
          </a:p>
        </p:txBody>
      </p:sp>
      <p:sp>
        <p:nvSpPr>
          <p:cNvPr id="11" name="Rectangle 10">
            <a:extLst>
              <a:ext uri="{FF2B5EF4-FFF2-40B4-BE49-F238E27FC236}">
                <a16:creationId xmlns:a16="http://schemas.microsoft.com/office/drawing/2014/main" id="{46F1DB6D-548F-40EC-9E71-96ABF90F01EE}"/>
              </a:ext>
            </a:extLst>
          </p:cNvPr>
          <p:cNvSpPr/>
          <p:nvPr/>
        </p:nvSpPr>
        <p:spPr>
          <a:xfrm>
            <a:off x="7518084" y="3054032"/>
            <a:ext cx="2010073" cy="461665"/>
          </a:xfrm>
          <a:prstGeom prst="rect">
            <a:avLst/>
          </a:prstGeom>
        </p:spPr>
        <p:txBody>
          <a:bodyPr wrap="square">
            <a:spAutoFit/>
          </a:bodyPr>
          <a:lstStyle/>
          <a:p>
            <a:pPr algn="ctr"/>
            <a:r>
              <a:rPr lang="en-US" sz="2400" dirty="0">
                <a:solidFill>
                  <a:schemeClr val="tx2"/>
                </a:solidFill>
              </a:rPr>
              <a:t>2000S</a:t>
            </a:r>
          </a:p>
        </p:txBody>
      </p:sp>
      <p:sp>
        <p:nvSpPr>
          <p:cNvPr id="13" name="Rectangle 12">
            <a:extLst>
              <a:ext uri="{FF2B5EF4-FFF2-40B4-BE49-F238E27FC236}">
                <a16:creationId xmlns:a16="http://schemas.microsoft.com/office/drawing/2014/main" id="{462DAFD4-3B3B-4996-8375-110D26145AFA}"/>
              </a:ext>
            </a:extLst>
          </p:cNvPr>
          <p:cNvSpPr/>
          <p:nvPr/>
        </p:nvSpPr>
        <p:spPr>
          <a:xfrm>
            <a:off x="4710491" y="2983422"/>
            <a:ext cx="2340774" cy="830997"/>
          </a:xfrm>
          <a:prstGeom prst="rect">
            <a:avLst/>
          </a:prstGeom>
        </p:spPr>
        <p:txBody>
          <a:bodyPr wrap="square">
            <a:spAutoFit/>
          </a:bodyPr>
          <a:lstStyle/>
          <a:p>
            <a:pPr algn="ctr"/>
            <a:r>
              <a:rPr lang="en-US" sz="2400" dirty="0">
                <a:solidFill>
                  <a:schemeClr val="tx2"/>
                </a:solidFill>
              </a:rPr>
              <a:t>1980s</a:t>
            </a:r>
          </a:p>
          <a:p>
            <a:pPr algn="ctr"/>
            <a:r>
              <a:rPr lang="en-US" sz="2400" dirty="0">
                <a:solidFill>
                  <a:schemeClr val="tx2"/>
                </a:solidFill>
              </a:rPr>
              <a:t>D</a:t>
            </a:r>
            <a:r>
              <a:rPr lang="en-US" altLang="zh-CN" sz="2400" dirty="0">
                <a:solidFill>
                  <a:schemeClr val="tx2"/>
                </a:solidFill>
              </a:rPr>
              <a:t>esktop GIS</a:t>
            </a:r>
            <a:endParaRPr lang="en-US" sz="2400" dirty="0"/>
          </a:p>
        </p:txBody>
      </p:sp>
      <p:sp>
        <p:nvSpPr>
          <p:cNvPr id="14" name="Rectangle 13">
            <a:extLst>
              <a:ext uri="{FF2B5EF4-FFF2-40B4-BE49-F238E27FC236}">
                <a16:creationId xmlns:a16="http://schemas.microsoft.com/office/drawing/2014/main" id="{0D47E72F-7F4C-4505-94F0-B0F92E8D0219}"/>
              </a:ext>
            </a:extLst>
          </p:cNvPr>
          <p:cNvSpPr/>
          <p:nvPr/>
        </p:nvSpPr>
        <p:spPr>
          <a:xfrm>
            <a:off x="7983853" y="6279636"/>
            <a:ext cx="926857" cy="461665"/>
          </a:xfrm>
          <a:prstGeom prst="rect">
            <a:avLst/>
          </a:prstGeom>
        </p:spPr>
        <p:txBody>
          <a:bodyPr wrap="none">
            <a:spAutoFit/>
          </a:bodyPr>
          <a:lstStyle/>
          <a:p>
            <a:r>
              <a:rPr lang="en-US" sz="2400" dirty="0"/>
              <a:t>2020s</a:t>
            </a:r>
          </a:p>
        </p:txBody>
      </p:sp>
      <p:sp>
        <p:nvSpPr>
          <p:cNvPr id="30" name="TextBox 29">
            <a:extLst>
              <a:ext uri="{FF2B5EF4-FFF2-40B4-BE49-F238E27FC236}">
                <a16:creationId xmlns:a16="http://schemas.microsoft.com/office/drawing/2014/main" id="{74AA8123-4606-4062-8661-EC2CB0941E08}"/>
              </a:ext>
            </a:extLst>
          </p:cNvPr>
          <p:cNvSpPr txBox="1"/>
          <p:nvPr/>
        </p:nvSpPr>
        <p:spPr>
          <a:xfrm>
            <a:off x="4130952" y="2362945"/>
            <a:ext cx="3208715" cy="461665"/>
          </a:xfrm>
          <a:prstGeom prst="rect">
            <a:avLst/>
          </a:prstGeom>
          <a:noFill/>
        </p:spPr>
        <p:txBody>
          <a:bodyPr wrap="square" rtlCol="0">
            <a:spAutoFit/>
          </a:bodyPr>
          <a:lstStyle/>
          <a:p>
            <a:pPr algn="ctr"/>
            <a:r>
              <a:rPr lang="en-US" sz="2400" dirty="0"/>
              <a:t>Arc/info, MapInfo</a:t>
            </a:r>
          </a:p>
        </p:txBody>
      </p:sp>
      <p:sp>
        <p:nvSpPr>
          <p:cNvPr id="3" name="TextBox 2">
            <a:extLst>
              <a:ext uri="{FF2B5EF4-FFF2-40B4-BE49-F238E27FC236}">
                <a16:creationId xmlns:a16="http://schemas.microsoft.com/office/drawing/2014/main" id="{560A187F-324D-8CAD-8908-1BD7AC44BA7A}"/>
              </a:ext>
            </a:extLst>
          </p:cNvPr>
          <p:cNvSpPr txBox="1"/>
          <p:nvPr/>
        </p:nvSpPr>
        <p:spPr>
          <a:xfrm>
            <a:off x="1290823" y="4263127"/>
            <a:ext cx="3926788" cy="461665"/>
          </a:xfrm>
          <a:prstGeom prst="rect">
            <a:avLst/>
          </a:prstGeom>
          <a:noFill/>
        </p:spPr>
        <p:txBody>
          <a:bodyPr wrap="square" rtlCol="0">
            <a:spAutoFit/>
          </a:bodyPr>
          <a:lstStyle/>
          <a:p>
            <a:pPr algn="ctr"/>
            <a:r>
              <a:rPr lang="en-US" sz="2400" dirty="0"/>
              <a:t>Mobile GIS&amp; Cloud</a:t>
            </a:r>
          </a:p>
        </p:txBody>
      </p:sp>
      <p:sp>
        <p:nvSpPr>
          <p:cNvPr id="16" name="TextBox 15">
            <a:extLst>
              <a:ext uri="{FF2B5EF4-FFF2-40B4-BE49-F238E27FC236}">
                <a16:creationId xmlns:a16="http://schemas.microsoft.com/office/drawing/2014/main" id="{4E846DF5-4B30-6F4E-1BC9-FEA586070A65}"/>
              </a:ext>
            </a:extLst>
          </p:cNvPr>
          <p:cNvSpPr txBox="1"/>
          <p:nvPr/>
        </p:nvSpPr>
        <p:spPr>
          <a:xfrm>
            <a:off x="6302327" y="4246208"/>
            <a:ext cx="4161863" cy="461665"/>
          </a:xfrm>
          <a:prstGeom prst="rect">
            <a:avLst/>
          </a:prstGeom>
          <a:noFill/>
        </p:spPr>
        <p:txBody>
          <a:bodyPr wrap="square" rtlCol="0">
            <a:spAutoFit/>
          </a:bodyPr>
          <a:lstStyle/>
          <a:p>
            <a:pPr algn="ctr"/>
            <a:r>
              <a:rPr lang="en-US" sz="2400" dirty="0"/>
              <a:t>Real-Time, 3D &amp; Integrated GIS</a:t>
            </a:r>
          </a:p>
        </p:txBody>
      </p:sp>
      <p:pic>
        <p:nvPicPr>
          <p:cNvPr id="18" name="Picture 17">
            <a:extLst>
              <a:ext uri="{FF2B5EF4-FFF2-40B4-BE49-F238E27FC236}">
                <a16:creationId xmlns:a16="http://schemas.microsoft.com/office/drawing/2014/main" id="{AAF3D823-0EA0-A678-372A-183088B28576}"/>
              </a:ext>
            </a:extLst>
          </p:cNvPr>
          <p:cNvPicPr>
            <a:picLocks noChangeAspect="1"/>
          </p:cNvPicPr>
          <p:nvPr/>
        </p:nvPicPr>
        <p:blipFill>
          <a:blip r:embed="rId5"/>
          <a:stretch>
            <a:fillRect/>
          </a:stretch>
        </p:blipFill>
        <p:spPr>
          <a:xfrm>
            <a:off x="8428686" y="1723666"/>
            <a:ext cx="2181604" cy="990314"/>
          </a:xfrm>
          <a:prstGeom prst="rect">
            <a:avLst/>
          </a:prstGeom>
        </p:spPr>
      </p:pic>
      <p:pic>
        <p:nvPicPr>
          <p:cNvPr id="36" name="Picture 35">
            <a:extLst>
              <a:ext uri="{FF2B5EF4-FFF2-40B4-BE49-F238E27FC236}">
                <a16:creationId xmlns:a16="http://schemas.microsoft.com/office/drawing/2014/main" id="{E2661C66-1758-A0D5-7ECE-FAAECEDD2A24}"/>
              </a:ext>
            </a:extLst>
          </p:cNvPr>
          <p:cNvPicPr>
            <a:picLocks noChangeAspect="1"/>
          </p:cNvPicPr>
          <p:nvPr/>
        </p:nvPicPr>
        <p:blipFill>
          <a:blip r:embed="rId6"/>
          <a:stretch>
            <a:fillRect/>
          </a:stretch>
        </p:blipFill>
        <p:spPr>
          <a:xfrm>
            <a:off x="2352217" y="4802241"/>
            <a:ext cx="1764931" cy="1255169"/>
          </a:xfrm>
          <a:prstGeom prst="rect">
            <a:avLst/>
          </a:prstGeom>
        </p:spPr>
      </p:pic>
      <p:pic>
        <p:nvPicPr>
          <p:cNvPr id="41" name="Picture 40">
            <a:extLst>
              <a:ext uri="{FF2B5EF4-FFF2-40B4-BE49-F238E27FC236}">
                <a16:creationId xmlns:a16="http://schemas.microsoft.com/office/drawing/2014/main" id="{1A4AF5D9-2A56-F70F-3096-7870F0121F4D}"/>
              </a:ext>
            </a:extLst>
          </p:cNvPr>
          <p:cNvPicPr>
            <a:picLocks noChangeAspect="1"/>
          </p:cNvPicPr>
          <p:nvPr/>
        </p:nvPicPr>
        <p:blipFill>
          <a:blip r:embed="rId7"/>
          <a:stretch>
            <a:fillRect/>
          </a:stretch>
        </p:blipFill>
        <p:spPr>
          <a:xfrm>
            <a:off x="6455297" y="4684944"/>
            <a:ext cx="2142445" cy="1339403"/>
          </a:xfrm>
          <a:prstGeom prst="rect">
            <a:avLst/>
          </a:prstGeom>
        </p:spPr>
      </p:pic>
      <p:pic>
        <p:nvPicPr>
          <p:cNvPr id="43" name="Picture 42">
            <a:extLst>
              <a:ext uri="{FF2B5EF4-FFF2-40B4-BE49-F238E27FC236}">
                <a16:creationId xmlns:a16="http://schemas.microsoft.com/office/drawing/2014/main" id="{575AB4EF-1BA6-ADAB-E93F-C58FCF9BF80E}"/>
              </a:ext>
            </a:extLst>
          </p:cNvPr>
          <p:cNvPicPr>
            <a:picLocks noChangeAspect="1"/>
          </p:cNvPicPr>
          <p:nvPr/>
        </p:nvPicPr>
        <p:blipFill>
          <a:blip r:embed="rId8"/>
          <a:stretch>
            <a:fillRect/>
          </a:stretch>
        </p:blipFill>
        <p:spPr>
          <a:xfrm>
            <a:off x="8886933" y="4724792"/>
            <a:ext cx="2197622" cy="1309464"/>
          </a:xfrm>
          <a:prstGeom prst="rect">
            <a:avLst/>
          </a:prstGeom>
        </p:spPr>
      </p:pic>
    </p:spTree>
    <p:extLst>
      <p:ext uri="{BB962C8B-B14F-4D97-AF65-F5344CB8AC3E}">
        <p14:creationId xmlns:p14="http://schemas.microsoft.com/office/powerpoint/2010/main" val="214630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10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3" grpId="0" animBg="1"/>
      <p:bldP spid="29" grpId="0"/>
      <p:bldP spid="10" grpId="0" animBg="1"/>
      <p:bldP spid="31" grpId="0" animBg="1"/>
      <p:bldP spid="2" grpId="0"/>
      <p:bldP spid="11" grpId="0"/>
      <p:bldP spid="13" grpId="0"/>
      <p:bldP spid="14" grpId="0"/>
      <p:bldP spid="30" grpId="0"/>
      <p:bldP spid="3"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2187E-792F-4F41-C50B-8F8830306AC0}"/>
              </a:ext>
            </a:extLst>
          </p:cNvPr>
          <p:cNvSpPr>
            <a:spLocks noGrp="1"/>
          </p:cNvSpPr>
          <p:nvPr>
            <p:ph type="title"/>
          </p:nvPr>
        </p:nvSpPr>
        <p:spPr>
          <a:xfrm>
            <a:off x="500805" y="610730"/>
            <a:ext cx="11029616" cy="543840"/>
          </a:xfrm>
        </p:spPr>
        <p:txBody>
          <a:bodyPr/>
          <a:lstStyle/>
          <a:p>
            <a:r>
              <a:rPr lang="en-US" dirty="0"/>
              <a:t>Geographic field techniques</a:t>
            </a:r>
          </a:p>
        </p:txBody>
      </p:sp>
      <p:sp>
        <p:nvSpPr>
          <p:cNvPr id="3" name="Content Placeholder 2">
            <a:extLst>
              <a:ext uri="{FF2B5EF4-FFF2-40B4-BE49-F238E27FC236}">
                <a16:creationId xmlns:a16="http://schemas.microsoft.com/office/drawing/2014/main" id="{962A7F55-0855-0EC6-96C5-4A477DCBA8CB}"/>
              </a:ext>
            </a:extLst>
          </p:cNvPr>
          <p:cNvSpPr>
            <a:spLocks noGrp="1"/>
          </p:cNvSpPr>
          <p:nvPr>
            <p:ph idx="1"/>
          </p:nvPr>
        </p:nvSpPr>
        <p:spPr>
          <a:xfrm>
            <a:off x="581191" y="1189299"/>
            <a:ext cx="11029615" cy="774125"/>
          </a:xfrm>
        </p:spPr>
        <p:txBody>
          <a:bodyPr>
            <a:normAutofit/>
          </a:bodyPr>
          <a:lstStyle/>
          <a:p>
            <a:r>
              <a:rPr lang="en-US" sz="2400" b="1" dirty="0"/>
              <a:t>Why Mobile &amp; Web GIS Matter</a:t>
            </a:r>
            <a:endParaRPr lang="en-US" sz="2400" dirty="0"/>
          </a:p>
        </p:txBody>
      </p:sp>
      <p:sp>
        <p:nvSpPr>
          <p:cNvPr id="7" name="TextBox 6">
            <a:extLst>
              <a:ext uri="{FF2B5EF4-FFF2-40B4-BE49-F238E27FC236}">
                <a16:creationId xmlns:a16="http://schemas.microsoft.com/office/drawing/2014/main" id="{921B4CCF-BB92-4C10-7654-DB854C0261DF}"/>
              </a:ext>
            </a:extLst>
          </p:cNvPr>
          <p:cNvSpPr txBox="1"/>
          <p:nvPr/>
        </p:nvSpPr>
        <p:spPr>
          <a:xfrm>
            <a:off x="581191" y="1892840"/>
            <a:ext cx="5216708" cy="830997"/>
          </a:xfrm>
          <a:prstGeom prst="rect">
            <a:avLst/>
          </a:prstGeom>
          <a:noFill/>
        </p:spPr>
        <p:txBody>
          <a:bodyPr wrap="square">
            <a:spAutoFit/>
          </a:bodyPr>
          <a:lstStyle/>
          <a:p>
            <a:r>
              <a:rPr lang="en-US" sz="2400" dirty="0"/>
              <a:t>Accessibility: Anyone with a phone can collect data.</a:t>
            </a:r>
          </a:p>
        </p:txBody>
      </p:sp>
      <p:sp>
        <p:nvSpPr>
          <p:cNvPr id="11" name="TextBox 10">
            <a:extLst>
              <a:ext uri="{FF2B5EF4-FFF2-40B4-BE49-F238E27FC236}">
                <a16:creationId xmlns:a16="http://schemas.microsoft.com/office/drawing/2014/main" id="{B779DF87-4716-CD2D-0308-AE9CCE8F1A70}"/>
              </a:ext>
            </a:extLst>
          </p:cNvPr>
          <p:cNvSpPr txBox="1"/>
          <p:nvPr/>
        </p:nvSpPr>
        <p:spPr>
          <a:xfrm>
            <a:off x="6394103" y="1892840"/>
            <a:ext cx="6094324" cy="830997"/>
          </a:xfrm>
          <a:prstGeom prst="rect">
            <a:avLst/>
          </a:prstGeom>
          <a:noFill/>
        </p:spPr>
        <p:txBody>
          <a:bodyPr wrap="square">
            <a:spAutoFit/>
          </a:bodyPr>
          <a:lstStyle/>
          <a:p>
            <a:r>
              <a:rPr lang="en-US" sz="2400" dirty="0"/>
              <a:t>Speed: From field to map in minutes, not months.</a:t>
            </a:r>
          </a:p>
        </p:txBody>
      </p:sp>
      <p:pic>
        <p:nvPicPr>
          <p:cNvPr id="13" name="Picture 12">
            <a:extLst>
              <a:ext uri="{FF2B5EF4-FFF2-40B4-BE49-F238E27FC236}">
                <a16:creationId xmlns:a16="http://schemas.microsoft.com/office/drawing/2014/main" id="{5A87790B-0012-9EE7-A75A-F6A6E79C3C13}"/>
              </a:ext>
            </a:extLst>
          </p:cNvPr>
          <p:cNvPicPr>
            <a:picLocks noChangeAspect="1"/>
          </p:cNvPicPr>
          <p:nvPr/>
        </p:nvPicPr>
        <p:blipFill>
          <a:blip r:embed="rId2"/>
          <a:stretch>
            <a:fillRect/>
          </a:stretch>
        </p:blipFill>
        <p:spPr>
          <a:xfrm>
            <a:off x="419466" y="2723837"/>
            <a:ext cx="4600575" cy="1495425"/>
          </a:xfrm>
          <a:prstGeom prst="rect">
            <a:avLst/>
          </a:prstGeom>
        </p:spPr>
      </p:pic>
    </p:spTree>
    <p:extLst>
      <p:ext uri="{BB962C8B-B14F-4D97-AF65-F5344CB8AC3E}">
        <p14:creationId xmlns:p14="http://schemas.microsoft.com/office/powerpoint/2010/main" val="7602258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C30291-4160-E787-F666-6FCC5D7ED82A}"/>
              </a:ext>
            </a:extLst>
          </p:cNvPr>
          <p:cNvSpPr>
            <a:spLocks noGrp="1"/>
          </p:cNvSpPr>
          <p:nvPr>
            <p:ph idx="1"/>
          </p:nvPr>
        </p:nvSpPr>
        <p:spPr>
          <a:xfrm>
            <a:off x="581191" y="2079607"/>
            <a:ext cx="11029615" cy="4240806"/>
          </a:xfrm>
        </p:spPr>
        <p:txBody>
          <a:bodyPr>
            <a:normAutofit/>
          </a:bodyPr>
          <a:lstStyle/>
          <a:p>
            <a:pPr marL="0" indent="0">
              <a:buNone/>
            </a:pPr>
            <a:r>
              <a:rPr lang="en-US" sz="2400" dirty="0"/>
              <a:t>Versatile communication tools: Mobile devices integrate with various communication methods, including voice calls, text messages, photos, videos, emails, and social networking apps, facilitating effective collaboration and communication among professionals and the public.</a:t>
            </a:r>
          </a:p>
          <a:p>
            <a:pPr marL="0" indent="0">
              <a:buNone/>
            </a:pPr>
            <a:endParaRPr lang="en-US" sz="2400" dirty="0"/>
          </a:p>
          <a:p>
            <a:pPr marL="0" indent="0">
              <a:buNone/>
            </a:pPr>
            <a:endParaRPr lang="en-US" sz="2400" dirty="0"/>
          </a:p>
          <a:p>
            <a:pPr marL="0" indent="0">
              <a:buNone/>
            </a:pPr>
            <a:r>
              <a:rPr lang="en-US" sz="2400" dirty="0"/>
              <a:t>Collaboration: Shared dashboards, maps, and apps empower decision-makers.</a:t>
            </a:r>
          </a:p>
          <a:p>
            <a:endParaRPr lang="en-US" sz="2400" dirty="0"/>
          </a:p>
        </p:txBody>
      </p:sp>
      <p:sp>
        <p:nvSpPr>
          <p:cNvPr id="4" name="Title 1">
            <a:extLst>
              <a:ext uri="{FF2B5EF4-FFF2-40B4-BE49-F238E27FC236}">
                <a16:creationId xmlns:a16="http://schemas.microsoft.com/office/drawing/2014/main" id="{1A42295C-0C36-D17A-C82A-3956C4D43B21}"/>
              </a:ext>
            </a:extLst>
          </p:cNvPr>
          <p:cNvSpPr txBox="1">
            <a:spLocks/>
          </p:cNvSpPr>
          <p:nvPr/>
        </p:nvSpPr>
        <p:spPr>
          <a:xfrm>
            <a:off x="500805" y="610730"/>
            <a:ext cx="11029616" cy="54384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Geographic field techniques</a:t>
            </a:r>
          </a:p>
        </p:txBody>
      </p:sp>
      <p:sp>
        <p:nvSpPr>
          <p:cNvPr id="5" name="Content Placeholder 2">
            <a:extLst>
              <a:ext uri="{FF2B5EF4-FFF2-40B4-BE49-F238E27FC236}">
                <a16:creationId xmlns:a16="http://schemas.microsoft.com/office/drawing/2014/main" id="{6C189BBD-0DC4-8EA1-0951-7DAC96D6B093}"/>
              </a:ext>
            </a:extLst>
          </p:cNvPr>
          <p:cNvSpPr txBox="1">
            <a:spLocks/>
          </p:cNvSpPr>
          <p:nvPr/>
        </p:nvSpPr>
        <p:spPr>
          <a:xfrm>
            <a:off x="581191" y="1189299"/>
            <a:ext cx="11029615" cy="774125"/>
          </a:xfrm>
          <a:prstGeom prst="rect">
            <a:avLst/>
          </a:prstGeom>
        </p:spPr>
        <p:txBody>
          <a:bodyPr vert="horz" lIns="91440" tIns="45720" rIns="91440" bIns="45720" rtlCol="0" anchor="ctr">
            <a:normAutofit/>
          </a:bodyPr>
          <a:lst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400" b="1" dirty="0"/>
              <a:t>Why Mobile &amp; Web GIS Matter</a:t>
            </a:r>
            <a:endParaRPr lang="en-US" sz="2400" dirty="0"/>
          </a:p>
        </p:txBody>
      </p:sp>
    </p:spTree>
    <p:extLst>
      <p:ext uri="{BB962C8B-B14F-4D97-AF65-F5344CB8AC3E}">
        <p14:creationId xmlns:p14="http://schemas.microsoft.com/office/powerpoint/2010/main" val="3093956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DDA921-720C-3AEC-48DB-5BA64EFB4AC9}"/>
              </a:ext>
            </a:extLst>
          </p:cNvPr>
          <p:cNvSpPr>
            <a:spLocks noGrp="1"/>
          </p:cNvSpPr>
          <p:nvPr>
            <p:ph idx="1"/>
          </p:nvPr>
        </p:nvSpPr>
        <p:spPr>
          <a:xfrm>
            <a:off x="782159" y="1998153"/>
            <a:ext cx="11029615" cy="1303774"/>
          </a:xfrm>
        </p:spPr>
        <p:txBody>
          <a:bodyPr>
            <a:noAutofit/>
          </a:bodyPr>
          <a:lstStyle/>
          <a:p>
            <a:pPr marL="0" indent="0">
              <a:buNone/>
            </a:pPr>
            <a:r>
              <a:rPr lang="en-US" sz="2400" dirty="0"/>
              <a:t>Widespread accessibility: The ubiquity of smartphones, tablets, and smartwatches has made GIS accessible to billions, significantly expanding the user base and applications of GIS.</a:t>
            </a:r>
          </a:p>
        </p:txBody>
      </p:sp>
      <p:sp>
        <p:nvSpPr>
          <p:cNvPr id="4" name="Title 1">
            <a:extLst>
              <a:ext uri="{FF2B5EF4-FFF2-40B4-BE49-F238E27FC236}">
                <a16:creationId xmlns:a16="http://schemas.microsoft.com/office/drawing/2014/main" id="{D6E14790-CE81-4888-3C4A-C17C730BE18B}"/>
              </a:ext>
            </a:extLst>
          </p:cNvPr>
          <p:cNvSpPr txBox="1">
            <a:spLocks/>
          </p:cNvSpPr>
          <p:nvPr/>
        </p:nvSpPr>
        <p:spPr>
          <a:xfrm>
            <a:off x="500805" y="610730"/>
            <a:ext cx="11029616" cy="54384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Geographic field techniques</a:t>
            </a:r>
          </a:p>
        </p:txBody>
      </p:sp>
      <p:sp>
        <p:nvSpPr>
          <p:cNvPr id="5" name="Content Placeholder 2">
            <a:extLst>
              <a:ext uri="{FF2B5EF4-FFF2-40B4-BE49-F238E27FC236}">
                <a16:creationId xmlns:a16="http://schemas.microsoft.com/office/drawing/2014/main" id="{D3F8A8B0-CDC4-BA7A-9C09-B52DCC368948}"/>
              </a:ext>
            </a:extLst>
          </p:cNvPr>
          <p:cNvSpPr txBox="1">
            <a:spLocks/>
          </p:cNvSpPr>
          <p:nvPr/>
        </p:nvSpPr>
        <p:spPr>
          <a:xfrm>
            <a:off x="581191" y="1189299"/>
            <a:ext cx="11029615" cy="774125"/>
          </a:xfrm>
          <a:prstGeom prst="rect">
            <a:avLst/>
          </a:prstGeom>
        </p:spPr>
        <p:txBody>
          <a:bodyPr vert="horz" lIns="91440" tIns="45720" rIns="91440" bIns="45720" rtlCol="0" anchor="ctr">
            <a:normAutofit/>
          </a:bodyPr>
          <a:lst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400" b="1" dirty="0"/>
              <a:t>Why Mobile &amp; Web GIS Matter</a:t>
            </a:r>
            <a:endParaRPr lang="en-US" sz="2400" dirty="0"/>
          </a:p>
        </p:txBody>
      </p:sp>
    </p:spTree>
    <p:extLst>
      <p:ext uri="{BB962C8B-B14F-4D97-AF65-F5344CB8AC3E}">
        <p14:creationId xmlns:p14="http://schemas.microsoft.com/office/powerpoint/2010/main" val="41526633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43F32D-2B81-3BAF-EAEB-D3EE1EE9230F}"/>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BC6AA2B6-4BE9-7462-32E3-6A8465025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D799A04D-8FA3-A579-9E1F-EB99530AE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BCC4547-479A-B5C0-7550-9A673578C7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1713414C-5161-F181-D424-D605284A93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13B5B57E-680D-0D13-C6D4-A9AA8F3BF6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103188F3-EAD0-CFB4-C093-80EDF3D26A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9628" y="496959"/>
            <a:ext cx="1106164" cy="585973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57F8A191-A2BB-6DF1-DC01-5ABA1183EE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856" y="496958"/>
            <a:ext cx="9961047" cy="3678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8227AC55-478E-CF99-4536-83897A0D5823}"/>
              </a:ext>
            </a:extLst>
          </p:cNvPr>
          <p:cNvSpPr>
            <a:spLocks noGrp="1"/>
          </p:cNvSpPr>
          <p:nvPr>
            <p:ph type="title"/>
          </p:nvPr>
        </p:nvSpPr>
        <p:spPr>
          <a:xfrm>
            <a:off x="1893715" y="708498"/>
            <a:ext cx="9618581" cy="3330055"/>
          </a:xfrm>
        </p:spPr>
        <p:txBody>
          <a:bodyPr vert="horz" lIns="91440" tIns="45720" rIns="91440" bIns="45720" rtlCol="0" anchor="ctr">
            <a:normAutofit/>
          </a:bodyPr>
          <a:lstStyle/>
          <a:p>
            <a:r>
              <a:rPr lang="en-US" sz="6000" dirty="0">
                <a:solidFill>
                  <a:srgbClr val="FFFFFF"/>
                </a:solidFill>
              </a:rPr>
              <a:t>2.2</a:t>
            </a:r>
            <a:r>
              <a:rPr lang="en-US" sz="6000" b="0" kern="1200" cap="all" dirty="0">
                <a:solidFill>
                  <a:srgbClr val="FFFFFF"/>
                </a:solidFill>
                <a:latin typeface="+mj-lt"/>
                <a:ea typeface="+mj-ea"/>
                <a:cs typeface="+mj-cs"/>
              </a:rPr>
              <a:t> </a:t>
            </a:r>
            <a:br>
              <a:rPr lang="en-US" sz="6000" b="0" kern="1200" cap="all" dirty="0">
                <a:solidFill>
                  <a:srgbClr val="FFFFFF"/>
                </a:solidFill>
                <a:latin typeface="+mj-lt"/>
                <a:ea typeface="+mj-ea"/>
                <a:cs typeface="+mj-cs"/>
              </a:rPr>
            </a:br>
            <a:r>
              <a:rPr lang="en-US" sz="6000" b="0" kern="1200" cap="all" dirty="0">
                <a:solidFill>
                  <a:srgbClr val="FFFFFF"/>
                </a:solidFill>
                <a:latin typeface="+mj-lt"/>
                <a:ea typeface="+mj-ea"/>
                <a:cs typeface="+mj-cs"/>
              </a:rPr>
              <a:t>mobile </a:t>
            </a:r>
            <a:r>
              <a:rPr lang="en-US" sz="6000" b="0" kern="1200" cap="all" dirty="0" err="1">
                <a:solidFill>
                  <a:srgbClr val="FFFFFF"/>
                </a:solidFill>
                <a:latin typeface="+mj-lt"/>
                <a:ea typeface="+mj-ea"/>
                <a:cs typeface="+mj-cs"/>
              </a:rPr>
              <a:t>gis</a:t>
            </a:r>
            <a:endParaRPr lang="en-US" sz="6000" b="0" kern="1200" cap="all" dirty="0">
              <a:solidFill>
                <a:srgbClr val="FFFFFF"/>
              </a:solidFill>
              <a:latin typeface="+mj-lt"/>
              <a:ea typeface="+mj-ea"/>
              <a:cs typeface="+mj-cs"/>
            </a:endParaRPr>
          </a:p>
        </p:txBody>
      </p:sp>
      <p:sp>
        <p:nvSpPr>
          <p:cNvPr id="50" name="Rectangle 49">
            <a:extLst>
              <a:ext uri="{FF2B5EF4-FFF2-40B4-BE49-F238E27FC236}">
                <a16:creationId xmlns:a16="http://schemas.microsoft.com/office/drawing/2014/main" id="{6B7088E2-BF9E-D4CE-401F-2E8DDAB272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789" y="4284212"/>
            <a:ext cx="9961115" cy="2072481"/>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456847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3CED7894-4F62-4A6C-8DB5-DB5BE08E9C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AC65A5F8-558B-4D42-4A52-B4E100BE3569}"/>
              </a:ext>
            </a:extLst>
          </p:cNvPr>
          <p:cNvSpPr>
            <a:spLocks noGrp="1"/>
          </p:cNvSpPr>
          <p:nvPr>
            <p:ph type="title"/>
          </p:nvPr>
        </p:nvSpPr>
        <p:spPr>
          <a:xfrm>
            <a:off x="609906" y="702155"/>
            <a:ext cx="3568661" cy="945775"/>
          </a:xfrm>
        </p:spPr>
        <p:txBody>
          <a:bodyPr>
            <a:normAutofit/>
          </a:bodyPr>
          <a:lstStyle/>
          <a:p>
            <a:r>
              <a:rPr lang="en-US" dirty="0"/>
              <a:t>Mobile positioning technologies</a:t>
            </a:r>
          </a:p>
        </p:txBody>
      </p:sp>
      <p:sp>
        <p:nvSpPr>
          <p:cNvPr id="40" name="Rectangle 39">
            <a:extLst>
              <a:ext uri="{FF2B5EF4-FFF2-40B4-BE49-F238E27FC236}">
                <a16:creationId xmlns:a16="http://schemas.microsoft.com/office/drawing/2014/main" id="{E536F3B4-50F6-4C52-8F76-4EB1214719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620" y="457200"/>
            <a:ext cx="3511233" cy="9143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9" name="Content Placeholder 8">
            <a:extLst>
              <a:ext uri="{FF2B5EF4-FFF2-40B4-BE49-F238E27FC236}">
                <a16:creationId xmlns:a16="http://schemas.microsoft.com/office/drawing/2014/main" id="{CEC26E01-B222-A560-62E3-43C051AAAC28}"/>
              </a:ext>
            </a:extLst>
          </p:cNvPr>
          <p:cNvSpPr>
            <a:spLocks noGrp="1"/>
          </p:cNvSpPr>
          <p:nvPr>
            <p:ph idx="1"/>
          </p:nvPr>
        </p:nvSpPr>
        <p:spPr>
          <a:xfrm>
            <a:off x="609906" y="1647930"/>
            <a:ext cx="3568661" cy="4752870"/>
          </a:xfrm>
        </p:spPr>
        <p:txBody>
          <a:bodyPr>
            <a:noAutofit/>
          </a:bodyPr>
          <a:lstStyle/>
          <a:p>
            <a:endParaRPr lang="en-US" sz="2000" dirty="0"/>
          </a:p>
          <a:p>
            <a:r>
              <a:rPr lang="en-US" sz="2000" dirty="0"/>
              <a:t>Global Navigation Satellite System (GNSS): Uses satellite signals to pinpoint precise geographic locations (longitude, latitude, altitude). </a:t>
            </a:r>
          </a:p>
          <a:p>
            <a:r>
              <a:rPr lang="en-US" sz="2000" dirty="0"/>
              <a:t>Cellular network-based positioning: Relies on cellular network infrastructure to locate devices.</a:t>
            </a:r>
          </a:p>
          <a:p>
            <a:r>
              <a:rPr lang="en-US" sz="2000" dirty="0"/>
              <a:t>Bluetooth Low Energy (BLE): BLE is used in tracking technologies such as Apple’s </a:t>
            </a:r>
            <a:r>
              <a:rPr lang="en-US" sz="2000" dirty="0" err="1"/>
              <a:t>AirTags</a:t>
            </a:r>
            <a:endParaRPr lang="en-US" sz="2000" dirty="0"/>
          </a:p>
          <a:p>
            <a:endParaRPr lang="en-US" sz="2000" dirty="0"/>
          </a:p>
        </p:txBody>
      </p:sp>
      <p:pic>
        <p:nvPicPr>
          <p:cNvPr id="5" name="Content Placeholder 4" descr="A screen shot of a phone&#10;&#10;AI-generated content may be incorrect.">
            <a:extLst>
              <a:ext uri="{FF2B5EF4-FFF2-40B4-BE49-F238E27FC236}">
                <a16:creationId xmlns:a16="http://schemas.microsoft.com/office/drawing/2014/main" id="{296EE6CD-9804-5204-87C5-A9BE3F9F2A8F}"/>
              </a:ext>
            </a:extLst>
          </p:cNvPr>
          <p:cNvPicPr>
            <a:picLocks noChangeAspect="1"/>
          </p:cNvPicPr>
          <p:nvPr/>
        </p:nvPicPr>
        <p:blipFill>
          <a:blip r:embed="rId2"/>
          <a:stretch>
            <a:fillRect/>
          </a:stretch>
        </p:blipFill>
        <p:spPr>
          <a:xfrm>
            <a:off x="4325027" y="1971868"/>
            <a:ext cx="7555966" cy="4195452"/>
          </a:xfrm>
          <a:prstGeom prst="rect">
            <a:avLst/>
          </a:prstGeom>
        </p:spPr>
      </p:pic>
      <p:sp>
        <p:nvSpPr>
          <p:cNvPr id="10" name="TextBox 9">
            <a:extLst>
              <a:ext uri="{FF2B5EF4-FFF2-40B4-BE49-F238E27FC236}">
                <a16:creationId xmlns:a16="http://schemas.microsoft.com/office/drawing/2014/main" id="{0FA7E013-FDF2-31FD-AF98-4A6B2C43C19A}"/>
              </a:ext>
            </a:extLst>
          </p:cNvPr>
          <p:cNvSpPr txBox="1"/>
          <p:nvPr/>
        </p:nvSpPr>
        <p:spPr>
          <a:xfrm>
            <a:off x="4325027" y="690680"/>
            <a:ext cx="6097772" cy="646331"/>
          </a:xfrm>
          <a:prstGeom prst="rect">
            <a:avLst/>
          </a:prstGeom>
          <a:noFill/>
        </p:spPr>
        <p:txBody>
          <a:bodyPr wrap="square">
            <a:spAutoFit/>
          </a:bodyPr>
          <a:lstStyle/>
          <a:p>
            <a:r>
              <a:rPr lang="en-US" dirty="0"/>
              <a:t>Before 2000, GPS technology was not commonly integrated into mobile phones</a:t>
            </a:r>
          </a:p>
        </p:txBody>
      </p:sp>
    </p:spTree>
    <p:extLst>
      <p:ext uri="{BB962C8B-B14F-4D97-AF65-F5344CB8AC3E}">
        <p14:creationId xmlns:p14="http://schemas.microsoft.com/office/powerpoint/2010/main" val="573502456"/>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AB847-C60F-EC56-BA8B-98FA1D1C977F}"/>
              </a:ext>
            </a:extLst>
          </p:cNvPr>
          <p:cNvSpPr>
            <a:spLocks noGrp="1"/>
          </p:cNvSpPr>
          <p:nvPr>
            <p:ph type="title"/>
          </p:nvPr>
        </p:nvSpPr>
        <p:spPr>
          <a:xfrm>
            <a:off x="581192" y="702156"/>
            <a:ext cx="11029616" cy="543840"/>
          </a:xfrm>
        </p:spPr>
        <p:txBody>
          <a:bodyPr/>
          <a:lstStyle/>
          <a:p>
            <a:r>
              <a:rPr lang="en-US" dirty="0"/>
              <a:t>Mobile GIS architecture</a:t>
            </a:r>
          </a:p>
        </p:txBody>
      </p:sp>
      <p:pic>
        <p:nvPicPr>
          <p:cNvPr id="5" name="Content Placeholder 4">
            <a:extLst>
              <a:ext uri="{FF2B5EF4-FFF2-40B4-BE49-F238E27FC236}">
                <a16:creationId xmlns:a16="http://schemas.microsoft.com/office/drawing/2014/main" id="{DE79DB10-43FB-B589-BC91-B26E8FD94D91}"/>
              </a:ext>
            </a:extLst>
          </p:cNvPr>
          <p:cNvPicPr>
            <a:picLocks noGrp="1" noChangeAspect="1"/>
          </p:cNvPicPr>
          <p:nvPr>
            <p:ph idx="1"/>
          </p:nvPr>
        </p:nvPicPr>
        <p:blipFill>
          <a:blip r:embed="rId2"/>
          <a:stretch>
            <a:fillRect/>
          </a:stretch>
        </p:blipFill>
        <p:spPr>
          <a:xfrm>
            <a:off x="1187248" y="1426489"/>
            <a:ext cx="5211473" cy="4729355"/>
          </a:xfrm>
          <a:prstGeom prst="rect">
            <a:avLst/>
          </a:prstGeom>
        </p:spPr>
      </p:pic>
    </p:spTree>
    <p:extLst>
      <p:ext uri="{BB962C8B-B14F-4D97-AF65-F5344CB8AC3E}">
        <p14:creationId xmlns:p14="http://schemas.microsoft.com/office/powerpoint/2010/main" val="19155205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61C5D-8B7A-DCF7-DCED-6712B3F03137}"/>
              </a:ext>
            </a:extLst>
          </p:cNvPr>
          <p:cNvSpPr>
            <a:spLocks noGrp="1"/>
          </p:cNvSpPr>
          <p:nvPr>
            <p:ph type="title"/>
          </p:nvPr>
        </p:nvSpPr>
        <p:spPr>
          <a:xfrm>
            <a:off x="581192" y="702156"/>
            <a:ext cx="11029616" cy="563936"/>
          </a:xfrm>
        </p:spPr>
        <p:txBody>
          <a:bodyPr/>
          <a:lstStyle/>
          <a:p>
            <a:r>
              <a:rPr lang="en-US" dirty="0"/>
              <a:t>ArcGIS suite of web and native apps for Mobile GIS</a:t>
            </a:r>
          </a:p>
        </p:txBody>
      </p:sp>
      <p:sp>
        <p:nvSpPr>
          <p:cNvPr id="3" name="Content Placeholder 2">
            <a:extLst>
              <a:ext uri="{FF2B5EF4-FFF2-40B4-BE49-F238E27FC236}">
                <a16:creationId xmlns:a16="http://schemas.microsoft.com/office/drawing/2014/main" id="{62D5F4B9-C3A6-16CB-3C12-D1189F490EFA}"/>
              </a:ext>
            </a:extLst>
          </p:cNvPr>
          <p:cNvSpPr>
            <a:spLocks noGrp="1"/>
          </p:cNvSpPr>
          <p:nvPr>
            <p:ph idx="1"/>
          </p:nvPr>
        </p:nvSpPr>
        <p:spPr>
          <a:xfrm>
            <a:off x="581191" y="1386271"/>
            <a:ext cx="11029615" cy="1276543"/>
          </a:xfrm>
        </p:spPr>
        <p:txBody>
          <a:bodyPr/>
          <a:lstStyle/>
          <a:p>
            <a:r>
              <a:rPr lang="en-US" dirty="0"/>
              <a:t>Field Maps: Integrates several earlier products, including ArcGIS Collector, ArcGIS Explorer, ArcGIS Tracker, and ArcGIS Workforce. Field Maps serves as an all-in-one solution that supports planning, recording and sharing location, understanding, and </a:t>
            </a:r>
            <a:r>
              <a:rPr lang="en-US" dirty="0" err="1"/>
              <a:t>mapcentric</a:t>
            </a:r>
            <a:r>
              <a:rPr lang="en-US" dirty="0"/>
              <a:t> data capture.</a:t>
            </a:r>
          </a:p>
        </p:txBody>
      </p:sp>
    </p:spTree>
    <p:extLst>
      <p:ext uri="{BB962C8B-B14F-4D97-AF65-F5344CB8AC3E}">
        <p14:creationId xmlns:p14="http://schemas.microsoft.com/office/powerpoint/2010/main" val="229847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416770" y="531754"/>
            <a:ext cx="10769600" cy="668689"/>
          </a:xfrm>
          <a:prstGeom prst="rect">
            <a:avLst/>
          </a:prstGeom>
        </p:spPr>
        <p:txBody>
          <a:bodyPr vert="horz" lIns="121920" tIns="60960" rIns="121920" bIns="6096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467" i="1" dirty="0">
                <a:solidFill>
                  <a:srgbClr val="7030A0"/>
                </a:solidFill>
              </a:rPr>
              <a:t>Field Map</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11</a:t>
            </a:fld>
            <a:endParaRPr lang="en-US"/>
          </a:p>
        </p:txBody>
      </p:sp>
      <p:sp>
        <p:nvSpPr>
          <p:cNvPr id="7" name="Rectangle 1027">
            <a:extLst>
              <a:ext uri="{FF2B5EF4-FFF2-40B4-BE49-F238E27FC236}">
                <a16:creationId xmlns:a16="http://schemas.microsoft.com/office/drawing/2014/main" id="{512740DB-CB65-4AFE-AC07-4905CBFCEFE0}"/>
              </a:ext>
            </a:extLst>
          </p:cNvPr>
          <p:cNvSpPr txBox="1">
            <a:spLocks noChangeArrowheads="1"/>
          </p:cNvSpPr>
          <p:nvPr/>
        </p:nvSpPr>
        <p:spPr>
          <a:xfrm>
            <a:off x="1013255" y="1373283"/>
            <a:ext cx="7013147" cy="5181600"/>
          </a:xfrm>
          <a:prstGeom prst="rect">
            <a:avLst/>
          </a:prstGeom>
        </p:spPr>
        <p:txBody>
          <a:bodyPr vert="horz" lIns="121920" tIns="60960" rIns="121920" bIns="6096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3467" dirty="0"/>
              <a:t>Collector</a:t>
            </a:r>
          </a:p>
          <a:p>
            <a:pPr lvl="1">
              <a:buFont typeface="Wingdings" panose="05000000000000000000" pitchFamily="2" charset="2"/>
              <a:buChar char="ü"/>
            </a:pPr>
            <a:r>
              <a:rPr lang="en-US" altLang="en-US" sz="2880" dirty="0"/>
              <a:t>Survey app</a:t>
            </a:r>
          </a:p>
          <a:p>
            <a:pPr lvl="1">
              <a:buFont typeface="Wingdings" panose="05000000000000000000" pitchFamily="2" charset="2"/>
              <a:buChar char="ü"/>
            </a:pPr>
            <a:r>
              <a:rPr lang="en-US" altLang="en-US" sz="2880" dirty="0"/>
              <a:t>Create a smart feature layer</a:t>
            </a:r>
          </a:p>
          <a:p>
            <a:pPr lvl="1">
              <a:buFont typeface="Wingdings" panose="05000000000000000000" pitchFamily="2" charset="2"/>
              <a:buChar char="ü"/>
            </a:pPr>
            <a:r>
              <a:rPr lang="en-US" altLang="en-US" sz="2880" dirty="0"/>
              <a:t>Collect anytime, anywhere</a:t>
            </a:r>
          </a:p>
          <a:p>
            <a:pPr lvl="1">
              <a:buFont typeface="Wingdings" panose="05000000000000000000" pitchFamily="2" charset="2"/>
              <a:buChar char="ü"/>
            </a:pPr>
            <a:r>
              <a:rPr lang="en-US" altLang="en-US" sz="2880" dirty="0"/>
              <a:t>Analyze &amp; share results</a:t>
            </a:r>
          </a:p>
          <a:p>
            <a:pPr marL="548626" lvl="1" indent="0">
              <a:buNone/>
            </a:pPr>
            <a:endParaRPr lang="en-US" altLang="en-US" sz="2880" dirty="0"/>
          </a:p>
        </p:txBody>
      </p:sp>
      <p:pic>
        <p:nvPicPr>
          <p:cNvPr id="9" name="Picture 8" descr="ArcGIS Collector">
            <a:extLst>
              <a:ext uri="{FF2B5EF4-FFF2-40B4-BE49-F238E27FC236}">
                <a16:creationId xmlns:a16="http://schemas.microsoft.com/office/drawing/2014/main" id="{9191BE41-66C0-453C-8EDF-5747447CFB07}"/>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8152853" y="1397445"/>
            <a:ext cx="2880908" cy="4928801"/>
          </a:xfrm>
          <a:prstGeom prst="rect">
            <a:avLst/>
          </a:prstGeom>
        </p:spPr>
      </p:pic>
    </p:spTree>
    <p:extLst>
      <p:ext uri="{BB962C8B-B14F-4D97-AF65-F5344CB8AC3E}">
        <p14:creationId xmlns:p14="http://schemas.microsoft.com/office/powerpoint/2010/main" val="4168652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AE2C6-4DEC-8813-F59D-D49DC2BFEE38}"/>
              </a:ext>
            </a:extLst>
          </p:cNvPr>
          <p:cNvSpPr>
            <a:spLocks noGrp="1"/>
          </p:cNvSpPr>
          <p:nvPr>
            <p:ph type="title"/>
          </p:nvPr>
        </p:nvSpPr>
        <p:spPr>
          <a:xfrm>
            <a:off x="581192" y="702156"/>
            <a:ext cx="11029616" cy="523743"/>
          </a:xfrm>
        </p:spPr>
        <p:txBody>
          <a:bodyPr/>
          <a:lstStyle/>
          <a:p>
            <a:r>
              <a:rPr lang="en-US" dirty="0"/>
              <a:t>ArcGIS suite of web and native apps for Mobile GIS</a:t>
            </a:r>
          </a:p>
        </p:txBody>
      </p:sp>
      <p:sp>
        <p:nvSpPr>
          <p:cNvPr id="3" name="Content Placeholder 2">
            <a:extLst>
              <a:ext uri="{FF2B5EF4-FFF2-40B4-BE49-F238E27FC236}">
                <a16:creationId xmlns:a16="http://schemas.microsoft.com/office/drawing/2014/main" id="{73E5F77B-5F4D-31F3-C77D-56F0E0A5547E}"/>
              </a:ext>
            </a:extLst>
          </p:cNvPr>
          <p:cNvSpPr>
            <a:spLocks noGrp="1"/>
          </p:cNvSpPr>
          <p:nvPr>
            <p:ph idx="1"/>
          </p:nvPr>
        </p:nvSpPr>
        <p:spPr>
          <a:xfrm>
            <a:off x="581191" y="1487581"/>
            <a:ext cx="11029615" cy="1377026"/>
          </a:xfrm>
        </p:spPr>
        <p:txBody>
          <a:bodyPr/>
          <a:lstStyle/>
          <a:p>
            <a:r>
              <a:rPr lang="en-US" dirty="0"/>
              <a:t>ArcGIS Survey123: Known for its simplicity and intuitiveness, this </a:t>
            </a:r>
            <a:r>
              <a:rPr lang="en-US" dirty="0" err="1"/>
              <a:t>formcentric</a:t>
            </a:r>
            <a:r>
              <a:rPr lang="en-US" dirty="0"/>
              <a:t> app allows users to create, share, and analyze surveys. It features smart forms with skip logic, defaults, flexible formulas, and powerful data-pulling capabilities. The app facilitates easy data collection through the web or mobile devices in any environment, requiring minimal training.</a:t>
            </a:r>
          </a:p>
        </p:txBody>
      </p:sp>
    </p:spTree>
    <p:extLst>
      <p:ext uri="{BB962C8B-B14F-4D97-AF65-F5344CB8AC3E}">
        <p14:creationId xmlns:p14="http://schemas.microsoft.com/office/powerpoint/2010/main" val="17150786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409146" y="531760"/>
            <a:ext cx="10769600" cy="668681"/>
          </a:xfrm>
          <a:prstGeom prst="rect">
            <a:avLst/>
          </a:prstGeom>
        </p:spPr>
        <p:txBody>
          <a:bodyPr vert="horz" lIns="121920" tIns="60960" rIns="121920" bIns="60960" rtlCol="0" anchor="ctr">
            <a:normAutofit fontScale="92500" lnSpcReduction="10000"/>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4267" dirty="0">
                <a:solidFill>
                  <a:srgbClr val="7030A0"/>
                </a:solidFill>
              </a:rPr>
              <a:t>Survey tools</a:t>
            </a:r>
            <a:endParaRPr lang="en-US" sz="3467"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13</a:t>
            </a:fld>
            <a:endParaRPr lang="en-US"/>
          </a:p>
        </p:txBody>
      </p:sp>
      <p:pic>
        <p:nvPicPr>
          <p:cNvPr id="8" name="Picture 7" descr="Survey123">
            <a:extLst>
              <a:ext uri="{FF2B5EF4-FFF2-40B4-BE49-F238E27FC236}">
                <a16:creationId xmlns:a16="http://schemas.microsoft.com/office/drawing/2014/main" id="{569D27EE-D8CB-4468-99B0-082041FF6CF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8367843" y="1363515"/>
            <a:ext cx="2810903" cy="4962723"/>
          </a:xfrm>
          <a:prstGeom prst="rect">
            <a:avLst/>
          </a:prstGeom>
        </p:spPr>
      </p:pic>
      <p:sp>
        <p:nvSpPr>
          <p:cNvPr id="7" name="Rectangle 1027">
            <a:extLst>
              <a:ext uri="{FF2B5EF4-FFF2-40B4-BE49-F238E27FC236}">
                <a16:creationId xmlns:a16="http://schemas.microsoft.com/office/drawing/2014/main" id="{512740DB-CB65-4AFE-AC07-4905CBFCEFE0}"/>
              </a:ext>
            </a:extLst>
          </p:cNvPr>
          <p:cNvSpPr txBox="1">
            <a:spLocks noChangeArrowheads="1"/>
          </p:cNvSpPr>
          <p:nvPr/>
        </p:nvSpPr>
        <p:spPr>
          <a:xfrm>
            <a:off x="1013255" y="1373283"/>
            <a:ext cx="7013147" cy="5181600"/>
          </a:xfrm>
          <a:prstGeom prst="rect">
            <a:avLst/>
          </a:prstGeom>
        </p:spPr>
        <p:txBody>
          <a:bodyPr vert="horz" lIns="121920" tIns="60960" rIns="121920" bIns="6096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3467" dirty="0"/>
              <a:t>Survey123</a:t>
            </a:r>
          </a:p>
          <a:p>
            <a:pPr lvl="1">
              <a:buFont typeface="Wingdings" panose="05000000000000000000" pitchFamily="2" charset="2"/>
              <a:buChar char="ü"/>
            </a:pPr>
            <a:r>
              <a:rPr lang="en-US" altLang="en-US" sz="2880" dirty="0"/>
              <a:t>Survey app</a:t>
            </a:r>
          </a:p>
          <a:p>
            <a:pPr lvl="1">
              <a:buFont typeface="Wingdings" panose="05000000000000000000" pitchFamily="2" charset="2"/>
              <a:buChar char="ü"/>
            </a:pPr>
            <a:r>
              <a:rPr lang="en-US" altLang="en-US" sz="2880" dirty="0"/>
              <a:t>Create smart forms</a:t>
            </a:r>
          </a:p>
          <a:p>
            <a:pPr lvl="1">
              <a:buFont typeface="Wingdings" panose="05000000000000000000" pitchFamily="2" charset="2"/>
              <a:buChar char="ü"/>
            </a:pPr>
            <a:r>
              <a:rPr lang="en-US" altLang="en-US" sz="2880" dirty="0"/>
              <a:t>Collect anytime, anywhere</a:t>
            </a:r>
          </a:p>
          <a:p>
            <a:pPr lvl="1">
              <a:buFont typeface="Wingdings" panose="05000000000000000000" pitchFamily="2" charset="2"/>
              <a:buChar char="ü"/>
            </a:pPr>
            <a:r>
              <a:rPr lang="en-US" altLang="en-US" sz="2880" dirty="0"/>
              <a:t>Analyze &amp; share results</a:t>
            </a:r>
          </a:p>
          <a:p>
            <a:pPr marL="548626" lvl="1" indent="0">
              <a:buNone/>
            </a:pPr>
            <a:endParaRPr lang="en-US" altLang="en-US" sz="2880" dirty="0"/>
          </a:p>
        </p:txBody>
      </p:sp>
    </p:spTree>
    <p:extLst>
      <p:ext uri="{BB962C8B-B14F-4D97-AF65-F5344CB8AC3E}">
        <p14:creationId xmlns:p14="http://schemas.microsoft.com/office/powerpoint/2010/main" val="898730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2C8185-61A6-D2F2-224D-04317E4F5CA5}"/>
              </a:ext>
            </a:extLst>
          </p:cNvPr>
          <p:cNvSpPr>
            <a:spLocks noGrp="1"/>
          </p:cNvSpPr>
          <p:nvPr>
            <p:ph type="title"/>
          </p:nvPr>
        </p:nvSpPr>
        <p:spPr>
          <a:xfrm>
            <a:off x="581192" y="702156"/>
            <a:ext cx="11029616" cy="604130"/>
          </a:xfrm>
        </p:spPr>
        <p:txBody>
          <a:bodyPr/>
          <a:lstStyle/>
          <a:p>
            <a:r>
              <a:rPr lang="en-US" dirty="0"/>
              <a:t>Four pillars of Mobile GIS capabilities</a:t>
            </a:r>
          </a:p>
        </p:txBody>
      </p:sp>
      <p:sp>
        <p:nvSpPr>
          <p:cNvPr id="5" name="AutoShape 4" descr="Tasks under the four pillars of Mobile GIS.">
            <a:extLst>
              <a:ext uri="{FF2B5EF4-FFF2-40B4-BE49-F238E27FC236}">
                <a16:creationId xmlns:a16="http://schemas.microsoft.com/office/drawing/2014/main" id="{BD427480-10CD-F3E4-715D-B7ECD4AB92D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a:extLst>
              <a:ext uri="{FF2B5EF4-FFF2-40B4-BE49-F238E27FC236}">
                <a16:creationId xmlns:a16="http://schemas.microsoft.com/office/drawing/2014/main" id="{C72DEBEB-49EE-A31C-B0C3-F96CCB57035D}"/>
              </a:ext>
            </a:extLst>
          </p:cNvPr>
          <p:cNvPicPr>
            <a:picLocks noChangeAspect="1"/>
          </p:cNvPicPr>
          <p:nvPr/>
        </p:nvPicPr>
        <p:blipFill>
          <a:blip r:embed="rId2"/>
          <a:stretch>
            <a:fillRect/>
          </a:stretch>
        </p:blipFill>
        <p:spPr>
          <a:xfrm>
            <a:off x="146786" y="1552575"/>
            <a:ext cx="6438900" cy="4057650"/>
          </a:xfrm>
          <a:prstGeom prst="rect">
            <a:avLst/>
          </a:prstGeom>
        </p:spPr>
      </p:pic>
    </p:spTree>
    <p:extLst>
      <p:ext uri="{BB962C8B-B14F-4D97-AF65-F5344CB8AC3E}">
        <p14:creationId xmlns:p14="http://schemas.microsoft.com/office/powerpoint/2010/main" val="1283525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0F1F1-A79E-3D0D-F1CC-C2DEA056A1E3}"/>
              </a:ext>
            </a:extLst>
          </p:cNvPr>
          <p:cNvSpPr>
            <a:spLocks noGrp="1"/>
          </p:cNvSpPr>
          <p:nvPr>
            <p:ph type="title"/>
          </p:nvPr>
        </p:nvSpPr>
        <p:spPr>
          <a:xfrm>
            <a:off x="581192" y="702156"/>
            <a:ext cx="11029616" cy="533791"/>
          </a:xfrm>
        </p:spPr>
        <p:txBody>
          <a:bodyPr/>
          <a:lstStyle/>
          <a:p>
            <a:r>
              <a:rPr lang="en-US" dirty="0"/>
              <a:t>Four pillars of Mobile GIS capabilities</a:t>
            </a:r>
          </a:p>
        </p:txBody>
      </p:sp>
      <p:pic>
        <p:nvPicPr>
          <p:cNvPr id="5" name="Content Placeholder 4">
            <a:extLst>
              <a:ext uri="{FF2B5EF4-FFF2-40B4-BE49-F238E27FC236}">
                <a16:creationId xmlns:a16="http://schemas.microsoft.com/office/drawing/2014/main" id="{9993DA6C-3318-4CE7-086F-3C8F2AF11FD3}"/>
              </a:ext>
            </a:extLst>
          </p:cNvPr>
          <p:cNvPicPr>
            <a:picLocks noGrp="1" noChangeAspect="1"/>
          </p:cNvPicPr>
          <p:nvPr>
            <p:ph idx="1"/>
          </p:nvPr>
        </p:nvPicPr>
        <p:blipFill>
          <a:blip r:embed="rId2"/>
          <a:stretch>
            <a:fillRect/>
          </a:stretch>
        </p:blipFill>
        <p:spPr>
          <a:xfrm>
            <a:off x="396313" y="1977016"/>
            <a:ext cx="5587597" cy="3911318"/>
          </a:xfrm>
          <a:prstGeom prst="rect">
            <a:avLst/>
          </a:prstGeom>
        </p:spPr>
      </p:pic>
    </p:spTree>
    <p:extLst>
      <p:ext uri="{BB962C8B-B14F-4D97-AF65-F5344CB8AC3E}">
        <p14:creationId xmlns:p14="http://schemas.microsoft.com/office/powerpoint/2010/main" val="25380558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01D02A3-A210-2E0A-EEB5-E7CEA547E3A1}"/>
              </a:ext>
            </a:extLst>
          </p:cNvPr>
          <p:cNvPicPr>
            <a:picLocks noGrp="1" noChangeAspect="1"/>
          </p:cNvPicPr>
          <p:nvPr>
            <p:ph idx="1"/>
          </p:nvPr>
        </p:nvPicPr>
        <p:blipFill>
          <a:blip r:embed="rId2"/>
          <a:stretch>
            <a:fillRect/>
          </a:stretch>
        </p:blipFill>
        <p:spPr>
          <a:xfrm>
            <a:off x="421703" y="1745807"/>
            <a:ext cx="5459170" cy="3633787"/>
          </a:xfrm>
          <a:prstGeom prst="rect">
            <a:avLst/>
          </a:prstGeom>
        </p:spPr>
      </p:pic>
      <p:sp>
        <p:nvSpPr>
          <p:cNvPr id="6" name="Title 1">
            <a:extLst>
              <a:ext uri="{FF2B5EF4-FFF2-40B4-BE49-F238E27FC236}">
                <a16:creationId xmlns:a16="http://schemas.microsoft.com/office/drawing/2014/main" id="{2CA7D43D-3C9E-A354-780F-CEAD4540B20F}"/>
              </a:ext>
            </a:extLst>
          </p:cNvPr>
          <p:cNvSpPr>
            <a:spLocks noGrp="1"/>
          </p:cNvSpPr>
          <p:nvPr>
            <p:ph type="title"/>
          </p:nvPr>
        </p:nvSpPr>
        <p:spPr>
          <a:xfrm>
            <a:off x="581025" y="701675"/>
            <a:ext cx="11029950" cy="574232"/>
          </a:xfrm>
        </p:spPr>
        <p:txBody>
          <a:bodyPr/>
          <a:lstStyle/>
          <a:p>
            <a:r>
              <a:rPr lang="en-US" dirty="0"/>
              <a:t>Four pillars of Mobile GIS capabilities</a:t>
            </a:r>
          </a:p>
        </p:txBody>
      </p:sp>
    </p:spTree>
    <p:extLst>
      <p:ext uri="{BB962C8B-B14F-4D97-AF65-F5344CB8AC3E}">
        <p14:creationId xmlns:p14="http://schemas.microsoft.com/office/powerpoint/2010/main" val="66764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BC1C016-AF8E-D55D-EC30-2B5725A6C1AE}"/>
              </a:ext>
            </a:extLst>
          </p:cNvPr>
          <p:cNvPicPr>
            <a:picLocks noGrp="1" noChangeAspect="1"/>
          </p:cNvPicPr>
          <p:nvPr>
            <p:ph idx="1"/>
          </p:nvPr>
        </p:nvPicPr>
        <p:blipFill>
          <a:blip r:embed="rId2"/>
          <a:stretch>
            <a:fillRect/>
          </a:stretch>
        </p:blipFill>
        <p:spPr>
          <a:xfrm>
            <a:off x="474867" y="1661079"/>
            <a:ext cx="4919448" cy="4293153"/>
          </a:xfrm>
          <a:prstGeom prst="rect">
            <a:avLst/>
          </a:prstGeom>
        </p:spPr>
      </p:pic>
      <p:sp>
        <p:nvSpPr>
          <p:cNvPr id="6" name="Title 1">
            <a:extLst>
              <a:ext uri="{FF2B5EF4-FFF2-40B4-BE49-F238E27FC236}">
                <a16:creationId xmlns:a16="http://schemas.microsoft.com/office/drawing/2014/main" id="{3DE245E2-3E2D-4C06-73F5-8101D47A1F54}"/>
              </a:ext>
            </a:extLst>
          </p:cNvPr>
          <p:cNvSpPr txBox="1">
            <a:spLocks/>
          </p:cNvSpPr>
          <p:nvPr/>
        </p:nvSpPr>
        <p:spPr>
          <a:xfrm>
            <a:off x="581025" y="701675"/>
            <a:ext cx="11029950" cy="574232"/>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a:t>Four pillars of Mobile GIS capabilities</a:t>
            </a:r>
            <a:endParaRPr lang="en-US" dirty="0"/>
          </a:p>
        </p:txBody>
      </p:sp>
    </p:spTree>
    <p:extLst>
      <p:ext uri="{BB962C8B-B14F-4D97-AF65-F5344CB8AC3E}">
        <p14:creationId xmlns:p14="http://schemas.microsoft.com/office/powerpoint/2010/main" val="916372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508000" y="582383"/>
            <a:ext cx="10769600" cy="625877"/>
          </a:xfrm>
          <a:prstGeom prst="rect">
            <a:avLst/>
          </a:prstGeom>
        </p:spPr>
        <p:txBody>
          <a:bodyPr vert="horz" lIns="121920" tIns="60960" rIns="121920" bIns="60960" rtlCol="0" anchor="ctr">
            <a:normAutofit fontScale="92500" lnSpcReduction="20000"/>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4267" dirty="0">
                <a:solidFill>
                  <a:srgbClr val="7030A0"/>
                </a:solidFill>
              </a:rPr>
              <a:t>Survey tools</a:t>
            </a:r>
            <a:endParaRPr lang="en-US" sz="3467"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a:xfrm>
            <a:off x="8473440" y="6311290"/>
            <a:ext cx="2560320" cy="365125"/>
          </a:xfrm>
        </p:spPr>
        <p:txBody>
          <a:bodyPr/>
          <a:lstStyle/>
          <a:p>
            <a:fld id="{127DDC20-79C9-9647-820E-6D40A3D210C3}" type="slidenum">
              <a:rPr lang="en-US" smtClean="0"/>
              <a:pPr/>
              <a:t>18</a:t>
            </a:fld>
            <a:endParaRPr lang="en-US"/>
          </a:p>
        </p:txBody>
      </p:sp>
      <p:sp>
        <p:nvSpPr>
          <p:cNvPr id="7" name="Rectangle 1027">
            <a:extLst>
              <a:ext uri="{FF2B5EF4-FFF2-40B4-BE49-F238E27FC236}">
                <a16:creationId xmlns:a16="http://schemas.microsoft.com/office/drawing/2014/main" id="{512740DB-CB65-4AFE-AC07-4905CBFCEFE0}"/>
              </a:ext>
            </a:extLst>
          </p:cNvPr>
          <p:cNvSpPr txBox="1">
            <a:spLocks noChangeArrowheads="1"/>
          </p:cNvSpPr>
          <p:nvPr/>
        </p:nvSpPr>
        <p:spPr>
          <a:xfrm>
            <a:off x="1013255" y="1373283"/>
            <a:ext cx="7013147" cy="5181600"/>
          </a:xfrm>
          <a:prstGeom prst="rect">
            <a:avLst/>
          </a:prstGeom>
        </p:spPr>
        <p:txBody>
          <a:bodyPr vert="horz" lIns="121920" tIns="60960" rIns="121920" bIns="6096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3467" dirty="0"/>
              <a:t>DJF </a:t>
            </a:r>
            <a:r>
              <a:rPr lang="en-US" sz="3467" dirty="0"/>
              <a:t>Phantom IV</a:t>
            </a:r>
            <a:r>
              <a:rPr lang="en-US" altLang="en-US" sz="3467" dirty="0"/>
              <a:t> </a:t>
            </a:r>
          </a:p>
          <a:p>
            <a:pPr marL="548626" lvl="1" indent="0">
              <a:buNone/>
            </a:pPr>
            <a:endParaRPr lang="en-US" altLang="en-US" sz="2880" dirty="0"/>
          </a:p>
          <a:p>
            <a:pPr marL="548626" lvl="1" indent="0">
              <a:buNone/>
            </a:pPr>
            <a:endParaRPr lang="en-US" altLang="en-US" sz="2880" dirty="0"/>
          </a:p>
        </p:txBody>
      </p:sp>
      <p:sp>
        <p:nvSpPr>
          <p:cNvPr id="3" name="AutoShape 2">
            <a:extLst>
              <a:ext uri="{FF2B5EF4-FFF2-40B4-BE49-F238E27FC236}">
                <a16:creationId xmlns:a16="http://schemas.microsoft.com/office/drawing/2014/main" id="{5F64A319-4AFF-FF0C-F722-E3D583CA4D6B}"/>
              </a:ext>
            </a:extLst>
          </p:cNvPr>
          <p:cNvSpPr>
            <a:spLocks noChangeAspect="1" noChangeArrowheads="1"/>
          </p:cNvSpPr>
          <p:nvPr/>
        </p:nvSpPr>
        <p:spPr bwMode="auto">
          <a:xfrm>
            <a:off x="5892800" y="3225800"/>
            <a:ext cx="406400" cy="4064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prstTxWarp prst="textNoShape">
              <a:avLst/>
            </a:prstTxWarp>
          </a:bodyPr>
          <a:lstStyle/>
          <a:p>
            <a:endParaRPr lang="en-US" sz="2400"/>
          </a:p>
        </p:txBody>
      </p:sp>
      <p:pic>
        <p:nvPicPr>
          <p:cNvPr id="8" name="Picture 7" descr="DJI">
            <a:extLst>
              <a:ext uri="{FF2B5EF4-FFF2-40B4-BE49-F238E27FC236}">
                <a16:creationId xmlns:a16="http://schemas.microsoft.com/office/drawing/2014/main" id="{6B033E9B-2A3C-033A-3EA8-47A6D1BA6543}"/>
              </a:ext>
            </a:extLst>
          </p:cNvPr>
          <p:cNvPicPr>
            <a:picLocks noChangeAspect="1"/>
          </p:cNvPicPr>
          <p:nvPr/>
        </p:nvPicPr>
        <p:blipFill>
          <a:blip r:embed="rId3"/>
          <a:stretch>
            <a:fillRect/>
          </a:stretch>
        </p:blipFill>
        <p:spPr>
          <a:xfrm rot="5400000">
            <a:off x="694187" y="2620573"/>
            <a:ext cx="4177192" cy="3132895"/>
          </a:xfrm>
          <a:prstGeom prst="rect">
            <a:avLst/>
          </a:prstGeom>
        </p:spPr>
      </p:pic>
      <p:sp>
        <p:nvSpPr>
          <p:cNvPr id="10" name="TextBox 9">
            <a:extLst>
              <a:ext uri="{FF2B5EF4-FFF2-40B4-BE49-F238E27FC236}">
                <a16:creationId xmlns:a16="http://schemas.microsoft.com/office/drawing/2014/main" id="{1ABD6AD7-6A85-5882-042B-80C9AA1C146B}"/>
              </a:ext>
            </a:extLst>
          </p:cNvPr>
          <p:cNvSpPr txBox="1"/>
          <p:nvPr/>
        </p:nvSpPr>
        <p:spPr>
          <a:xfrm>
            <a:off x="2428382" y="6346982"/>
            <a:ext cx="987380" cy="461665"/>
          </a:xfrm>
          <a:prstGeom prst="rect">
            <a:avLst/>
          </a:prstGeom>
          <a:noFill/>
        </p:spPr>
        <p:txBody>
          <a:bodyPr wrap="square" rtlCol="0">
            <a:spAutoFit/>
          </a:bodyPr>
          <a:lstStyle/>
          <a:p>
            <a:r>
              <a:rPr lang="en-US" sz="2400" dirty="0"/>
              <a:t>John</a:t>
            </a:r>
          </a:p>
        </p:txBody>
      </p:sp>
      <p:sp>
        <p:nvSpPr>
          <p:cNvPr id="12" name="TextBox 11">
            <a:extLst>
              <a:ext uri="{FF2B5EF4-FFF2-40B4-BE49-F238E27FC236}">
                <a16:creationId xmlns:a16="http://schemas.microsoft.com/office/drawing/2014/main" id="{CBDEC510-BA6B-124C-699E-D994E8B8CA8C}"/>
              </a:ext>
            </a:extLst>
          </p:cNvPr>
          <p:cNvSpPr txBox="1"/>
          <p:nvPr/>
        </p:nvSpPr>
        <p:spPr>
          <a:xfrm>
            <a:off x="4892829" y="1387118"/>
            <a:ext cx="6689571" cy="625877"/>
          </a:xfrm>
          <a:prstGeom prst="rect">
            <a:avLst/>
          </a:prstGeom>
          <a:noFill/>
        </p:spPr>
        <p:txBody>
          <a:bodyPr wrap="square">
            <a:spAutoFit/>
          </a:bodyPr>
          <a:lstStyle/>
          <a:p>
            <a:pPr>
              <a:buFont typeface="Courier New" panose="02070309020205020404" pitchFamily="49" charset="0"/>
              <a:buChar char="o"/>
            </a:pPr>
            <a:r>
              <a:rPr lang="en-US" altLang="en-US" sz="2400" dirty="0"/>
              <a:t> </a:t>
            </a:r>
            <a:r>
              <a:rPr lang="en-US" altLang="en-US" sz="3467" dirty="0"/>
              <a:t>DJF Ground Station Pro (only iPad) </a:t>
            </a:r>
          </a:p>
        </p:txBody>
      </p:sp>
      <p:pic>
        <p:nvPicPr>
          <p:cNvPr id="14" name="Picture 13" descr="GSP logo">
            <a:extLst>
              <a:ext uri="{FF2B5EF4-FFF2-40B4-BE49-F238E27FC236}">
                <a16:creationId xmlns:a16="http://schemas.microsoft.com/office/drawing/2014/main" id="{C816D00B-E947-38A7-70B0-0366FED468C0}"/>
              </a:ext>
            </a:extLst>
          </p:cNvPr>
          <p:cNvPicPr>
            <a:picLocks noChangeAspect="1"/>
          </p:cNvPicPr>
          <p:nvPr/>
        </p:nvPicPr>
        <p:blipFill>
          <a:blip r:embed="rId4"/>
          <a:stretch>
            <a:fillRect/>
          </a:stretch>
        </p:blipFill>
        <p:spPr>
          <a:xfrm>
            <a:off x="6226613" y="2043709"/>
            <a:ext cx="1258655" cy="1330577"/>
          </a:xfrm>
          <a:prstGeom prst="rect">
            <a:avLst/>
          </a:prstGeom>
        </p:spPr>
      </p:pic>
      <p:sp>
        <p:nvSpPr>
          <p:cNvPr id="15" name="TextBox 14">
            <a:extLst>
              <a:ext uri="{FF2B5EF4-FFF2-40B4-BE49-F238E27FC236}">
                <a16:creationId xmlns:a16="http://schemas.microsoft.com/office/drawing/2014/main" id="{6710BA00-E6E1-0422-3B8D-2ABF6ED81AF1}"/>
              </a:ext>
            </a:extLst>
          </p:cNvPr>
          <p:cNvSpPr txBox="1"/>
          <p:nvPr/>
        </p:nvSpPr>
        <p:spPr>
          <a:xfrm>
            <a:off x="4892830" y="4929857"/>
            <a:ext cx="5512157" cy="625877"/>
          </a:xfrm>
          <a:prstGeom prst="rect">
            <a:avLst/>
          </a:prstGeom>
          <a:noFill/>
        </p:spPr>
        <p:txBody>
          <a:bodyPr wrap="square">
            <a:spAutoFit/>
          </a:bodyPr>
          <a:lstStyle/>
          <a:p>
            <a:pPr>
              <a:buFont typeface="Courier New" panose="02070309020205020404" pitchFamily="49" charset="0"/>
              <a:buChar char="o"/>
            </a:pPr>
            <a:r>
              <a:rPr lang="en-US" altLang="en-US" sz="2400" dirty="0"/>
              <a:t> </a:t>
            </a:r>
            <a:r>
              <a:rPr lang="en-US" altLang="en-US" sz="3467" dirty="0"/>
              <a:t>DJF GO 4 </a:t>
            </a:r>
          </a:p>
        </p:txBody>
      </p:sp>
      <p:pic>
        <p:nvPicPr>
          <p:cNvPr id="17" name="Picture 16" descr="DJI GO 4 logo">
            <a:extLst>
              <a:ext uri="{FF2B5EF4-FFF2-40B4-BE49-F238E27FC236}">
                <a16:creationId xmlns:a16="http://schemas.microsoft.com/office/drawing/2014/main" id="{F7EABB71-37A4-2622-81AE-CD21B2EB2A31}"/>
              </a:ext>
            </a:extLst>
          </p:cNvPr>
          <p:cNvPicPr>
            <a:picLocks noChangeAspect="1"/>
          </p:cNvPicPr>
          <p:nvPr/>
        </p:nvPicPr>
        <p:blipFill>
          <a:blip r:embed="rId5"/>
          <a:stretch>
            <a:fillRect/>
          </a:stretch>
        </p:blipFill>
        <p:spPr>
          <a:xfrm>
            <a:off x="7170349" y="4604101"/>
            <a:ext cx="1257300" cy="1308100"/>
          </a:xfrm>
          <a:prstGeom prst="rect">
            <a:avLst/>
          </a:prstGeom>
        </p:spPr>
      </p:pic>
      <p:sp>
        <p:nvSpPr>
          <p:cNvPr id="19" name="TextBox 18">
            <a:extLst>
              <a:ext uri="{FF2B5EF4-FFF2-40B4-BE49-F238E27FC236}">
                <a16:creationId xmlns:a16="http://schemas.microsoft.com/office/drawing/2014/main" id="{3CFE468A-CFA5-AEF4-DA7A-C38B393E9082}"/>
              </a:ext>
            </a:extLst>
          </p:cNvPr>
          <p:cNvSpPr txBox="1"/>
          <p:nvPr/>
        </p:nvSpPr>
        <p:spPr>
          <a:xfrm>
            <a:off x="4729188" y="6455641"/>
            <a:ext cx="5512157" cy="276999"/>
          </a:xfrm>
          <a:prstGeom prst="rect">
            <a:avLst/>
          </a:prstGeom>
          <a:noFill/>
        </p:spPr>
        <p:txBody>
          <a:bodyPr wrap="square">
            <a:spAutoFit/>
          </a:bodyPr>
          <a:lstStyle/>
          <a:p>
            <a:r>
              <a:rPr lang="en-US" sz="1200" dirty="0">
                <a:solidFill>
                  <a:srgbClr val="7030A0"/>
                </a:solidFill>
              </a:rPr>
              <a:t>https://www.dji.com/downloads/djiapp/dji-go-4</a:t>
            </a:r>
          </a:p>
        </p:txBody>
      </p:sp>
    </p:spTree>
    <p:extLst>
      <p:ext uri="{BB962C8B-B14F-4D97-AF65-F5344CB8AC3E}">
        <p14:creationId xmlns:p14="http://schemas.microsoft.com/office/powerpoint/2010/main" val="38977349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9628" y="496959"/>
            <a:ext cx="1106164" cy="585973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856" y="496958"/>
            <a:ext cx="9961047" cy="3678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893715" y="708498"/>
            <a:ext cx="9618581" cy="3330055"/>
          </a:xfrm>
        </p:spPr>
        <p:txBody>
          <a:bodyPr vert="horz" lIns="91440" tIns="45720" rIns="91440" bIns="45720" rtlCol="0" anchor="ctr">
            <a:normAutofit/>
          </a:bodyPr>
          <a:lstStyle/>
          <a:p>
            <a:r>
              <a:rPr lang="en-US" sz="6000" dirty="0">
                <a:solidFill>
                  <a:srgbClr val="FFFFFF"/>
                </a:solidFill>
              </a:rPr>
              <a:t>2.3</a:t>
            </a:r>
            <a:r>
              <a:rPr lang="en-US" sz="6000" b="0" kern="1200" cap="all" dirty="0">
                <a:solidFill>
                  <a:srgbClr val="FFFFFF"/>
                </a:solidFill>
                <a:latin typeface="+mj-lt"/>
                <a:ea typeface="+mj-ea"/>
                <a:cs typeface="+mj-cs"/>
              </a:rPr>
              <a:t> </a:t>
            </a:r>
            <a:br>
              <a:rPr lang="en-US" sz="6000" b="0" kern="1200" cap="all" dirty="0">
                <a:solidFill>
                  <a:srgbClr val="FFFFFF"/>
                </a:solidFill>
                <a:latin typeface="+mj-lt"/>
                <a:ea typeface="+mj-ea"/>
                <a:cs typeface="+mj-cs"/>
              </a:rPr>
            </a:br>
            <a:r>
              <a:rPr lang="en-US" sz="6000" b="0" kern="1200" cap="all" dirty="0">
                <a:solidFill>
                  <a:srgbClr val="FFFFFF"/>
                </a:solidFill>
                <a:latin typeface="+mj-lt"/>
                <a:ea typeface="+mj-ea"/>
                <a:cs typeface="+mj-cs"/>
              </a:rPr>
              <a:t>web </a:t>
            </a:r>
            <a:r>
              <a:rPr lang="en-US" sz="6000" b="0" kern="1200" cap="all" dirty="0" err="1">
                <a:solidFill>
                  <a:srgbClr val="FFFFFF"/>
                </a:solidFill>
                <a:latin typeface="+mj-lt"/>
                <a:ea typeface="+mj-ea"/>
                <a:cs typeface="+mj-cs"/>
              </a:rPr>
              <a:t>gis</a:t>
            </a:r>
            <a:endParaRPr lang="en-US" sz="6000" b="0" kern="1200" cap="all" dirty="0">
              <a:solidFill>
                <a:srgbClr val="FFFFFF"/>
              </a:solidFill>
              <a:latin typeface="+mj-lt"/>
              <a:ea typeface="+mj-ea"/>
              <a:cs typeface="+mj-cs"/>
            </a:endParaRP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789" y="4284212"/>
            <a:ext cx="9961115" cy="2072481"/>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E3CE2-322D-5692-4505-8C9A573087DE}"/>
              </a:ext>
            </a:extLst>
          </p:cNvPr>
          <p:cNvSpPr>
            <a:spLocks noGrp="1"/>
          </p:cNvSpPr>
          <p:nvPr>
            <p:ph type="title"/>
          </p:nvPr>
        </p:nvSpPr>
        <p:spPr>
          <a:xfrm>
            <a:off x="581192" y="702156"/>
            <a:ext cx="11029616" cy="553888"/>
          </a:xfrm>
        </p:spPr>
        <p:txBody>
          <a:bodyPr>
            <a:normAutofit/>
          </a:bodyPr>
          <a:lstStyle/>
          <a:p>
            <a:r>
              <a:rPr lang="en-US" dirty="0"/>
              <a:t>Real-world applications:</a:t>
            </a:r>
          </a:p>
        </p:txBody>
      </p:sp>
      <p:sp>
        <p:nvSpPr>
          <p:cNvPr id="3" name="Content Placeholder 2">
            <a:extLst>
              <a:ext uri="{FF2B5EF4-FFF2-40B4-BE49-F238E27FC236}">
                <a16:creationId xmlns:a16="http://schemas.microsoft.com/office/drawing/2014/main" id="{07B7E965-0B7E-1728-C5A0-D75B7EEDC09A}"/>
              </a:ext>
            </a:extLst>
          </p:cNvPr>
          <p:cNvSpPr>
            <a:spLocks noGrp="1"/>
          </p:cNvSpPr>
          <p:nvPr>
            <p:ph idx="1"/>
          </p:nvPr>
        </p:nvSpPr>
        <p:spPr>
          <a:xfrm>
            <a:off x="581192" y="1529460"/>
            <a:ext cx="11029615" cy="1899540"/>
          </a:xfrm>
        </p:spPr>
        <p:txBody>
          <a:bodyPr/>
          <a:lstStyle/>
          <a:p>
            <a:pPr lvl="1"/>
            <a:r>
              <a:rPr lang="en-US" b="1" dirty="0"/>
              <a:t>Environmental science:</a:t>
            </a:r>
            <a:r>
              <a:rPr lang="en-US" dirty="0"/>
              <a:t> mapping invasive species with Survey123.</a:t>
            </a:r>
          </a:p>
          <a:p>
            <a:pPr lvl="1"/>
            <a:r>
              <a:rPr lang="en-US" b="1" dirty="0"/>
              <a:t>Emergency management:</a:t>
            </a:r>
            <a:r>
              <a:rPr lang="en-US" dirty="0"/>
              <a:t> real-time dashboards during hurricanes/wildfires.</a:t>
            </a:r>
          </a:p>
          <a:p>
            <a:pPr lvl="1"/>
            <a:r>
              <a:rPr lang="en-US" b="1" dirty="0"/>
              <a:t>Urban planning:</a:t>
            </a:r>
            <a:r>
              <a:rPr lang="en-US" dirty="0"/>
              <a:t> drones &amp; 3D scenes for city development.</a:t>
            </a:r>
          </a:p>
          <a:p>
            <a:r>
              <a:rPr lang="en-US" dirty="0"/>
              <a:t>Key message: GIS is no longer just desktop software — it’s in your pocket</a:t>
            </a:r>
          </a:p>
          <a:p>
            <a:endParaRPr lang="en-US" dirty="0"/>
          </a:p>
        </p:txBody>
      </p:sp>
    </p:spTree>
    <p:extLst>
      <p:ext uri="{BB962C8B-B14F-4D97-AF65-F5344CB8AC3E}">
        <p14:creationId xmlns:p14="http://schemas.microsoft.com/office/powerpoint/2010/main" val="25482263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F58E3-9F39-1589-A398-EB935976969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0BF5EB6-F05B-AFA9-E958-38350D42F1A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092329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581191" y="912018"/>
            <a:ext cx="11029616" cy="661949"/>
          </a:xfrm>
        </p:spPr>
        <p:txBody>
          <a:bodyPr>
            <a:normAutofit/>
          </a:bodyPr>
          <a:lstStyle/>
          <a:p>
            <a:pPr marL="0" marR="0" indent="0" algn="ctr">
              <a:lnSpc>
                <a:spcPct val="107000"/>
              </a:lnSpc>
              <a:spcBef>
                <a:spcPts val="0"/>
              </a:spcBef>
              <a:spcAft>
                <a:spcPts val="590"/>
              </a:spcAft>
            </a:pPr>
            <a:r>
              <a:rPr lang="en-US" sz="3200" b="1" dirty="0">
                <a:solidFill>
                  <a:srgbClr val="000000"/>
                </a:solidFill>
                <a:effectLst/>
                <a:latin typeface="+mn-lt"/>
                <a:ea typeface="Calibri" panose="020F0502020204030204" pitchFamily="34" charset="0"/>
                <a:cs typeface="Calibri" panose="020F0502020204030204" pitchFamily="34" charset="0"/>
              </a:rPr>
              <a:t>Lab 01: Introduction to ArcGIS Pro</a:t>
            </a:r>
            <a:endParaRPr lang="en-US" sz="3200" dirty="0">
              <a:solidFill>
                <a:srgbClr val="000000"/>
              </a:solidFill>
              <a:effectLst/>
              <a:latin typeface="+mn-lt"/>
              <a:ea typeface="Calibri" panose="020F0502020204030204" pitchFamily="34" charset="0"/>
              <a:cs typeface="Calibri" panose="020F0502020204030204" pitchFamily="34" charset="0"/>
            </a:endParaRPr>
          </a:p>
        </p:txBody>
      </p:sp>
      <p:sp>
        <p:nvSpPr>
          <p:cNvPr id="3" name="Content Placeholder 2">
            <a:extLst>
              <a:ext uri="{FF2B5EF4-FFF2-40B4-BE49-F238E27FC236}">
                <a16:creationId xmlns:a16="http://schemas.microsoft.com/office/drawing/2014/main" id="{B42B976A-AE68-8BE0-8161-494E21D27EA4}"/>
              </a:ext>
            </a:extLst>
          </p:cNvPr>
          <p:cNvSpPr>
            <a:spLocks noGrp="1"/>
          </p:cNvSpPr>
          <p:nvPr>
            <p:ph idx="1"/>
          </p:nvPr>
        </p:nvSpPr>
        <p:spPr>
          <a:xfrm>
            <a:off x="581192" y="1903767"/>
            <a:ext cx="11029615" cy="2308469"/>
          </a:xfrm>
        </p:spPr>
        <p:txBody>
          <a:bodyPr>
            <a:noAutofit/>
          </a:bodyPr>
          <a:lstStyle/>
          <a:p>
            <a:r>
              <a:rPr lang="en-US" sz="2800" dirty="0"/>
              <a:t>Due by Midnight (11:59 pm) on Monday, Sep 1, 2025</a:t>
            </a:r>
          </a:p>
          <a:p>
            <a:endParaRPr lang="en-US" sz="2800" dirty="0"/>
          </a:p>
          <a:p>
            <a:r>
              <a:rPr lang="en-US" sz="2800" dirty="0"/>
              <a:t>Submit a word document only include question and answer</a:t>
            </a:r>
          </a:p>
        </p:txBody>
      </p:sp>
    </p:spTree>
    <p:extLst>
      <p:ext uri="{BB962C8B-B14F-4D97-AF65-F5344CB8AC3E}">
        <p14:creationId xmlns:p14="http://schemas.microsoft.com/office/powerpoint/2010/main" val="18827850"/>
      </p:ext>
    </p:extLst>
  </p:cSld>
  <p:clrMapOvr>
    <a:masterClrMapping/>
  </p:clrMapOvr>
</p:sld>
</file>

<file path=ppt/theme/theme1.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4286</TotalTime>
  <Words>902</Words>
  <Application>Microsoft Office PowerPoint</Application>
  <PresentationFormat>Widescreen</PresentationFormat>
  <Paragraphs>98</Paragraphs>
  <Slides>22</Slides>
  <Notes>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22</vt:i4>
      </vt:variant>
    </vt:vector>
  </HeadingPairs>
  <TitlesOfParts>
    <vt:vector size="30" baseType="lpstr">
      <vt:lpstr>Aptos</vt:lpstr>
      <vt:lpstr>Arial Black</vt:lpstr>
      <vt:lpstr>Calibri</vt:lpstr>
      <vt:lpstr>Courier New</vt:lpstr>
      <vt:lpstr>Wingdings</vt:lpstr>
      <vt:lpstr>Wingdings 2</vt:lpstr>
      <vt:lpstr>1_DividendVTI</vt:lpstr>
      <vt:lpstr>DividendVTI</vt:lpstr>
      <vt:lpstr>WEEK 02 What is gis  lecture</vt:lpstr>
      <vt:lpstr>2.1  Introduction to field techniques</vt:lpstr>
      <vt:lpstr>History</vt:lpstr>
      <vt:lpstr>Geographic field techniques</vt:lpstr>
      <vt:lpstr>PowerPoint Presentation</vt:lpstr>
      <vt:lpstr>PowerPoint Presentation</vt:lpstr>
      <vt:lpstr>2.2  mobile gis</vt:lpstr>
      <vt:lpstr>Mobile positioning technologies</vt:lpstr>
      <vt:lpstr>Mobile GIS architecture</vt:lpstr>
      <vt:lpstr>ArcGIS suite of web and native apps for Mobile GIS</vt:lpstr>
      <vt:lpstr>PowerPoint Presentation</vt:lpstr>
      <vt:lpstr>ArcGIS suite of web and native apps for Mobile GIS</vt:lpstr>
      <vt:lpstr>PowerPoint Presentation</vt:lpstr>
      <vt:lpstr>Four pillars of Mobile GIS capabilities</vt:lpstr>
      <vt:lpstr>Four pillars of Mobile GIS capabilities</vt:lpstr>
      <vt:lpstr>Four pillars of Mobile GIS capabilities</vt:lpstr>
      <vt:lpstr>PowerPoint Presentation</vt:lpstr>
      <vt:lpstr>PowerPoint Presentation</vt:lpstr>
      <vt:lpstr>2.3  web gis</vt:lpstr>
      <vt:lpstr>Real-world applications:</vt:lpstr>
      <vt:lpstr>PowerPoint Presentation</vt:lpstr>
      <vt:lpstr>Lab 01: Introduction to ArcGIS Pro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Yanan Wu</dc:creator>
  <cp:lastModifiedBy>Yanan Wu</cp:lastModifiedBy>
  <cp:revision>40</cp:revision>
  <dcterms:created xsi:type="dcterms:W3CDTF">2025-02-03T18:01:06Z</dcterms:created>
  <dcterms:modified xsi:type="dcterms:W3CDTF">2025-08-25T13:49:28Z</dcterms:modified>
</cp:coreProperties>
</file>