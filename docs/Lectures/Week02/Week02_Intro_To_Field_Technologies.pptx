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31"/>
  </p:notesMasterIdLst>
  <p:sldIdLst>
    <p:sldId id="914" r:id="rId3"/>
    <p:sldId id="1647" r:id="rId4"/>
    <p:sldId id="449" r:id="rId5"/>
    <p:sldId id="1649" r:id="rId6"/>
    <p:sldId id="1651" r:id="rId7"/>
    <p:sldId id="1652" r:id="rId8"/>
    <p:sldId id="1661" r:id="rId9"/>
    <p:sldId id="1653" r:id="rId10"/>
    <p:sldId id="1663" r:id="rId11"/>
    <p:sldId id="1664" r:id="rId12"/>
    <p:sldId id="1654" r:id="rId13"/>
    <p:sldId id="1655" r:id="rId14"/>
    <p:sldId id="1656" r:id="rId15"/>
    <p:sldId id="1657" r:id="rId16"/>
    <p:sldId id="1658" r:id="rId17"/>
    <p:sldId id="1659" r:id="rId18"/>
    <p:sldId id="1660" r:id="rId19"/>
    <p:sldId id="1650" r:id="rId20"/>
    <p:sldId id="1665" r:id="rId21"/>
    <p:sldId id="1648" r:id="rId22"/>
    <p:sldId id="1666" r:id="rId23"/>
    <p:sldId id="1662" r:id="rId24"/>
    <p:sldId id="1667" r:id="rId25"/>
    <p:sldId id="1668" r:id="rId26"/>
    <p:sldId id="1670" r:id="rId27"/>
    <p:sldId id="658" r:id="rId28"/>
    <p:sldId id="590" r:id="rId29"/>
    <p:sldId id="91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5" d="100"/>
          <a:sy n="95" d="100"/>
        </p:scale>
        <p:origin x="11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diagrams/_rels/data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4" Type="http://schemas.openxmlformats.org/officeDocument/2006/relationships/image" Target="../media/image4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558967-EE36-415C-8E68-692195262EEF}"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8CEBE678-D0F3-4B80-9A28-10FB829EA4E0}">
      <dgm:prSet/>
      <dgm:spPr/>
      <dgm:t>
        <a:bodyPr/>
        <a:lstStyle/>
        <a:p>
          <a:r>
            <a:rPr lang="en-US"/>
            <a:t>Due by Midnight (11:59 pm) on Monday, Sep 1, 2025</a:t>
          </a:r>
        </a:p>
      </dgm:t>
    </dgm:pt>
    <dgm:pt modelId="{9AB23A23-5C88-49B1-9A54-DC1EA912B647}" type="parTrans" cxnId="{808216C8-E4B1-4090-A9FC-4A17536C96BE}">
      <dgm:prSet/>
      <dgm:spPr/>
      <dgm:t>
        <a:bodyPr/>
        <a:lstStyle/>
        <a:p>
          <a:endParaRPr lang="en-US"/>
        </a:p>
      </dgm:t>
    </dgm:pt>
    <dgm:pt modelId="{0474614A-4800-489E-8C0C-49CB52C3DC55}" type="sibTrans" cxnId="{808216C8-E4B1-4090-A9FC-4A17536C96BE}">
      <dgm:prSet/>
      <dgm:spPr/>
      <dgm:t>
        <a:bodyPr/>
        <a:lstStyle/>
        <a:p>
          <a:endParaRPr lang="en-US"/>
        </a:p>
      </dgm:t>
    </dgm:pt>
    <dgm:pt modelId="{D94FD77D-9CAD-44A8-BDD6-64A164A63DA5}">
      <dgm:prSet/>
      <dgm:spPr/>
      <dgm:t>
        <a:bodyPr/>
        <a:lstStyle/>
        <a:p>
          <a:r>
            <a:rPr lang="en-US" dirty="0"/>
            <a:t>Submit a word document only include questions and answers</a:t>
          </a:r>
        </a:p>
      </dgm:t>
    </dgm:pt>
    <dgm:pt modelId="{E5E8C2A8-349C-4105-9D4E-61495D7BFAC6}" type="parTrans" cxnId="{66570FF7-113D-4B03-8FE8-083B547988F7}">
      <dgm:prSet/>
      <dgm:spPr/>
      <dgm:t>
        <a:bodyPr/>
        <a:lstStyle/>
        <a:p>
          <a:endParaRPr lang="en-US"/>
        </a:p>
      </dgm:t>
    </dgm:pt>
    <dgm:pt modelId="{7BCCFBD0-3288-4206-BCD2-A3E45D14F00E}" type="sibTrans" cxnId="{66570FF7-113D-4B03-8FE8-083B547988F7}">
      <dgm:prSet/>
      <dgm:spPr/>
      <dgm:t>
        <a:bodyPr/>
        <a:lstStyle/>
        <a:p>
          <a:endParaRPr lang="en-US"/>
        </a:p>
      </dgm:t>
    </dgm:pt>
    <dgm:pt modelId="{F7A36544-04F8-40F1-8884-6656243D9B4A}" type="pres">
      <dgm:prSet presAssocID="{58558967-EE36-415C-8E68-692195262EEF}" presName="root" presStyleCnt="0">
        <dgm:presLayoutVars>
          <dgm:dir/>
          <dgm:resizeHandles val="exact"/>
        </dgm:presLayoutVars>
      </dgm:prSet>
      <dgm:spPr/>
    </dgm:pt>
    <dgm:pt modelId="{A91082BD-0F75-411E-9111-0CDA9B2F7C97}" type="pres">
      <dgm:prSet presAssocID="{8CEBE678-D0F3-4B80-9A28-10FB829EA4E0}" presName="compNode" presStyleCnt="0"/>
      <dgm:spPr/>
    </dgm:pt>
    <dgm:pt modelId="{FC77A873-8D4F-42EC-BE53-6B75528193FE}" type="pres">
      <dgm:prSet presAssocID="{8CEBE678-D0F3-4B80-9A28-10FB829EA4E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FB045111-3EDA-4A90-A8EE-A1B921F7FEC0}" type="pres">
      <dgm:prSet presAssocID="{8CEBE678-D0F3-4B80-9A28-10FB829EA4E0}" presName="spaceRect" presStyleCnt="0"/>
      <dgm:spPr/>
    </dgm:pt>
    <dgm:pt modelId="{D0D615CF-6594-42E6-9ADB-4469CF0651F7}" type="pres">
      <dgm:prSet presAssocID="{8CEBE678-D0F3-4B80-9A28-10FB829EA4E0}" presName="textRect" presStyleLbl="revTx" presStyleIdx="0" presStyleCnt="2">
        <dgm:presLayoutVars>
          <dgm:chMax val="1"/>
          <dgm:chPref val="1"/>
        </dgm:presLayoutVars>
      </dgm:prSet>
      <dgm:spPr/>
    </dgm:pt>
    <dgm:pt modelId="{73A4AF06-F738-4440-A2B5-4BA330336276}" type="pres">
      <dgm:prSet presAssocID="{0474614A-4800-489E-8C0C-49CB52C3DC55}" presName="sibTrans" presStyleCnt="0"/>
      <dgm:spPr/>
    </dgm:pt>
    <dgm:pt modelId="{AB5EB62B-E43F-4BA1-B421-46ADB7880B24}" type="pres">
      <dgm:prSet presAssocID="{D94FD77D-9CAD-44A8-BDD6-64A164A63DA5}" presName="compNode" presStyleCnt="0"/>
      <dgm:spPr/>
    </dgm:pt>
    <dgm:pt modelId="{807EEA13-CE15-4A23-B195-E9BFFAB1B3BD}" type="pres">
      <dgm:prSet presAssocID="{D94FD77D-9CAD-44A8-BDD6-64A164A63DA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5AFE02D8-7F44-4E15-82DC-C8301AA3AC79}" type="pres">
      <dgm:prSet presAssocID="{D94FD77D-9CAD-44A8-BDD6-64A164A63DA5}" presName="spaceRect" presStyleCnt="0"/>
      <dgm:spPr/>
    </dgm:pt>
    <dgm:pt modelId="{FE1EDBCD-F046-4445-BD38-1F85012DC1C0}" type="pres">
      <dgm:prSet presAssocID="{D94FD77D-9CAD-44A8-BDD6-64A164A63DA5}" presName="textRect" presStyleLbl="revTx" presStyleIdx="1" presStyleCnt="2">
        <dgm:presLayoutVars>
          <dgm:chMax val="1"/>
          <dgm:chPref val="1"/>
        </dgm:presLayoutVars>
      </dgm:prSet>
      <dgm:spPr/>
    </dgm:pt>
  </dgm:ptLst>
  <dgm:cxnLst>
    <dgm:cxn modelId="{B1EF5211-C317-4FB3-82FA-2A6F1DF0CDDF}" type="presOf" srcId="{8CEBE678-D0F3-4B80-9A28-10FB829EA4E0}" destId="{D0D615CF-6594-42E6-9ADB-4469CF0651F7}" srcOrd="0" destOrd="0" presId="urn:microsoft.com/office/officeart/2018/2/layout/IconLabelList"/>
    <dgm:cxn modelId="{9992024F-8235-4E64-8784-945F67EC1DA6}" type="presOf" srcId="{58558967-EE36-415C-8E68-692195262EEF}" destId="{F7A36544-04F8-40F1-8884-6656243D9B4A}" srcOrd="0" destOrd="0" presId="urn:microsoft.com/office/officeart/2018/2/layout/IconLabelList"/>
    <dgm:cxn modelId="{808216C8-E4B1-4090-A9FC-4A17536C96BE}" srcId="{58558967-EE36-415C-8E68-692195262EEF}" destId="{8CEBE678-D0F3-4B80-9A28-10FB829EA4E0}" srcOrd="0" destOrd="0" parTransId="{9AB23A23-5C88-49B1-9A54-DC1EA912B647}" sibTransId="{0474614A-4800-489E-8C0C-49CB52C3DC55}"/>
    <dgm:cxn modelId="{66570FF7-113D-4B03-8FE8-083B547988F7}" srcId="{58558967-EE36-415C-8E68-692195262EEF}" destId="{D94FD77D-9CAD-44A8-BDD6-64A164A63DA5}" srcOrd="1" destOrd="0" parTransId="{E5E8C2A8-349C-4105-9D4E-61495D7BFAC6}" sibTransId="{7BCCFBD0-3288-4206-BCD2-A3E45D14F00E}"/>
    <dgm:cxn modelId="{CB6305F9-0E55-4573-AC34-BC5A87BABEA7}" type="presOf" srcId="{D94FD77D-9CAD-44A8-BDD6-64A164A63DA5}" destId="{FE1EDBCD-F046-4445-BD38-1F85012DC1C0}" srcOrd="0" destOrd="0" presId="urn:microsoft.com/office/officeart/2018/2/layout/IconLabelList"/>
    <dgm:cxn modelId="{D3B06D0A-5E7E-4EB0-B9B4-74ADB86081A9}" type="presParOf" srcId="{F7A36544-04F8-40F1-8884-6656243D9B4A}" destId="{A91082BD-0F75-411E-9111-0CDA9B2F7C97}" srcOrd="0" destOrd="0" presId="urn:microsoft.com/office/officeart/2018/2/layout/IconLabelList"/>
    <dgm:cxn modelId="{034E040D-6D35-47C0-A79C-A3E738905704}" type="presParOf" srcId="{A91082BD-0F75-411E-9111-0CDA9B2F7C97}" destId="{FC77A873-8D4F-42EC-BE53-6B75528193FE}" srcOrd="0" destOrd="0" presId="urn:microsoft.com/office/officeart/2018/2/layout/IconLabelList"/>
    <dgm:cxn modelId="{467EFEBC-522B-480C-83A8-FFC35328EE92}" type="presParOf" srcId="{A91082BD-0F75-411E-9111-0CDA9B2F7C97}" destId="{FB045111-3EDA-4A90-A8EE-A1B921F7FEC0}" srcOrd="1" destOrd="0" presId="urn:microsoft.com/office/officeart/2018/2/layout/IconLabelList"/>
    <dgm:cxn modelId="{16510116-EADB-4210-8E68-5EE21A5F58C0}" type="presParOf" srcId="{A91082BD-0F75-411E-9111-0CDA9B2F7C97}" destId="{D0D615CF-6594-42E6-9ADB-4469CF0651F7}" srcOrd="2" destOrd="0" presId="urn:microsoft.com/office/officeart/2018/2/layout/IconLabelList"/>
    <dgm:cxn modelId="{B696840E-3F0F-4321-9BC0-5D4A796554D4}" type="presParOf" srcId="{F7A36544-04F8-40F1-8884-6656243D9B4A}" destId="{73A4AF06-F738-4440-A2B5-4BA330336276}" srcOrd="1" destOrd="0" presId="urn:microsoft.com/office/officeart/2018/2/layout/IconLabelList"/>
    <dgm:cxn modelId="{F50C8625-98D9-4130-922F-6BC16FBE6F23}" type="presParOf" srcId="{F7A36544-04F8-40F1-8884-6656243D9B4A}" destId="{AB5EB62B-E43F-4BA1-B421-46ADB7880B24}" srcOrd="2" destOrd="0" presId="urn:microsoft.com/office/officeart/2018/2/layout/IconLabelList"/>
    <dgm:cxn modelId="{1D66BD16-B263-43F5-94BA-A4EC2A06FBBB}" type="presParOf" srcId="{AB5EB62B-E43F-4BA1-B421-46ADB7880B24}" destId="{807EEA13-CE15-4A23-B195-E9BFFAB1B3BD}" srcOrd="0" destOrd="0" presId="urn:microsoft.com/office/officeart/2018/2/layout/IconLabelList"/>
    <dgm:cxn modelId="{7AB0C354-4D4E-41CD-B90B-7A826C53D629}" type="presParOf" srcId="{AB5EB62B-E43F-4BA1-B421-46ADB7880B24}" destId="{5AFE02D8-7F44-4E15-82DC-C8301AA3AC79}" srcOrd="1" destOrd="0" presId="urn:microsoft.com/office/officeart/2018/2/layout/IconLabelList"/>
    <dgm:cxn modelId="{03587C1B-ED43-4EF9-BA33-995A0FC2E6A3}" type="presParOf" srcId="{AB5EB62B-E43F-4BA1-B421-46ADB7880B24}" destId="{FE1EDBCD-F046-4445-BD38-1F85012DC1C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77A873-8D4F-42EC-BE53-6B75528193FE}">
      <dsp:nvSpPr>
        <dsp:cNvPr id="0" name=""/>
        <dsp:cNvSpPr/>
      </dsp:nvSpPr>
      <dsp:spPr>
        <a:xfrm>
          <a:off x="2004974" y="340025"/>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0D615CF-6594-42E6-9ADB-4469CF0651F7}">
      <dsp:nvSpPr>
        <dsp:cNvPr id="0" name=""/>
        <dsp:cNvSpPr/>
      </dsp:nvSpPr>
      <dsp:spPr>
        <a:xfrm>
          <a:off x="816974" y="275425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Due by Midnight (11:59 pm) on Monday, Sep 1, 2025</a:t>
          </a:r>
        </a:p>
      </dsp:txBody>
      <dsp:txXfrm>
        <a:off x="816974" y="2754255"/>
        <a:ext cx="4320000" cy="720000"/>
      </dsp:txXfrm>
    </dsp:sp>
    <dsp:sp modelId="{807EEA13-CE15-4A23-B195-E9BFFAB1B3BD}">
      <dsp:nvSpPr>
        <dsp:cNvPr id="0" name=""/>
        <dsp:cNvSpPr/>
      </dsp:nvSpPr>
      <dsp:spPr>
        <a:xfrm>
          <a:off x="7080975" y="340025"/>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E1EDBCD-F046-4445-BD38-1F85012DC1C0}">
      <dsp:nvSpPr>
        <dsp:cNvPr id="0" name=""/>
        <dsp:cNvSpPr/>
      </dsp:nvSpPr>
      <dsp:spPr>
        <a:xfrm>
          <a:off x="5892975" y="275425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dirty="0"/>
            <a:t>Submit a word document only include questions and answers</a:t>
          </a:r>
        </a:p>
      </dsp:txBody>
      <dsp:txXfrm>
        <a:off x="5892975" y="2754255"/>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77616-8C77-4C41-B55F-F205E689F129}" type="datetimeFigureOut">
              <a:rPr lang="en-US" smtClean="0"/>
              <a:t>8/25/2025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A20324-739D-4E0C-9336-87AA17CCA423}" type="slidenum">
              <a:rPr lang="en-US" smtClean="0"/>
              <a:t>‹#›</a:t>
            </a:fld>
            <a:endParaRPr lang="en-US"/>
          </a:p>
        </p:txBody>
      </p:sp>
    </p:spTree>
    <p:extLst>
      <p:ext uri="{BB962C8B-B14F-4D97-AF65-F5344CB8AC3E}">
        <p14:creationId xmlns:p14="http://schemas.microsoft.com/office/powerpoint/2010/main" val="243447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sz="1600" dirty="0">
                <a:solidFill>
                  <a:schemeClr val="tx2"/>
                </a:solidFill>
              </a:rPr>
              <a:t>Next, let us go to the history of modern GIS.</a:t>
            </a:r>
          </a:p>
          <a:p>
            <a:pPr>
              <a:lnSpc>
                <a:spcPct val="90000"/>
              </a:lnSpc>
            </a:pPr>
            <a:endParaRPr lang="en-US" sz="1600" b="1" dirty="0">
              <a:solidFill>
                <a:schemeClr val="tx2"/>
              </a:solidFill>
            </a:endParaRPr>
          </a:p>
          <a:p>
            <a:pPr>
              <a:lnSpc>
                <a:spcPct val="90000"/>
              </a:lnSpc>
            </a:pPr>
            <a:r>
              <a:rPr lang="en-US" sz="1600" b="1" dirty="0">
                <a:solidFill>
                  <a:schemeClr val="tx2"/>
                </a:solidFill>
              </a:rPr>
              <a:t>During the early 1960s, </a:t>
            </a:r>
            <a:r>
              <a:rPr lang="en-US" sz="1600" dirty="0">
                <a:solidFill>
                  <a:schemeClr val="tx2"/>
                </a:solidFill>
              </a:rPr>
              <a:t>GIS started as computers and early concepts of quantitative and computational geography emerged.</a:t>
            </a:r>
            <a:r>
              <a:rPr lang="en-US" sz="1600" b="1" dirty="0">
                <a:solidFill>
                  <a:schemeClr val="tx2"/>
                </a:solidFill>
              </a:rPr>
              <a:t>  </a:t>
            </a:r>
            <a:r>
              <a:rPr lang="en-US" dirty="0">
                <a:solidFill>
                  <a:schemeClr val="tx2"/>
                </a:solidFill>
              </a:rPr>
              <a:t>Dr. Roger Tomlinson </a:t>
            </a:r>
            <a:r>
              <a:rPr lang="en-US" dirty="0"/>
              <a:t>has been acknowledged as the "father of GIS.“ His work on creating a manageable inventory of Canadian natural resources during 1960s is the first computerized GIS in the world. He also gave GIS its name.</a:t>
            </a:r>
            <a:endParaRPr lang="en-US" dirty="0">
              <a:solidFill>
                <a:schemeClr val="tx2"/>
              </a:solidFill>
            </a:endParaRPr>
          </a:p>
          <a:p>
            <a:pPr>
              <a:lnSpc>
                <a:spcPct val="90000"/>
              </a:lnSpc>
            </a:pPr>
            <a:endParaRPr lang="en-US" sz="1600" b="1" dirty="0">
              <a:solidFill>
                <a:schemeClr val="tx2"/>
              </a:solidFill>
            </a:endParaRPr>
          </a:p>
          <a:p>
            <a:pPr>
              <a:lnSpc>
                <a:spcPct val="90000"/>
              </a:lnSpc>
            </a:pPr>
            <a:r>
              <a:rPr lang="en-US" sz="1600" b="1" dirty="0">
                <a:solidFill>
                  <a:schemeClr val="tx2"/>
                </a:solidFill>
              </a:rPr>
              <a:t>1965: </a:t>
            </a:r>
            <a:r>
              <a:rPr lang="en-US" sz="1600" dirty="0">
                <a:solidFill>
                  <a:schemeClr val="tx2"/>
                </a:solidFill>
              </a:rPr>
              <a:t>Mr. Howard Fisher,</a:t>
            </a:r>
            <a:r>
              <a:rPr lang="en-US" dirty="0"/>
              <a:t> a Chicago architect,</a:t>
            </a:r>
            <a:r>
              <a:rPr lang="en-US" sz="1600" dirty="0">
                <a:solidFill>
                  <a:schemeClr val="tx2"/>
                </a:solidFill>
              </a:rPr>
              <a:t> established the Harvard Laboratory for Computer Graphics. Some of the first computer map-making software was created and refined at the Lab, such as one of the first mapping software SYMAP. Many of the early concepts of GIS and applications were also conceived at the lab.</a:t>
            </a:r>
          </a:p>
          <a:p>
            <a:pPr>
              <a:lnSpc>
                <a:spcPct val="90000"/>
              </a:lnSpc>
            </a:pPr>
            <a:endParaRPr lang="en-US" sz="1600" b="1" dirty="0">
              <a:solidFill>
                <a:schemeClr val="tx2"/>
              </a:solidFill>
            </a:endParaRPr>
          </a:p>
          <a:p>
            <a:pPr>
              <a:lnSpc>
                <a:spcPct val="90000"/>
              </a:lnSpc>
            </a:pPr>
            <a:r>
              <a:rPr lang="en-US" sz="1600" b="1" dirty="0">
                <a:solidFill>
                  <a:schemeClr val="tx2"/>
                </a:solidFill>
              </a:rPr>
              <a:t>1969: </a:t>
            </a:r>
            <a:r>
              <a:rPr lang="en-US" dirty="0">
                <a:solidFill>
                  <a:schemeClr val="tx2"/>
                </a:solidFill>
              </a:rPr>
              <a:t>Jack </a:t>
            </a:r>
            <a:r>
              <a:rPr lang="en-US" dirty="0" err="1">
                <a:solidFill>
                  <a:schemeClr val="tx2"/>
                </a:solidFill>
              </a:rPr>
              <a:t>Dangermond</a:t>
            </a:r>
            <a:r>
              <a:rPr lang="en-US" dirty="0">
                <a:solidFill>
                  <a:schemeClr val="tx2"/>
                </a:solidFill>
              </a:rPr>
              <a:t>, a member of the Harvard Lab and his wife Laura founded ESRI (Environmental Systems Research Institute). This consulting firm applied this computer mapping and spatial analysis to help land use planners and land resource managers make informed decisions. Now it develops and cover almost entire sectors. ERSI also developed toolboxes and work-flows, which are now standard of GIS. The ArcGIS created by ESRI are the most popular GIS software. </a:t>
            </a:r>
          </a:p>
          <a:p>
            <a:pPr>
              <a:lnSpc>
                <a:spcPct val="90000"/>
              </a:lnSpc>
            </a:pPr>
            <a:endParaRPr lang="en-US" dirty="0">
              <a:solidFill>
                <a:schemeClr val="tx2"/>
              </a:solidFill>
            </a:endParaRPr>
          </a:p>
          <a:p>
            <a:pPr>
              <a:lnSpc>
                <a:spcPct val="90000"/>
              </a:lnSpc>
            </a:pPr>
            <a:r>
              <a:rPr lang="en-US" sz="1600" b="1" dirty="0">
                <a:solidFill>
                  <a:schemeClr val="tx2"/>
                </a:solidFill>
              </a:rPr>
              <a:t>1970s:</a:t>
            </a:r>
            <a:r>
              <a:rPr lang="en-US" sz="1600" dirty="0">
                <a:solidFill>
                  <a:schemeClr val="tx2"/>
                </a:solidFill>
              </a:rPr>
              <a:t> During the era of satellite</a:t>
            </a:r>
            <a:r>
              <a:rPr lang="en-US" sz="1600" b="1" dirty="0">
                <a:solidFill>
                  <a:schemeClr val="tx2"/>
                </a:solidFill>
              </a:rPr>
              <a:t>, </a:t>
            </a:r>
            <a:r>
              <a:rPr lang="en-US" sz="1600" dirty="0">
                <a:solidFill>
                  <a:schemeClr val="tx2"/>
                </a:solidFill>
              </a:rPr>
              <a:t>starting around early 1970s</a:t>
            </a:r>
            <a:r>
              <a:rPr lang="en-US" sz="1600" b="1" dirty="0">
                <a:solidFill>
                  <a:schemeClr val="tx2"/>
                </a:solidFill>
              </a:rPr>
              <a:t>, </a:t>
            </a:r>
            <a:r>
              <a:rPr lang="en-US" dirty="0">
                <a:solidFill>
                  <a:schemeClr val="tx2"/>
                </a:solidFill>
              </a:rPr>
              <a:t>National agencies, such as NOAA and NASA developed very quickly to capture data from space.</a:t>
            </a:r>
          </a:p>
          <a:p>
            <a:pPr>
              <a:lnSpc>
                <a:spcPct val="90000"/>
              </a:lnSpc>
            </a:pPr>
            <a:endParaRPr lang="en-US" dirty="0">
              <a:solidFill>
                <a:schemeClr val="tx2"/>
              </a:solidFill>
            </a:endParaRPr>
          </a:p>
          <a:p>
            <a:pPr>
              <a:lnSpc>
                <a:spcPct val="90000"/>
              </a:lnSpc>
            </a:pPr>
            <a:r>
              <a:rPr lang="en-US" sz="1600" b="1" dirty="0">
                <a:solidFill>
                  <a:schemeClr val="tx2"/>
                </a:solidFill>
              </a:rPr>
              <a:t>1980s: </a:t>
            </a:r>
            <a:r>
              <a:rPr lang="en-US" dirty="0">
                <a:solidFill>
                  <a:schemeClr val="tx2"/>
                </a:solidFill>
              </a:rPr>
              <a:t>Commercial GIS emerged, such as the Arc/Info, the first commercial GIS software and </a:t>
            </a:r>
            <a:r>
              <a:rPr lang="en-US" dirty="0"/>
              <a:t> Mapping Display and Analysis System (the first desktop GIS product)</a:t>
            </a:r>
            <a:r>
              <a:rPr lang="en-US" dirty="0">
                <a:solidFill>
                  <a:schemeClr val="tx2"/>
                </a:solidFill>
              </a:rPr>
              <a:t> developed by </a:t>
            </a:r>
            <a:r>
              <a:rPr lang="en-US" dirty="0" err="1">
                <a:solidFill>
                  <a:schemeClr val="tx2"/>
                </a:solidFill>
              </a:rPr>
              <a:t>Manpinfo</a:t>
            </a:r>
            <a:r>
              <a:rPr lang="en-US" dirty="0">
                <a:solidFill>
                  <a:schemeClr val="tx2"/>
                </a:solidFill>
              </a:rPr>
              <a:t> cooperation.</a:t>
            </a:r>
          </a:p>
          <a:p>
            <a:pPr>
              <a:lnSpc>
                <a:spcPct val="90000"/>
              </a:lnSpc>
            </a:pPr>
            <a:endParaRPr lang="en-US" sz="1600" b="1" dirty="0">
              <a:solidFill>
                <a:schemeClr val="tx2"/>
              </a:solidFill>
            </a:endParaRPr>
          </a:p>
          <a:p>
            <a:pPr>
              <a:lnSpc>
                <a:spcPct val="90000"/>
              </a:lnSpc>
            </a:pPr>
            <a:r>
              <a:rPr lang="en-US" b="1" dirty="0"/>
              <a:t>Begin 1990s</a:t>
            </a:r>
            <a:r>
              <a:rPr lang="en-US" sz="1600" b="1" dirty="0">
                <a:solidFill>
                  <a:schemeClr val="tx2"/>
                </a:solidFill>
              </a:rPr>
              <a:t>: </a:t>
            </a:r>
            <a:r>
              <a:rPr lang="en-US" dirty="0">
                <a:solidFill>
                  <a:schemeClr val="tx2"/>
                </a:solidFill>
              </a:rPr>
              <a:t>Users started to explore GIS data through internet and mobile phone. And some open source software, such as QGIS is developing.</a:t>
            </a:r>
          </a:p>
          <a:p>
            <a:endParaRPr lang="en-US" dirty="0"/>
          </a:p>
          <a:p>
            <a:r>
              <a:rPr lang="en-US" b="1" dirty="0"/>
              <a:t>In the future: </a:t>
            </a:r>
            <a:r>
              <a:rPr lang="en-US" dirty="0"/>
              <a:t>Web and cloud computing GIS will continue developing. Integration with real-time information via the Internet of Things, GIS will become more dynamics.</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a:t>
            </a:fld>
            <a:endParaRPr lang="en-US"/>
          </a:p>
        </p:txBody>
      </p:sp>
    </p:spTree>
    <p:extLst>
      <p:ext uri="{BB962C8B-B14F-4D97-AF65-F5344CB8AC3E}">
        <p14:creationId xmlns:p14="http://schemas.microsoft.com/office/powerpoint/2010/main" val="169892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Geofencing alerts mobile workers when they enter or leave designated areas. Integrated routing, navigation, and wayfinding capabilities efficiently locate assets, whereas location sharing allows workers to view, record, and share their locations. Field Maps also supports advanced capabilities, including viewing and tracing utility networks, measuring distances, and placing points by distance along linear referenced features.</a:t>
            </a:r>
          </a:p>
          <a:p>
            <a:endParaRPr lang="en-US" dirty="0"/>
          </a:p>
        </p:txBody>
      </p:sp>
      <p:sp>
        <p:nvSpPr>
          <p:cNvPr id="4" name="Slide Number Placeholder 3"/>
          <p:cNvSpPr>
            <a:spLocks noGrp="1"/>
          </p:cNvSpPr>
          <p:nvPr>
            <p:ph type="sldNum" sz="quarter" idx="5"/>
          </p:nvPr>
        </p:nvSpPr>
        <p:spPr/>
        <p:txBody>
          <a:bodyPr/>
          <a:lstStyle/>
          <a:p>
            <a:fld id="{59A20324-739D-4E0C-9336-87AA17CCA423}" type="slidenum">
              <a:rPr lang="en-US" smtClean="0"/>
              <a:t>14</a:t>
            </a:fld>
            <a:endParaRPr lang="en-US"/>
          </a:p>
        </p:txBody>
      </p:sp>
    </p:spTree>
    <p:extLst>
      <p:ext uri="{BB962C8B-B14F-4D97-AF65-F5344CB8AC3E}">
        <p14:creationId xmlns:p14="http://schemas.microsoft.com/office/powerpoint/2010/main" val="3069355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26</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174210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27</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123823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8/25/2025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8847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8/25/2025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8046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8/25/2025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28415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8/25/2025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54358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8/25/2025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47247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8/25/2025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1808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971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8/25/2025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52926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8/25/2025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4585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8/25/2025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58072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8/25/2025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7642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415600" y="7965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463568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8/25/2025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522429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dirty="0"/>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8/25/2025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18780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8/25/2025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262236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8/25/2025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42946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8/25/2025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60881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8/25/2025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08132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091922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8/25/2025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562496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8/25/2025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512476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8/25/2025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40359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8/25/2025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8119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8/25/2025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64168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8/25/2025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1263370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esri.com/about/newsroom/arcuser/the-gis-thats-changing-traditional-emergency-response-and-recovery" TargetMode="External"/><Relationship Id="rId1" Type="http://schemas.openxmlformats.org/officeDocument/2006/relationships/slideLayout" Target="../slideLayouts/slideLayout2.xml"/><Relationship Id="rId5" Type="http://schemas.openxmlformats.org/officeDocument/2006/relationships/image" Target="../media/image9.gif"/><Relationship Id="rId4" Type="http://schemas.openxmlformats.org/officeDocument/2006/relationships/hyperlink" Target="https://www.esri.com/arcgis-blog/products/survey123/announcements/announcing-the-next-generation-of-arcgis-survey12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mediaspace.esri.com/media/1_q74jqwg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esri.com/en-us/gis-for-good#:~:text=More%20than%20680%2C000%20organizations%20use,help%20people%20and%20the%20planet." TargetMode="Externa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youtube.com/watch?v=fZjTZ-eu6rc&amp;ab_channel=IMDEANetworksInstitut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youtube.com/watch?v=5ja_oT26pFI&amp;ab_channel=TechIndex"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hyperlink" Target="https://www.esri.com/en-us/arcgis/products/living-atlas" TargetMode="Externa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ttps://www.youtube.com/watch?v=dG8hPA4bKUw&amp;ab_channel=ArcGI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s://www.youtube.com/watch?v=mxwF0k39fG0&amp;ab_channel=ArcGI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esri.com/about/newsroom/arcuser/the-gis-thats-changing-traditional-emergency-response-and-recovery"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esri.com/about/newsroom/arcnews/fire-department-improves-hydrant-inspections-with-arcgis-field-map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coronavirus.jhu.edu/map.html"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storymaps.arcgis.com/stories/6b168cb3aeb44c84b3ce04ca7fe5222e" TargetMode="External"/><Relationship Id="rId1" Type="http://schemas.openxmlformats.org/officeDocument/2006/relationships/slideLayout" Target="../slideLayouts/slideLayout2.xml"/><Relationship Id="rId4" Type="http://schemas.openxmlformats.org/officeDocument/2006/relationships/hyperlink" Target="https://www.esri.com/en-us/arcgis/products/arcgis-storymaps/contest/overview"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arcgis.com/apps/dashboards/018668be6bfc4c2abb75b04f931525e5"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hyperlink" Target="https://unstats.un.org/unsd/geoinfo/UNGEGN/docs/_data_ICAcourses/_HtmlModules/_Selfstudy/S06/S06_05a.html" TargetMode="External"/><Relationship Id="rId4" Type="http://schemas.openxmlformats.org/officeDocument/2006/relationships/image" Target="../media/image38.jpg"/></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20" y="0"/>
            <a:ext cx="12191980" cy="6857988"/>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059" y="457200"/>
            <a:ext cx="5010912"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5583" y="601197"/>
            <a:ext cx="5009388" cy="578936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14059" y="615037"/>
            <a:ext cx="5698585" cy="2959519"/>
          </a:xfrm>
        </p:spPr>
        <p:txBody>
          <a:bodyPr>
            <a:normAutofit fontScale="90000"/>
          </a:bodyPr>
          <a:lstStyle/>
          <a:p>
            <a:r>
              <a:rPr lang="en-US" sz="4000" dirty="0">
                <a:solidFill>
                  <a:srgbClr val="FFFFFF"/>
                </a:solidFill>
              </a:rPr>
              <a:t>WEEK 02 </a:t>
            </a:r>
            <a:br>
              <a:rPr lang="en-US" sz="4000" dirty="0">
                <a:solidFill>
                  <a:srgbClr val="FFFFFF"/>
                </a:solidFill>
              </a:rPr>
            </a:br>
            <a:br>
              <a:rPr lang="en-US" sz="4000" dirty="0">
                <a:solidFill>
                  <a:srgbClr val="FFFFFF"/>
                </a:solidFill>
              </a:rPr>
            </a:br>
            <a:r>
              <a:rPr lang="en-US" sz="4000" dirty="0">
                <a:solidFill>
                  <a:srgbClr val="FFFFFF"/>
                </a:solidFill>
              </a:rPr>
              <a:t>Field techniques</a:t>
            </a:r>
            <a:br>
              <a:rPr lang="en-US" sz="4000" dirty="0">
                <a:solidFill>
                  <a:srgbClr val="FFFFFF"/>
                </a:solidFill>
              </a:rPr>
            </a:br>
            <a:br>
              <a:rPr lang="en-US" sz="4000" dirty="0">
                <a:solidFill>
                  <a:srgbClr val="FFFFFF"/>
                </a:solidFill>
              </a:rPr>
            </a:br>
            <a:r>
              <a:rPr lang="en-US" sz="40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14059" y="3910129"/>
            <a:ext cx="4320228" cy="2277470"/>
          </a:xfrm>
        </p:spPr>
        <p:txBody>
          <a:bodyPr>
            <a:noAutofit/>
          </a:bodyPr>
          <a:lstStyle/>
          <a:p>
            <a:r>
              <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8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2.1</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Introduction to field techniques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735D0FBC-48F2-4D80-AAD1-AEB8FCCA86BC}"/>
              </a:ext>
            </a:extLst>
          </p:cNvPr>
          <p:cNvCxnSpPr>
            <a:cxnSpLocks/>
          </p:cNvCxnSpPr>
          <p:nvPr/>
        </p:nvCxnSpPr>
        <p:spPr>
          <a:xfrm>
            <a:off x="2085533" y="6137395"/>
            <a:ext cx="8496195" cy="46925"/>
          </a:xfrm>
          <a:prstGeom prst="line">
            <a:avLst/>
          </a:prstGeom>
          <a:ln w="76200">
            <a:gradFill flip="none" rotWithShape="1">
              <a:gsLst>
                <a:gs pos="0">
                  <a:schemeClr val="accent1">
                    <a:lumMod val="5000"/>
                    <a:lumOff val="95000"/>
                  </a:schemeClr>
                </a:gs>
                <a:gs pos="55000">
                  <a:schemeClr val="tx2"/>
                </a:gs>
                <a:gs pos="100000">
                  <a:schemeClr val="bg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83E3ABE-A21E-44F4-A4CB-D513F0249586}"/>
              </a:ext>
            </a:extLst>
          </p:cNvPr>
          <p:cNvSpPr>
            <a:spLocks noGrp="1"/>
          </p:cNvSpPr>
          <p:nvPr>
            <p:ph type="sldNum" sz="quarter" idx="12"/>
          </p:nvPr>
        </p:nvSpPr>
        <p:spPr/>
        <p:txBody>
          <a:bodyPr/>
          <a:lstStyle/>
          <a:p>
            <a:fld id="{4FFA5068-6C98-4B51-9190-23CE74466776}" type="slidenum">
              <a:rPr lang="en-US" smtClean="0">
                <a:solidFill>
                  <a:prstClr val="black"/>
                </a:solidFill>
              </a:rPr>
              <a:pPr/>
              <a:t>3</a:t>
            </a:fld>
            <a:endParaRPr lang="en-US" dirty="0">
              <a:solidFill>
                <a:prstClr val="black"/>
              </a:solidFill>
            </a:endParaRPr>
          </a:p>
        </p:txBody>
      </p:sp>
      <p:pic>
        <p:nvPicPr>
          <p:cNvPr id="5" name="Picture 4" descr="Dr. Roger Tomlinson">
            <a:extLst>
              <a:ext uri="{FF2B5EF4-FFF2-40B4-BE49-F238E27FC236}">
                <a16:creationId xmlns:a16="http://schemas.microsoft.com/office/drawing/2014/main" id="{5AF20C4C-6DCA-4191-A462-E2041338EDC1}"/>
              </a:ext>
            </a:extLst>
          </p:cNvPr>
          <p:cNvPicPr>
            <a:picLocks noChangeAspect="1"/>
          </p:cNvPicPr>
          <p:nvPr/>
        </p:nvPicPr>
        <p:blipFill>
          <a:blip r:embed="rId3"/>
          <a:stretch>
            <a:fillRect/>
          </a:stretch>
        </p:blipFill>
        <p:spPr>
          <a:xfrm>
            <a:off x="2576383" y="1297546"/>
            <a:ext cx="1156628" cy="1285673"/>
          </a:xfrm>
          <a:prstGeom prst="rect">
            <a:avLst/>
          </a:prstGeom>
        </p:spPr>
      </p:pic>
      <p:pic>
        <p:nvPicPr>
          <p:cNvPr id="4104" name="Picture 8" descr="Arc/info">
            <a:extLst>
              <a:ext uri="{FF2B5EF4-FFF2-40B4-BE49-F238E27FC236}">
                <a16:creationId xmlns:a16="http://schemas.microsoft.com/office/drawing/2014/main" id="{BA01289B-76E5-47AA-A97B-879F4AC2D06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4949" r="68333"/>
          <a:stretch/>
        </p:blipFill>
        <p:spPr bwMode="auto">
          <a:xfrm>
            <a:off x="4389213" y="1168469"/>
            <a:ext cx="2473401" cy="169232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5A90F3AB-B9DA-40FA-8730-CF033098AD46}"/>
              </a:ext>
            </a:extLst>
          </p:cNvPr>
          <p:cNvCxnSpPr/>
          <p:nvPr/>
        </p:nvCxnSpPr>
        <p:spPr>
          <a:xfrm>
            <a:off x="2085533" y="2860796"/>
            <a:ext cx="7433955" cy="0"/>
          </a:xfrm>
          <a:prstGeom prst="line">
            <a:avLst/>
          </a:prstGeom>
          <a:ln w="76200">
            <a:gradFill flip="none" rotWithShape="1">
              <a:gsLst>
                <a:gs pos="0">
                  <a:schemeClr val="accent1">
                    <a:lumMod val="5000"/>
                    <a:lumOff val="95000"/>
                  </a:schemeClr>
                </a:gs>
                <a:gs pos="55000">
                  <a:schemeClr val="tx2"/>
                </a:gs>
                <a:gs pos="100000">
                  <a:schemeClr val="bg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A5939CD-E69E-4664-84EA-B3F7AE5FDABA}"/>
              </a:ext>
            </a:extLst>
          </p:cNvPr>
          <p:cNvSpPr/>
          <p:nvPr/>
        </p:nvSpPr>
        <p:spPr>
          <a:xfrm>
            <a:off x="3094244" y="278081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E0288CD7-5E6E-44DC-8036-FBABD532C547}"/>
              </a:ext>
            </a:extLst>
          </p:cNvPr>
          <p:cNvSpPr/>
          <p:nvPr/>
        </p:nvSpPr>
        <p:spPr>
          <a:xfrm>
            <a:off x="5677822" y="278081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54BF094E-DD0B-4091-AA1A-CD721294D86B}"/>
              </a:ext>
            </a:extLst>
          </p:cNvPr>
          <p:cNvSpPr/>
          <p:nvPr/>
        </p:nvSpPr>
        <p:spPr>
          <a:xfrm>
            <a:off x="8318887" y="280067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1FBC1216-83B2-41A3-8D6B-83AEC02B2D25}"/>
              </a:ext>
            </a:extLst>
          </p:cNvPr>
          <p:cNvSpPr/>
          <p:nvPr/>
        </p:nvSpPr>
        <p:spPr>
          <a:xfrm>
            <a:off x="3074710" y="605741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B3CDC005-3AA8-4BBB-8454-E37778B3D944}"/>
              </a:ext>
            </a:extLst>
          </p:cNvPr>
          <p:cNvSpPr/>
          <p:nvPr/>
        </p:nvSpPr>
        <p:spPr>
          <a:xfrm>
            <a:off x="8383259" y="6047776"/>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2206128F-D49C-442A-9096-698EB47D13E9}"/>
              </a:ext>
            </a:extLst>
          </p:cNvPr>
          <p:cNvSpPr txBox="1"/>
          <p:nvPr/>
        </p:nvSpPr>
        <p:spPr>
          <a:xfrm>
            <a:off x="2120816" y="2983805"/>
            <a:ext cx="2010075" cy="892552"/>
          </a:xfrm>
          <a:prstGeom prst="rect">
            <a:avLst/>
          </a:prstGeom>
          <a:noFill/>
        </p:spPr>
        <p:txBody>
          <a:bodyPr wrap="square" rtlCol="0">
            <a:spAutoFit/>
          </a:bodyPr>
          <a:lstStyle/>
          <a:p>
            <a:r>
              <a:rPr lang="en-US" sz="2400" dirty="0">
                <a:solidFill>
                  <a:schemeClr val="tx2"/>
                </a:solidFill>
              </a:rPr>
              <a:t>         1960s </a:t>
            </a:r>
          </a:p>
          <a:p>
            <a:pPr algn="ctr"/>
            <a:r>
              <a:rPr lang="en-US" sz="1400" dirty="0">
                <a:solidFill>
                  <a:schemeClr val="tx2"/>
                </a:solidFill>
              </a:rPr>
              <a:t>Dr. Roger Tomlinson</a:t>
            </a:r>
          </a:p>
          <a:p>
            <a:pPr algn="ctr"/>
            <a:r>
              <a:rPr lang="en-US" sz="1400" dirty="0">
                <a:solidFill>
                  <a:schemeClr val="tx2"/>
                </a:solidFill>
              </a:rPr>
              <a:t>Canada GIS</a:t>
            </a:r>
          </a:p>
        </p:txBody>
      </p:sp>
      <p:sp>
        <p:nvSpPr>
          <p:cNvPr id="29" name="TextBox 28">
            <a:extLst>
              <a:ext uri="{FF2B5EF4-FFF2-40B4-BE49-F238E27FC236}">
                <a16:creationId xmlns:a16="http://schemas.microsoft.com/office/drawing/2014/main" id="{72B66007-4ECE-4A2A-AD99-DA0413E4C153}"/>
              </a:ext>
            </a:extLst>
          </p:cNvPr>
          <p:cNvSpPr txBox="1"/>
          <p:nvPr/>
        </p:nvSpPr>
        <p:spPr>
          <a:xfrm>
            <a:off x="2748082" y="6279635"/>
            <a:ext cx="1062924" cy="461665"/>
          </a:xfrm>
          <a:prstGeom prst="rect">
            <a:avLst/>
          </a:prstGeom>
          <a:noFill/>
        </p:spPr>
        <p:txBody>
          <a:bodyPr wrap="square" rtlCol="0">
            <a:spAutoFit/>
          </a:bodyPr>
          <a:lstStyle/>
          <a:p>
            <a:r>
              <a:rPr lang="en-US" sz="2400" dirty="0">
                <a:solidFill>
                  <a:schemeClr val="tx2"/>
                </a:solidFill>
              </a:rPr>
              <a:t>2010S</a:t>
            </a:r>
          </a:p>
        </p:txBody>
      </p:sp>
      <p:sp>
        <p:nvSpPr>
          <p:cNvPr id="10" name="Arrow: Right 9">
            <a:extLst>
              <a:ext uri="{FF2B5EF4-FFF2-40B4-BE49-F238E27FC236}">
                <a16:creationId xmlns:a16="http://schemas.microsoft.com/office/drawing/2014/main" id="{47F505CF-BEBE-4D33-AF41-4DF53B38ABAE}"/>
              </a:ext>
            </a:extLst>
          </p:cNvPr>
          <p:cNvSpPr/>
          <p:nvPr/>
        </p:nvSpPr>
        <p:spPr>
          <a:xfrm>
            <a:off x="4130891" y="2687416"/>
            <a:ext cx="513676" cy="323077"/>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Right 30">
            <a:extLst>
              <a:ext uri="{FF2B5EF4-FFF2-40B4-BE49-F238E27FC236}">
                <a16:creationId xmlns:a16="http://schemas.microsoft.com/office/drawing/2014/main" id="{D35B2ACD-4CED-4535-A2F8-AA56E949936B}"/>
              </a:ext>
            </a:extLst>
          </p:cNvPr>
          <p:cNvSpPr/>
          <p:nvPr/>
        </p:nvSpPr>
        <p:spPr>
          <a:xfrm>
            <a:off x="6928538" y="2688687"/>
            <a:ext cx="513676" cy="323077"/>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 name="Straight Connector 26">
            <a:extLst>
              <a:ext uri="{FF2B5EF4-FFF2-40B4-BE49-F238E27FC236}">
                <a16:creationId xmlns:a16="http://schemas.microsoft.com/office/drawing/2014/main" id="{7181B8CF-495E-4AF4-8681-99231843DACD}"/>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 name="Title 1">
            <a:extLst>
              <a:ext uri="{FF2B5EF4-FFF2-40B4-BE49-F238E27FC236}">
                <a16:creationId xmlns:a16="http://schemas.microsoft.com/office/drawing/2014/main" id="{8B0EB58A-6B11-4F3E-B1F2-CF58F801D7C1}"/>
              </a:ext>
            </a:extLst>
          </p:cNvPr>
          <p:cNvSpPr>
            <a:spLocks noGrp="1"/>
          </p:cNvSpPr>
          <p:nvPr>
            <p:ph type="title"/>
          </p:nvPr>
        </p:nvSpPr>
        <p:spPr>
          <a:xfrm>
            <a:off x="767644" y="57443"/>
            <a:ext cx="10769600" cy="1143000"/>
          </a:xfrm>
        </p:spPr>
        <p:txBody>
          <a:bodyPr>
            <a:normAutofit/>
          </a:bodyPr>
          <a:lstStyle/>
          <a:p>
            <a:pPr algn="l"/>
            <a:r>
              <a:rPr lang="en-US" sz="4267" dirty="0">
                <a:solidFill>
                  <a:srgbClr val="7030A0"/>
                </a:solidFill>
              </a:rPr>
              <a:t>History</a:t>
            </a:r>
          </a:p>
        </p:txBody>
      </p:sp>
      <p:sp>
        <p:nvSpPr>
          <p:cNvPr id="2" name="TextBox 1">
            <a:extLst>
              <a:ext uri="{FF2B5EF4-FFF2-40B4-BE49-F238E27FC236}">
                <a16:creationId xmlns:a16="http://schemas.microsoft.com/office/drawing/2014/main" id="{649243F2-C740-49A9-BCB8-1EBC93A4BAD1}"/>
              </a:ext>
            </a:extLst>
          </p:cNvPr>
          <p:cNvSpPr txBox="1"/>
          <p:nvPr/>
        </p:nvSpPr>
        <p:spPr>
          <a:xfrm>
            <a:off x="6928538" y="1273187"/>
            <a:ext cx="3338409" cy="461665"/>
          </a:xfrm>
          <a:prstGeom prst="rect">
            <a:avLst/>
          </a:prstGeom>
          <a:noFill/>
        </p:spPr>
        <p:txBody>
          <a:bodyPr wrap="square" rtlCol="0">
            <a:spAutoFit/>
          </a:bodyPr>
          <a:lstStyle/>
          <a:p>
            <a:pPr algn="ctr"/>
            <a:r>
              <a:rPr lang="en-US" sz="2400" dirty="0"/>
              <a:t>Web GIS 1.0</a:t>
            </a:r>
          </a:p>
        </p:txBody>
      </p:sp>
      <p:sp>
        <p:nvSpPr>
          <p:cNvPr id="11" name="Rectangle 10">
            <a:extLst>
              <a:ext uri="{FF2B5EF4-FFF2-40B4-BE49-F238E27FC236}">
                <a16:creationId xmlns:a16="http://schemas.microsoft.com/office/drawing/2014/main" id="{46F1DB6D-548F-40EC-9E71-96ABF90F01EE}"/>
              </a:ext>
            </a:extLst>
          </p:cNvPr>
          <p:cNvSpPr/>
          <p:nvPr/>
        </p:nvSpPr>
        <p:spPr>
          <a:xfrm>
            <a:off x="7518084" y="3054032"/>
            <a:ext cx="2010073" cy="461665"/>
          </a:xfrm>
          <a:prstGeom prst="rect">
            <a:avLst/>
          </a:prstGeom>
        </p:spPr>
        <p:txBody>
          <a:bodyPr wrap="square">
            <a:spAutoFit/>
          </a:bodyPr>
          <a:lstStyle/>
          <a:p>
            <a:pPr algn="ctr"/>
            <a:r>
              <a:rPr lang="en-US" sz="2400" dirty="0">
                <a:solidFill>
                  <a:schemeClr val="tx2"/>
                </a:solidFill>
              </a:rPr>
              <a:t>2000S</a:t>
            </a:r>
          </a:p>
        </p:txBody>
      </p:sp>
      <p:sp>
        <p:nvSpPr>
          <p:cNvPr id="13" name="Rectangle 12">
            <a:extLst>
              <a:ext uri="{FF2B5EF4-FFF2-40B4-BE49-F238E27FC236}">
                <a16:creationId xmlns:a16="http://schemas.microsoft.com/office/drawing/2014/main" id="{462DAFD4-3B3B-4996-8375-110D26145AFA}"/>
              </a:ext>
            </a:extLst>
          </p:cNvPr>
          <p:cNvSpPr/>
          <p:nvPr/>
        </p:nvSpPr>
        <p:spPr>
          <a:xfrm>
            <a:off x="4710491" y="2983422"/>
            <a:ext cx="2340774" cy="830997"/>
          </a:xfrm>
          <a:prstGeom prst="rect">
            <a:avLst/>
          </a:prstGeom>
        </p:spPr>
        <p:txBody>
          <a:bodyPr wrap="square">
            <a:spAutoFit/>
          </a:bodyPr>
          <a:lstStyle/>
          <a:p>
            <a:pPr algn="ctr"/>
            <a:r>
              <a:rPr lang="en-US" sz="2400" dirty="0">
                <a:solidFill>
                  <a:schemeClr val="tx2"/>
                </a:solidFill>
              </a:rPr>
              <a:t>1980s</a:t>
            </a:r>
          </a:p>
          <a:p>
            <a:pPr algn="ctr"/>
            <a:r>
              <a:rPr lang="en-US" sz="2400" dirty="0">
                <a:solidFill>
                  <a:schemeClr val="tx2"/>
                </a:solidFill>
              </a:rPr>
              <a:t>D</a:t>
            </a:r>
            <a:r>
              <a:rPr lang="en-US" altLang="zh-CN" sz="2400" dirty="0">
                <a:solidFill>
                  <a:schemeClr val="tx2"/>
                </a:solidFill>
              </a:rPr>
              <a:t>esktop GIS</a:t>
            </a:r>
            <a:endParaRPr lang="en-US" sz="2400" dirty="0"/>
          </a:p>
        </p:txBody>
      </p:sp>
      <p:sp>
        <p:nvSpPr>
          <p:cNvPr id="14" name="Rectangle 13">
            <a:extLst>
              <a:ext uri="{FF2B5EF4-FFF2-40B4-BE49-F238E27FC236}">
                <a16:creationId xmlns:a16="http://schemas.microsoft.com/office/drawing/2014/main" id="{0D47E72F-7F4C-4505-94F0-B0F92E8D0219}"/>
              </a:ext>
            </a:extLst>
          </p:cNvPr>
          <p:cNvSpPr/>
          <p:nvPr/>
        </p:nvSpPr>
        <p:spPr>
          <a:xfrm>
            <a:off x="7983853" y="6279636"/>
            <a:ext cx="926857" cy="461665"/>
          </a:xfrm>
          <a:prstGeom prst="rect">
            <a:avLst/>
          </a:prstGeom>
        </p:spPr>
        <p:txBody>
          <a:bodyPr wrap="none">
            <a:spAutoFit/>
          </a:bodyPr>
          <a:lstStyle/>
          <a:p>
            <a:r>
              <a:rPr lang="en-US" sz="2400" dirty="0"/>
              <a:t>2020s</a:t>
            </a:r>
          </a:p>
        </p:txBody>
      </p:sp>
      <p:sp>
        <p:nvSpPr>
          <p:cNvPr id="30" name="TextBox 29">
            <a:extLst>
              <a:ext uri="{FF2B5EF4-FFF2-40B4-BE49-F238E27FC236}">
                <a16:creationId xmlns:a16="http://schemas.microsoft.com/office/drawing/2014/main" id="{74AA8123-4606-4062-8661-EC2CB0941E08}"/>
              </a:ext>
            </a:extLst>
          </p:cNvPr>
          <p:cNvSpPr txBox="1"/>
          <p:nvPr/>
        </p:nvSpPr>
        <p:spPr>
          <a:xfrm>
            <a:off x="4130952" y="2362945"/>
            <a:ext cx="3208715" cy="461665"/>
          </a:xfrm>
          <a:prstGeom prst="rect">
            <a:avLst/>
          </a:prstGeom>
          <a:noFill/>
        </p:spPr>
        <p:txBody>
          <a:bodyPr wrap="square" rtlCol="0">
            <a:spAutoFit/>
          </a:bodyPr>
          <a:lstStyle/>
          <a:p>
            <a:pPr algn="ctr"/>
            <a:r>
              <a:rPr lang="en-US" sz="2400" dirty="0"/>
              <a:t>Arc/info, MapInfo</a:t>
            </a:r>
          </a:p>
        </p:txBody>
      </p:sp>
      <p:sp>
        <p:nvSpPr>
          <p:cNvPr id="3" name="TextBox 2">
            <a:extLst>
              <a:ext uri="{FF2B5EF4-FFF2-40B4-BE49-F238E27FC236}">
                <a16:creationId xmlns:a16="http://schemas.microsoft.com/office/drawing/2014/main" id="{560A187F-324D-8CAD-8908-1BD7AC44BA7A}"/>
              </a:ext>
            </a:extLst>
          </p:cNvPr>
          <p:cNvSpPr txBox="1"/>
          <p:nvPr/>
        </p:nvSpPr>
        <p:spPr>
          <a:xfrm>
            <a:off x="1290823" y="4263127"/>
            <a:ext cx="3926788" cy="461665"/>
          </a:xfrm>
          <a:prstGeom prst="rect">
            <a:avLst/>
          </a:prstGeom>
          <a:noFill/>
        </p:spPr>
        <p:txBody>
          <a:bodyPr wrap="square" rtlCol="0">
            <a:spAutoFit/>
          </a:bodyPr>
          <a:lstStyle/>
          <a:p>
            <a:pPr algn="ctr"/>
            <a:r>
              <a:rPr lang="en-US" sz="2400" dirty="0"/>
              <a:t>Mobile GIS&amp; Cloud</a:t>
            </a:r>
          </a:p>
        </p:txBody>
      </p:sp>
      <p:sp>
        <p:nvSpPr>
          <p:cNvPr id="16" name="TextBox 15">
            <a:extLst>
              <a:ext uri="{FF2B5EF4-FFF2-40B4-BE49-F238E27FC236}">
                <a16:creationId xmlns:a16="http://schemas.microsoft.com/office/drawing/2014/main" id="{4E846DF5-4B30-6F4E-1BC9-FEA586070A65}"/>
              </a:ext>
            </a:extLst>
          </p:cNvPr>
          <p:cNvSpPr txBox="1"/>
          <p:nvPr/>
        </p:nvSpPr>
        <p:spPr>
          <a:xfrm>
            <a:off x="6302327" y="4246208"/>
            <a:ext cx="4161863" cy="461665"/>
          </a:xfrm>
          <a:prstGeom prst="rect">
            <a:avLst/>
          </a:prstGeom>
          <a:noFill/>
        </p:spPr>
        <p:txBody>
          <a:bodyPr wrap="square" rtlCol="0">
            <a:spAutoFit/>
          </a:bodyPr>
          <a:lstStyle/>
          <a:p>
            <a:pPr algn="ctr"/>
            <a:r>
              <a:rPr lang="en-US" sz="2400" dirty="0"/>
              <a:t>Real-Time, 3D &amp; Integrated GIS</a:t>
            </a:r>
          </a:p>
        </p:txBody>
      </p:sp>
      <p:pic>
        <p:nvPicPr>
          <p:cNvPr id="18" name="Picture 17">
            <a:extLst>
              <a:ext uri="{FF2B5EF4-FFF2-40B4-BE49-F238E27FC236}">
                <a16:creationId xmlns:a16="http://schemas.microsoft.com/office/drawing/2014/main" id="{AAF3D823-0EA0-A678-372A-183088B28576}"/>
              </a:ext>
            </a:extLst>
          </p:cNvPr>
          <p:cNvPicPr>
            <a:picLocks noChangeAspect="1"/>
          </p:cNvPicPr>
          <p:nvPr/>
        </p:nvPicPr>
        <p:blipFill>
          <a:blip r:embed="rId5"/>
          <a:stretch>
            <a:fillRect/>
          </a:stretch>
        </p:blipFill>
        <p:spPr>
          <a:xfrm>
            <a:off x="8428686" y="1723666"/>
            <a:ext cx="2181604" cy="990314"/>
          </a:xfrm>
          <a:prstGeom prst="rect">
            <a:avLst/>
          </a:prstGeom>
        </p:spPr>
      </p:pic>
      <p:pic>
        <p:nvPicPr>
          <p:cNvPr id="36" name="Picture 35">
            <a:extLst>
              <a:ext uri="{FF2B5EF4-FFF2-40B4-BE49-F238E27FC236}">
                <a16:creationId xmlns:a16="http://schemas.microsoft.com/office/drawing/2014/main" id="{E2661C66-1758-A0D5-7ECE-FAAECEDD2A24}"/>
              </a:ext>
            </a:extLst>
          </p:cNvPr>
          <p:cNvPicPr>
            <a:picLocks noChangeAspect="1"/>
          </p:cNvPicPr>
          <p:nvPr/>
        </p:nvPicPr>
        <p:blipFill>
          <a:blip r:embed="rId6"/>
          <a:stretch>
            <a:fillRect/>
          </a:stretch>
        </p:blipFill>
        <p:spPr>
          <a:xfrm>
            <a:off x="2352217" y="4802241"/>
            <a:ext cx="1764931" cy="1255169"/>
          </a:xfrm>
          <a:prstGeom prst="rect">
            <a:avLst/>
          </a:prstGeom>
        </p:spPr>
      </p:pic>
      <p:pic>
        <p:nvPicPr>
          <p:cNvPr id="41" name="Picture 40">
            <a:extLst>
              <a:ext uri="{FF2B5EF4-FFF2-40B4-BE49-F238E27FC236}">
                <a16:creationId xmlns:a16="http://schemas.microsoft.com/office/drawing/2014/main" id="{1A4AF5D9-2A56-F70F-3096-7870F0121F4D}"/>
              </a:ext>
            </a:extLst>
          </p:cNvPr>
          <p:cNvPicPr>
            <a:picLocks noChangeAspect="1"/>
          </p:cNvPicPr>
          <p:nvPr/>
        </p:nvPicPr>
        <p:blipFill>
          <a:blip r:embed="rId7"/>
          <a:stretch>
            <a:fillRect/>
          </a:stretch>
        </p:blipFill>
        <p:spPr>
          <a:xfrm>
            <a:off x="6455297" y="4684944"/>
            <a:ext cx="2142445" cy="1339403"/>
          </a:xfrm>
          <a:prstGeom prst="rect">
            <a:avLst/>
          </a:prstGeom>
        </p:spPr>
      </p:pic>
      <p:pic>
        <p:nvPicPr>
          <p:cNvPr id="43" name="Picture 42">
            <a:extLst>
              <a:ext uri="{FF2B5EF4-FFF2-40B4-BE49-F238E27FC236}">
                <a16:creationId xmlns:a16="http://schemas.microsoft.com/office/drawing/2014/main" id="{575AB4EF-1BA6-ADAB-E93F-C58FCF9BF80E}"/>
              </a:ext>
            </a:extLst>
          </p:cNvPr>
          <p:cNvPicPr>
            <a:picLocks noChangeAspect="1"/>
          </p:cNvPicPr>
          <p:nvPr/>
        </p:nvPicPr>
        <p:blipFill>
          <a:blip r:embed="rId8"/>
          <a:stretch>
            <a:fillRect/>
          </a:stretch>
        </p:blipFill>
        <p:spPr>
          <a:xfrm>
            <a:off x="8886933" y="4724792"/>
            <a:ext cx="2197622" cy="1309464"/>
          </a:xfrm>
          <a:prstGeom prst="rect">
            <a:avLst/>
          </a:prstGeom>
        </p:spPr>
      </p:pic>
    </p:spTree>
    <p:extLst>
      <p:ext uri="{BB962C8B-B14F-4D97-AF65-F5344CB8AC3E}">
        <p14:creationId xmlns:p14="http://schemas.microsoft.com/office/powerpoint/2010/main" val="214630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3" grpId="0" animBg="1"/>
      <p:bldP spid="29" grpId="0"/>
      <p:bldP spid="10" grpId="0" animBg="1"/>
      <p:bldP spid="31" grpId="0" animBg="1"/>
      <p:bldP spid="2" grpId="0"/>
      <p:bldP spid="11" grpId="0"/>
      <p:bldP spid="13" grpId="0"/>
      <p:bldP spid="14" grpId="0"/>
      <p:bldP spid="30" grpId="0"/>
      <p:bldP spid="3"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2187E-792F-4F41-C50B-8F8830306AC0}"/>
              </a:ext>
            </a:extLst>
          </p:cNvPr>
          <p:cNvSpPr>
            <a:spLocks noGrp="1"/>
          </p:cNvSpPr>
          <p:nvPr>
            <p:ph type="title"/>
          </p:nvPr>
        </p:nvSpPr>
        <p:spPr>
          <a:xfrm>
            <a:off x="500805" y="610730"/>
            <a:ext cx="11029616" cy="543840"/>
          </a:xfrm>
        </p:spPr>
        <p:txBody>
          <a:bodyPr/>
          <a:lstStyle/>
          <a:p>
            <a:r>
              <a:rPr lang="en-US" dirty="0"/>
              <a:t>Geographic field techniques</a:t>
            </a:r>
          </a:p>
        </p:txBody>
      </p:sp>
      <p:sp>
        <p:nvSpPr>
          <p:cNvPr id="3" name="Content Placeholder 2">
            <a:extLst>
              <a:ext uri="{FF2B5EF4-FFF2-40B4-BE49-F238E27FC236}">
                <a16:creationId xmlns:a16="http://schemas.microsoft.com/office/drawing/2014/main" id="{962A7F55-0855-0EC6-96C5-4A477DCBA8CB}"/>
              </a:ext>
            </a:extLst>
          </p:cNvPr>
          <p:cNvSpPr>
            <a:spLocks noGrp="1"/>
          </p:cNvSpPr>
          <p:nvPr>
            <p:ph idx="1"/>
          </p:nvPr>
        </p:nvSpPr>
        <p:spPr>
          <a:xfrm>
            <a:off x="581191" y="1189299"/>
            <a:ext cx="11029615" cy="774125"/>
          </a:xfrm>
        </p:spPr>
        <p:txBody>
          <a:bodyPr>
            <a:normAutofit/>
          </a:bodyPr>
          <a:lstStyle/>
          <a:p>
            <a:r>
              <a:rPr lang="en-US" sz="2400" b="1" dirty="0"/>
              <a:t>Why Mobile &amp; Web GIS Matter</a:t>
            </a:r>
            <a:endParaRPr lang="en-US" sz="2400" dirty="0"/>
          </a:p>
        </p:txBody>
      </p:sp>
      <p:sp>
        <p:nvSpPr>
          <p:cNvPr id="7" name="TextBox 6">
            <a:extLst>
              <a:ext uri="{FF2B5EF4-FFF2-40B4-BE49-F238E27FC236}">
                <a16:creationId xmlns:a16="http://schemas.microsoft.com/office/drawing/2014/main" id="{921B4CCF-BB92-4C10-7654-DB854C0261DF}"/>
              </a:ext>
            </a:extLst>
          </p:cNvPr>
          <p:cNvSpPr txBox="1"/>
          <p:nvPr/>
        </p:nvSpPr>
        <p:spPr>
          <a:xfrm>
            <a:off x="581191" y="1892840"/>
            <a:ext cx="5216708" cy="830997"/>
          </a:xfrm>
          <a:prstGeom prst="rect">
            <a:avLst/>
          </a:prstGeom>
          <a:noFill/>
        </p:spPr>
        <p:txBody>
          <a:bodyPr wrap="square">
            <a:spAutoFit/>
          </a:bodyPr>
          <a:lstStyle/>
          <a:p>
            <a:r>
              <a:rPr lang="en-US" sz="2400" dirty="0"/>
              <a:t>Accessibility: Anyone with a phone can collect data.</a:t>
            </a:r>
          </a:p>
        </p:txBody>
      </p:sp>
      <p:sp>
        <p:nvSpPr>
          <p:cNvPr id="11" name="TextBox 10">
            <a:extLst>
              <a:ext uri="{FF2B5EF4-FFF2-40B4-BE49-F238E27FC236}">
                <a16:creationId xmlns:a16="http://schemas.microsoft.com/office/drawing/2014/main" id="{B779DF87-4716-CD2D-0308-AE9CCE8F1A70}"/>
              </a:ext>
            </a:extLst>
          </p:cNvPr>
          <p:cNvSpPr txBox="1"/>
          <p:nvPr/>
        </p:nvSpPr>
        <p:spPr>
          <a:xfrm>
            <a:off x="5797899" y="2873678"/>
            <a:ext cx="2716632" cy="1938992"/>
          </a:xfrm>
          <a:prstGeom prst="rect">
            <a:avLst/>
          </a:prstGeom>
          <a:noFill/>
        </p:spPr>
        <p:txBody>
          <a:bodyPr wrap="square">
            <a:spAutoFit/>
          </a:bodyPr>
          <a:lstStyle/>
          <a:p>
            <a:r>
              <a:rPr lang="en-US" sz="2400" dirty="0"/>
              <a:t>Location awareness: Technologies enable precise location tracking of mobile devices</a:t>
            </a:r>
          </a:p>
        </p:txBody>
      </p:sp>
      <p:pic>
        <p:nvPicPr>
          <p:cNvPr id="8" name="Picture 7">
            <a:hlinkClick r:id="rId2"/>
            <a:extLst>
              <a:ext uri="{FF2B5EF4-FFF2-40B4-BE49-F238E27FC236}">
                <a16:creationId xmlns:a16="http://schemas.microsoft.com/office/drawing/2014/main" id="{E754DC30-E5A0-A3B0-FEC6-704DE7B23D3F}"/>
              </a:ext>
            </a:extLst>
          </p:cNvPr>
          <p:cNvPicPr>
            <a:picLocks noChangeAspect="1"/>
          </p:cNvPicPr>
          <p:nvPr/>
        </p:nvPicPr>
        <p:blipFill>
          <a:blip r:embed="rId3"/>
          <a:stretch>
            <a:fillRect/>
          </a:stretch>
        </p:blipFill>
        <p:spPr>
          <a:xfrm>
            <a:off x="1410207" y="3310540"/>
            <a:ext cx="3446605" cy="3004260"/>
          </a:xfrm>
          <a:prstGeom prst="rect">
            <a:avLst/>
          </a:prstGeom>
        </p:spPr>
      </p:pic>
      <p:pic>
        <p:nvPicPr>
          <p:cNvPr id="1026" name="Picture 2" descr="Survey123 - Mapping and Location">
            <a:hlinkClick r:id="rId4"/>
            <a:extLst>
              <a:ext uri="{FF2B5EF4-FFF2-40B4-BE49-F238E27FC236}">
                <a16:creationId xmlns:a16="http://schemas.microsoft.com/office/drawing/2014/main" id="{973D9035-908D-4FAA-616B-8C9FC1752F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3506" y="708495"/>
            <a:ext cx="3267099" cy="6082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0225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C30291-4160-E787-F666-6FCC5D7ED82A}"/>
              </a:ext>
            </a:extLst>
          </p:cNvPr>
          <p:cNvSpPr>
            <a:spLocks noGrp="1"/>
          </p:cNvSpPr>
          <p:nvPr>
            <p:ph idx="1"/>
          </p:nvPr>
        </p:nvSpPr>
        <p:spPr>
          <a:xfrm>
            <a:off x="0" y="1192719"/>
            <a:ext cx="12082072" cy="1862806"/>
          </a:xfrm>
        </p:spPr>
        <p:txBody>
          <a:bodyPr>
            <a:normAutofit/>
          </a:bodyPr>
          <a:lstStyle/>
          <a:p>
            <a:pPr marL="0" indent="0">
              <a:buNone/>
            </a:pPr>
            <a:r>
              <a:rPr lang="en-US" sz="2400" dirty="0"/>
              <a:t>Versatile communication tools: Mobile devices integrate with various communication methods to facilitate effective collaboration and communication among professionals and the public.</a:t>
            </a:r>
          </a:p>
        </p:txBody>
      </p:sp>
      <p:sp>
        <p:nvSpPr>
          <p:cNvPr id="4" name="Title 1">
            <a:extLst>
              <a:ext uri="{FF2B5EF4-FFF2-40B4-BE49-F238E27FC236}">
                <a16:creationId xmlns:a16="http://schemas.microsoft.com/office/drawing/2014/main" id="{1A42295C-0C36-D17A-C82A-3956C4D43B21}"/>
              </a:ext>
            </a:extLst>
          </p:cNvPr>
          <p:cNvSpPr txBox="1">
            <a:spLocks/>
          </p:cNvSpPr>
          <p:nvPr/>
        </p:nvSpPr>
        <p:spPr>
          <a:xfrm>
            <a:off x="500805" y="610730"/>
            <a:ext cx="11029616" cy="543840"/>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Geographic field techniques</a:t>
            </a:r>
          </a:p>
        </p:txBody>
      </p:sp>
      <p:sp>
        <p:nvSpPr>
          <p:cNvPr id="5" name="Content Placeholder 2">
            <a:extLst>
              <a:ext uri="{FF2B5EF4-FFF2-40B4-BE49-F238E27FC236}">
                <a16:creationId xmlns:a16="http://schemas.microsoft.com/office/drawing/2014/main" id="{6C189BBD-0DC4-8EA1-0951-7DAC96D6B093}"/>
              </a:ext>
            </a:extLst>
          </p:cNvPr>
          <p:cNvSpPr txBox="1">
            <a:spLocks/>
          </p:cNvSpPr>
          <p:nvPr/>
        </p:nvSpPr>
        <p:spPr>
          <a:xfrm>
            <a:off x="581191" y="1189299"/>
            <a:ext cx="11029615" cy="774125"/>
          </a:xfrm>
          <a:prstGeom prst="rect">
            <a:avLst/>
          </a:prstGeom>
        </p:spPr>
        <p:txBody>
          <a:bodyPr vert="horz" lIns="91440" tIns="45720" rIns="91440" bIns="45720" rtlCol="0" anchor="ctr">
            <a:normAutofit/>
          </a:bodyPr>
          <a:lst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Why Mobile &amp; Web GIS Matter</a:t>
            </a:r>
            <a:endParaRPr lang="en-US" sz="2400" dirty="0"/>
          </a:p>
        </p:txBody>
      </p:sp>
      <p:pic>
        <p:nvPicPr>
          <p:cNvPr id="8" name="Picture 7">
            <a:hlinkClick r:id="rId2"/>
            <a:extLst>
              <a:ext uri="{FF2B5EF4-FFF2-40B4-BE49-F238E27FC236}">
                <a16:creationId xmlns:a16="http://schemas.microsoft.com/office/drawing/2014/main" id="{9627C1A2-2447-D55A-01A2-FFB0AB41D753}"/>
              </a:ext>
            </a:extLst>
          </p:cNvPr>
          <p:cNvPicPr>
            <a:picLocks noChangeAspect="1"/>
          </p:cNvPicPr>
          <p:nvPr/>
        </p:nvPicPr>
        <p:blipFill>
          <a:blip r:embed="rId3"/>
          <a:stretch>
            <a:fillRect/>
          </a:stretch>
        </p:blipFill>
        <p:spPr>
          <a:xfrm>
            <a:off x="3685710" y="2669181"/>
            <a:ext cx="5758092" cy="3910223"/>
          </a:xfrm>
          <a:prstGeom prst="rect">
            <a:avLst/>
          </a:prstGeom>
        </p:spPr>
      </p:pic>
    </p:spTree>
    <p:extLst>
      <p:ext uri="{BB962C8B-B14F-4D97-AF65-F5344CB8AC3E}">
        <p14:creationId xmlns:p14="http://schemas.microsoft.com/office/powerpoint/2010/main" val="3093956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DDA921-720C-3AEC-48DB-5BA64EFB4AC9}"/>
              </a:ext>
            </a:extLst>
          </p:cNvPr>
          <p:cNvSpPr>
            <a:spLocks noGrp="1"/>
          </p:cNvSpPr>
          <p:nvPr>
            <p:ph idx="1"/>
          </p:nvPr>
        </p:nvSpPr>
        <p:spPr>
          <a:xfrm>
            <a:off x="722199" y="1963424"/>
            <a:ext cx="11029615" cy="1303774"/>
          </a:xfrm>
        </p:spPr>
        <p:txBody>
          <a:bodyPr>
            <a:noAutofit/>
          </a:bodyPr>
          <a:lstStyle/>
          <a:p>
            <a:pPr marL="0" indent="0">
              <a:buNone/>
            </a:pPr>
            <a:r>
              <a:rPr lang="en-US" sz="2400" dirty="0"/>
              <a:t>Widespread accessibility: The ubiquity of smartphones, tablets, and smartwatches has made GIS accessible to billions, significantly expanding the user base and applications of GIS.</a:t>
            </a:r>
          </a:p>
        </p:txBody>
      </p:sp>
      <p:sp>
        <p:nvSpPr>
          <p:cNvPr id="4" name="Title 1">
            <a:extLst>
              <a:ext uri="{FF2B5EF4-FFF2-40B4-BE49-F238E27FC236}">
                <a16:creationId xmlns:a16="http://schemas.microsoft.com/office/drawing/2014/main" id="{D6E14790-CE81-4888-3C4A-C17C730BE18B}"/>
              </a:ext>
            </a:extLst>
          </p:cNvPr>
          <p:cNvSpPr txBox="1">
            <a:spLocks/>
          </p:cNvSpPr>
          <p:nvPr/>
        </p:nvSpPr>
        <p:spPr>
          <a:xfrm>
            <a:off x="500805" y="610730"/>
            <a:ext cx="11029616" cy="543840"/>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Geographic field techniques</a:t>
            </a:r>
          </a:p>
        </p:txBody>
      </p:sp>
      <p:sp>
        <p:nvSpPr>
          <p:cNvPr id="5" name="Content Placeholder 2">
            <a:extLst>
              <a:ext uri="{FF2B5EF4-FFF2-40B4-BE49-F238E27FC236}">
                <a16:creationId xmlns:a16="http://schemas.microsoft.com/office/drawing/2014/main" id="{D3F8A8B0-CDC4-BA7A-9C09-B52DCC368948}"/>
              </a:ext>
            </a:extLst>
          </p:cNvPr>
          <p:cNvSpPr txBox="1">
            <a:spLocks/>
          </p:cNvSpPr>
          <p:nvPr/>
        </p:nvSpPr>
        <p:spPr>
          <a:xfrm>
            <a:off x="581191" y="1189299"/>
            <a:ext cx="11029615" cy="774125"/>
          </a:xfrm>
          <a:prstGeom prst="rect">
            <a:avLst/>
          </a:prstGeom>
        </p:spPr>
        <p:txBody>
          <a:bodyPr vert="horz" lIns="91440" tIns="45720" rIns="91440" bIns="45720" rtlCol="0" anchor="ctr">
            <a:normAutofit/>
          </a:bodyPr>
          <a:lst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Why Mobile &amp; Web GIS Matter</a:t>
            </a:r>
            <a:endParaRPr lang="en-US" sz="2400" dirty="0"/>
          </a:p>
        </p:txBody>
      </p:sp>
      <p:sp>
        <p:nvSpPr>
          <p:cNvPr id="6" name="TextBox 5">
            <a:extLst>
              <a:ext uri="{FF2B5EF4-FFF2-40B4-BE49-F238E27FC236}">
                <a16:creationId xmlns:a16="http://schemas.microsoft.com/office/drawing/2014/main" id="{D892C5F2-4D22-BF5E-70CB-A5EF011AEA0D}"/>
              </a:ext>
            </a:extLst>
          </p:cNvPr>
          <p:cNvSpPr txBox="1"/>
          <p:nvPr/>
        </p:nvSpPr>
        <p:spPr>
          <a:xfrm>
            <a:off x="1612535" y="3273354"/>
            <a:ext cx="10280287" cy="369332"/>
          </a:xfrm>
          <a:prstGeom prst="rect">
            <a:avLst/>
          </a:prstGeom>
          <a:noFill/>
        </p:spPr>
        <p:txBody>
          <a:bodyPr wrap="square">
            <a:spAutoFit/>
          </a:bodyPr>
          <a:lstStyle/>
          <a:p>
            <a:r>
              <a:rPr lang="en-US" b="0" i="1" dirty="0">
                <a:solidFill>
                  <a:srgbClr val="151515"/>
                </a:solidFill>
                <a:effectLst/>
                <a:latin typeface="Avenir Next"/>
              </a:rPr>
              <a:t>More than 680,000 organizations use GIS to understand, plan for, and solve the world’s complex problems. </a:t>
            </a:r>
            <a:endParaRPr lang="en-US" i="1" dirty="0"/>
          </a:p>
        </p:txBody>
      </p:sp>
      <p:pic>
        <p:nvPicPr>
          <p:cNvPr id="8" name="Picture 7">
            <a:hlinkClick r:id="rId2"/>
            <a:extLst>
              <a:ext uri="{FF2B5EF4-FFF2-40B4-BE49-F238E27FC236}">
                <a16:creationId xmlns:a16="http://schemas.microsoft.com/office/drawing/2014/main" id="{B72B9156-FE84-57EC-5DF2-8014FF77B168}"/>
              </a:ext>
            </a:extLst>
          </p:cNvPr>
          <p:cNvPicPr>
            <a:picLocks noChangeAspect="1"/>
          </p:cNvPicPr>
          <p:nvPr/>
        </p:nvPicPr>
        <p:blipFill>
          <a:blip r:embed="rId3"/>
          <a:stretch>
            <a:fillRect/>
          </a:stretch>
        </p:blipFill>
        <p:spPr>
          <a:xfrm>
            <a:off x="167563" y="4190409"/>
            <a:ext cx="4116464" cy="2328704"/>
          </a:xfrm>
          <a:prstGeom prst="rect">
            <a:avLst/>
          </a:prstGeom>
        </p:spPr>
      </p:pic>
      <p:pic>
        <p:nvPicPr>
          <p:cNvPr id="10" name="Picture 9">
            <a:extLst>
              <a:ext uri="{FF2B5EF4-FFF2-40B4-BE49-F238E27FC236}">
                <a16:creationId xmlns:a16="http://schemas.microsoft.com/office/drawing/2014/main" id="{C4B0A7F5-E825-2A7D-DEB3-97BFFA6A3754}"/>
              </a:ext>
            </a:extLst>
          </p:cNvPr>
          <p:cNvPicPr>
            <a:picLocks noChangeAspect="1"/>
          </p:cNvPicPr>
          <p:nvPr/>
        </p:nvPicPr>
        <p:blipFill>
          <a:blip r:embed="rId4"/>
          <a:stretch>
            <a:fillRect/>
          </a:stretch>
        </p:blipFill>
        <p:spPr>
          <a:xfrm>
            <a:off x="3535693" y="3860322"/>
            <a:ext cx="4372282" cy="2386948"/>
          </a:xfrm>
          <a:prstGeom prst="rect">
            <a:avLst/>
          </a:prstGeom>
        </p:spPr>
      </p:pic>
      <p:pic>
        <p:nvPicPr>
          <p:cNvPr id="12" name="Picture 11">
            <a:extLst>
              <a:ext uri="{FF2B5EF4-FFF2-40B4-BE49-F238E27FC236}">
                <a16:creationId xmlns:a16="http://schemas.microsoft.com/office/drawing/2014/main" id="{74F12834-A175-57E4-4403-4ECD87EAE903}"/>
              </a:ext>
            </a:extLst>
          </p:cNvPr>
          <p:cNvPicPr>
            <a:picLocks noChangeAspect="1"/>
          </p:cNvPicPr>
          <p:nvPr/>
        </p:nvPicPr>
        <p:blipFill>
          <a:blip r:embed="rId5"/>
          <a:stretch>
            <a:fillRect/>
          </a:stretch>
        </p:blipFill>
        <p:spPr>
          <a:xfrm>
            <a:off x="7325781" y="4944320"/>
            <a:ext cx="2912500" cy="1731898"/>
          </a:xfrm>
          <a:prstGeom prst="rect">
            <a:avLst/>
          </a:prstGeom>
        </p:spPr>
      </p:pic>
      <p:pic>
        <p:nvPicPr>
          <p:cNvPr id="14" name="Picture 13">
            <a:extLst>
              <a:ext uri="{FF2B5EF4-FFF2-40B4-BE49-F238E27FC236}">
                <a16:creationId xmlns:a16="http://schemas.microsoft.com/office/drawing/2014/main" id="{95C75247-F711-E75E-1A95-BAFD4F3E8686}"/>
              </a:ext>
            </a:extLst>
          </p:cNvPr>
          <p:cNvPicPr>
            <a:picLocks noChangeAspect="1"/>
          </p:cNvPicPr>
          <p:nvPr/>
        </p:nvPicPr>
        <p:blipFill>
          <a:blip r:embed="rId6"/>
          <a:stretch>
            <a:fillRect/>
          </a:stretch>
        </p:blipFill>
        <p:spPr>
          <a:xfrm>
            <a:off x="8974653" y="3860322"/>
            <a:ext cx="3049784" cy="1706809"/>
          </a:xfrm>
          <a:prstGeom prst="rect">
            <a:avLst/>
          </a:prstGeom>
        </p:spPr>
      </p:pic>
      <p:sp>
        <p:nvSpPr>
          <p:cNvPr id="15" name="TextBox 14">
            <a:extLst>
              <a:ext uri="{FF2B5EF4-FFF2-40B4-BE49-F238E27FC236}">
                <a16:creationId xmlns:a16="http://schemas.microsoft.com/office/drawing/2014/main" id="{FF4954F3-640F-997B-8215-6093C362FCE2}"/>
              </a:ext>
            </a:extLst>
          </p:cNvPr>
          <p:cNvSpPr txBox="1"/>
          <p:nvPr/>
        </p:nvSpPr>
        <p:spPr>
          <a:xfrm>
            <a:off x="500805" y="3788107"/>
            <a:ext cx="3399607" cy="369332"/>
          </a:xfrm>
          <a:prstGeom prst="rect">
            <a:avLst/>
          </a:prstGeom>
          <a:noFill/>
        </p:spPr>
        <p:txBody>
          <a:bodyPr wrap="square" rtlCol="0">
            <a:spAutoFit/>
          </a:bodyPr>
          <a:lstStyle/>
          <a:p>
            <a:r>
              <a:rPr lang="en-US" dirty="0">
                <a:solidFill>
                  <a:srgbClr val="C00000"/>
                </a:solidFill>
              </a:rPr>
              <a:t>Disaster response program</a:t>
            </a:r>
          </a:p>
        </p:txBody>
      </p:sp>
      <p:sp>
        <p:nvSpPr>
          <p:cNvPr id="16" name="TextBox 15">
            <a:extLst>
              <a:ext uri="{FF2B5EF4-FFF2-40B4-BE49-F238E27FC236}">
                <a16:creationId xmlns:a16="http://schemas.microsoft.com/office/drawing/2014/main" id="{1D44E5CD-3F74-084D-9C1E-C625C635214B}"/>
              </a:ext>
            </a:extLst>
          </p:cNvPr>
          <p:cNvSpPr txBox="1"/>
          <p:nvPr/>
        </p:nvSpPr>
        <p:spPr>
          <a:xfrm>
            <a:off x="7907975" y="4574988"/>
            <a:ext cx="1410434" cy="369332"/>
          </a:xfrm>
          <a:prstGeom prst="rect">
            <a:avLst/>
          </a:prstGeom>
          <a:noFill/>
        </p:spPr>
        <p:txBody>
          <a:bodyPr wrap="square" rtlCol="0">
            <a:spAutoFit/>
          </a:bodyPr>
          <a:lstStyle/>
          <a:p>
            <a:r>
              <a:rPr lang="en-US" dirty="0">
                <a:solidFill>
                  <a:srgbClr val="C00000"/>
                </a:solidFill>
              </a:rPr>
              <a:t>Education</a:t>
            </a:r>
          </a:p>
        </p:txBody>
      </p:sp>
      <p:sp>
        <p:nvSpPr>
          <p:cNvPr id="17" name="TextBox 16">
            <a:extLst>
              <a:ext uri="{FF2B5EF4-FFF2-40B4-BE49-F238E27FC236}">
                <a16:creationId xmlns:a16="http://schemas.microsoft.com/office/drawing/2014/main" id="{B225FBEA-71EC-EA5E-1E77-2A4910E2AC9E}"/>
              </a:ext>
            </a:extLst>
          </p:cNvPr>
          <p:cNvSpPr txBox="1"/>
          <p:nvPr/>
        </p:nvSpPr>
        <p:spPr>
          <a:xfrm>
            <a:off x="5462796" y="6432640"/>
            <a:ext cx="1410434" cy="369332"/>
          </a:xfrm>
          <a:prstGeom prst="rect">
            <a:avLst/>
          </a:prstGeom>
          <a:noFill/>
        </p:spPr>
        <p:txBody>
          <a:bodyPr wrap="square" rtlCol="0">
            <a:spAutoFit/>
          </a:bodyPr>
          <a:lstStyle/>
          <a:p>
            <a:r>
              <a:rPr lang="en-US" dirty="0">
                <a:solidFill>
                  <a:srgbClr val="C00000"/>
                </a:solidFill>
              </a:rPr>
              <a:t>Non-profit</a:t>
            </a:r>
          </a:p>
        </p:txBody>
      </p:sp>
      <p:sp>
        <p:nvSpPr>
          <p:cNvPr id="18" name="TextBox 17">
            <a:extLst>
              <a:ext uri="{FF2B5EF4-FFF2-40B4-BE49-F238E27FC236}">
                <a16:creationId xmlns:a16="http://schemas.microsoft.com/office/drawing/2014/main" id="{35B3690E-21DF-2495-1243-A55C80DD7ABE}"/>
              </a:ext>
            </a:extLst>
          </p:cNvPr>
          <p:cNvSpPr txBox="1"/>
          <p:nvPr/>
        </p:nvSpPr>
        <p:spPr>
          <a:xfrm>
            <a:off x="10119987" y="3559621"/>
            <a:ext cx="1410434" cy="369332"/>
          </a:xfrm>
          <a:prstGeom prst="rect">
            <a:avLst/>
          </a:prstGeom>
          <a:noFill/>
        </p:spPr>
        <p:txBody>
          <a:bodyPr wrap="square" rtlCol="0">
            <a:spAutoFit/>
          </a:bodyPr>
          <a:lstStyle/>
          <a:p>
            <a:r>
              <a:rPr lang="en-US" dirty="0">
                <a:solidFill>
                  <a:srgbClr val="C00000"/>
                </a:solidFill>
              </a:rPr>
              <a:t>Conservation</a:t>
            </a:r>
          </a:p>
        </p:txBody>
      </p:sp>
    </p:spTree>
    <p:extLst>
      <p:ext uri="{BB962C8B-B14F-4D97-AF65-F5344CB8AC3E}">
        <p14:creationId xmlns:p14="http://schemas.microsoft.com/office/powerpoint/2010/main" val="4152663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43F32D-2B81-3BAF-EAEB-D3EE1EE9230F}"/>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BC6AA2B6-4BE9-7462-32E3-6A8465025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D799A04D-8FA3-A579-9E1F-EB99530AE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BCC4547-479A-B5C0-7550-9A673578C7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1713414C-5161-F181-D424-D605284A9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13B5B57E-680D-0D13-C6D4-A9AA8F3BF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103188F3-EAD0-CFB4-C093-80EDF3D26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57F8A191-A2BB-6DF1-DC01-5ABA1183E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8227AC55-478E-CF99-4536-83897A0D5823}"/>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2.2</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mobile </a:t>
            </a:r>
            <a:r>
              <a:rPr lang="en-US" sz="6000" b="0" kern="1200" cap="all" dirty="0" err="1">
                <a:solidFill>
                  <a:srgbClr val="FFFFFF"/>
                </a:solidFill>
                <a:latin typeface="+mj-lt"/>
                <a:ea typeface="+mj-ea"/>
                <a:cs typeface="+mj-cs"/>
              </a:rPr>
              <a:t>gis</a:t>
            </a:r>
            <a:endParaRPr lang="en-US" sz="6000" b="0" kern="1200" cap="all" dirty="0">
              <a:solidFill>
                <a:srgbClr val="FFFFFF"/>
              </a:solidFill>
              <a:latin typeface="+mj-lt"/>
              <a:ea typeface="+mj-ea"/>
              <a:cs typeface="+mj-cs"/>
            </a:endParaRPr>
          </a:p>
        </p:txBody>
      </p:sp>
      <p:sp>
        <p:nvSpPr>
          <p:cNvPr id="50" name="Rectangle 49">
            <a:extLst>
              <a:ext uri="{FF2B5EF4-FFF2-40B4-BE49-F238E27FC236}">
                <a16:creationId xmlns:a16="http://schemas.microsoft.com/office/drawing/2014/main" id="{6B7088E2-BF9E-D4CE-401F-2E8DDAB27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45684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C65A5F8-558B-4D42-4A52-B4E100BE3569}"/>
              </a:ext>
            </a:extLst>
          </p:cNvPr>
          <p:cNvSpPr>
            <a:spLocks noGrp="1"/>
          </p:cNvSpPr>
          <p:nvPr>
            <p:ph type="title"/>
          </p:nvPr>
        </p:nvSpPr>
        <p:spPr>
          <a:xfrm>
            <a:off x="609906" y="702155"/>
            <a:ext cx="3568661" cy="945775"/>
          </a:xfrm>
        </p:spPr>
        <p:txBody>
          <a:bodyPr>
            <a:normAutofit/>
          </a:bodyPr>
          <a:lstStyle/>
          <a:p>
            <a:r>
              <a:rPr lang="en-US" dirty="0"/>
              <a:t>Mobile positioning technologies</a:t>
            </a:r>
          </a:p>
        </p:txBody>
      </p:sp>
      <p:sp>
        <p:nvSpPr>
          <p:cNvPr id="40" name="Rectangle 39">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Content Placeholder 8">
            <a:extLst>
              <a:ext uri="{FF2B5EF4-FFF2-40B4-BE49-F238E27FC236}">
                <a16:creationId xmlns:a16="http://schemas.microsoft.com/office/drawing/2014/main" id="{CEC26E01-B222-A560-62E3-43C051AAAC28}"/>
              </a:ext>
            </a:extLst>
          </p:cNvPr>
          <p:cNvSpPr>
            <a:spLocks noGrp="1"/>
          </p:cNvSpPr>
          <p:nvPr>
            <p:ph idx="1"/>
          </p:nvPr>
        </p:nvSpPr>
        <p:spPr>
          <a:xfrm>
            <a:off x="609906" y="1647930"/>
            <a:ext cx="3568661" cy="4752870"/>
          </a:xfrm>
        </p:spPr>
        <p:txBody>
          <a:bodyPr>
            <a:noAutofit/>
          </a:bodyPr>
          <a:lstStyle/>
          <a:p>
            <a:endParaRPr lang="en-US" sz="2000" dirty="0"/>
          </a:p>
          <a:p>
            <a:r>
              <a:rPr lang="en-US" sz="2000" dirty="0"/>
              <a:t>Global Navigation Satellite System (GNSS): Uses satellite signals to pinpoint precise geographic locations (longitude, latitude, altitude). </a:t>
            </a:r>
          </a:p>
          <a:p>
            <a:r>
              <a:rPr lang="en-US" sz="2000" dirty="0"/>
              <a:t>Cellular network-based positioning: Relies on cellular network infrastructure to locate devices.</a:t>
            </a:r>
          </a:p>
          <a:p>
            <a:r>
              <a:rPr lang="en-US" sz="2000" dirty="0"/>
              <a:t>Bluetooth Low Energy (BLE): BLE is used in tracking technologies such as Apple’s </a:t>
            </a:r>
            <a:r>
              <a:rPr lang="en-US" sz="2000" dirty="0" err="1"/>
              <a:t>AirTags</a:t>
            </a:r>
            <a:endParaRPr lang="en-US" sz="2000" dirty="0"/>
          </a:p>
          <a:p>
            <a:endParaRPr lang="en-US" sz="2000" dirty="0"/>
          </a:p>
        </p:txBody>
      </p:sp>
      <p:pic>
        <p:nvPicPr>
          <p:cNvPr id="5" name="Content Placeholder 4" descr="A screen shot of a phone&#10;&#10;AI-generated content may be incorrect.">
            <a:extLst>
              <a:ext uri="{FF2B5EF4-FFF2-40B4-BE49-F238E27FC236}">
                <a16:creationId xmlns:a16="http://schemas.microsoft.com/office/drawing/2014/main" id="{296EE6CD-9804-5204-87C5-A9BE3F9F2A8F}"/>
              </a:ext>
            </a:extLst>
          </p:cNvPr>
          <p:cNvPicPr>
            <a:picLocks noChangeAspect="1"/>
          </p:cNvPicPr>
          <p:nvPr/>
        </p:nvPicPr>
        <p:blipFill>
          <a:blip r:embed="rId2"/>
          <a:stretch>
            <a:fillRect/>
          </a:stretch>
        </p:blipFill>
        <p:spPr>
          <a:xfrm>
            <a:off x="4325027" y="1971868"/>
            <a:ext cx="7555966" cy="4195452"/>
          </a:xfrm>
          <a:prstGeom prst="rect">
            <a:avLst/>
          </a:prstGeom>
        </p:spPr>
      </p:pic>
      <p:sp>
        <p:nvSpPr>
          <p:cNvPr id="10" name="TextBox 9">
            <a:extLst>
              <a:ext uri="{FF2B5EF4-FFF2-40B4-BE49-F238E27FC236}">
                <a16:creationId xmlns:a16="http://schemas.microsoft.com/office/drawing/2014/main" id="{0FA7E013-FDF2-31FD-AF98-4A6B2C43C19A}"/>
              </a:ext>
            </a:extLst>
          </p:cNvPr>
          <p:cNvSpPr txBox="1"/>
          <p:nvPr/>
        </p:nvSpPr>
        <p:spPr>
          <a:xfrm>
            <a:off x="4325027" y="690680"/>
            <a:ext cx="6097772" cy="646331"/>
          </a:xfrm>
          <a:prstGeom prst="rect">
            <a:avLst/>
          </a:prstGeom>
          <a:noFill/>
        </p:spPr>
        <p:txBody>
          <a:bodyPr wrap="square">
            <a:spAutoFit/>
          </a:bodyPr>
          <a:lstStyle/>
          <a:p>
            <a:r>
              <a:rPr lang="en-US" dirty="0"/>
              <a:t>Before 2000, GPS technology was not commonly integrated into mobile phones</a:t>
            </a:r>
          </a:p>
        </p:txBody>
      </p:sp>
    </p:spTree>
    <p:extLst>
      <p:ext uri="{BB962C8B-B14F-4D97-AF65-F5344CB8AC3E}">
        <p14:creationId xmlns:p14="http://schemas.microsoft.com/office/powerpoint/2010/main" val="57350245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5B90D4-6E31-BA5D-6B34-1333BC7998BA}"/>
              </a:ext>
            </a:extLst>
          </p:cNvPr>
          <p:cNvSpPr txBox="1"/>
          <p:nvPr/>
        </p:nvSpPr>
        <p:spPr>
          <a:xfrm>
            <a:off x="654876" y="2056045"/>
            <a:ext cx="2353456" cy="800219"/>
          </a:xfrm>
          <a:prstGeom prst="rect">
            <a:avLst/>
          </a:prstGeom>
          <a:noFill/>
        </p:spPr>
        <p:txBody>
          <a:bodyPr wrap="square" rtlCol="0">
            <a:spAutoFit/>
          </a:bodyPr>
          <a:lstStyle/>
          <a:p>
            <a:r>
              <a:rPr lang="en-US" sz="2800" dirty="0">
                <a:hlinkClick r:id="rId2"/>
              </a:rPr>
              <a:t>VLC</a:t>
            </a:r>
            <a:endParaRPr lang="en-US" sz="2800" dirty="0"/>
          </a:p>
          <a:p>
            <a:endParaRPr lang="en-US" dirty="0"/>
          </a:p>
        </p:txBody>
      </p:sp>
      <p:sp>
        <p:nvSpPr>
          <p:cNvPr id="6" name="Title 1">
            <a:extLst>
              <a:ext uri="{FF2B5EF4-FFF2-40B4-BE49-F238E27FC236}">
                <a16:creationId xmlns:a16="http://schemas.microsoft.com/office/drawing/2014/main" id="{6BB285E4-6266-BF82-A91B-673E1E8CF1C5}"/>
              </a:ext>
            </a:extLst>
          </p:cNvPr>
          <p:cNvSpPr txBox="1">
            <a:spLocks/>
          </p:cNvSpPr>
          <p:nvPr/>
        </p:nvSpPr>
        <p:spPr>
          <a:xfrm>
            <a:off x="609906" y="702155"/>
            <a:ext cx="7949478" cy="557019"/>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Mobile positioning technologies</a:t>
            </a:r>
          </a:p>
        </p:txBody>
      </p:sp>
      <p:sp>
        <p:nvSpPr>
          <p:cNvPr id="9" name="TextBox 8">
            <a:extLst>
              <a:ext uri="{FF2B5EF4-FFF2-40B4-BE49-F238E27FC236}">
                <a16:creationId xmlns:a16="http://schemas.microsoft.com/office/drawing/2014/main" id="{C71015D8-B7AF-E7CF-0CD5-FE00DF64D015}"/>
              </a:ext>
            </a:extLst>
          </p:cNvPr>
          <p:cNvSpPr txBox="1"/>
          <p:nvPr/>
        </p:nvSpPr>
        <p:spPr>
          <a:xfrm>
            <a:off x="654876" y="1426777"/>
            <a:ext cx="3807502" cy="461665"/>
          </a:xfrm>
          <a:prstGeom prst="rect">
            <a:avLst/>
          </a:prstGeom>
          <a:noFill/>
        </p:spPr>
        <p:txBody>
          <a:bodyPr wrap="square" rtlCol="0">
            <a:spAutoFit/>
          </a:bodyPr>
          <a:lstStyle/>
          <a:p>
            <a:r>
              <a:rPr lang="en-US" sz="2400" dirty="0"/>
              <a:t>Visual Light Communication</a:t>
            </a:r>
          </a:p>
        </p:txBody>
      </p:sp>
      <p:pic>
        <p:nvPicPr>
          <p:cNvPr id="11" name="Picture 10">
            <a:extLst>
              <a:ext uri="{FF2B5EF4-FFF2-40B4-BE49-F238E27FC236}">
                <a16:creationId xmlns:a16="http://schemas.microsoft.com/office/drawing/2014/main" id="{2173766F-4795-3768-1381-B4355F09A8AE}"/>
              </a:ext>
            </a:extLst>
          </p:cNvPr>
          <p:cNvPicPr>
            <a:picLocks noChangeAspect="1"/>
          </p:cNvPicPr>
          <p:nvPr/>
        </p:nvPicPr>
        <p:blipFill>
          <a:blip r:embed="rId3"/>
          <a:stretch>
            <a:fillRect/>
          </a:stretch>
        </p:blipFill>
        <p:spPr>
          <a:xfrm>
            <a:off x="3008332" y="2222959"/>
            <a:ext cx="7544743" cy="4274855"/>
          </a:xfrm>
          <a:prstGeom prst="rect">
            <a:avLst/>
          </a:prstGeom>
        </p:spPr>
      </p:pic>
    </p:spTree>
    <p:extLst>
      <p:ext uri="{BB962C8B-B14F-4D97-AF65-F5344CB8AC3E}">
        <p14:creationId xmlns:p14="http://schemas.microsoft.com/office/powerpoint/2010/main" val="702438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347E72-2160-E512-76BE-7BE3B2E39FAF}"/>
              </a:ext>
            </a:extLst>
          </p:cNvPr>
          <p:cNvSpPr>
            <a:spLocks noGrp="1"/>
          </p:cNvSpPr>
          <p:nvPr>
            <p:ph idx="1"/>
          </p:nvPr>
        </p:nvSpPr>
        <p:spPr>
          <a:xfrm>
            <a:off x="746252" y="1771533"/>
            <a:ext cx="4275453" cy="563734"/>
          </a:xfrm>
        </p:spPr>
        <p:txBody>
          <a:bodyPr/>
          <a:lstStyle/>
          <a:p>
            <a:r>
              <a:rPr lang="en-US" dirty="0">
                <a:hlinkClick r:id="rId2"/>
              </a:rPr>
              <a:t>Cell tower track phone’s location</a:t>
            </a:r>
            <a:endParaRPr lang="en-US" dirty="0"/>
          </a:p>
        </p:txBody>
      </p:sp>
      <p:sp>
        <p:nvSpPr>
          <p:cNvPr id="4" name="Title 1">
            <a:extLst>
              <a:ext uri="{FF2B5EF4-FFF2-40B4-BE49-F238E27FC236}">
                <a16:creationId xmlns:a16="http://schemas.microsoft.com/office/drawing/2014/main" id="{586A3AA4-82CB-1C52-1D2E-D7E12431B322}"/>
              </a:ext>
            </a:extLst>
          </p:cNvPr>
          <p:cNvSpPr>
            <a:spLocks noGrp="1"/>
          </p:cNvSpPr>
          <p:nvPr>
            <p:ph type="title"/>
          </p:nvPr>
        </p:nvSpPr>
        <p:spPr>
          <a:xfrm>
            <a:off x="581025" y="701675"/>
            <a:ext cx="11029950" cy="602469"/>
          </a:xfrm>
        </p:spPr>
        <p:txBody>
          <a:bodyPr>
            <a:normAutofit/>
          </a:bodyPr>
          <a:lstStyle/>
          <a:p>
            <a:r>
              <a:rPr lang="en-US" dirty="0"/>
              <a:t>Mobile positioning technologies</a:t>
            </a:r>
          </a:p>
        </p:txBody>
      </p:sp>
      <p:sp>
        <p:nvSpPr>
          <p:cNvPr id="6" name="TextBox 5">
            <a:extLst>
              <a:ext uri="{FF2B5EF4-FFF2-40B4-BE49-F238E27FC236}">
                <a16:creationId xmlns:a16="http://schemas.microsoft.com/office/drawing/2014/main" id="{304C06D8-64E7-3212-7BDA-9496D0C96F26}"/>
              </a:ext>
            </a:extLst>
          </p:cNvPr>
          <p:cNvSpPr txBox="1"/>
          <p:nvPr/>
        </p:nvSpPr>
        <p:spPr>
          <a:xfrm>
            <a:off x="581025" y="1304144"/>
            <a:ext cx="5951095" cy="461665"/>
          </a:xfrm>
          <a:prstGeom prst="rect">
            <a:avLst/>
          </a:prstGeom>
          <a:noFill/>
        </p:spPr>
        <p:txBody>
          <a:bodyPr wrap="square" rtlCol="0">
            <a:spAutoFit/>
          </a:bodyPr>
          <a:lstStyle/>
          <a:p>
            <a:r>
              <a:rPr lang="en-US" sz="2400" dirty="0"/>
              <a:t>Global System for mobile Communication</a:t>
            </a:r>
          </a:p>
        </p:txBody>
      </p:sp>
      <p:pic>
        <p:nvPicPr>
          <p:cNvPr id="8" name="Picture 7">
            <a:extLst>
              <a:ext uri="{FF2B5EF4-FFF2-40B4-BE49-F238E27FC236}">
                <a16:creationId xmlns:a16="http://schemas.microsoft.com/office/drawing/2014/main" id="{4EB6DDB6-585A-E2B7-A51E-81AF0639D912}"/>
              </a:ext>
            </a:extLst>
          </p:cNvPr>
          <p:cNvPicPr>
            <a:picLocks noChangeAspect="1"/>
          </p:cNvPicPr>
          <p:nvPr/>
        </p:nvPicPr>
        <p:blipFill>
          <a:blip r:embed="rId3"/>
          <a:stretch>
            <a:fillRect/>
          </a:stretch>
        </p:blipFill>
        <p:spPr>
          <a:xfrm>
            <a:off x="2593220" y="2237700"/>
            <a:ext cx="8336754" cy="4570068"/>
          </a:xfrm>
          <a:prstGeom prst="rect">
            <a:avLst/>
          </a:prstGeom>
        </p:spPr>
      </p:pic>
    </p:spTree>
    <p:extLst>
      <p:ext uri="{BB962C8B-B14F-4D97-AF65-F5344CB8AC3E}">
        <p14:creationId xmlns:p14="http://schemas.microsoft.com/office/powerpoint/2010/main" val="377338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AB847-C60F-EC56-BA8B-98FA1D1C977F}"/>
              </a:ext>
            </a:extLst>
          </p:cNvPr>
          <p:cNvSpPr>
            <a:spLocks noGrp="1"/>
          </p:cNvSpPr>
          <p:nvPr>
            <p:ph type="title"/>
          </p:nvPr>
        </p:nvSpPr>
        <p:spPr>
          <a:xfrm>
            <a:off x="581192" y="702156"/>
            <a:ext cx="11029616" cy="543840"/>
          </a:xfrm>
        </p:spPr>
        <p:txBody>
          <a:bodyPr/>
          <a:lstStyle/>
          <a:p>
            <a:r>
              <a:rPr lang="en-US" dirty="0"/>
              <a:t>Mobile GIS architecture</a:t>
            </a:r>
          </a:p>
        </p:txBody>
      </p:sp>
      <p:pic>
        <p:nvPicPr>
          <p:cNvPr id="5" name="Content Placeholder 4">
            <a:extLst>
              <a:ext uri="{FF2B5EF4-FFF2-40B4-BE49-F238E27FC236}">
                <a16:creationId xmlns:a16="http://schemas.microsoft.com/office/drawing/2014/main" id="{DE79DB10-43FB-B589-BC91-B26E8FD94D91}"/>
              </a:ext>
            </a:extLst>
          </p:cNvPr>
          <p:cNvPicPr>
            <a:picLocks noGrp="1" noChangeAspect="1"/>
          </p:cNvPicPr>
          <p:nvPr>
            <p:ph idx="1"/>
          </p:nvPr>
        </p:nvPicPr>
        <p:blipFill>
          <a:blip r:embed="rId2"/>
          <a:stretch>
            <a:fillRect/>
          </a:stretch>
        </p:blipFill>
        <p:spPr>
          <a:xfrm>
            <a:off x="940955" y="1487659"/>
            <a:ext cx="5679620" cy="5154193"/>
          </a:xfrm>
          <a:prstGeom prst="rect">
            <a:avLst/>
          </a:prstGeom>
        </p:spPr>
      </p:pic>
      <p:pic>
        <p:nvPicPr>
          <p:cNvPr id="4" name="Picture 3">
            <a:extLst>
              <a:ext uri="{FF2B5EF4-FFF2-40B4-BE49-F238E27FC236}">
                <a16:creationId xmlns:a16="http://schemas.microsoft.com/office/drawing/2014/main" id="{992F9663-F0A1-D9EA-831A-4052B39DAE3C}"/>
              </a:ext>
            </a:extLst>
          </p:cNvPr>
          <p:cNvPicPr>
            <a:picLocks noChangeAspect="1"/>
          </p:cNvPicPr>
          <p:nvPr/>
        </p:nvPicPr>
        <p:blipFill>
          <a:blip r:embed="rId3"/>
          <a:stretch>
            <a:fillRect/>
          </a:stretch>
        </p:blipFill>
        <p:spPr>
          <a:xfrm>
            <a:off x="8619163" y="3104262"/>
            <a:ext cx="2038843" cy="870080"/>
          </a:xfrm>
          <a:prstGeom prst="rect">
            <a:avLst/>
          </a:prstGeom>
        </p:spPr>
      </p:pic>
      <p:pic>
        <p:nvPicPr>
          <p:cNvPr id="7" name="Picture 6">
            <a:extLst>
              <a:ext uri="{FF2B5EF4-FFF2-40B4-BE49-F238E27FC236}">
                <a16:creationId xmlns:a16="http://schemas.microsoft.com/office/drawing/2014/main" id="{A4FD6986-7C36-FD5C-4079-91009C7FAFF0}"/>
              </a:ext>
            </a:extLst>
          </p:cNvPr>
          <p:cNvPicPr>
            <a:picLocks noChangeAspect="1"/>
          </p:cNvPicPr>
          <p:nvPr/>
        </p:nvPicPr>
        <p:blipFill>
          <a:blip r:embed="rId4"/>
          <a:stretch>
            <a:fillRect/>
          </a:stretch>
        </p:blipFill>
        <p:spPr>
          <a:xfrm>
            <a:off x="6847737" y="2866946"/>
            <a:ext cx="1544264" cy="1390583"/>
          </a:xfrm>
          <a:prstGeom prst="rect">
            <a:avLst/>
          </a:prstGeom>
        </p:spPr>
      </p:pic>
      <p:pic>
        <p:nvPicPr>
          <p:cNvPr id="9" name="Picture 8">
            <a:hlinkClick r:id="rId5"/>
            <a:extLst>
              <a:ext uri="{FF2B5EF4-FFF2-40B4-BE49-F238E27FC236}">
                <a16:creationId xmlns:a16="http://schemas.microsoft.com/office/drawing/2014/main" id="{3E103172-15BF-5AAC-1261-92B984977D35}"/>
              </a:ext>
            </a:extLst>
          </p:cNvPr>
          <p:cNvPicPr>
            <a:picLocks noChangeAspect="1"/>
          </p:cNvPicPr>
          <p:nvPr/>
        </p:nvPicPr>
        <p:blipFill>
          <a:blip r:embed="rId6"/>
          <a:stretch>
            <a:fillRect/>
          </a:stretch>
        </p:blipFill>
        <p:spPr>
          <a:xfrm>
            <a:off x="7216106" y="1519762"/>
            <a:ext cx="3441900" cy="946405"/>
          </a:xfrm>
          <a:prstGeom prst="rect">
            <a:avLst/>
          </a:prstGeom>
        </p:spPr>
      </p:pic>
      <p:sp>
        <p:nvSpPr>
          <p:cNvPr id="10" name="Rectangle: Rounded Corners 9">
            <a:extLst>
              <a:ext uri="{FF2B5EF4-FFF2-40B4-BE49-F238E27FC236}">
                <a16:creationId xmlns:a16="http://schemas.microsoft.com/office/drawing/2014/main" id="{C0E03A6E-735B-0D7E-81FF-B3A4A069094F}"/>
              </a:ext>
            </a:extLst>
          </p:cNvPr>
          <p:cNvSpPr/>
          <p:nvPr/>
        </p:nvSpPr>
        <p:spPr>
          <a:xfrm>
            <a:off x="1139252" y="1245996"/>
            <a:ext cx="9893509" cy="1497204"/>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AC29E55C-46E7-1128-FB3E-FFD5A9AA7DB0}"/>
              </a:ext>
            </a:extLst>
          </p:cNvPr>
          <p:cNvSpPr/>
          <p:nvPr/>
        </p:nvSpPr>
        <p:spPr>
          <a:xfrm>
            <a:off x="1139251" y="2824474"/>
            <a:ext cx="9893509" cy="1497204"/>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0184A24B-738D-C583-4042-2C4F7FC42D1F}"/>
              </a:ext>
            </a:extLst>
          </p:cNvPr>
          <p:cNvSpPr/>
          <p:nvPr/>
        </p:nvSpPr>
        <p:spPr>
          <a:xfrm>
            <a:off x="764497" y="4534562"/>
            <a:ext cx="10268263" cy="2188563"/>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5520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61C5D-8B7A-DCF7-DCED-6712B3F03137}"/>
              </a:ext>
            </a:extLst>
          </p:cNvPr>
          <p:cNvSpPr>
            <a:spLocks noGrp="1"/>
          </p:cNvSpPr>
          <p:nvPr>
            <p:ph type="title"/>
          </p:nvPr>
        </p:nvSpPr>
        <p:spPr>
          <a:xfrm>
            <a:off x="581192" y="702156"/>
            <a:ext cx="11029616" cy="563936"/>
          </a:xfrm>
        </p:spPr>
        <p:txBody>
          <a:bodyPr/>
          <a:lstStyle/>
          <a:p>
            <a:r>
              <a:rPr lang="en-US" dirty="0"/>
              <a:t>ArcGIS suite of web and native apps for Mobile GIS</a:t>
            </a:r>
          </a:p>
        </p:txBody>
      </p:sp>
      <p:sp>
        <p:nvSpPr>
          <p:cNvPr id="3" name="Content Placeholder 2">
            <a:extLst>
              <a:ext uri="{FF2B5EF4-FFF2-40B4-BE49-F238E27FC236}">
                <a16:creationId xmlns:a16="http://schemas.microsoft.com/office/drawing/2014/main" id="{62D5F4B9-C3A6-16CB-3C12-D1189F490EFA}"/>
              </a:ext>
            </a:extLst>
          </p:cNvPr>
          <p:cNvSpPr>
            <a:spLocks noGrp="1"/>
          </p:cNvSpPr>
          <p:nvPr>
            <p:ph idx="1"/>
          </p:nvPr>
        </p:nvSpPr>
        <p:spPr>
          <a:xfrm>
            <a:off x="581191" y="1386271"/>
            <a:ext cx="11029615" cy="1851604"/>
          </a:xfrm>
        </p:spPr>
        <p:txBody>
          <a:bodyPr>
            <a:noAutofit/>
          </a:bodyPr>
          <a:lstStyle/>
          <a:p>
            <a:r>
              <a:rPr lang="en-US" sz="2400" dirty="0"/>
              <a:t>Field Maps: Integrates several earlier products, including ArcGIS Collector, ArcGIS Explorer, ArcGIS Tracker, and ArcGIS Workforce. Serves as an all-in-one solution that supports planning, recording and sharing location, understanding, and map centric data capture.</a:t>
            </a:r>
          </a:p>
        </p:txBody>
      </p:sp>
      <p:pic>
        <p:nvPicPr>
          <p:cNvPr id="5" name="Picture 4">
            <a:hlinkClick r:id="rId2"/>
            <a:extLst>
              <a:ext uri="{FF2B5EF4-FFF2-40B4-BE49-F238E27FC236}">
                <a16:creationId xmlns:a16="http://schemas.microsoft.com/office/drawing/2014/main" id="{63F4F902-51E7-FDAF-3F6A-3FE7721EF718}"/>
              </a:ext>
            </a:extLst>
          </p:cNvPr>
          <p:cNvPicPr>
            <a:picLocks noChangeAspect="1"/>
          </p:cNvPicPr>
          <p:nvPr/>
        </p:nvPicPr>
        <p:blipFill>
          <a:blip r:embed="rId3"/>
          <a:stretch>
            <a:fillRect/>
          </a:stretch>
        </p:blipFill>
        <p:spPr>
          <a:xfrm>
            <a:off x="3391916" y="2754735"/>
            <a:ext cx="5872005" cy="3935626"/>
          </a:xfrm>
          <a:prstGeom prst="rect">
            <a:avLst/>
          </a:prstGeom>
        </p:spPr>
      </p:pic>
    </p:spTree>
    <p:extLst>
      <p:ext uri="{BB962C8B-B14F-4D97-AF65-F5344CB8AC3E}">
        <p14:creationId xmlns:p14="http://schemas.microsoft.com/office/powerpoint/2010/main" val="229847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E0AE2C6-4DEC-8813-F59D-D49DC2BFEE38}"/>
              </a:ext>
            </a:extLst>
          </p:cNvPr>
          <p:cNvSpPr>
            <a:spLocks noGrp="1"/>
          </p:cNvSpPr>
          <p:nvPr>
            <p:ph type="title"/>
          </p:nvPr>
        </p:nvSpPr>
        <p:spPr>
          <a:xfrm>
            <a:off x="807559" y="938022"/>
            <a:ext cx="6647905" cy="1188720"/>
          </a:xfrm>
        </p:spPr>
        <p:txBody>
          <a:bodyPr>
            <a:normAutofit/>
          </a:bodyPr>
          <a:lstStyle/>
          <a:p>
            <a:r>
              <a:rPr lang="en-US">
                <a:solidFill>
                  <a:srgbClr val="FFFFFF"/>
                </a:solidFill>
              </a:rPr>
              <a:t>ArcGIS suite of web and native apps for Mobile GIS</a:t>
            </a:r>
          </a:p>
        </p:txBody>
      </p:sp>
      <p:sp>
        <p:nvSpPr>
          <p:cNvPr id="13" name="Rectangle 12">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3E5F77B-5F4D-31F3-C77D-56F0E0A5547E}"/>
              </a:ext>
            </a:extLst>
          </p:cNvPr>
          <p:cNvSpPr>
            <a:spLocks noGrp="1"/>
          </p:cNvSpPr>
          <p:nvPr>
            <p:ph idx="1"/>
          </p:nvPr>
        </p:nvSpPr>
        <p:spPr>
          <a:xfrm>
            <a:off x="807559" y="2340864"/>
            <a:ext cx="6690843" cy="3793237"/>
          </a:xfrm>
        </p:spPr>
        <p:txBody>
          <a:bodyPr>
            <a:normAutofit/>
          </a:bodyPr>
          <a:lstStyle/>
          <a:p>
            <a:r>
              <a:rPr lang="en-US" sz="2400" dirty="0">
                <a:solidFill>
                  <a:srgbClr val="FFFFFF"/>
                </a:solidFill>
              </a:rPr>
              <a:t>ArcGIS Survey123: This </a:t>
            </a:r>
            <a:r>
              <a:rPr lang="en-US" sz="2400" dirty="0" err="1">
                <a:solidFill>
                  <a:srgbClr val="FFFFFF"/>
                </a:solidFill>
              </a:rPr>
              <a:t>formcentric</a:t>
            </a:r>
            <a:r>
              <a:rPr lang="en-US" sz="2400" dirty="0">
                <a:solidFill>
                  <a:srgbClr val="FFFFFF"/>
                </a:solidFill>
              </a:rPr>
              <a:t> app allows users to create, share, and analyze surveys. It features smart forms with skip logic, defaults, flexible formulas, and powerful data-pulling capabilities. </a:t>
            </a:r>
          </a:p>
          <a:p>
            <a:r>
              <a:rPr lang="en-US" sz="2400" dirty="0">
                <a:solidFill>
                  <a:srgbClr val="FFFFFF"/>
                </a:solidFill>
              </a:rPr>
              <a:t>The app facilitates easy data collection through the web or mobile devices in any environment, requiring minimal training.</a:t>
            </a:r>
          </a:p>
        </p:txBody>
      </p:sp>
      <p:pic>
        <p:nvPicPr>
          <p:cNvPr id="4" name="Picture 3" descr="Survey123">
            <a:hlinkClick r:id="rId2"/>
            <a:extLst>
              <a:ext uri="{FF2B5EF4-FFF2-40B4-BE49-F238E27FC236}">
                <a16:creationId xmlns:a16="http://schemas.microsoft.com/office/drawing/2014/main" id="{601BB0F0-4825-D333-70DB-FDEEB662E97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8401792" y="783055"/>
            <a:ext cx="3095545" cy="5291890"/>
          </a:xfrm>
          <a:prstGeom prst="rect">
            <a:avLst/>
          </a:prstGeom>
        </p:spPr>
      </p:pic>
    </p:spTree>
    <p:extLst>
      <p:ext uri="{BB962C8B-B14F-4D97-AF65-F5344CB8AC3E}">
        <p14:creationId xmlns:p14="http://schemas.microsoft.com/office/powerpoint/2010/main" val="171507862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8185-61A6-D2F2-224D-04317E4F5CA5}"/>
              </a:ext>
            </a:extLst>
          </p:cNvPr>
          <p:cNvSpPr>
            <a:spLocks noGrp="1"/>
          </p:cNvSpPr>
          <p:nvPr>
            <p:ph type="title"/>
          </p:nvPr>
        </p:nvSpPr>
        <p:spPr>
          <a:xfrm>
            <a:off x="581192" y="702156"/>
            <a:ext cx="11029616" cy="604130"/>
          </a:xfrm>
        </p:spPr>
        <p:txBody>
          <a:bodyPr/>
          <a:lstStyle/>
          <a:p>
            <a:r>
              <a:rPr lang="en-US" dirty="0"/>
              <a:t>Four pillars of Mobile GIS capabilities</a:t>
            </a:r>
          </a:p>
        </p:txBody>
      </p:sp>
      <p:sp>
        <p:nvSpPr>
          <p:cNvPr id="5" name="AutoShape 4" descr="Tasks under the four pillars of Mobile GIS.">
            <a:extLst>
              <a:ext uri="{FF2B5EF4-FFF2-40B4-BE49-F238E27FC236}">
                <a16:creationId xmlns:a16="http://schemas.microsoft.com/office/drawing/2014/main" id="{BD427480-10CD-F3E4-715D-B7ECD4AB92D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C72DEBEB-49EE-A31C-B0C3-F96CCB57035D}"/>
              </a:ext>
            </a:extLst>
          </p:cNvPr>
          <p:cNvPicPr>
            <a:picLocks noChangeAspect="1"/>
          </p:cNvPicPr>
          <p:nvPr/>
        </p:nvPicPr>
        <p:blipFill>
          <a:blip r:embed="rId3"/>
          <a:stretch>
            <a:fillRect/>
          </a:stretch>
        </p:blipFill>
        <p:spPr>
          <a:xfrm>
            <a:off x="2256019" y="1508183"/>
            <a:ext cx="7375161" cy="4647661"/>
          </a:xfrm>
          <a:prstGeom prst="rect">
            <a:avLst/>
          </a:prstGeom>
        </p:spPr>
      </p:pic>
    </p:spTree>
    <p:extLst>
      <p:ext uri="{BB962C8B-B14F-4D97-AF65-F5344CB8AC3E}">
        <p14:creationId xmlns:p14="http://schemas.microsoft.com/office/powerpoint/2010/main" val="1283525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0F1F1-A79E-3D0D-F1CC-C2DEA056A1E3}"/>
              </a:ext>
            </a:extLst>
          </p:cNvPr>
          <p:cNvSpPr>
            <a:spLocks noGrp="1"/>
          </p:cNvSpPr>
          <p:nvPr>
            <p:ph type="title"/>
          </p:nvPr>
        </p:nvSpPr>
        <p:spPr>
          <a:xfrm>
            <a:off x="581192" y="702156"/>
            <a:ext cx="11029616" cy="533791"/>
          </a:xfrm>
        </p:spPr>
        <p:txBody>
          <a:bodyPr/>
          <a:lstStyle/>
          <a:p>
            <a:r>
              <a:rPr lang="en-US" dirty="0"/>
              <a:t>Four pillars of Mobile GIS capabilities</a:t>
            </a:r>
          </a:p>
        </p:txBody>
      </p:sp>
      <p:pic>
        <p:nvPicPr>
          <p:cNvPr id="5" name="Content Placeholder 4">
            <a:extLst>
              <a:ext uri="{FF2B5EF4-FFF2-40B4-BE49-F238E27FC236}">
                <a16:creationId xmlns:a16="http://schemas.microsoft.com/office/drawing/2014/main" id="{9993DA6C-3318-4CE7-086F-3C8F2AF11FD3}"/>
              </a:ext>
            </a:extLst>
          </p:cNvPr>
          <p:cNvPicPr>
            <a:picLocks noGrp="1" noChangeAspect="1"/>
          </p:cNvPicPr>
          <p:nvPr>
            <p:ph idx="1"/>
          </p:nvPr>
        </p:nvPicPr>
        <p:blipFill>
          <a:blip r:embed="rId2"/>
          <a:stretch>
            <a:fillRect/>
          </a:stretch>
        </p:blipFill>
        <p:spPr>
          <a:xfrm>
            <a:off x="3137309" y="1526055"/>
            <a:ext cx="6921091" cy="4844764"/>
          </a:xfrm>
          <a:prstGeom prst="rect">
            <a:avLst/>
          </a:prstGeom>
        </p:spPr>
      </p:pic>
    </p:spTree>
    <p:extLst>
      <p:ext uri="{BB962C8B-B14F-4D97-AF65-F5344CB8AC3E}">
        <p14:creationId xmlns:p14="http://schemas.microsoft.com/office/powerpoint/2010/main" val="2538055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01D02A3-A210-2E0A-EEB5-E7CEA547E3A1}"/>
              </a:ext>
            </a:extLst>
          </p:cNvPr>
          <p:cNvPicPr>
            <a:picLocks noGrp="1" noChangeAspect="1"/>
          </p:cNvPicPr>
          <p:nvPr>
            <p:ph idx="1"/>
          </p:nvPr>
        </p:nvPicPr>
        <p:blipFill>
          <a:blip r:embed="rId2"/>
          <a:stretch>
            <a:fillRect/>
          </a:stretch>
        </p:blipFill>
        <p:spPr>
          <a:xfrm>
            <a:off x="3434726" y="1580915"/>
            <a:ext cx="7376210" cy="4909826"/>
          </a:xfrm>
          <a:prstGeom prst="rect">
            <a:avLst/>
          </a:prstGeom>
        </p:spPr>
      </p:pic>
      <p:sp>
        <p:nvSpPr>
          <p:cNvPr id="6" name="Title 1">
            <a:extLst>
              <a:ext uri="{FF2B5EF4-FFF2-40B4-BE49-F238E27FC236}">
                <a16:creationId xmlns:a16="http://schemas.microsoft.com/office/drawing/2014/main" id="{2CA7D43D-3C9E-A354-780F-CEAD4540B20F}"/>
              </a:ext>
            </a:extLst>
          </p:cNvPr>
          <p:cNvSpPr>
            <a:spLocks noGrp="1"/>
          </p:cNvSpPr>
          <p:nvPr>
            <p:ph type="title"/>
          </p:nvPr>
        </p:nvSpPr>
        <p:spPr>
          <a:xfrm>
            <a:off x="581025" y="701675"/>
            <a:ext cx="11029950" cy="574232"/>
          </a:xfrm>
        </p:spPr>
        <p:txBody>
          <a:bodyPr/>
          <a:lstStyle/>
          <a:p>
            <a:r>
              <a:rPr lang="en-US" dirty="0"/>
              <a:t>Four pillars of Mobile GIS capabilities</a:t>
            </a:r>
          </a:p>
        </p:txBody>
      </p:sp>
    </p:spTree>
    <p:extLst>
      <p:ext uri="{BB962C8B-B14F-4D97-AF65-F5344CB8AC3E}">
        <p14:creationId xmlns:p14="http://schemas.microsoft.com/office/powerpoint/2010/main" val="66764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C1C016-AF8E-D55D-EC30-2B5725A6C1AE}"/>
              </a:ext>
            </a:extLst>
          </p:cNvPr>
          <p:cNvPicPr>
            <a:picLocks noGrp="1" noChangeAspect="1"/>
          </p:cNvPicPr>
          <p:nvPr>
            <p:ph idx="1"/>
          </p:nvPr>
        </p:nvPicPr>
        <p:blipFill>
          <a:blip r:embed="rId2"/>
          <a:stretch>
            <a:fillRect/>
          </a:stretch>
        </p:blipFill>
        <p:spPr>
          <a:xfrm>
            <a:off x="3682763" y="1136423"/>
            <a:ext cx="6195756" cy="5406974"/>
          </a:xfrm>
          <a:prstGeom prst="rect">
            <a:avLst/>
          </a:prstGeom>
        </p:spPr>
      </p:pic>
      <p:sp>
        <p:nvSpPr>
          <p:cNvPr id="6" name="Title 1">
            <a:extLst>
              <a:ext uri="{FF2B5EF4-FFF2-40B4-BE49-F238E27FC236}">
                <a16:creationId xmlns:a16="http://schemas.microsoft.com/office/drawing/2014/main" id="{3DE245E2-3E2D-4C06-73F5-8101D47A1F54}"/>
              </a:ext>
            </a:extLst>
          </p:cNvPr>
          <p:cNvSpPr txBox="1">
            <a:spLocks/>
          </p:cNvSpPr>
          <p:nvPr/>
        </p:nvSpPr>
        <p:spPr>
          <a:xfrm>
            <a:off x="581025" y="701675"/>
            <a:ext cx="11029950" cy="574232"/>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Four pillars of Mobile GIS capabilities</a:t>
            </a:r>
            <a:endParaRPr lang="en-US" dirty="0"/>
          </a:p>
        </p:txBody>
      </p:sp>
    </p:spTree>
    <p:extLst>
      <p:ext uri="{BB962C8B-B14F-4D97-AF65-F5344CB8AC3E}">
        <p14:creationId xmlns:p14="http://schemas.microsoft.com/office/powerpoint/2010/main" val="916372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601200"/>
            <a:ext cx="370332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BDE3CE2-322D-5692-4505-8C9A573087DE}"/>
              </a:ext>
            </a:extLst>
          </p:cNvPr>
          <p:cNvSpPr>
            <a:spLocks noGrp="1"/>
          </p:cNvSpPr>
          <p:nvPr>
            <p:ph type="title"/>
          </p:nvPr>
        </p:nvSpPr>
        <p:spPr>
          <a:xfrm>
            <a:off x="671513" y="650033"/>
            <a:ext cx="3259016" cy="1028865"/>
          </a:xfrm>
        </p:spPr>
        <p:txBody>
          <a:bodyPr>
            <a:normAutofit/>
          </a:bodyPr>
          <a:lstStyle/>
          <a:p>
            <a:r>
              <a:rPr lang="en-US" dirty="0">
                <a:solidFill>
                  <a:srgbClr val="FFFFFF"/>
                </a:solidFill>
              </a:rPr>
              <a:t>Real-world applications:</a:t>
            </a:r>
          </a:p>
        </p:txBody>
      </p:sp>
      <p:sp>
        <p:nvSpPr>
          <p:cNvPr id="14" name="Rectangle 13">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8" name="Rectangle 17">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7B7E965-0B7E-1728-C5A0-D75B7EEDC09A}"/>
              </a:ext>
            </a:extLst>
          </p:cNvPr>
          <p:cNvSpPr>
            <a:spLocks noGrp="1"/>
          </p:cNvSpPr>
          <p:nvPr>
            <p:ph idx="1"/>
          </p:nvPr>
        </p:nvSpPr>
        <p:spPr>
          <a:xfrm>
            <a:off x="736302" y="1906444"/>
            <a:ext cx="3123783" cy="3671936"/>
          </a:xfrm>
        </p:spPr>
        <p:txBody>
          <a:bodyPr anchor="t">
            <a:normAutofit/>
          </a:bodyPr>
          <a:lstStyle/>
          <a:p>
            <a:pPr lvl="1"/>
            <a:r>
              <a:rPr lang="en-US" sz="2800" b="1" dirty="0">
                <a:solidFill>
                  <a:srgbClr val="FFFFFF"/>
                </a:solidFill>
              </a:rPr>
              <a:t>Emergency management:</a:t>
            </a:r>
            <a:r>
              <a:rPr lang="en-US" sz="2800" dirty="0">
                <a:solidFill>
                  <a:srgbClr val="FFFFFF"/>
                </a:solidFill>
              </a:rPr>
              <a:t> </a:t>
            </a:r>
            <a:r>
              <a:rPr lang="en-US" sz="2800" dirty="0">
                <a:solidFill>
                  <a:srgbClr val="FFFFFF"/>
                </a:solidFill>
                <a:hlinkClick r:id="rId2"/>
              </a:rPr>
              <a:t>Survey123 help in Emergency response and Recovery</a:t>
            </a:r>
            <a:endParaRPr lang="en-US" sz="2800" dirty="0">
              <a:solidFill>
                <a:srgbClr val="FFFFFF"/>
              </a:solidFill>
            </a:endParaRPr>
          </a:p>
        </p:txBody>
      </p:sp>
      <p:pic>
        <p:nvPicPr>
          <p:cNvPr id="5" name="Picture 4">
            <a:hlinkClick r:id="rId2"/>
            <a:extLst>
              <a:ext uri="{FF2B5EF4-FFF2-40B4-BE49-F238E27FC236}">
                <a16:creationId xmlns:a16="http://schemas.microsoft.com/office/drawing/2014/main" id="{A0556E2A-BA76-3E94-6367-AEA66F78F630}"/>
              </a:ext>
            </a:extLst>
          </p:cNvPr>
          <p:cNvPicPr>
            <a:picLocks noChangeAspect="1"/>
          </p:cNvPicPr>
          <p:nvPr/>
        </p:nvPicPr>
        <p:blipFill>
          <a:blip r:embed="rId3"/>
          <a:srcRect t="4025" b="7292"/>
          <a:stretch>
            <a:fillRect/>
          </a:stretch>
        </p:blipFill>
        <p:spPr>
          <a:xfrm>
            <a:off x="4241830" y="601200"/>
            <a:ext cx="7503636" cy="5789365"/>
          </a:xfrm>
          <a:prstGeom prst="rect">
            <a:avLst/>
          </a:prstGeom>
        </p:spPr>
      </p:pic>
    </p:spTree>
    <p:extLst>
      <p:ext uri="{BB962C8B-B14F-4D97-AF65-F5344CB8AC3E}">
        <p14:creationId xmlns:p14="http://schemas.microsoft.com/office/powerpoint/2010/main" val="2548226395"/>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601200"/>
            <a:ext cx="370332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7BDE3CE2-322D-5692-4505-8C9A573087DE}"/>
              </a:ext>
            </a:extLst>
          </p:cNvPr>
          <p:cNvSpPr>
            <a:spLocks noGrp="1"/>
          </p:cNvSpPr>
          <p:nvPr>
            <p:ph type="title"/>
          </p:nvPr>
        </p:nvSpPr>
        <p:spPr>
          <a:xfrm>
            <a:off x="671513" y="650033"/>
            <a:ext cx="3259016" cy="1028865"/>
          </a:xfrm>
        </p:spPr>
        <p:txBody>
          <a:bodyPr>
            <a:normAutofit/>
          </a:bodyPr>
          <a:lstStyle/>
          <a:p>
            <a:r>
              <a:rPr lang="en-US" dirty="0">
                <a:solidFill>
                  <a:srgbClr val="FFFFFF"/>
                </a:solidFill>
              </a:rPr>
              <a:t>Real-world applications:</a:t>
            </a:r>
          </a:p>
        </p:txBody>
      </p:sp>
      <p:sp>
        <p:nvSpPr>
          <p:cNvPr id="14" name="Rectangle 13">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07B7E965-0B7E-1728-C5A0-D75B7EEDC09A}"/>
              </a:ext>
            </a:extLst>
          </p:cNvPr>
          <p:cNvSpPr>
            <a:spLocks noGrp="1"/>
          </p:cNvSpPr>
          <p:nvPr>
            <p:ph idx="1"/>
          </p:nvPr>
        </p:nvSpPr>
        <p:spPr>
          <a:xfrm>
            <a:off x="446534" y="1906444"/>
            <a:ext cx="3703320" cy="3671936"/>
          </a:xfrm>
        </p:spPr>
        <p:txBody>
          <a:bodyPr anchor="t">
            <a:normAutofit/>
          </a:bodyPr>
          <a:lstStyle/>
          <a:p>
            <a:pPr lvl="1"/>
            <a:r>
              <a:rPr lang="en-US" sz="3200" b="0" i="0" dirty="0">
                <a:solidFill>
                  <a:schemeClr val="tx1"/>
                </a:solidFill>
                <a:effectLst/>
                <a:latin typeface="Avenir Next W01"/>
              </a:rPr>
              <a:t>Fire Department </a:t>
            </a:r>
            <a:r>
              <a:rPr lang="en-US" sz="2800" b="1" dirty="0">
                <a:solidFill>
                  <a:srgbClr val="FFFFFF"/>
                </a:solidFill>
              </a:rPr>
              <a:t>:</a:t>
            </a:r>
            <a:r>
              <a:rPr lang="en-US" sz="2800" dirty="0">
                <a:solidFill>
                  <a:srgbClr val="FFFFFF"/>
                </a:solidFill>
              </a:rPr>
              <a:t> </a:t>
            </a:r>
            <a:r>
              <a:rPr lang="en-US" sz="2800" dirty="0">
                <a:solidFill>
                  <a:srgbClr val="FFFFFF"/>
                </a:solidFill>
                <a:hlinkClick r:id="rId2"/>
              </a:rPr>
              <a:t>Field Maps help in Hydrant Inspection</a:t>
            </a:r>
            <a:endParaRPr lang="en-US" sz="2800" dirty="0">
              <a:solidFill>
                <a:srgbClr val="FFFFFF"/>
              </a:solidFill>
            </a:endParaRPr>
          </a:p>
        </p:txBody>
      </p:sp>
      <p:pic>
        <p:nvPicPr>
          <p:cNvPr id="6" name="Picture 5">
            <a:extLst>
              <a:ext uri="{FF2B5EF4-FFF2-40B4-BE49-F238E27FC236}">
                <a16:creationId xmlns:a16="http://schemas.microsoft.com/office/drawing/2014/main" id="{25C434EB-2D93-E52F-3A19-1A833C4DA3CF}"/>
              </a:ext>
            </a:extLst>
          </p:cNvPr>
          <p:cNvPicPr>
            <a:picLocks noChangeAspect="1"/>
          </p:cNvPicPr>
          <p:nvPr/>
        </p:nvPicPr>
        <p:blipFill>
          <a:blip r:embed="rId3"/>
          <a:stretch>
            <a:fillRect/>
          </a:stretch>
        </p:blipFill>
        <p:spPr>
          <a:xfrm>
            <a:off x="4677636" y="650033"/>
            <a:ext cx="6842851" cy="5828222"/>
          </a:xfrm>
          <a:prstGeom prst="rect">
            <a:avLst/>
          </a:prstGeom>
        </p:spPr>
      </p:pic>
    </p:spTree>
    <p:extLst>
      <p:ext uri="{BB962C8B-B14F-4D97-AF65-F5344CB8AC3E}">
        <p14:creationId xmlns:p14="http://schemas.microsoft.com/office/powerpoint/2010/main" val="388142325"/>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2.3</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desktop </a:t>
            </a:r>
            <a:r>
              <a:rPr lang="en-US" sz="6000" b="0" kern="1200" cap="all" dirty="0" err="1">
                <a:solidFill>
                  <a:srgbClr val="FFFFFF"/>
                </a:solidFill>
                <a:latin typeface="+mj-lt"/>
                <a:ea typeface="+mj-ea"/>
                <a:cs typeface="+mj-cs"/>
              </a:rPr>
              <a:t>gis</a:t>
            </a:r>
            <a:endParaRPr lang="en-US" sz="6000" b="0" kern="1200" cap="all" dirty="0">
              <a:solidFill>
                <a:srgbClr val="FFFFFF"/>
              </a:solidFill>
              <a:latin typeface="+mj-lt"/>
              <a:ea typeface="+mj-ea"/>
              <a:cs typeface="+mj-cs"/>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8244C-FB71-396D-9B4C-4EB5BB415E47}"/>
              </a:ext>
            </a:extLst>
          </p:cNvPr>
          <p:cNvSpPr>
            <a:spLocks noGrp="1"/>
          </p:cNvSpPr>
          <p:nvPr>
            <p:ph type="title"/>
          </p:nvPr>
        </p:nvSpPr>
        <p:spPr>
          <a:xfrm>
            <a:off x="431290" y="567244"/>
            <a:ext cx="11029616" cy="661949"/>
          </a:xfrm>
        </p:spPr>
        <p:txBody>
          <a:bodyPr>
            <a:normAutofit/>
          </a:bodyPr>
          <a:lstStyle/>
          <a:p>
            <a:r>
              <a:rPr lang="en-US" dirty="0"/>
              <a:t>dashboard</a:t>
            </a:r>
          </a:p>
        </p:txBody>
      </p:sp>
      <p:pic>
        <p:nvPicPr>
          <p:cNvPr id="5" name="Content Placeholder 4">
            <a:extLst>
              <a:ext uri="{FF2B5EF4-FFF2-40B4-BE49-F238E27FC236}">
                <a16:creationId xmlns:a16="http://schemas.microsoft.com/office/drawing/2014/main" id="{5E5FE32B-0D8E-82DC-56C8-6A25F1B50F85}"/>
              </a:ext>
            </a:extLst>
          </p:cNvPr>
          <p:cNvPicPr>
            <a:picLocks noGrp="1" noChangeAspect="1"/>
          </p:cNvPicPr>
          <p:nvPr>
            <p:ph idx="1"/>
          </p:nvPr>
        </p:nvPicPr>
        <p:blipFill>
          <a:blip r:embed="rId2"/>
          <a:stretch>
            <a:fillRect/>
          </a:stretch>
        </p:blipFill>
        <p:spPr>
          <a:xfrm>
            <a:off x="1354496" y="1241607"/>
            <a:ext cx="9752829" cy="5049149"/>
          </a:xfrm>
        </p:spPr>
      </p:pic>
      <p:sp>
        <p:nvSpPr>
          <p:cNvPr id="6" name="TextBox 5">
            <a:extLst>
              <a:ext uri="{FF2B5EF4-FFF2-40B4-BE49-F238E27FC236}">
                <a16:creationId xmlns:a16="http://schemas.microsoft.com/office/drawing/2014/main" id="{10A9ABEF-6DFE-AE01-FBBB-9D1A02025A5A}"/>
              </a:ext>
            </a:extLst>
          </p:cNvPr>
          <p:cNvSpPr txBox="1"/>
          <p:nvPr/>
        </p:nvSpPr>
        <p:spPr>
          <a:xfrm>
            <a:off x="640827" y="6453575"/>
            <a:ext cx="11180166" cy="369332"/>
          </a:xfrm>
          <a:prstGeom prst="rect">
            <a:avLst/>
          </a:prstGeom>
          <a:noFill/>
        </p:spPr>
        <p:txBody>
          <a:bodyPr wrap="square" rtlCol="0">
            <a:spAutoFit/>
          </a:bodyPr>
          <a:lstStyle/>
          <a:p>
            <a:r>
              <a:rPr lang="en-US" dirty="0">
                <a:hlinkClick r:id="rId3"/>
              </a:rPr>
              <a:t>The COVID-19 Dashboard by the Center for Systems Science and Engineering (CSSE) at Johns Hopkins University (JHU).</a:t>
            </a:r>
            <a:endParaRPr lang="en-US" dirty="0"/>
          </a:p>
        </p:txBody>
      </p:sp>
    </p:spTree>
    <p:extLst>
      <p:ext uri="{BB962C8B-B14F-4D97-AF65-F5344CB8AC3E}">
        <p14:creationId xmlns:p14="http://schemas.microsoft.com/office/powerpoint/2010/main" val="1038180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71B880F-1B29-D2B4-2B90-49A1B88CBE40}"/>
              </a:ext>
            </a:extLst>
          </p:cNvPr>
          <p:cNvSpPr txBox="1">
            <a:spLocks/>
          </p:cNvSpPr>
          <p:nvPr/>
        </p:nvSpPr>
        <p:spPr>
          <a:xfrm>
            <a:off x="431290" y="567244"/>
            <a:ext cx="11029616" cy="661949"/>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t>S</a:t>
            </a:r>
            <a:r>
              <a:rPr lang="en-US" altLang="zh-CN" dirty="0" err="1"/>
              <a:t>torymap</a:t>
            </a:r>
            <a:endParaRPr lang="en-US" dirty="0"/>
          </a:p>
        </p:txBody>
      </p:sp>
      <p:pic>
        <p:nvPicPr>
          <p:cNvPr id="8" name="Picture 7">
            <a:hlinkClick r:id="rId2"/>
            <a:extLst>
              <a:ext uri="{FF2B5EF4-FFF2-40B4-BE49-F238E27FC236}">
                <a16:creationId xmlns:a16="http://schemas.microsoft.com/office/drawing/2014/main" id="{C3D70E8B-3944-9778-3037-80096CDA77FC}"/>
              </a:ext>
            </a:extLst>
          </p:cNvPr>
          <p:cNvPicPr>
            <a:picLocks noChangeAspect="1"/>
          </p:cNvPicPr>
          <p:nvPr/>
        </p:nvPicPr>
        <p:blipFill>
          <a:blip r:embed="rId3"/>
          <a:stretch>
            <a:fillRect/>
          </a:stretch>
        </p:blipFill>
        <p:spPr>
          <a:xfrm>
            <a:off x="1681924" y="1222816"/>
            <a:ext cx="9778982" cy="5067940"/>
          </a:xfrm>
          <a:prstGeom prst="rect">
            <a:avLst/>
          </a:prstGeom>
        </p:spPr>
      </p:pic>
      <p:sp>
        <p:nvSpPr>
          <p:cNvPr id="9" name="TextBox 8">
            <a:extLst>
              <a:ext uri="{FF2B5EF4-FFF2-40B4-BE49-F238E27FC236}">
                <a16:creationId xmlns:a16="http://schemas.microsoft.com/office/drawing/2014/main" id="{EEAD85D6-F909-CDFF-E670-2D8B69C34FB7}"/>
              </a:ext>
            </a:extLst>
          </p:cNvPr>
          <p:cNvSpPr txBox="1"/>
          <p:nvPr/>
        </p:nvSpPr>
        <p:spPr>
          <a:xfrm>
            <a:off x="431290" y="6380703"/>
            <a:ext cx="4903595" cy="369332"/>
          </a:xfrm>
          <a:prstGeom prst="rect">
            <a:avLst/>
          </a:prstGeom>
          <a:noFill/>
        </p:spPr>
        <p:txBody>
          <a:bodyPr wrap="square" rtlCol="0">
            <a:spAutoFit/>
          </a:bodyPr>
          <a:lstStyle/>
          <a:p>
            <a:r>
              <a:rPr lang="en-US" dirty="0">
                <a:hlinkClick r:id="rId4"/>
              </a:rPr>
              <a:t>2025 ArcGIS </a:t>
            </a:r>
            <a:r>
              <a:rPr lang="en-US" dirty="0" err="1">
                <a:hlinkClick r:id="rId4"/>
              </a:rPr>
              <a:t>StoryMaps</a:t>
            </a:r>
            <a:r>
              <a:rPr lang="en-US" dirty="0">
                <a:hlinkClick r:id="rId4"/>
              </a:rPr>
              <a:t> Competition</a:t>
            </a:r>
            <a:endParaRPr lang="en-US" dirty="0"/>
          </a:p>
        </p:txBody>
      </p:sp>
    </p:spTree>
    <p:extLst>
      <p:ext uri="{BB962C8B-B14F-4D97-AF65-F5344CB8AC3E}">
        <p14:creationId xmlns:p14="http://schemas.microsoft.com/office/powerpoint/2010/main" val="3009232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C4E3B-F311-F351-4B45-EBC2354E5DD5}"/>
              </a:ext>
            </a:extLst>
          </p:cNvPr>
          <p:cNvSpPr>
            <a:spLocks noGrp="1"/>
          </p:cNvSpPr>
          <p:nvPr>
            <p:ph type="title"/>
          </p:nvPr>
        </p:nvSpPr>
        <p:spPr>
          <a:xfrm>
            <a:off x="581192" y="702156"/>
            <a:ext cx="11029616" cy="572008"/>
          </a:xfrm>
        </p:spPr>
        <p:txBody>
          <a:bodyPr/>
          <a:lstStyle/>
          <a:p>
            <a:r>
              <a:rPr lang="en-US" dirty="0"/>
              <a:t>Spatial-temporal and real-time </a:t>
            </a:r>
            <a:r>
              <a:rPr lang="en-US" dirty="0" err="1"/>
              <a:t>gis</a:t>
            </a:r>
            <a:endParaRPr lang="en-US" dirty="0"/>
          </a:p>
        </p:txBody>
      </p:sp>
      <p:pic>
        <p:nvPicPr>
          <p:cNvPr id="5" name="Picture 4">
            <a:hlinkClick r:id="rId2"/>
            <a:extLst>
              <a:ext uri="{FF2B5EF4-FFF2-40B4-BE49-F238E27FC236}">
                <a16:creationId xmlns:a16="http://schemas.microsoft.com/office/drawing/2014/main" id="{0AC3FA18-59FD-59E2-C2BE-99E0B82DF43F}"/>
              </a:ext>
            </a:extLst>
          </p:cNvPr>
          <p:cNvPicPr>
            <a:picLocks noChangeAspect="1"/>
          </p:cNvPicPr>
          <p:nvPr/>
        </p:nvPicPr>
        <p:blipFill>
          <a:blip r:embed="rId3"/>
          <a:stretch>
            <a:fillRect/>
          </a:stretch>
        </p:blipFill>
        <p:spPr>
          <a:xfrm>
            <a:off x="1162490" y="1584287"/>
            <a:ext cx="10088955" cy="4571557"/>
          </a:xfrm>
          <a:prstGeom prst="rect">
            <a:avLst/>
          </a:prstGeom>
        </p:spPr>
      </p:pic>
    </p:spTree>
    <p:extLst>
      <p:ext uri="{BB962C8B-B14F-4D97-AF65-F5344CB8AC3E}">
        <p14:creationId xmlns:p14="http://schemas.microsoft.com/office/powerpoint/2010/main" val="1292687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A081-58F3-6639-827A-E8704710356E}"/>
              </a:ext>
            </a:extLst>
          </p:cNvPr>
          <p:cNvSpPr>
            <a:spLocks noGrp="1"/>
          </p:cNvSpPr>
          <p:nvPr>
            <p:ph type="title"/>
          </p:nvPr>
        </p:nvSpPr>
        <p:spPr>
          <a:xfrm>
            <a:off x="581192" y="702156"/>
            <a:ext cx="11029616" cy="563118"/>
          </a:xfrm>
        </p:spPr>
        <p:txBody>
          <a:bodyPr/>
          <a:lstStyle/>
          <a:p>
            <a:r>
              <a:rPr lang="en-US" dirty="0"/>
              <a:t>3d web scenes</a:t>
            </a:r>
          </a:p>
        </p:txBody>
      </p:sp>
      <p:pic>
        <p:nvPicPr>
          <p:cNvPr id="5" name="Content Placeholder 4">
            <a:extLst>
              <a:ext uri="{FF2B5EF4-FFF2-40B4-BE49-F238E27FC236}">
                <a16:creationId xmlns:a16="http://schemas.microsoft.com/office/drawing/2014/main" id="{BCC4E799-BDD3-D263-2A28-F3DAD1DBC042}"/>
              </a:ext>
            </a:extLst>
          </p:cNvPr>
          <p:cNvPicPr>
            <a:picLocks noGrp="1" noChangeAspect="1"/>
          </p:cNvPicPr>
          <p:nvPr>
            <p:ph idx="1"/>
          </p:nvPr>
        </p:nvPicPr>
        <p:blipFill>
          <a:blip r:embed="rId2"/>
          <a:stretch>
            <a:fillRect/>
          </a:stretch>
        </p:blipFill>
        <p:spPr>
          <a:xfrm>
            <a:off x="496131" y="1344859"/>
            <a:ext cx="11029950" cy="4609374"/>
          </a:xfrm>
          <a:prstGeom prst="rect">
            <a:avLst/>
          </a:prstGeom>
        </p:spPr>
      </p:pic>
    </p:spTree>
    <p:extLst>
      <p:ext uri="{BB962C8B-B14F-4D97-AF65-F5344CB8AC3E}">
        <p14:creationId xmlns:p14="http://schemas.microsoft.com/office/powerpoint/2010/main" val="147567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91F806-B4C7-F69C-C51C-34B7AB8F1B7A}"/>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F30BBE0F-8A1E-F66E-D1D1-B920CF6C0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BA898AF7-631D-997D-CF2D-14A5E4305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24BDB4DF-281D-6477-36F0-EA183A69A4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0234A687-B860-36E1-5F79-39701FBCE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E456503A-3BAA-5AD9-963C-252C31168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AB374C5B-BE21-7285-69F2-A15CE61FE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7955DFE3-899F-1B5C-2044-F27C4692A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D46A176F-9CA3-11DC-CA88-685DDA60B7FC}"/>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2.4</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drone and </a:t>
            </a:r>
            <a:r>
              <a:rPr lang="en-US" sz="6000" b="0" kern="1200" cap="all" dirty="0" err="1">
                <a:solidFill>
                  <a:srgbClr val="FFFFFF"/>
                </a:solidFill>
                <a:latin typeface="+mj-lt"/>
                <a:ea typeface="+mj-ea"/>
                <a:cs typeface="+mj-cs"/>
              </a:rPr>
              <a:t>gps</a:t>
            </a:r>
            <a:endParaRPr lang="en-US" sz="6000" b="0" kern="1200" cap="all" dirty="0">
              <a:solidFill>
                <a:srgbClr val="FFFFFF"/>
              </a:solidFill>
              <a:latin typeface="+mj-lt"/>
              <a:ea typeface="+mj-ea"/>
              <a:cs typeface="+mj-cs"/>
            </a:endParaRPr>
          </a:p>
        </p:txBody>
      </p:sp>
      <p:sp>
        <p:nvSpPr>
          <p:cNvPr id="50" name="Rectangle 49">
            <a:extLst>
              <a:ext uri="{FF2B5EF4-FFF2-40B4-BE49-F238E27FC236}">
                <a16:creationId xmlns:a16="http://schemas.microsoft.com/office/drawing/2014/main" id="{786635A1-BC77-2EB4-2797-841808A67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421398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508000" y="582383"/>
            <a:ext cx="10769600" cy="625877"/>
          </a:xfrm>
          <a:prstGeom prst="rect">
            <a:avLst/>
          </a:prstGeom>
        </p:spPr>
        <p:txBody>
          <a:bodyPr vert="horz" lIns="121920" tIns="60960" rIns="121920" bIns="60960" rtlCol="0" anchor="ctr">
            <a:normAutofit fontScale="92500" lnSpcReduction="2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Survey tools</a:t>
            </a:r>
            <a:endParaRPr lang="en-US" sz="3467"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a:xfrm>
            <a:off x="8473440" y="6311290"/>
            <a:ext cx="2560320" cy="365125"/>
          </a:xfrm>
        </p:spPr>
        <p:txBody>
          <a:bodyPr/>
          <a:lstStyle/>
          <a:p>
            <a:fld id="{127DDC20-79C9-9647-820E-6D40A3D210C3}" type="slidenum">
              <a:rPr lang="en-US" smtClean="0"/>
              <a:pPr/>
              <a:t>26</a:t>
            </a:fld>
            <a:endParaRPr lang="en-US"/>
          </a:p>
        </p:txBody>
      </p:sp>
      <p:sp>
        <p:nvSpPr>
          <p:cNvPr id="7" name="Rectangle 1027">
            <a:extLst>
              <a:ext uri="{FF2B5EF4-FFF2-40B4-BE49-F238E27FC236}">
                <a16:creationId xmlns:a16="http://schemas.microsoft.com/office/drawing/2014/main" id="{512740DB-CB65-4AFE-AC07-4905CBFCEFE0}"/>
              </a:ext>
            </a:extLst>
          </p:cNvPr>
          <p:cNvSpPr txBox="1">
            <a:spLocks noChangeArrowheads="1"/>
          </p:cNvSpPr>
          <p:nvPr/>
        </p:nvSpPr>
        <p:spPr>
          <a:xfrm>
            <a:off x="1013255" y="1373283"/>
            <a:ext cx="7013147" cy="5181600"/>
          </a:xfrm>
          <a:prstGeom prst="rect">
            <a:avLst/>
          </a:prstGeom>
        </p:spPr>
        <p:txBody>
          <a:bodyPr vert="horz" lIns="121920" tIns="60960" rIns="121920" bIns="6096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3467" dirty="0"/>
              <a:t>DJF </a:t>
            </a:r>
            <a:r>
              <a:rPr lang="en-US" sz="3467" dirty="0"/>
              <a:t>Phantom IV</a:t>
            </a:r>
            <a:r>
              <a:rPr lang="en-US" altLang="en-US" sz="3467" dirty="0"/>
              <a:t> </a:t>
            </a:r>
          </a:p>
          <a:p>
            <a:pPr marL="548626" lvl="1" indent="0">
              <a:buNone/>
            </a:pPr>
            <a:endParaRPr lang="en-US" altLang="en-US" sz="2880" dirty="0"/>
          </a:p>
          <a:p>
            <a:pPr marL="548626" lvl="1" indent="0">
              <a:buNone/>
            </a:pPr>
            <a:endParaRPr lang="en-US" altLang="en-US" sz="2880" dirty="0"/>
          </a:p>
        </p:txBody>
      </p:sp>
      <p:sp>
        <p:nvSpPr>
          <p:cNvPr id="3" name="AutoShape 2">
            <a:extLst>
              <a:ext uri="{FF2B5EF4-FFF2-40B4-BE49-F238E27FC236}">
                <a16:creationId xmlns:a16="http://schemas.microsoft.com/office/drawing/2014/main" id="{5F64A319-4AFF-FF0C-F722-E3D583CA4D6B}"/>
              </a:ext>
            </a:extLst>
          </p:cNvPr>
          <p:cNvSpPr>
            <a:spLocks noChangeAspect="1" noChangeArrowheads="1"/>
          </p:cNvSpPr>
          <p:nvPr/>
        </p:nvSpPr>
        <p:spPr bwMode="auto">
          <a:xfrm>
            <a:off x="5892800" y="3225800"/>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a:p>
        </p:txBody>
      </p:sp>
      <p:pic>
        <p:nvPicPr>
          <p:cNvPr id="8" name="Picture 7" descr="DJI">
            <a:extLst>
              <a:ext uri="{FF2B5EF4-FFF2-40B4-BE49-F238E27FC236}">
                <a16:creationId xmlns:a16="http://schemas.microsoft.com/office/drawing/2014/main" id="{6B033E9B-2A3C-033A-3EA8-47A6D1BA6543}"/>
              </a:ext>
            </a:extLst>
          </p:cNvPr>
          <p:cNvPicPr>
            <a:picLocks noChangeAspect="1"/>
          </p:cNvPicPr>
          <p:nvPr/>
        </p:nvPicPr>
        <p:blipFill>
          <a:blip r:embed="rId3"/>
          <a:stretch>
            <a:fillRect/>
          </a:stretch>
        </p:blipFill>
        <p:spPr>
          <a:xfrm rot="5400000">
            <a:off x="694187" y="2620573"/>
            <a:ext cx="4177192" cy="3132895"/>
          </a:xfrm>
          <a:prstGeom prst="rect">
            <a:avLst/>
          </a:prstGeom>
        </p:spPr>
      </p:pic>
      <p:sp>
        <p:nvSpPr>
          <p:cNvPr id="10" name="TextBox 9">
            <a:extLst>
              <a:ext uri="{FF2B5EF4-FFF2-40B4-BE49-F238E27FC236}">
                <a16:creationId xmlns:a16="http://schemas.microsoft.com/office/drawing/2014/main" id="{1ABD6AD7-6A85-5882-042B-80C9AA1C146B}"/>
              </a:ext>
            </a:extLst>
          </p:cNvPr>
          <p:cNvSpPr txBox="1"/>
          <p:nvPr/>
        </p:nvSpPr>
        <p:spPr>
          <a:xfrm>
            <a:off x="2428382" y="6346982"/>
            <a:ext cx="987380" cy="461665"/>
          </a:xfrm>
          <a:prstGeom prst="rect">
            <a:avLst/>
          </a:prstGeom>
          <a:noFill/>
        </p:spPr>
        <p:txBody>
          <a:bodyPr wrap="square" rtlCol="0">
            <a:spAutoFit/>
          </a:bodyPr>
          <a:lstStyle/>
          <a:p>
            <a:r>
              <a:rPr lang="en-US" sz="2400" dirty="0"/>
              <a:t>John</a:t>
            </a:r>
          </a:p>
        </p:txBody>
      </p:sp>
      <p:sp>
        <p:nvSpPr>
          <p:cNvPr id="12" name="TextBox 11">
            <a:extLst>
              <a:ext uri="{FF2B5EF4-FFF2-40B4-BE49-F238E27FC236}">
                <a16:creationId xmlns:a16="http://schemas.microsoft.com/office/drawing/2014/main" id="{CBDEC510-BA6B-124C-699E-D994E8B8CA8C}"/>
              </a:ext>
            </a:extLst>
          </p:cNvPr>
          <p:cNvSpPr txBox="1"/>
          <p:nvPr/>
        </p:nvSpPr>
        <p:spPr>
          <a:xfrm>
            <a:off x="4892829" y="1387118"/>
            <a:ext cx="6689571" cy="625877"/>
          </a:xfrm>
          <a:prstGeom prst="rect">
            <a:avLst/>
          </a:prstGeom>
          <a:noFill/>
        </p:spPr>
        <p:txBody>
          <a:bodyPr wrap="square">
            <a:spAutoFit/>
          </a:bodyPr>
          <a:lstStyle/>
          <a:p>
            <a:pPr>
              <a:buFont typeface="Courier New" panose="02070309020205020404" pitchFamily="49" charset="0"/>
              <a:buChar char="o"/>
            </a:pPr>
            <a:r>
              <a:rPr lang="en-US" altLang="en-US" sz="2400" dirty="0"/>
              <a:t> </a:t>
            </a:r>
            <a:r>
              <a:rPr lang="en-US" altLang="en-US" sz="3467" dirty="0"/>
              <a:t>DJF Ground Station Pro (only iPad) </a:t>
            </a:r>
          </a:p>
        </p:txBody>
      </p:sp>
      <p:pic>
        <p:nvPicPr>
          <p:cNvPr id="14" name="Picture 13" descr="GSP logo">
            <a:extLst>
              <a:ext uri="{FF2B5EF4-FFF2-40B4-BE49-F238E27FC236}">
                <a16:creationId xmlns:a16="http://schemas.microsoft.com/office/drawing/2014/main" id="{C816D00B-E947-38A7-70B0-0366FED468C0}"/>
              </a:ext>
            </a:extLst>
          </p:cNvPr>
          <p:cNvPicPr>
            <a:picLocks noChangeAspect="1"/>
          </p:cNvPicPr>
          <p:nvPr/>
        </p:nvPicPr>
        <p:blipFill>
          <a:blip r:embed="rId4"/>
          <a:stretch>
            <a:fillRect/>
          </a:stretch>
        </p:blipFill>
        <p:spPr>
          <a:xfrm>
            <a:off x="6226613" y="2043709"/>
            <a:ext cx="1258655" cy="1330577"/>
          </a:xfrm>
          <a:prstGeom prst="rect">
            <a:avLst/>
          </a:prstGeom>
        </p:spPr>
      </p:pic>
      <p:sp>
        <p:nvSpPr>
          <p:cNvPr id="15" name="TextBox 14">
            <a:extLst>
              <a:ext uri="{FF2B5EF4-FFF2-40B4-BE49-F238E27FC236}">
                <a16:creationId xmlns:a16="http://schemas.microsoft.com/office/drawing/2014/main" id="{6710BA00-E6E1-0422-3B8D-2ABF6ED81AF1}"/>
              </a:ext>
            </a:extLst>
          </p:cNvPr>
          <p:cNvSpPr txBox="1"/>
          <p:nvPr/>
        </p:nvSpPr>
        <p:spPr>
          <a:xfrm>
            <a:off x="4892830" y="4929857"/>
            <a:ext cx="5512157" cy="625877"/>
          </a:xfrm>
          <a:prstGeom prst="rect">
            <a:avLst/>
          </a:prstGeom>
          <a:noFill/>
        </p:spPr>
        <p:txBody>
          <a:bodyPr wrap="square">
            <a:spAutoFit/>
          </a:bodyPr>
          <a:lstStyle/>
          <a:p>
            <a:pPr>
              <a:buFont typeface="Courier New" panose="02070309020205020404" pitchFamily="49" charset="0"/>
              <a:buChar char="o"/>
            </a:pPr>
            <a:r>
              <a:rPr lang="en-US" altLang="en-US" sz="2400" dirty="0"/>
              <a:t> </a:t>
            </a:r>
            <a:r>
              <a:rPr lang="en-US" altLang="en-US" sz="3467" dirty="0"/>
              <a:t>DJF GO 4 </a:t>
            </a:r>
          </a:p>
        </p:txBody>
      </p:sp>
      <p:pic>
        <p:nvPicPr>
          <p:cNvPr id="17" name="Picture 16" descr="DJI GO 4 logo">
            <a:extLst>
              <a:ext uri="{FF2B5EF4-FFF2-40B4-BE49-F238E27FC236}">
                <a16:creationId xmlns:a16="http://schemas.microsoft.com/office/drawing/2014/main" id="{F7EABB71-37A4-2622-81AE-CD21B2EB2A31}"/>
              </a:ext>
            </a:extLst>
          </p:cNvPr>
          <p:cNvPicPr>
            <a:picLocks noChangeAspect="1"/>
          </p:cNvPicPr>
          <p:nvPr/>
        </p:nvPicPr>
        <p:blipFill>
          <a:blip r:embed="rId5"/>
          <a:stretch>
            <a:fillRect/>
          </a:stretch>
        </p:blipFill>
        <p:spPr>
          <a:xfrm>
            <a:off x="7170349" y="4604101"/>
            <a:ext cx="1257300" cy="1308100"/>
          </a:xfrm>
          <a:prstGeom prst="rect">
            <a:avLst/>
          </a:prstGeom>
        </p:spPr>
      </p:pic>
      <p:sp>
        <p:nvSpPr>
          <p:cNvPr id="19" name="TextBox 18">
            <a:extLst>
              <a:ext uri="{FF2B5EF4-FFF2-40B4-BE49-F238E27FC236}">
                <a16:creationId xmlns:a16="http://schemas.microsoft.com/office/drawing/2014/main" id="{3CFE468A-CFA5-AEF4-DA7A-C38B393E9082}"/>
              </a:ext>
            </a:extLst>
          </p:cNvPr>
          <p:cNvSpPr txBox="1"/>
          <p:nvPr/>
        </p:nvSpPr>
        <p:spPr>
          <a:xfrm>
            <a:off x="4729188" y="6455641"/>
            <a:ext cx="5512157" cy="276999"/>
          </a:xfrm>
          <a:prstGeom prst="rect">
            <a:avLst/>
          </a:prstGeom>
          <a:noFill/>
        </p:spPr>
        <p:txBody>
          <a:bodyPr wrap="square">
            <a:spAutoFit/>
          </a:bodyPr>
          <a:lstStyle/>
          <a:p>
            <a:r>
              <a:rPr lang="en-US" sz="1200" dirty="0">
                <a:solidFill>
                  <a:srgbClr val="7030A0"/>
                </a:solidFill>
              </a:rPr>
              <a:t>https://www.dji.com/downloads/djiapp/dji-go-4</a:t>
            </a:r>
          </a:p>
        </p:txBody>
      </p:sp>
    </p:spTree>
    <p:extLst>
      <p:ext uri="{BB962C8B-B14F-4D97-AF65-F5344CB8AC3E}">
        <p14:creationId xmlns:p14="http://schemas.microsoft.com/office/powerpoint/2010/main" val="3897734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409145" y="25851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733" dirty="0">
                <a:solidFill>
                  <a:srgbClr val="7030A0"/>
                </a:solidFill>
              </a:rPr>
              <a:t>GNSS segment</a:t>
            </a:r>
            <a:endParaRPr lang="en-US" sz="32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7" name="Rectangle 1027">
            <a:extLst>
              <a:ext uri="{FF2B5EF4-FFF2-40B4-BE49-F238E27FC236}">
                <a16:creationId xmlns:a16="http://schemas.microsoft.com/office/drawing/2014/main" id="{A0EEFF6C-4B7A-40AD-98D4-DED2A750AE34}"/>
              </a:ext>
            </a:extLst>
          </p:cNvPr>
          <p:cNvSpPr txBox="1">
            <a:spLocks noChangeArrowheads="1"/>
          </p:cNvSpPr>
          <p:nvPr/>
        </p:nvSpPr>
        <p:spPr>
          <a:xfrm>
            <a:off x="1013255" y="1373283"/>
            <a:ext cx="7013147" cy="5181600"/>
          </a:xfrm>
          <a:prstGeom prst="rect">
            <a:avLst/>
          </a:prstGeom>
        </p:spPr>
        <p:txBody>
          <a:bodyPr vert="horz" lIns="121920" tIns="60960" rIns="121920" bIns="6096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3467" dirty="0"/>
              <a:t>User segment</a:t>
            </a:r>
          </a:p>
          <a:p>
            <a:pPr lvl="1">
              <a:buFont typeface="Wingdings" panose="05000000000000000000" pitchFamily="2" charset="2"/>
              <a:buChar char="ü"/>
            </a:pPr>
            <a:r>
              <a:rPr lang="en-US" altLang="en-US" sz="2880" dirty="0"/>
              <a:t>Comprises of Hundreds of thousands of civil, commercial, and scientific users</a:t>
            </a:r>
          </a:p>
          <a:p>
            <a:pPr lvl="1">
              <a:buFont typeface="Wingdings" panose="05000000000000000000" pitchFamily="2" charset="2"/>
              <a:buChar char="ü"/>
            </a:pPr>
            <a:r>
              <a:rPr lang="en-US" altLang="en-US" sz="2880" dirty="0"/>
              <a:t>In general, GPS receivers are composed of an antenna, receiver-processors, controller, and a highly stable clock.</a:t>
            </a:r>
          </a:p>
          <a:p>
            <a:pPr marL="548626" lvl="1" indent="0">
              <a:buNone/>
            </a:pPr>
            <a:endParaRPr lang="en-US" altLang="en-US" sz="2880" dirty="0"/>
          </a:p>
        </p:txBody>
      </p:sp>
      <p:pic>
        <p:nvPicPr>
          <p:cNvPr id="6" name="Picture 5" descr="User GPS unit">
            <a:extLst>
              <a:ext uri="{FF2B5EF4-FFF2-40B4-BE49-F238E27FC236}">
                <a16:creationId xmlns:a16="http://schemas.microsoft.com/office/drawing/2014/main" id="{038363B2-1896-4951-BF93-B6E259C03D29}"/>
              </a:ext>
            </a:extLst>
          </p:cNvPr>
          <p:cNvPicPr>
            <a:picLocks noChangeAspect="1"/>
          </p:cNvPicPr>
          <p:nvPr/>
        </p:nvPicPr>
        <p:blipFill>
          <a:blip r:embed="rId3"/>
          <a:stretch>
            <a:fillRect/>
          </a:stretch>
        </p:blipFill>
        <p:spPr>
          <a:xfrm>
            <a:off x="1987550" y="4300787"/>
            <a:ext cx="4406900" cy="2298700"/>
          </a:xfrm>
          <a:prstGeom prst="rect">
            <a:avLst/>
          </a:prstGeom>
        </p:spPr>
      </p:pic>
      <p:pic>
        <p:nvPicPr>
          <p:cNvPr id="11" name="Picture 10" descr="User GPS unit">
            <a:extLst>
              <a:ext uri="{FF2B5EF4-FFF2-40B4-BE49-F238E27FC236}">
                <a16:creationId xmlns:a16="http://schemas.microsoft.com/office/drawing/2014/main" id="{A92C0E27-BA0D-4CD8-AB50-9E0CA6ED9B12}"/>
              </a:ext>
            </a:extLst>
          </p:cNvPr>
          <p:cNvPicPr>
            <a:picLocks noChangeAspect="1"/>
          </p:cNvPicPr>
          <p:nvPr/>
        </p:nvPicPr>
        <p:blipFill>
          <a:blip r:embed="rId4"/>
          <a:stretch>
            <a:fillRect/>
          </a:stretch>
        </p:blipFill>
        <p:spPr>
          <a:xfrm>
            <a:off x="8200331" y="2245384"/>
            <a:ext cx="3382069" cy="3382069"/>
          </a:xfrm>
          <a:prstGeom prst="rect">
            <a:avLst/>
          </a:prstGeom>
        </p:spPr>
      </p:pic>
      <p:sp>
        <p:nvSpPr>
          <p:cNvPr id="13" name="TextBox 12">
            <a:extLst>
              <a:ext uri="{FF2B5EF4-FFF2-40B4-BE49-F238E27FC236}">
                <a16:creationId xmlns:a16="http://schemas.microsoft.com/office/drawing/2014/main" id="{E730AE62-53B4-4E38-B34C-9F467A321F44}"/>
              </a:ext>
            </a:extLst>
          </p:cNvPr>
          <p:cNvSpPr txBox="1"/>
          <p:nvPr/>
        </p:nvSpPr>
        <p:spPr>
          <a:xfrm>
            <a:off x="7559136" y="5568743"/>
            <a:ext cx="4023265" cy="707694"/>
          </a:xfrm>
          <a:prstGeom prst="rect">
            <a:avLst/>
          </a:prstGeom>
          <a:noFill/>
        </p:spPr>
        <p:txBody>
          <a:bodyPr wrap="square">
            <a:spAutoFit/>
          </a:bodyPr>
          <a:lstStyle/>
          <a:p>
            <a:r>
              <a:rPr lang="en-US" sz="1333" dirty="0">
                <a:hlinkClick r:id="rId5"/>
              </a:rPr>
              <a:t>https://unstats.un.org/unsd/geoinfo/UNGEGN/docs/_data_ICAcourses/_HtmlModules/_Selfstudy/S06/S06_05a.html</a:t>
            </a:r>
            <a:endParaRPr lang="en-US" sz="1333" dirty="0"/>
          </a:p>
        </p:txBody>
      </p:sp>
      <p:sp>
        <p:nvSpPr>
          <p:cNvPr id="15" name="TextBox 14">
            <a:extLst>
              <a:ext uri="{FF2B5EF4-FFF2-40B4-BE49-F238E27FC236}">
                <a16:creationId xmlns:a16="http://schemas.microsoft.com/office/drawing/2014/main" id="{AC1B3393-BF05-4D7C-B75E-BEFE136F7547}"/>
              </a:ext>
            </a:extLst>
          </p:cNvPr>
          <p:cNvSpPr txBox="1"/>
          <p:nvPr/>
        </p:nvSpPr>
        <p:spPr>
          <a:xfrm>
            <a:off x="1618264" y="6383992"/>
            <a:ext cx="5493832" cy="502573"/>
          </a:xfrm>
          <a:prstGeom prst="rect">
            <a:avLst/>
          </a:prstGeom>
          <a:noFill/>
        </p:spPr>
        <p:txBody>
          <a:bodyPr wrap="square">
            <a:spAutoFit/>
          </a:bodyPr>
          <a:lstStyle/>
          <a:p>
            <a:r>
              <a:rPr lang="en-US" sz="1333" dirty="0">
                <a:hlinkClick r:id="rId5"/>
              </a:rPr>
              <a:t>https://unstats.un.org/unsd/geoinfo/UNGEGN/docs/_data_ICAcourses/_HtmlModules/_Selfstudy/S06/S06_05a.html</a:t>
            </a:r>
            <a:endParaRPr lang="en-US" sz="1333" dirty="0"/>
          </a:p>
        </p:txBody>
      </p:sp>
    </p:spTree>
    <p:extLst>
      <p:ext uri="{BB962C8B-B14F-4D97-AF65-F5344CB8AC3E}">
        <p14:creationId xmlns:p14="http://schemas.microsoft.com/office/powerpoint/2010/main" val="1491070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581192" y="702156"/>
            <a:ext cx="11029616" cy="674468"/>
          </a:xfrm>
        </p:spPr>
        <p:txBody>
          <a:bodyPr>
            <a:normAutofit/>
          </a:bodyPr>
          <a:lstStyle/>
          <a:p>
            <a:pPr marL="0" marR="0" indent="0" algn="ctr">
              <a:spcBef>
                <a:spcPts val="0"/>
              </a:spcBef>
              <a:spcAft>
                <a:spcPts val="590"/>
              </a:spcAft>
            </a:pPr>
            <a:r>
              <a:rPr lang="en-US" sz="3600" b="1" dirty="0">
                <a:solidFill>
                  <a:schemeClr val="tx1">
                    <a:lumMod val="85000"/>
                    <a:lumOff val="15000"/>
                  </a:schemeClr>
                </a:solidFill>
                <a:effectLst/>
                <a:latin typeface="+mn-lt"/>
                <a:ea typeface="Calibri" panose="020F0502020204030204" pitchFamily="34" charset="0"/>
                <a:cs typeface="Calibri" panose="020F0502020204030204" pitchFamily="34" charset="0"/>
              </a:rPr>
              <a:t>Lab 01: Introduction to ArcGIS Pro</a:t>
            </a:r>
            <a:endParaRPr lang="en-US" sz="3600" dirty="0">
              <a:solidFill>
                <a:schemeClr val="tx1">
                  <a:lumMod val="85000"/>
                  <a:lumOff val="15000"/>
                </a:schemeClr>
              </a:solidFill>
              <a:effectLst/>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A5F187CF-DB8E-1DE5-318B-622538481F88}"/>
              </a:ext>
            </a:extLst>
          </p:cNvPr>
          <p:cNvGraphicFramePr>
            <a:graphicFrameLocks noGrp="1"/>
          </p:cNvGraphicFramePr>
          <p:nvPr>
            <p:ph idx="1"/>
            <p:extLst>
              <p:ext uri="{D42A27DB-BD31-4B8C-83A1-F6EECF244321}">
                <p14:modId xmlns:p14="http://schemas.microsoft.com/office/powerpoint/2010/main" val="3986232660"/>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4632</TotalTime>
  <Words>1052</Words>
  <Application>Microsoft Office PowerPoint</Application>
  <PresentationFormat>Widescreen</PresentationFormat>
  <Paragraphs>106</Paragraphs>
  <Slides>28</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28</vt:i4>
      </vt:variant>
    </vt:vector>
  </HeadingPairs>
  <TitlesOfParts>
    <vt:vector size="39" baseType="lpstr">
      <vt:lpstr>Avenir Next</vt:lpstr>
      <vt:lpstr>Avenir Next W01</vt:lpstr>
      <vt:lpstr>Aptos</vt:lpstr>
      <vt:lpstr>Arial Black</vt:lpstr>
      <vt:lpstr>Calibri</vt:lpstr>
      <vt:lpstr>Courier New</vt:lpstr>
      <vt:lpstr>Gill Sans MT</vt:lpstr>
      <vt:lpstr>Wingdings</vt:lpstr>
      <vt:lpstr>Wingdings 2</vt:lpstr>
      <vt:lpstr>1_DividendVTI</vt:lpstr>
      <vt:lpstr>DividendVTI</vt:lpstr>
      <vt:lpstr>WEEK 02   Field techniques  lecture</vt:lpstr>
      <vt:lpstr>2.1  Introduction to field techniques</vt:lpstr>
      <vt:lpstr>History</vt:lpstr>
      <vt:lpstr>Geographic field techniques</vt:lpstr>
      <vt:lpstr>PowerPoint Presentation</vt:lpstr>
      <vt:lpstr>PowerPoint Presentation</vt:lpstr>
      <vt:lpstr>2.2  mobile gis</vt:lpstr>
      <vt:lpstr>Mobile positioning technologies</vt:lpstr>
      <vt:lpstr>PowerPoint Presentation</vt:lpstr>
      <vt:lpstr>Mobile positioning technologies</vt:lpstr>
      <vt:lpstr>Mobile GIS architecture</vt:lpstr>
      <vt:lpstr>ArcGIS suite of web and native apps for Mobile GIS</vt:lpstr>
      <vt:lpstr>ArcGIS suite of web and native apps for Mobile GIS</vt:lpstr>
      <vt:lpstr>Four pillars of Mobile GIS capabilities</vt:lpstr>
      <vt:lpstr>Four pillars of Mobile GIS capabilities</vt:lpstr>
      <vt:lpstr>Four pillars of Mobile GIS capabilities</vt:lpstr>
      <vt:lpstr>PowerPoint Presentation</vt:lpstr>
      <vt:lpstr>Real-world applications:</vt:lpstr>
      <vt:lpstr>Real-world applications:</vt:lpstr>
      <vt:lpstr>2.3  desktop gis</vt:lpstr>
      <vt:lpstr>dashboard</vt:lpstr>
      <vt:lpstr>PowerPoint Presentation</vt:lpstr>
      <vt:lpstr>Spatial-temporal and real-time gis</vt:lpstr>
      <vt:lpstr>3d web scenes</vt:lpstr>
      <vt:lpstr>2.4  drone and gps</vt:lpstr>
      <vt:lpstr>PowerPoint Presentation</vt:lpstr>
      <vt:lpstr>PowerPoint Presentation</vt:lpstr>
      <vt:lpstr>Lab 01: Introduction to ArcGIS Pro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Yanan Wu</dc:creator>
  <cp:lastModifiedBy>Yanan Wu</cp:lastModifiedBy>
  <cp:revision>65</cp:revision>
  <dcterms:created xsi:type="dcterms:W3CDTF">2025-02-03T18:01:06Z</dcterms:created>
  <dcterms:modified xsi:type="dcterms:W3CDTF">2025-08-26T01:22:02Z</dcterms:modified>
</cp:coreProperties>
</file>