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Lst>
  <p:notesMasterIdLst>
    <p:notesMasterId r:id="rId15"/>
  </p:notesMasterIdLst>
  <p:sldIdLst>
    <p:sldId id="914" r:id="rId5"/>
    <p:sldId id="1647" r:id="rId6"/>
    <p:sldId id="591" r:id="rId7"/>
    <p:sldId id="1649" r:id="rId8"/>
    <p:sldId id="1650" r:id="rId9"/>
    <p:sldId id="1651" r:id="rId10"/>
    <p:sldId id="1652" r:id="rId11"/>
    <p:sldId id="1653" r:id="rId12"/>
    <p:sldId id="1648" r:id="rId13"/>
    <p:sldId id="270" r:id="rId14"/>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045" autoAdjust="0"/>
  </p:normalViewPr>
  <p:slideViewPr>
    <p:cSldViewPr snapToGrid="0" snapToObjects="1">
      <p:cViewPr varScale="1">
        <p:scale>
          <a:sx n="123" d="100"/>
          <a:sy n="123" d="100"/>
        </p:scale>
        <p:origin x="1608"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9/10/2025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E519-8BCF-F7C4-FA36-62D25586D0BA}"/>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177D0C31-F4AA-E42D-D53F-9F5FB09A49F3}"/>
              </a:ext>
            </a:extLst>
          </p:cNvPr>
          <p:cNvSpPr>
            <a:spLocks noGrp="1" noChangeArrowheads="1"/>
          </p:cNvSpPr>
          <p:nvPr>
            <p:ph type="sldNum" sz="quarter" idx="5"/>
          </p:nvPr>
        </p:nvSpPr>
        <p:spPr>
          <a:ln/>
        </p:spPr>
        <p:txBody>
          <a:bodyPr/>
          <a:lstStyle/>
          <a:p>
            <a:fld id="{0CE062E2-CA43-4035-9E13-AD9908C25B62}" type="slidenum">
              <a:rPr lang="en-US" altLang="en-US"/>
              <a:pPr/>
              <a:t>9</a:t>
            </a:fld>
            <a:endParaRPr lang="en-US" altLang="en-US"/>
          </a:p>
        </p:txBody>
      </p:sp>
      <p:sp>
        <p:nvSpPr>
          <p:cNvPr id="124930" name="Rectangle 2">
            <a:extLst>
              <a:ext uri="{FF2B5EF4-FFF2-40B4-BE49-F238E27FC236}">
                <a16:creationId xmlns:a16="http://schemas.microsoft.com/office/drawing/2014/main" id="{A2E4383D-A025-D16B-CDD3-A19146D9D66E}"/>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ACFED89D-B3CB-14E4-4CE6-26B62893701E}"/>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08718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10</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9/10/2025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726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9/10/2025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112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9/10/2025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8825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7145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118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8369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49477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9/10/2025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0880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270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6558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9/10/2025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08626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9/10/2025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2733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9/10/2025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99054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9/10/2025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2396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1361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122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39340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40956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9/10/2025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03678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38696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196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9/10/2025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6586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0314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94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6234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80808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2621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768263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79317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533656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5880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0978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48568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8876449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97809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5141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9355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65717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4080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934980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64501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103730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96012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92646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9884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9/10/2025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13088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9/10/2025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815386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175435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7663980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672325"/>
            <a:ext cx="3846545" cy="1997675"/>
          </a:xfrm>
        </p:spPr>
        <p:txBody>
          <a:bodyPr>
            <a:normAutofit fontScale="90000"/>
          </a:bodyPr>
          <a:lstStyle/>
          <a:p>
            <a:r>
              <a:rPr lang="en-US" sz="2700" dirty="0">
                <a:solidFill>
                  <a:srgbClr val="FFFFFF"/>
                </a:solidFill>
              </a:rPr>
              <a:t>WEEK 04 </a:t>
            </a:r>
            <a:br>
              <a:rPr lang="en-US" sz="2700" dirty="0">
                <a:solidFill>
                  <a:srgbClr val="FFFFFF"/>
                </a:solidFill>
              </a:rPr>
            </a:br>
            <a:br>
              <a:rPr lang="en-US" sz="2700" dirty="0">
                <a:solidFill>
                  <a:srgbClr val="FFFFFF"/>
                </a:solidFill>
              </a:rPr>
            </a:br>
            <a:r>
              <a:rPr lang="en-US" sz="2700" dirty="0" err="1">
                <a:solidFill>
                  <a:srgbClr val="FFFFFF"/>
                </a:solidFill>
              </a:rPr>
              <a:t>arcgis</a:t>
            </a:r>
            <a:r>
              <a:rPr lang="en-US" sz="2700" dirty="0">
                <a:solidFill>
                  <a:srgbClr val="FFFFFF"/>
                </a:solidFill>
              </a:rPr>
              <a:t> field map</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300009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197227"/>
            <a:ext cx="7679724" cy="2731592"/>
          </a:xfrm>
        </p:spPr>
        <p:txBody>
          <a:bodyPr>
            <a:normAutofit/>
          </a:bodyPr>
          <a:lstStyle/>
          <a:p>
            <a:pPr>
              <a:buFont typeface="Wingdings" panose="05000000000000000000" pitchFamily="2" charset="2"/>
              <a:buChar char="Ø"/>
            </a:pPr>
            <a:r>
              <a:rPr lang="en-US" altLang="en-US" sz="2400" dirty="0"/>
              <a:t>Field Maps is an all-in-one app that is widely used for </a:t>
            </a:r>
            <a:r>
              <a:rPr lang="en-US" altLang="en-US" sz="2400" dirty="0" err="1"/>
              <a:t>mapcentric</a:t>
            </a:r>
            <a:r>
              <a:rPr lang="en-US" altLang="en-US" sz="2400" dirty="0"/>
              <a:t> data collection</a:t>
            </a:r>
          </a:p>
          <a:p>
            <a:pPr>
              <a:buFont typeface="Wingdings" panose="05000000000000000000" pitchFamily="2" charset="2"/>
              <a:buChar char="Ø"/>
            </a:pPr>
            <a:r>
              <a:rPr lang="en-US" altLang="en-US" sz="2400" dirty="0"/>
              <a:t>functioning with or without network connectivity. </a:t>
            </a:r>
          </a:p>
          <a:p>
            <a:pPr>
              <a:buFont typeface="Wingdings" panose="05000000000000000000" pitchFamily="2" charset="2"/>
              <a:buChar char="Ø"/>
            </a:pPr>
            <a:r>
              <a:rPr lang="en-US" altLang="en-US" sz="2400" dirty="0"/>
              <a:t>It also supports utility network editing and tracing, location sharing, Geofences, task assignments, workforce coordination, webhook automation, and more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37640" y="202819"/>
            <a:ext cx="2087105"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5046A-F5C4-33F0-EB79-A3724D17E8D8}"/>
              </a:ext>
            </a:extLst>
          </p:cNvPr>
          <p:cNvSpPr>
            <a:spLocks noGrp="1"/>
          </p:cNvSpPr>
          <p:nvPr>
            <p:ph idx="1"/>
          </p:nvPr>
        </p:nvSpPr>
        <p:spPr>
          <a:xfrm>
            <a:off x="392307" y="914400"/>
            <a:ext cx="7444990" cy="1560989"/>
          </a:xfrm>
        </p:spPr>
        <p:txBody>
          <a:bodyPr/>
          <a:lstStyle/>
          <a:p>
            <a:r>
              <a:rPr lang="en-US" dirty="0"/>
              <a:t>Field Maps Designer: This component is for solution creators or map authors to use. It can design layers and maps, create smart forms, enable maps for offline use, set up Geofences, and configure various settings to optimize maps for field workflows.</a:t>
            </a:r>
          </a:p>
          <a:p>
            <a:r>
              <a:rPr lang="en-US" dirty="0"/>
              <a:t>Field Maps mobile app: This component is for mobile workers to use. Using this app, mobile workers can open the maps, forms, data, and tools necessary to complete their field tasks. Field Maps is designed to function online and offline, as well as in outdoor and indoor environments.</a:t>
            </a:r>
          </a:p>
        </p:txBody>
      </p:sp>
      <p:sp>
        <p:nvSpPr>
          <p:cNvPr id="4" name="Slide Number Placeholder 3">
            <a:extLst>
              <a:ext uri="{FF2B5EF4-FFF2-40B4-BE49-F238E27FC236}">
                <a16:creationId xmlns:a16="http://schemas.microsoft.com/office/drawing/2014/main" id="{9C8A7BA2-4501-4F7E-97AB-EF86901ED23C}"/>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5" name="Title 1">
            <a:extLst>
              <a:ext uri="{FF2B5EF4-FFF2-40B4-BE49-F238E27FC236}">
                <a16:creationId xmlns:a16="http://schemas.microsoft.com/office/drawing/2014/main" id="{356E5FA1-9CF4-D41A-9DA6-4060B69791E7}"/>
              </a:ext>
            </a:extLst>
          </p:cNvPr>
          <p:cNvSpPr txBox="1">
            <a:spLocks/>
          </p:cNvSpPr>
          <p:nvPr/>
        </p:nvSpPr>
        <p:spPr>
          <a:xfrm>
            <a:off x="237640" y="350053"/>
            <a:ext cx="3636936" cy="603093"/>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TWO</a:t>
            </a:r>
            <a:r>
              <a:rPr lang="zh-CN" altLang="en-US" sz="2600" dirty="0">
                <a:solidFill>
                  <a:srgbClr val="7030A0"/>
                </a:solidFill>
              </a:rPr>
              <a:t> </a:t>
            </a:r>
            <a:r>
              <a:rPr lang="en-US" altLang="zh-CN" sz="2600" dirty="0">
                <a:solidFill>
                  <a:srgbClr val="7030A0"/>
                </a:solidFill>
              </a:rPr>
              <a:t>COMPONENTS</a:t>
            </a:r>
            <a:endParaRPr lang="en-US" sz="2600" dirty="0">
              <a:solidFill>
                <a:srgbClr val="7030A0"/>
              </a:solidFill>
            </a:endParaRPr>
          </a:p>
        </p:txBody>
      </p:sp>
      <p:pic>
        <p:nvPicPr>
          <p:cNvPr id="7" name="Picture 6">
            <a:extLst>
              <a:ext uri="{FF2B5EF4-FFF2-40B4-BE49-F238E27FC236}">
                <a16:creationId xmlns:a16="http://schemas.microsoft.com/office/drawing/2014/main" id="{3DFC7217-2BEF-34A2-F9C7-CA2911E7ECA4}"/>
              </a:ext>
            </a:extLst>
          </p:cNvPr>
          <p:cNvPicPr>
            <a:picLocks noChangeAspect="1"/>
          </p:cNvPicPr>
          <p:nvPr/>
        </p:nvPicPr>
        <p:blipFill>
          <a:blip r:embed="rId2"/>
          <a:stretch>
            <a:fillRect/>
          </a:stretch>
        </p:blipFill>
        <p:spPr>
          <a:xfrm>
            <a:off x="1395493" y="2358664"/>
            <a:ext cx="5575516" cy="2596194"/>
          </a:xfrm>
          <a:prstGeom prst="rect">
            <a:avLst/>
          </a:prstGeom>
        </p:spPr>
      </p:pic>
    </p:spTree>
    <p:extLst>
      <p:ext uri="{BB962C8B-B14F-4D97-AF65-F5344CB8AC3E}">
        <p14:creationId xmlns:p14="http://schemas.microsoft.com/office/powerpoint/2010/main" val="2417424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9208-AC8F-DAC9-89D2-617CA62D1D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08C841-946F-AB28-9F23-C5D4D31D07E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1484D15-7CEC-FECE-1162-FFA1ACCD9876}"/>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751933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3782-3336-9664-1B95-D172A46A84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C88111-D446-4B30-E1CE-2DCC2B27222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162681C-347F-8BBA-D682-40643FBD8CE9}"/>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3871060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202B5-DFE8-3533-5280-B8112DB2DF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1D1B74-A882-5C13-B71F-8299AAFAB67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7678992-81B0-DF6E-D8E8-CA741AD6D11E}"/>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75320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30564-6E8E-022D-5B79-70631F881E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80812D-AF26-9365-80F7-06462BF9F41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485B480-4387-EB66-8B17-85B63E889993}"/>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1345871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FA9-FD96-3049-26FA-D4806529C6FA}"/>
            </a:ext>
          </a:extLst>
        </p:cNvPr>
        <p:cNvGrpSpPr/>
        <p:nvPr/>
      </p:nvGrpSpPr>
      <p:grpSpPr>
        <a:xfrm>
          <a:off x="0" y="0"/>
          <a:ext cx="0" cy="0"/>
          <a:chOff x="0" y="0"/>
          <a:chExt cx="0" cy="0"/>
        </a:xfrm>
      </p:grpSpPr>
      <p:sp>
        <p:nvSpPr>
          <p:cNvPr id="56323" name="Rectangle 1027">
            <a:extLst>
              <a:ext uri="{FF2B5EF4-FFF2-40B4-BE49-F238E27FC236}">
                <a16:creationId xmlns:a16="http://schemas.microsoft.com/office/drawing/2014/main" id="{AFAE66CB-D868-EABA-CF7F-AA1A6E3F215D}"/>
              </a:ext>
            </a:extLst>
          </p:cNvPr>
          <p:cNvSpPr>
            <a:spLocks noGrp="1" noChangeArrowheads="1"/>
          </p:cNvSpPr>
          <p:nvPr>
            <p:ph idx="1"/>
          </p:nvPr>
        </p:nvSpPr>
        <p:spPr>
          <a:xfrm>
            <a:off x="302741" y="1197227"/>
            <a:ext cx="7679724" cy="3886200"/>
          </a:xfrm>
        </p:spPr>
        <p:txBody>
          <a:bodyPr>
            <a:normAutofit/>
          </a:bodyPr>
          <a:lstStyle/>
          <a:p>
            <a:pPr>
              <a:buFont typeface="Courier New" panose="02070309020205020404" pitchFamily="49" charset="0"/>
              <a:buChar char="o"/>
            </a:pPr>
            <a:r>
              <a:rPr lang="en-US" altLang="en-US" dirty="0"/>
              <a:t>A</a:t>
            </a:r>
            <a:r>
              <a:rPr lang="en-US" altLang="zh-CN" dirty="0"/>
              <a:t>rcGIS Collector</a:t>
            </a:r>
          </a:p>
          <a:p>
            <a:pPr lvl="1">
              <a:buFont typeface="Wingdings" panose="05000000000000000000" pitchFamily="2" charset="2"/>
              <a:buChar char="ü"/>
            </a:pPr>
            <a:r>
              <a:rPr lang="en-US" altLang="en-US" dirty="0"/>
              <a:t>Capture assets and observations</a:t>
            </a:r>
          </a:p>
          <a:p>
            <a:pPr lvl="1">
              <a:buFont typeface="Wingdings" panose="05000000000000000000" pitchFamily="2" charset="2"/>
              <a:buChar char="ü"/>
            </a:pPr>
            <a:r>
              <a:rPr lang="en-US" altLang="en-US" dirty="0"/>
              <a:t>Perform inspections</a:t>
            </a:r>
          </a:p>
          <a:p>
            <a:pPr>
              <a:buFont typeface="Courier New" panose="02070309020205020404" pitchFamily="49" charset="0"/>
              <a:buChar char="o"/>
            </a:pPr>
            <a:r>
              <a:rPr lang="en-US" altLang="en-US" dirty="0"/>
              <a:t>Workflow</a:t>
            </a:r>
            <a:endParaRPr lang="en-US" altLang="en-US" sz="2520" dirty="0"/>
          </a:p>
        </p:txBody>
      </p:sp>
      <p:sp>
        <p:nvSpPr>
          <p:cNvPr id="2" name="Slide Number Placeholder 1">
            <a:extLst>
              <a:ext uri="{FF2B5EF4-FFF2-40B4-BE49-F238E27FC236}">
                <a16:creationId xmlns:a16="http://schemas.microsoft.com/office/drawing/2014/main" id="{EF994069-D0B0-13EE-5456-F5E81C82E260}"/>
              </a:ext>
            </a:extLst>
          </p:cNvPr>
          <p:cNvSpPr>
            <a:spLocks noGrp="1"/>
          </p:cNvSpPr>
          <p:nvPr>
            <p:ph type="sldNum" sz="quarter" idx="12"/>
          </p:nvPr>
        </p:nvSpPr>
        <p:spPr/>
        <p:txBody>
          <a:bodyPr/>
          <a:lstStyle/>
          <a:p>
            <a:fld id="{127DDC20-79C9-9647-820E-6D40A3D210C3}" type="slidenum">
              <a:rPr lang="en-US" smtClean="0"/>
              <a:pPr/>
              <a:t>9</a:t>
            </a:fld>
            <a:endParaRPr lang="en-US"/>
          </a:p>
        </p:txBody>
      </p:sp>
      <p:cxnSp>
        <p:nvCxnSpPr>
          <p:cNvPr id="4" name="Straight Connector 3">
            <a:extLst>
              <a:ext uri="{FF2B5EF4-FFF2-40B4-BE49-F238E27FC236}">
                <a16:creationId xmlns:a16="http://schemas.microsoft.com/office/drawing/2014/main" id="{6F556A6A-63CD-862A-E6BB-5BF5EB85C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8DB0C76B-BD87-ED30-B7DA-6BBB0A468889}"/>
              </a:ext>
            </a:extLst>
          </p:cNvPr>
          <p:cNvSpPr txBox="1">
            <a:spLocks/>
          </p:cNvSpPr>
          <p:nvPr/>
        </p:nvSpPr>
        <p:spPr>
          <a:xfrm>
            <a:off x="237640" y="202819"/>
            <a:ext cx="2087105"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3" name="Title 1">
            <a:extLst>
              <a:ext uri="{FF2B5EF4-FFF2-40B4-BE49-F238E27FC236}">
                <a16:creationId xmlns:a16="http://schemas.microsoft.com/office/drawing/2014/main" id="{19238EA3-DF83-E38B-BF35-250F1F1975D1}"/>
              </a:ext>
            </a:extLst>
          </p:cNvPr>
          <p:cNvSpPr txBox="1">
            <a:spLocks/>
          </p:cNvSpPr>
          <p:nvPr/>
        </p:nvSpPr>
        <p:spPr>
          <a:xfrm>
            <a:off x="390040" y="355219"/>
            <a:ext cx="2087105"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7" name="TextBox 6">
            <a:extLst>
              <a:ext uri="{FF2B5EF4-FFF2-40B4-BE49-F238E27FC236}">
                <a16:creationId xmlns:a16="http://schemas.microsoft.com/office/drawing/2014/main" id="{275372F9-89A1-FB42-2925-58F2498F97C2}"/>
              </a:ext>
            </a:extLst>
          </p:cNvPr>
          <p:cNvSpPr txBox="1"/>
          <p:nvPr/>
        </p:nvSpPr>
        <p:spPr>
          <a:xfrm>
            <a:off x="2057400" y="2388052"/>
            <a:ext cx="4114800" cy="369332"/>
          </a:xfrm>
          <a:prstGeom prst="rect">
            <a:avLst/>
          </a:prstGeom>
          <a:noFill/>
        </p:spPr>
        <p:txBody>
          <a:bodyPr wrap="square">
            <a:spAutoFit/>
          </a:bodyPr>
          <a:lstStyle/>
          <a:p>
            <a:r>
              <a:rPr lang="en-US" sz="1800" dirty="0">
                <a:solidFill>
                  <a:srgbClr val="7030A0"/>
                </a:solidFill>
              </a:rPr>
              <a:t>Overview</a:t>
            </a:r>
            <a:endParaRPr lang="en-US" dirty="0"/>
          </a:p>
        </p:txBody>
      </p:sp>
    </p:spTree>
    <p:extLst>
      <p:ext uri="{BB962C8B-B14F-4D97-AF65-F5344CB8AC3E}">
        <p14:creationId xmlns:p14="http://schemas.microsoft.com/office/powerpoint/2010/main" val="603722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6" name="Picture 5" descr="Geography 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Week03_GEOG3319_Suvery123</Template>
  <TotalTime>3362</TotalTime>
  <Words>200</Words>
  <Application>Microsoft Office PowerPoint</Application>
  <PresentationFormat>Custom</PresentationFormat>
  <Paragraphs>31</Paragraphs>
  <Slides>10</Slides>
  <Notes>3</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10</vt:i4>
      </vt:variant>
    </vt:vector>
  </HeadingPairs>
  <TitlesOfParts>
    <vt:vector size="19" baseType="lpstr">
      <vt:lpstr>Arial Black</vt:lpstr>
      <vt:lpstr>Calibri</vt:lpstr>
      <vt:lpstr>Courier New</vt:lpstr>
      <vt:lpstr>Wingdings</vt:lpstr>
      <vt:lpstr>Wingdings 2</vt:lpstr>
      <vt:lpstr>2_DividendVTI</vt:lpstr>
      <vt:lpstr>DividendVTI</vt:lpstr>
      <vt:lpstr>1_DividendVTI</vt:lpstr>
      <vt:lpstr>3_DividendVTI</vt:lpstr>
      <vt:lpstr>WEEK 04   arcgis field map  lecture</vt:lpstr>
      <vt:lpstr>4.1  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87</cp:revision>
  <dcterms:created xsi:type="dcterms:W3CDTF">2020-07-26T21:20:11Z</dcterms:created>
  <dcterms:modified xsi:type="dcterms:W3CDTF">2025-09-11T13:03:42Z</dcterms:modified>
</cp:coreProperties>
</file>