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7" r:id="rId4"/>
  </p:sldMasterIdLst>
  <p:notesMasterIdLst>
    <p:notesMasterId r:id="rId20"/>
  </p:notesMasterIdLst>
  <p:sldIdLst>
    <p:sldId id="914" r:id="rId5"/>
    <p:sldId id="1647" r:id="rId6"/>
    <p:sldId id="591" r:id="rId7"/>
    <p:sldId id="592" r:id="rId8"/>
    <p:sldId id="593" r:id="rId9"/>
    <p:sldId id="594" r:id="rId10"/>
    <p:sldId id="595" r:id="rId11"/>
    <p:sldId id="596" r:id="rId12"/>
    <p:sldId id="597" r:id="rId13"/>
    <p:sldId id="598" r:id="rId14"/>
    <p:sldId id="599" r:id="rId15"/>
    <p:sldId id="600" r:id="rId16"/>
    <p:sldId id="601" r:id="rId17"/>
    <p:sldId id="602" r:id="rId18"/>
    <p:sldId id="270" r:id="rId19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045" autoAdjust="0"/>
  </p:normalViewPr>
  <p:slideViewPr>
    <p:cSldViewPr snapToGrid="0" snapToObjects="1">
      <p:cViewPr varScale="1">
        <p:scale>
          <a:sx n="123" d="100"/>
          <a:sy n="123" d="100"/>
        </p:scale>
        <p:origin x="1608" y="90"/>
      </p:cViewPr>
      <p:guideLst>
        <p:guide orient="horz" pos="1620"/>
        <p:guide pos="25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9/8/2025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>
            <a:extLst>
              <a:ext uri="{FF2B5EF4-FFF2-40B4-BE49-F238E27FC236}">
                <a16:creationId xmlns:a16="http://schemas.microsoft.com/office/drawing/2014/main" id="{C7E09E1C-40D2-46F9-9F20-07EA588B3A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CE062E2-CA43-4035-9E13-AD9908C25B62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124930" name="Rectangle 2">
            <a:extLst>
              <a:ext uri="{FF2B5EF4-FFF2-40B4-BE49-F238E27FC236}">
                <a16:creationId xmlns:a16="http://schemas.microsoft.com/office/drawing/2014/main" id="{DFA605D2-F657-4B1A-895E-09BF5F2A3B6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4931" name="Rectangle 3">
            <a:extLst>
              <a:ext uri="{FF2B5EF4-FFF2-40B4-BE49-F238E27FC236}">
                <a16:creationId xmlns:a16="http://schemas.microsoft.com/office/drawing/2014/main" id="{4302226F-D9D5-4ED4-8280-5A95D5D61D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75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 inventory: collect accurate sign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4346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44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105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1817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2773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439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7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9641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field assets, or historical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3197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dirty="0"/>
              <a:t>Groups, Multiple pages, Notes, Media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4031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C3EF4-AD61-48A1-B51C-86BBC26A07EE}" type="datetime1">
              <a:rPr lang="en-US" smtClean="0"/>
              <a:t>9/8/2025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265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E9FF5-A3A3-421D-9FE4-C97ACA9B4B66}" type="datetime1">
              <a:rPr lang="en-US" smtClean="0"/>
              <a:t>9/8/2025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2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74F4B-9A6E-4B50-BE3E-090D5038F3B5}" type="datetime1">
              <a:rPr lang="en-US" smtClean="0"/>
              <a:t>9/8/2025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50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9AE4F-ECA9-4391-85A0-0BDC121BC912}" type="datetime1">
              <a:rPr lang="en-US" smtClean="0"/>
              <a:t>9/8/2025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145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F0038-C403-4E4E-A358-F4B6321C12F5}" type="datetime1">
              <a:rPr lang="en-US" smtClean="0"/>
              <a:t>9/8/2025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118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52514-E107-4B51-A0E4-6CCBE2731D63}" type="datetime1">
              <a:rPr lang="en-US" smtClean="0"/>
              <a:t>9/8/2025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692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5C0F4-646D-457B-9990-7D4E2FD4A597}" type="datetime1">
              <a:rPr lang="en-US" smtClean="0"/>
              <a:t>9/8/2025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477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8E4477A8-A506-4192-A810-B96D85416BE8}" type="datetime1">
              <a:rPr lang="en-US" smtClean="0"/>
              <a:t>9/8/2025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808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01744-7364-4EA9-A9E9-43D8A126DBDD}" type="datetime1">
              <a:rPr lang="en-US" smtClean="0"/>
              <a:t>9/8/2025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08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2A1-5616-4927-9B49-E60372E9FC72}" type="datetime1">
              <a:rPr lang="en-US" smtClean="0"/>
              <a:t>9/8/2025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58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ECA2-35DB-4F3A-8A04-28A5742D3AB4}" type="datetime1">
              <a:rPr lang="en-US" smtClean="0"/>
              <a:t>9/8/2025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260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C3EF4-AD61-48A1-B51C-86BBC26A07EE}" type="datetime1">
              <a:rPr lang="en-US" smtClean="0"/>
              <a:t>9/8/2025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338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E9FF5-A3A3-421D-9FE4-C97ACA9B4B66}" type="datetime1">
              <a:rPr lang="en-US" smtClean="0"/>
              <a:t>9/8/2025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054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74F4B-9A6E-4B50-BE3E-090D5038F3B5}" type="datetime1">
              <a:rPr lang="en-US" smtClean="0"/>
              <a:t>9/8/2025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682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9AE4F-ECA9-4391-85A0-0BDC121BC912}" type="datetime1">
              <a:rPr lang="en-US" smtClean="0"/>
              <a:t>9/8/2025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618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F0038-C403-4E4E-A358-F4B6321C12F5}" type="datetime1">
              <a:rPr lang="en-US" smtClean="0"/>
              <a:t>9/8/2025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267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52514-E107-4B51-A0E4-6CCBE2731D63}" type="datetime1">
              <a:rPr lang="en-US" smtClean="0"/>
              <a:t>9/8/2025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3405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5C0F4-646D-457B-9990-7D4E2FD4A597}" type="datetime1">
              <a:rPr lang="en-US" smtClean="0"/>
              <a:t>9/8/2025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95695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8E4477A8-A506-4192-A810-B96D85416BE8}" type="datetime1">
              <a:rPr lang="en-US" smtClean="0"/>
              <a:t>9/8/2025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6780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901744-7364-4EA9-A9E9-43D8A126DBDD}" type="datetime1">
              <a:rPr lang="en-US" smtClean="0"/>
              <a:t>9/8/2025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964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992A1-5616-4927-9B49-E60372E9FC72}" type="datetime1">
              <a:rPr lang="en-US" smtClean="0"/>
              <a:t>9/8/2025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1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DECA2-35DB-4F3A-8A04-28A5742D3AB4}" type="datetime1">
              <a:rPr lang="en-US" smtClean="0"/>
              <a:t>9/8/2025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5862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3141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9947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7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080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621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8263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79317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36569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8803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0978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8568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876449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7809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51410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35500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57176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080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9807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4501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37307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01230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26463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849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3D9F797-665E-490A-B876-3E21189284AA}" type="datetime1">
              <a:rPr lang="en-US" smtClean="0"/>
              <a:t>9/8/2025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13088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3D9F797-665E-490A-B876-3E21189284AA}" type="datetime1">
              <a:rPr lang="en-US" smtClean="0"/>
              <a:t>9/8/2025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8153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17543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3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990" y="672325"/>
            <a:ext cx="3846545" cy="1997675"/>
          </a:xfrm>
        </p:spPr>
        <p:txBody>
          <a:bodyPr>
            <a:normAutofit fontScale="90000"/>
          </a:bodyPr>
          <a:lstStyle/>
          <a:p>
            <a:r>
              <a:rPr lang="en-US" sz="2700" dirty="0">
                <a:solidFill>
                  <a:srgbClr val="FFFFFF"/>
                </a:solidFill>
              </a:rPr>
              <a:t>WEEK 03 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survey 123</a:t>
            </a:r>
            <a:br>
              <a:rPr lang="en-US" sz="2700" dirty="0">
                <a:solidFill>
                  <a:srgbClr val="FFFFFF"/>
                </a:solidFill>
              </a:rPr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990" y="289651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2.1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introduction 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1027">
            <a:extLst>
              <a:ext uri="{FF2B5EF4-FFF2-40B4-BE49-F238E27FC236}">
                <a16:creationId xmlns:a16="http://schemas.microsoft.com/office/drawing/2014/main" id="{F91C3C4F-AFA8-48B3-AF1A-33AC2E596F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2741" y="1197227"/>
            <a:ext cx="7679724" cy="388620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A</a:t>
            </a:r>
            <a:r>
              <a:rPr lang="en-US" altLang="zh-CN" dirty="0"/>
              <a:t>rcGIS Collector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Capture assets and observations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Perform inspections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Workflow</a:t>
            </a:r>
            <a:endParaRPr lang="en-US" altLang="en-US" sz="252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DBF9BC-B3FC-4D00-B7E0-B2749A883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EB9696-B2DB-43F4-B52A-F64A3152234F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D7B9A9B-3B1A-4D8A-8275-AAA1205C7D4E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Overview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Collector</a:t>
            </a:r>
          </a:p>
        </p:txBody>
      </p:sp>
      <p:sp>
        <p:nvSpPr>
          <p:cNvPr id="8" name="Rectangle 1027">
            <a:extLst>
              <a:ext uri="{FF2B5EF4-FFF2-40B4-BE49-F238E27FC236}">
                <a16:creationId xmlns:a16="http://schemas.microsoft.com/office/drawing/2014/main" id="{67E998B9-FF6A-4D21-9681-07FB6BCEFB5A}"/>
              </a:ext>
            </a:extLst>
          </p:cNvPr>
          <p:cNvSpPr txBox="1">
            <a:spLocks noChangeArrowheads="1"/>
          </p:cNvSpPr>
          <p:nvPr/>
        </p:nvSpPr>
        <p:spPr>
          <a:xfrm>
            <a:off x="302741" y="1197227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Map- centric data collection field solution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Web maps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Works offline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High accuracy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56F405-2A0D-4BE8-B032-FAF6CA11EE67}"/>
              </a:ext>
            </a:extLst>
          </p:cNvPr>
          <p:cNvSpPr txBox="1"/>
          <p:nvPr/>
        </p:nvSpPr>
        <p:spPr>
          <a:xfrm>
            <a:off x="4637248" y="4744132"/>
            <a:ext cx="35923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https://www.esri.com/en-us/arcgis/products/arcgis-collector/overview</a:t>
            </a:r>
          </a:p>
        </p:txBody>
      </p:sp>
      <p:pic>
        <p:nvPicPr>
          <p:cNvPr id="2" name="Picture 2" descr="Image showing collector example">
            <a:extLst>
              <a:ext uri="{FF2B5EF4-FFF2-40B4-BE49-F238E27FC236}">
                <a16:creationId xmlns:a16="http://schemas.microsoft.com/office/drawing/2014/main" id="{DD5C3935-655C-45B4-B8EE-140250441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9385" y="1422985"/>
            <a:ext cx="4934757" cy="3024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2FFE1-717D-4C84-ADB9-4B85EEA0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169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Collector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152400" y="1057414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Capture assets and observations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Improve accuracy and currency of data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Modernize field workflows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altLang="en-US" dirty="0"/>
          </a:p>
        </p:txBody>
      </p:sp>
      <p:pic>
        <p:nvPicPr>
          <p:cNvPr id="4" name="Picture 3" descr="Image showing collector example">
            <a:extLst>
              <a:ext uri="{FF2B5EF4-FFF2-40B4-BE49-F238E27FC236}">
                <a16:creationId xmlns:a16="http://schemas.microsoft.com/office/drawing/2014/main" id="{2B9EE066-1ECE-46D4-A1F6-E7FE1A512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021" y="2591815"/>
            <a:ext cx="1247775" cy="1628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D8F6A3-8136-432E-B5EF-F96F5687DBDF}"/>
              </a:ext>
            </a:extLst>
          </p:cNvPr>
          <p:cNvSpPr txBox="1"/>
          <p:nvPr/>
        </p:nvSpPr>
        <p:spPr>
          <a:xfrm>
            <a:off x="1110021" y="4433405"/>
            <a:ext cx="1443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Hydrant Collections</a:t>
            </a:r>
          </a:p>
        </p:txBody>
      </p:sp>
      <p:pic>
        <p:nvPicPr>
          <p:cNvPr id="9" name="Picture 8" descr="Image showing collector example">
            <a:extLst>
              <a:ext uri="{FF2B5EF4-FFF2-40B4-BE49-F238E27FC236}">
                <a16:creationId xmlns:a16="http://schemas.microsoft.com/office/drawing/2014/main" id="{6A0B4A48-7AAA-4627-A779-D3ED1624E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781" y="2591815"/>
            <a:ext cx="1247775" cy="16431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EA1A25-C1AB-43F1-A05B-E100BBE3985E}"/>
              </a:ext>
            </a:extLst>
          </p:cNvPr>
          <p:cNvSpPr txBox="1"/>
          <p:nvPr/>
        </p:nvSpPr>
        <p:spPr>
          <a:xfrm>
            <a:off x="5004541" y="4429385"/>
            <a:ext cx="1443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 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9149D2-DA1D-4B32-94D4-A8DE3F46F0F5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D92992-B9A5-45AB-B662-B343EC853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169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C</a:t>
            </a:r>
            <a:r>
              <a:rPr lang="en-US" altLang="zh-CN" sz="2600" dirty="0">
                <a:solidFill>
                  <a:srgbClr val="7030A0"/>
                </a:solidFill>
              </a:rPr>
              <a:t>ollector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Perform inspections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Replace redundant, inefficient field processes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Improve operational efficiency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D8F6A3-8136-432E-B5EF-F96F5687DBDF}"/>
              </a:ext>
            </a:extLst>
          </p:cNvPr>
          <p:cNvSpPr txBox="1"/>
          <p:nvPr/>
        </p:nvSpPr>
        <p:spPr>
          <a:xfrm>
            <a:off x="2603957" y="4731086"/>
            <a:ext cx="2674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Water valve inspections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pic>
        <p:nvPicPr>
          <p:cNvPr id="12" name="Picture 11" descr="Image showing collector example">
            <a:extLst>
              <a:ext uri="{FF2B5EF4-FFF2-40B4-BE49-F238E27FC236}">
                <a16:creationId xmlns:a16="http://schemas.microsoft.com/office/drawing/2014/main" id="{08B853CF-B700-4381-A430-C710E0707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777" y="2505410"/>
            <a:ext cx="2918566" cy="219235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C6CA34-D7C5-4837-B2AF-3B4FE3AC5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13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Create feature layers to collect data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ArcGIS Online or ArcGIS Enterprise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Add to a web map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Share the map and layers to a group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Use the map in Collector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pic>
        <p:nvPicPr>
          <p:cNvPr id="8" name="Picture 7" descr="Image showing the steps of Collector data collection">
            <a:extLst>
              <a:ext uri="{FF2B5EF4-FFF2-40B4-BE49-F238E27FC236}">
                <a16:creationId xmlns:a16="http://schemas.microsoft.com/office/drawing/2014/main" id="{538A2C2D-F602-4592-AF19-F7E1D6F9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505" y="3454687"/>
            <a:ext cx="5048790" cy="129631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09BA0C-58B2-48D2-9FAE-ADBA922D5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217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Create feature layers to collect data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Data sources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ArcGIS online hosted feature layer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ArcGIS Enterprise hosted feature layer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ArcGIS Server feature service (Enterprise geodatabase)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Create in ArcGIS Pro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Create new feature class and share as a feature layer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Create in ArcGIS Online or ArcGIS Enterprise with feature layer templates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Industry focused or Build your own layer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Completely customizable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2DAB4-4D09-4A27-9E9F-75EF157E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8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Feature Layer Properties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Configure editing capabilities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Add, update, and delete (default)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Update attributes and geometry (default)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Operations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Editor tracking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Synchronization (for offline workflows) (default)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Display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Define style and rendering (Visualization tab)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Define form (Data tab)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6EA3B-6789-4200-BEA4-6F5E1D47A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74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Feature Layer Properties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pic>
        <p:nvPicPr>
          <p:cNvPr id="5" name="Picture 4" descr="Image showing feature layer properties">
            <a:extLst>
              <a:ext uri="{FF2B5EF4-FFF2-40B4-BE49-F238E27FC236}">
                <a16:creationId xmlns:a16="http://schemas.microsoft.com/office/drawing/2014/main" id="{1C7947FC-928E-4C97-876A-300153273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457315"/>
            <a:ext cx="7830065" cy="544801"/>
          </a:xfrm>
          <a:prstGeom prst="rect">
            <a:avLst/>
          </a:prstGeom>
        </p:spPr>
      </p:pic>
      <p:pic>
        <p:nvPicPr>
          <p:cNvPr id="9" name="Picture 8" descr="Image showing feature layer properties">
            <a:extLst>
              <a:ext uri="{FF2B5EF4-FFF2-40B4-BE49-F238E27FC236}">
                <a16:creationId xmlns:a16="http://schemas.microsoft.com/office/drawing/2014/main" id="{17B0E753-72E9-4DAD-9962-9078ECAC21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675" y="2103191"/>
            <a:ext cx="5382883" cy="277317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B02DED7-5AA4-42E5-A1BC-767B71F26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267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Add to a Web Map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Requirements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At least one editable feature layer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 err="1"/>
              <a:t>Basemap</a:t>
            </a:r>
            <a:endParaRPr lang="en-US" altLang="en-US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Map setting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Search by layer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altLang="en-US" dirty="0"/>
              <a:t>Advanced offline settings and map areas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Configure the form (pop-ups)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Reference data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en-US" dirty="0"/>
              <a:t>Share with mobile workers via groups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40F93A-6205-42FE-A403-3D315D0A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513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Add to a Web Map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pic>
        <p:nvPicPr>
          <p:cNvPr id="5" name="Picture 4" descr="Image showing where is the web map">
            <a:extLst>
              <a:ext uri="{FF2B5EF4-FFF2-40B4-BE49-F238E27FC236}">
                <a16:creationId xmlns:a16="http://schemas.microsoft.com/office/drawing/2014/main" id="{5271F6C2-8494-4545-91A8-F48BC69E2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13" y="1600252"/>
            <a:ext cx="7423574" cy="843839"/>
          </a:xfrm>
          <a:prstGeom prst="rect">
            <a:avLst/>
          </a:prstGeom>
        </p:spPr>
      </p:pic>
      <p:pic>
        <p:nvPicPr>
          <p:cNvPr id="9" name="Picture 8" descr="Image showing where is the offline mode">
            <a:extLst>
              <a:ext uri="{FF2B5EF4-FFF2-40B4-BE49-F238E27FC236}">
                <a16:creationId xmlns:a16="http://schemas.microsoft.com/office/drawing/2014/main" id="{315BE287-47B8-4F50-8C59-B88C8E719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31" y="2571750"/>
            <a:ext cx="5456616" cy="2507094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9BF43D4-C1EC-439E-81BB-EFA87BA21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27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600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2" name="Rectangle 1027">
            <a:extLst>
              <a:ext uri="{FF2B5EF4-FFF2-40B4-BE49-F238E27FC236}">
                <a16:creationId xmlns:a16="http://schemas.microsoft.com/office/drawing/2014/main" id="{6AD63676-E604-4050-BF0E-A7B8DD754C47}"/>
              </a:ext>
            </a:extLst>
          </p:cNvPr>
          <p:cNvSpPr txBox="1">
            <a:spLocks noChangeArrowheads="1"/>
          </p:cNvSpPr>
          <p:nvPr/>
        </p:nvSpPr>
        <p:spPr>
          <a:xfrm>
            <a:off x="247135" y="922910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Use the map in the Collector</a:t>
            </a:r>
          </a:p>
          <a:p>
            <a:pPr marL="411480" lvl="1" indent="0">
              <a:buNone/>
            </a:pPr>
            <a:endParaRPr lang="en-US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C95F2-D596-4A45-A200-10A8AE08F398}"/>
              </a:ext>
            </a:extLst>
          </p:cNvPr>
          <p:cNvSpPr txBox="1"/>
          <p:nvPr/>
        </p:nvSpPr>
        <p:spPr>
          <a:xfrm>
            <a:off x="247135" y="4697393"/>
            <a:ext cx="7017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ESRI</a:t>
            </a:r>
          </a:p>
        </p:txBody>
      </p:sp>
      <p:pic>
        <p:nvPicPr>
          <p:cNvPr id="8" name="Picture 7" descr="Diagram, map&#10;&#10;Description automatically generated">
            <a:extLst>
              <a:ext uri="{FF2B5EF4-FFF2-40B4-BE49-F238E27FC236}">
                <a16:creationId xmlns:a16="http://schemas.microsoft.com/office/drawing/2014/main" id="{4FA7D6C9-DA8F-4413-8AEC-74BD7A0F72BA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488" y="1514525"/>
            <a:ext cx="1777365" cy="3162300"/>
          </a:xfrm>
          <a:prstGeom prst="rect">
            <a:avLst/>
          </a:prstGeom>
        </p:spPr>
      </p:pic>
      <p:pic>
        <p:nvPicPr>
          <p:cNvPr id="10" name="Picture 9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881A594-AB65-459A-94B9-E68533321B8E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053" y="1475253"/>
            <a:ext cx="1932059" cy="322214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2CD32-9F26-42E4-A42E-F480629C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755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C807DF-E68B-4FDB-AF8B-FD65014E3363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1ABCB3B-7396-4070-8FA3-31111AB30A9C}"/>
              </a:ext>
            </a:extLst>
          </p:cNvPr>
          <p:cNvSpPr txBox="1">
            <a:spLocks/>
          </p:cNvSpPr>
          <p:nvPr/>
        </p:nvSpPr>
        <p:spPr>
          <a:xfrm>
            <a:off x="118533" y="4308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5" name="Rectangle 1027">
            <a:extLst>
              <a:ext uri="{FF2B5EF4-FFF2-40B4-BE49-F238E27FC236}">
                <a16:creationId xmlns:a16="http://schemas.microsoft.com/office/drawing/2014/main" id="{25AF5660-DB0A-4125-80CA-291BE1C4C96E}"/>
              </a:ext>
            </a:extLst>
          </p:cNvPr>
          <p:cNvSpPr txBox="1">
            <a:spLocks noChangeArrowheads="1"/>
          </p:cNvSpPr>
          <p:nvPr/>
        </p:nvSpPr>
        <p:spPr>
          <a:xfrm>
            <a:off x="274937" y="969524"/>
            <a:ext cx="7679724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08610" indent="-30861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8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8655" indent="-257175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40180" indent="-205740" algn="l" defTabSz="411480" rtl="0" eaLnBrk="1" latinLnBrk="0" hangingPunct="1">
              <a:spcBef>
                <a:spcPct val="20000"/>
              </a:spcBef>
              <a:buFont typeface="Arial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51660" indent="-205740" algn="l" defTabSz="411480" rtl="0" eaLnBrk="1" latinLnBrk="0" hangingPunct="1">
              <a:spcBef>
                <a:spcPct val="20000"/>
              </a:spcBef>
              <a:buFont typeface="Arial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6314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67462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08610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97580" indent="-205740" algn="l" defTabSz="41148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IOS: Collector (new generation) and Collector Classic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altLang="en-US" dirty="0"/>
              <a:t>Android: Collector and Beta (new generation)</a:t>
            </a:r>
          </a:p>
          <a:p>
            <a:pPr lvl="1">
              <a:buFont typeface="Wingdings" panose="05000000000000000000" pitchFamily="2" charset="2"/>
              <a:buChar char="ü"/>
            </a:pPr>
            <a:endParaRPr lang="en-US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069721-C244-47E2-A49B-A3F491D5C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237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6" name="Picture 5" descr="Geography department logo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3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Week03_GEOG3319_Suvery123</Template>
  <TotalTime>2680</TotalTime>
  <Words>425</Words>
  <Application>Microsoft Office PowerPoint</Application>
  <PresentationFormat>Custom</PresentationFormat>
  <Paragraphs>120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Arial</vt:lpstr>
      <vt:lpstr>Arial Black</vt:lpstr>
      <vt:lpstr>Calibri</vt:lpstr>
      <vt:lpstr>Courier New</vt:lpstr>
      <vt:lpstr>Wingdings</vt:lpstr>
      <vt:lpstr>Wingdings 2</vt:lpstr>
      <vt:lpstr>2_DividendVTI</vt:lpstr>
      <vt:lpstr>DividendVTI</vt:lpstr>
      <vt:lpstr>1_DividendVTI</vt:lpstr>
      <vt:lpstr>3_DividendVTI</vt:lpstr>
      <vt:lpstr>WEEK 03   survey 123  lecture</vt:lpstr>
      <vt:lpstr>2.1  introduction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84</cp:revision>
  <dcterms:created xsi:type="dcterms:W3CDTF">2020-07-26T21:20:11Z</dcterms:created>
  <dcterms:modified xsi:type="dcterms:W3CDTF">2025-09-09T04:31:27Z</dcterms:modified>
</cp:coreProperties>
</file>