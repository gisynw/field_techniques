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  <p:sldMasterId id="2147483672" r:id="rId2"/>
    <p:sldMasterId id="2147483685" r:id="rId3"/>
  </p:sldMasterIdLst>
  <p:notesMasterIdLst>
    <p:notesMasterId r:id="rId38"/>
  </p:notesMasterIdLst>
  <p:sldIdLst>
    <p:sldId id="914" r:id="rId4"/>
    <p:sldId id="1647" r:id="rId5"/>
    <p:sldId id="448" r:id="rId6"/>
    <p:sldId id="1648" r:id="rId7"/>
    <p:sldId id="564" r:id="rId8"/>
    <p:sldId id="565" r:id="rId9"/>
    <p:sldId id="1649" r:id="rId10"/>
    <p:sldId id="1650" r:id="rId11"/>
    <p:sldId id="1651" r:id="rId12"/>
    <p:sldId id="566" r:id="rId13"/>
    <p:sldId id="1652" r:id="rId14"/>
    <p:sldId id="567" r:id="rId15"/>
    <p:sldId id="568" r:id="rId16"/>
    <p:sldId id="572" r:id="rId17"/>
    <p:sldId id="569" r:id="rId18"/>
    <p:sldId id="570" r:id="rId19"/>
    <p:sldId id="571" r:id="rId20"/>
    <p:sldId id="573" r:id="rId21"/>
    <p:sldId id="574" r:id="rId22"/>
    <p:sldId id="575" r:id="rId23"/>
    <p:sldId id="576" r:id="rId24"/>
    <p:sldId id="577" r:id="rId25"/>
    <p:sldId id="578" r:id="rId26"/>
    <p:sldId id="580" r:id="rId27"/>
    <p:sldId id="581" r:id="rId28"/>
    <p:sldId id="579" r:id="rId29"/>
    <p:sldId id="1653" r:id="rId30"/>
    <p:sldId id="582" r:id="rId31"/>
    <p:sldId id="583" r:id="rId32"/>
    <p:sldId id="586" r:id="rId33"/>
    <p:sldId id="588" r:id="rId34"/>
    <p:sldId id="587" r:id="rId35"/>
    <p:sldId id="590" r:id="rId36"/>
    <p:sldId id="270" r:id="rId37"/>
  </p:sldIdLst>
  <p:sldSz cx="8229600" cy="51435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5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045" autoAdjust="0"/>
  </p:normalViewPr>
  <p:slideViewPr>
    <p:cSldViewPr snapToGrid="0" snapToObjects="1">
      <p:cViewPr varScale="1">
        <p:scale>
          <a:sx n="123" d="100"/>
          <a:sy n="123" d="100"/>
        </p:scale>
        <p:origin x="1608" y="90"/>
      </p:cViewPr>
      <p:guideLst>
        <p:guide orient="horz" pos="1620"/>
        <p:guide pos="25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presProps" Target="presProps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6C520B4-85AA-9542-8CF7-3D2DDCE6041D}" type="datetimeFigureOut">
              <a:rPr lang="en-US" smtClean="0"/>
              <a:pPr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5963" y="696913"/>
            <a:ext cx="5578475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6507943-197E-CE46-82F0-5A323A24A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3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875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C7E09E1C-40D2-46F9-9F20-07EA588B3A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62E2-CA43-4035-9E13-AD9908C25B62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124930" name="Rectangle 2">
            <a:extLst>
              <a:ext uri="{FF2B5EF4-FFF2-40B4-BE49-F238E27FC236}">
                <a16:creationId xmlns:a16="http://schemas.microsoft.com/office/drawing/2014/main" id="{DFA605D2-F657-4B1A-895E-09BF5F2A3B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1" name="Rectangle 3">
            <a:extLst>
              <a:ext uri="{FF2B5EF4-FFF2-40B4-BE49-F238E27FC236}">
                <a16:creationId xmlns:a16="http://schemas.microsoft.com/office/drawing/2014/main" id="{4302226F-D9D5-4ED4-8280-5A95D5D61D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63013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Lat/</a:t>
            </a:r>
            <a:r>
              <a:rPr lang="en-US" dirty="0" err="1"/>
              <a:t>lon</a:t>
            </a:r>
            <a:r>
              <a:rPr lang="en-US" dirty="0"/>
              <a:t> easily write wrong, list choice</a:t>
            </a:r>
          </a:p>
          <a:p>
            <a:r>
              <a:rPr lang="en-US" dirty="0"/>
              <a:t>Formula can be written as response. Radius and height of tree, can calculate the volume of tree in the field.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346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Groups, Multiple pages, Notes, Media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7789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576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Complete smart form capabilities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249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484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902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725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Likert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984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9920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8102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6165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161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1276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812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442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146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Survey- name of the survey. Three, fieldworker is used to sharing your survey to users to collect your data.</a:t>
            </a:r>
          </a:p>
          <a:p>
            <a:r>
              <a:rPr lang="en-US" dirty="0"/>
              <a:t>Share the survey to the viewers, such as the manager of your organization.</a:t>
            </a:r>
          </a:p>
          <a:p>
            <a:r>
              <a:rPr lang="en-US" dirty="0"/>
              <a:t>Edit this through survey123, not ArcGIS online.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5028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614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Windows, android, </a:t>
            </a:r>
            <a:r>
              <a:rPr lang="en-US" dirty="0" err="1"/>
              <a:t>os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441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Spike, </a:t>
            </a:r>
            <a:r>
              <a:rPr lang="en-US" dirty="0" err="1"/>
              <a:t>ike</a:t>
            </a:r>
            <a:r>
              <a:rPr lang="en-US" dirty="0"/>
              <a:t> GPS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5385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Spike, </a:t>
            </a:r>
            <a:r>
              <a:rPr lang="en-US" dirty="0" err="1"/>
              <a:t>ike</a:t>
            </a:r>
            <a:r>
              <a:rPr lang="en-US" dirty="0"/>
              <a:t> GPS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8173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Spike, </a:t>
            </a:r>
            <a:r>
              <a:rPr lang="en-US" dirty="0" err="1"/>
              <a:t>ike</a:t>
            </a:r>
            <a:r>
              <a:rPr lang="en-US" dirty="0"/>
              <a:t> GPS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1492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Spike, </a:t>
            </a:r>
            <a:r>
              <a:rPr lang="en-US" dirty="0" err="1"/>
              <a:t>ike</a:t>
            </a:r>
            <a:r>
              <a:rPr lang="en-US" dirty="0"/>
              <a:t> GPS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679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507943-197E-CE46-82F0-5A323A24AE7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07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C3EF4-AD61-48A1-B51C-86BBC26A07EE}" type="datetime1">
              <a:rPr lang="en-US" smtClean="0"/>
              <a:t>9/1/2025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808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3E9FF5-A3A3-421D-9FE4-C97ACA9B4B66}" type="datetime1">
              <a:rPr lang="en-US" smtClean="0"/>
              <a:t>9/1/2025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10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4F4B-9A6E-4B50-BE3E-090D5038F3B5}" type="datetime1">
              <a:rPr lang="en-US" smtClean="0"/>
              <a:t>9/1/2025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8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9AE4F-ECA9-4391-85A0-0BDC121BC912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230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F0038-C403-4E4E-A358-F4B6321C12F5}" type="datetime1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367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52514-E107-4B51-A0E4-6CCBE2731D63}" type="datetime1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2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75C0F4-646D-457B-9990-7D4E2FD4A597}" type="datetime1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66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8E4477A8-A506-4192-A810-B96D85416BE8}" type="datetime1">
              <a:rPr lang="en-US" smtClean="0"/>
              <a:t>9/1/2025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313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01744-7364-4EA9-A9E9-43D8A126DBDD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08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992A1-5616-4927-9B49-E60372E9FC72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27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4DECA2-35DB-4F3A-8A04-28A5742D3AB4}" type="datetime1">
              <a:rPr lang="en-US" smtClean="0"/>
              <a:t>9/1/2025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956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254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3071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264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8502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136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8516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4341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2021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0080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5237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5427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 preserve="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280530" y="597425"/>
            <a:ext cx="766854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8346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1411" y="2314323"/>
            <a:ext cx="7626779" cy="250361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2304" y="765324"/>
            <a:ext cx="7420646" cy="1106260"/>
          </a:xfrm>
          <a:effectLst/>
        </p:spPr>
        <p:txBody>
          <a:bodyPr anchor="b">
            <a:normAutofit/>
          </a:bodyPr>
          <a:lstStyle>
            <a:lvl1pPr>
              <a:defRPr sz="243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2306" y="1871584"/>
            <a:ext cx="7420644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080" cap="all">
                <a:solidFill>
                  <a:schemeClr val="accent1"/>
                </a:solidFill>
              </a:defRPr>
            </a:lvl1pPr>
            <a:lvl2pPr marL="3086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17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258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34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5430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851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4688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9931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89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2305" y="1755648"/>
            <a:ext cx="7444990" cy="272586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80155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02276" y="3856481"/>
            <a:ext cx="7621331" cy="94412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6" y="1795463"/>
            <a:ext cx="7444990" cy="1610600"/>
          </a:xfrm>
        </p:spPr>
        <p:txBody>
          <a:bodyPr anchor="b">
            <a:normAutofit/>
          </a:bodyPr>
          <a:lstStyle>
            <a:lvl1pPr algn="l">
              <a:defRPr sz="243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3406063"/>
            <a:ext cx="7444990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215" cap="all">
                <a:solidFill>
                  <a:schemeClr val="accent1"/>
                </a:solidFill>
              </a:defRPr>
            </a:lvl1pPr>
            <a:lvl2pPr marL="308610" indent="0">
              <a:buNone/>
              <a:defRPr sz="1215">
                <a:solidFill>
                  <a:schemeClr val="tx1">
                    <a:tint val="75000"/>
                  </a:schemeClr>
                </a:solidFill>
              </a:defRPr>
            </a:lvl2pPr>
            <a:lvl3pPr marL="617220" indent="0">
              <a:buNone/>
              <a:defRPr sz="1080">
                <a:solidFill>
                  <a:schemeClr val="tx1">
                    <a:tint val="75000"/>
                  </a:schemeClr>
                </a:solidFill>
              </a:defRPr>
            </a:lvl3pPr>
            <a:lvl4pPr marL="92583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4pPr>
            <a:lvl5pPr marL="123444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5pPr>
            <a:lvl6pPr marL="154305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6pPr>
            <a:lvl7pPr marL="18516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7pPr>
            <a:lvl8pPr marL="216027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8pPr>
            <a:lvl9pPr marL="246888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0189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2305" y="1671003"/>
            <a:ext cx="3506468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30827" y="1671003"/>
            <a:ext cx="3506469" cy="272478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9343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92305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4" y="1688168"/>
            <a:ext cx="3506469" cy="418338"/>
          </a:xfrm>
        </p:spPr>
        <p:txBody>
          <a:bodyPr anchor="ctr">
            <a:noAutofit/>
          </a:bodyPr>
          <a:lstStyle>
            <a:lvl1pPr marL="0" indent="0">
              <a:buNone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2306" y="2194540"/>
            <a:ext cx="3506467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30826" y="1688169"/>
            <a:ext cx="3506470" cy="415030"/>
          </a:xfrm>
        </p:spPr>
        <p:txBody>
          <a:bodyPr anchor="ctr">
            <a:noAutofit/>
          </a:bodyPr>
          <a:lstStyle>
            <a:lvl1pPr marL="0" marR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35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08610" indent="0">
              <a:buNone/>
              <a:defRPr sz="1350" b="1"/>
            </a:lvl2pPr>
            <a:lvl3pPr marL="617220" indent="0">
              <a:buNone/>
              <a:defRPr sz="1215" b="1"/>
            </a:lvl3pPr>
            <a:lvl4pPr marL="925830" indent="0">
              <a:buNone/>
              <a:defRPr sz="1080" b="1"/>
            </a:lvl4pPr>
            <a:lvl5pPr marL="1234440" indent="0">
              <a:buNone/>
              <a:defRPr sz="1080" b="1"/>
            </a:lvl5pPr>
            <a:lvl6pPr marL="1543050" indent="0">
              <a:buNone/>
              <a:defRPr sz="1080" b="1"/>
            </a:lvl6pPr>
            <a:lvl7pPr marL="1851660" indent="0">
              <a:buNone/>
              <a:defRPr sz="1080" b="1"/>
            </a:lvl7pPr>
            <a:lvl8pPr marL="2160270" indent="0">
              <a:buNone/>
              <a:defRPr sz="1080" b="1"/>
            </a:lvl8pPr>
            <a:lvl9pPr marL="2468880" indent="0">
              <a:buNone/>
              <a:defRPr sz="1080" b="1"/>
            </a:lvl9pPr>
          </a:lstStyle>
          <a:p>
            <a:pPr marL="0" marR="0" lvl="0" indent="0" algn="l" defTabSz="30861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30826" y="2194540"/>
            <a:ext cx="3506470" cy="220124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5166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88728" y="547244"/>
            <a:ext cx="7444991" cy="7412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6124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73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02277" y="450901"/>
            <a:ext cx="2485838" cy="436160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8304" y="700088"/>
            <a:ext cx="2046500" cy="129181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8127" y="884872"/>
            <a:ext cx="4489419" cy="3493662"/>
          </a:xfrm>
        </p:spPr>
        <p:txBody>
          <a:bodyPr anchor="ctr">
            <a:normAutofit/>
          </a:bodyPr>
          <a:lstStyle>
            <a:lvl1pPr>
              <a:defRPr sz="1350">
                <a:solidFill>
                  <a:schemeClr val="tx2"/>
                </a:solidFill>
              </a:defRPr>
            </a:lvl1pPr>
            <a:lvl2pPr>
              <a:defRPr sz="1215">
                <a:solidFill>
                  <a:schemeClr val="tx2"/>
                </a:solidFill>
              </a:defRPr>
            </a:lvl2pPr>
            <a:lvl3pPr>
              <a:defRPr sz="1080">
                <a:solidFill>
                  <a:schemeClr val="tx2"/>
                </a:solidFill>
              </a:defRPr>
            </a:lvl3pPr>
            <a:lvl4pPr>
              <a:defRPr sz="945">
                <a:solidFill>
                  <a:schemeClr val="tx2"/>
                </a:solidFill>
              </a:defRPr>
            </a:lvl4pPr>
            <a:lvl5pPr>
              <a:defRPr sz="945">
                <a:solidFill>
                  <a:schemeClr val="tx2"/>
                </a:solidFill>
              </a:defRPr>
            </a:lvl5pPr>
            <a:lvl6pPr>
              <a:defRPr sz="945">
                <a:solidFill>
                  <a:schemeClr val="tx2"/>
                </a:solidFill>
              </a:defRPr>
            </a:lvl6pPr>
            <a:lvl7pPr>
              <a:defRPr sz="945">
                <a:solidFill>
                  <a:schemeClr val="tx2"/>
                </a:solidFill>
              </a:defRPr>
            </a:lvl7pPr>
            <a:lvl8pPr>
              <a:defRPr sz="945">
                <a:solidFill>
                  <a:schemeClr val="tx2"/>
                </a:solidFill>
              </a:defRPr>
            </a:lvl8pPr>
            <a:lvl9pPr>
              <a:defRPr sz="945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8304" y="2127491"/>
            <a:ext cx="2046500" cy="2251044"/>
          </a:xfrm>
        </p:spPr>
        <p:txBody>
          <a:bodyPr anchor="t">
            <a:normAutofit/>
          </a:bodyPr>
          <a:lstStyle>
            <a:lvl1pPr marL="0" indent="0" algn="l">
              <a:buNone/>
              <a:defRPr sz="1080">
                <a:solidFill>
                  <a:srgbClr val="FFFFFF"/>
                </a:solidFill>
              </a:defRPr>
            </a:lvl1pPr>
            <a:lvl2pPr marL="308610" indent="0">
              <a:buNone/>
              <a:defRPr sz="743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34017" y="4842687"/>
            <a:ext cx="1920239" cy="273844"/>
          </a:xfrm>
        </p:spPr>
        <p:txBody>
          <a:bodyPr/>
          <a:lstStyle/>
          <a:p>
            <a:fld id="{D82884F1-FFEA-405F-9602-3DCA865EDA4E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2304" y="4839443"/>
            <a:ext cx="4669117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126853" y="4842687"/>
            <a:ext cx="710444" cy="273844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26631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305" y="3520042"/>
            <a:ext cx="7444991" cy="425054"/>
          </a:xfrm>
        </p:spPr>
        <p:txBody>
          <a:bodyPr anchor="b">
            <a:normAutofit/>
          </a:bodyPr>
          <a:lstStyle>
            <a:lvl1pPr algn="l">
              <a:defRPr sz="162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2277" y="481013"/>
            <a:ext cx="7621330" cy="2738437"/>
          </a:xfrm>
        </p:spPr>
        <p:txBody>
          <a:bodyPr anchor="t">
            <a:normAutofit/>
          </a:bodyPr>
          <a:lstStyle>
            <a:lvl1pPr marL="0" indent="0" algn="ctr">
              <a:buNone/>
              <a:defRPr sz="1080"/>
            </a:lvl1pPr>
            <a:lvl2pPr marL="308610" indent="0">
              <a:buNone/>
              <a:defRPr sz="1080"/>
            </a:lvl2pPr>
            <a:lvl3pPr marL="617220" indent="0">
              <a:buNone/>
              <a:defRPr sz="1080"/>
            </a:lvl3pPr>
            <a:lvl4pPr marL="925830" indent="0">
              <a:buNone/>
              <a:defRPr sz="1080"/>
            </a:lvl4pPr>
            <a:lvl5pPr marL="1234440" indent="0">
              <a:buNone/>
              <a:defRPr sz="1080"/>
            </a:lvl5pPr>
            <a:lvl6pPr marL="1543050" indent="0">
              <a:buNone/>
              <a:defRPr sz="1080"/>
            </a:lvl6pPr>
            <a:lvl7pPr marL="1851660" indent="0">
              <a:buNone/>
              <a:defRPr sz="1080"/>
            </a:lvl7pPr>
            <a:lvl8pPr marL="2160270" indent="0">
              <a:buNone/>
              <a:defRPr sz="1080"/>
            </a:lvl8pPr>
            <a:lvl9pPr marL="2468880" indent="0">
              <a:buNone/>
              <a:defRPr sz="10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2305" y="3945095"/>
            <a:ext cx="7444991" cy="748611"/>
          </a:xfrm>
        </p:spPr>
        <p:txBody>
          <a:bodyPr anchor="t">
            <a:normAutofit/>
          </a:bodyPr>
          <a:lstStyle>
            <a:lvl1pPr marL="0" indent="0">
              <a:buNone/>
              <a:defRPr sz="1080"/>
            </a:lvl1pPr>
            <a:lvl2pPr marL="308610" indent="0">
              <a:buNone/>
              <a:defRPr sz="810"/>
            </a:lvl2pPr>
            <a:lvl3pPr marL="617220" indent="0">
              <a:buNone/>
              <a:defRPr sz="675"/>
            </a:lvl3pPr>
            <a:lvl4pPr marL="925830" indent="0">
              <a:buNone/>
              <a:defRPr sz="608"/>
            </a:lvl4pPr>
            <a:lvl5pPr marL="1234440" indent="0">
              <a:buNone/>
              <a:defRPr sz="608"/>
            </a:lvl5pPr>
            <a:lvl6pPr marL="1543050" indent="0">
              <a:buNone/>
              <a:defRPr sz="608"/>
            </a:lvl6pPr>
            <a:lvl7pPr marL="1851660" indent="0">
              <a:buNone/>
              <a:defRPr sz="608"/>
            </a:lvl7pPr>
            <a:lvl8pPr marL="2160270" indent="0">
              <a:buNone/>
              <a:defRPr sz="608"/>
            </a:lvl8pPr>
            <a:lvl9pPr marL="2468880" indent="0">
              <a:buNone/>
              <a:defRPr sz="60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8583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7603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2535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5439252" y="449794"/>
            <a:ext cx="2488938" cy="436271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537835" y="647700"/>
            <a:ext cx="2108835" cy="3605495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23073" y="647700"/>
            <a:ext cx="4834097" cy="360549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46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3D9F797-665E-490A-B876-3E21189284AA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27DDC20-79C9-9647-820E-6D40A3D210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138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4359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2305" y="528843"/>
            <a:ext cx="7444991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305" y="1752002"/>
            <a:ext cx="7444991" cy="2739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34017" y="4817936"/>
            <a:ext cx="192023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9/1/2025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2304" y="4817936"/>
            <a:ext cx="466911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8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26853" y="4817936"/>
            <a:ext cx="71044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8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01410" y="342900"/>
            <a:ext cx="2499741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5428449" y="340232"/>
            <a:ext cx="2499741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2863235" y="342900"/>
            <a:ext cx="2499741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3980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sldNum="0" hdr="0" ftr="0" dt="0"/>
  <p:txStyles>
    <p:titleStyle>
      <a:lvl1pPr algn="l" defTabSz="308610" rtl="0" eaLnBrk="1" latinLnBrk="0" hangingPunct="1">
        <a:lnSpc>
          <a:spcPct val="100000"/>
        </a:lnSpc>
        <a:spcBef>
          <a:spcPct val="0"/>
        </a:spcBef>
        <a:buNone/>
        <a:defRPr sz="189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065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1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25250" indent="-2065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0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07500" indent="-1822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945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38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081350" indent="-157950" algn="l" defTabSz="308610" rtl="0" eaLnBrk="1" latinLnBrk="0" hangingPunct="1">
        <a:lnSpc>
          <a:spcPct val="100000"/>
        </a:lnSpc>
        <a:spcBef>
          <a:spcPct val="20000"/>
        </a:spcBef>
        <a:spcAft>
          <a:spcPts val="405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282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6pPr>
      <a:lvl7pPr marL="1485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7pPr>
      <a:lvl8pPr marL="16875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8pPr>
      <a:lvl9pPr marL="1890000" indent="-154305" algn="l" defTabSz="308610" rtl="0" eaLnBrk="1" latinLnBrk="0" hangingPunct="1">
        <a:spcBef>
          <a:spcPct val="20000"/>
        </a:spcBef>
        <a:spcAft>
          <a:spcPts val="405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81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1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22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83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05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66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27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algn="l" defTabSz="308610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s://arcg.is/0fC8HC1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survey123.arcgis.com/surveys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57176"/>
            <a:ext cx="8229599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8610">
              <a:defRPr/>
            </a:pPr>
            <a:endParaRPr lang="en-US" sz="1215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13" y="257175"/>
            <a:ext cx="8229587" cy="462914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990" y="565785"/>
            <a:ext cx="3382366" cy="61722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08610">
              <a:defRPr/>
            </a:pPr>
            <a:endParaRPr lang="en-US" sz="1215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18" y="662983"/>
            <a:ext cx="3381337" cy="39078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08610">
              <a:defRPr/>
            </a:pPr>
            <a:endParaRPr lang="en-US" sz="1215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6990" y="672325"/>
            <a:ext cx="3846545" cy="1997675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rgbClr val="FFFFFF"/>
                </a:solidFill>
              </a:rPr>
              <a:t>WEEK 03 </a:t>
            </a:r>
            <a:br>
              <a:rPr lang="en-US" sz="2700" dirty="0">
                <a:solidFill>
                  <a:srgbClr val="FFFFFF"/>
                </a:solidFill>
              </a:rPr>
            </a:b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>
                <a:solidFill>
                  <a:srgbClr val="FFFFFF"/>
                </a:solidFill>
              </a:rPr>
              <a:t>survey 123</a:t>
            </a:r>
            <a:br>
              <a:rPr lang="en-US" sz="2700" dirty="0">
                <a:solidFill>
                  <a:srgbClr val="FFFFFF"/>
                </a:solidFill>
              </a:rPr>
            </a:br>
            <a:br>
              <a:rPr lang="en-US" sz="2700" dirty="0">
                <a:solidFill>
                  <a:srgbClr val="FFFFFF"/>
                </a:solidFill>
              </a:rPr>
            </a:br>
            <a:r>
              <a:rPr lang="en-US" sz="27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990" y="2896512"/>
            <a:ext cx="2916154" cy="1537292"/>
          </a:xfrm>
        </p:spPr>
        <p:txBody>
          <a:bodyPr>
            <a:noAutofit/>
          </a:bodyPr>
          <a:lstStyle/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189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189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</a:t>
            </a:r>
          </a:p>
          <a:p>
            <a:endParaRPr lang="en-US" sz="189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89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0" y="565785"/>
            <a:ext cx="2499741" cy="64123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08610">
              <a:defRPr/>
            </a:pPr>
            <a:endParaRPr lang="en-US" sz="1215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8449" y="563384"/>
            <a:ext cx="2499741" cy="6652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08610">
              <a:defRPr/>
            </a:pPr>
            <a:endParaRPr lang="en-US" sz="1215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3235" y="565785"/>
            <a:ext cx="2499741" cy="6172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08610">
              <a:defRPr/>
            </a:pPr>
            <a:endParaRPr lang="en-US" sz="1215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1411" y="2340066"/>
            <a:ext cx="7626779" cy="225325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08610">
              <a:defRPr/>
            </a:pPr>
            <a:endParaRPr lang="en-US" sz="1215">
              <a:solidFill>
                <a:srgbClr val="FFFFFF"/>
              </a:solidFill>
              <a:latin typeface="Calibri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57175"/>
            <a:ext cx="8229600" cy="4629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08610">
              <a:defRPr/>
            </a:pPr>
            <a:endParaRPr lang="en-US" sz="1215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3999" y="592623"/>
            <a:ext cx="746661" cy="3955321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08610">
              <a:defRPr/>
            </a:pPr>
            <a:endParaRPr lang="en-US" sz="1215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78" y="592621"/>
            <a:ext cx="6723707" cy="248269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08610">
              <a:defRPr/>
            </a:pPr>
            <a:endParaRPr lang="en-US" sz="1215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258" y="735412"/>
            <a:ext cx="6492542" cy="2247787"/>
          </a:xfrm>
        </p:spPr>
        <p:txBody>
          <a:bodyPr vert="horz" lIns="61722" tIns="30861" rIns="61722" bIns="30861" rtlCol="0" anchor="ctr">
            <a:normAutofit/>
          </a:bodyPr>
          <a:lstStyle/>
          <a:p>
            <a:r>
              <a:rPr lang="en-US" sz="4050" dirty="0">
                <a:solidFill>
                  <a:srgbClr val="FFFFFF"/>
                </a:solidFill>
              </a:rPr>
              <a:t>2.1 </a:t>
            </a:r>
            <a:br>
              <a:rPr lang="en-US" sz="4050" dirty="0">
                <a:solidFill>
                  <a:srgbClr val="FFFFFF"/>
                </a:solidFill>
              </a:rPr>
            </a:br>
            <a:r>
              <a:rPr lang="en-US" sz="4050" dirty="0">
                <a:solidFill>
                  <a:srgbClr val="FFFFFF"/>
                </a:solidFill>
              </a:rPr>
              <a:t>introduction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133" y="3149018"/>
            <a:ext cx="6723753" cy="1398925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defTabSz="308610">
              <a:defRPr/>
            </a:pPr>
            <a:endParaRPr lang="en-US" sz="1215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9517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86DC7C-0DF0-5407-0B04-0E8F4EAAD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189" y="1766201"/>
            <a:ext cx="2855276" cy="2748251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302741" y="202819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The need of </a:t>
            </a:r>
            <a:r>
              <a:rPr lang="en-US" sz="2600" dirty="0" err="1">
                <a:solidFill>
                  <a:srgbClr val="7030A0"/>
                </a:solidFill>
              </a:rPr>
              <a:t>formcentric</a:t>
            </a:r>
            <a:r>
              <a:rPr lang="en-US" sz="2600" dirty="0">
                <a:solidFill>
                  <a:srgbClr val="7030A0"/>
                </a:solidFill>
              </a:rPr>
              <a:t> data collection</a:t>
            </a:r>
          </a:p>
        </p:txBody>
      </p:sp>
      <p:sp>
        <p:nvSpPr>
          <p:cNvPr id="8" name="Rectangle 1027">
            <a:extLst>
              <a:ext uri="{FF2B5EF4-FFF2-40B4-BE49-F238E27FC236}">
                <a16:creationId xmlns:a16="http://schemas.microsoft.com/office/drawing/2014/main" id="{67E998B9-FF6A-4D21-9681-07FB6BCEFB5A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197227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08610"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§"/>
            </a:pPr>
            <a:r>
              <a:rPr lang="en-US" altLang="en-US" sz="2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Formcentric</a:t>
            </a:r>
            <a:r>
              <a:rPr lang="en-US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data collection</a:t>
            </a:r>
          </a:p>
          <a:p>
            <a:pPr defTabSz="308610"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§"/>
            </a:pPr>
            <a:r>
              <a:rPr lang="en-US" altLang="en-US" sz="2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Location intelligence capabilities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4922B9-BC46-42E2-AC2B-D54493ACA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B2A35A-03EF-563D-6A33-0BAE8EAE7698}"/>
              </a:ext>
            </a:extLst>
          </p:cNvPr>
          <p:cNvSpPr txBox="1"/>
          <p:nvPr/>
        </p:nvSpPr>
        <p:spPr>
          <a:xfrm>
            <a:off x="255567" y="3697370"/>
            <a:ext cx="7342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D24E38-F25D-9628-2862-ED3BC8EF0388}"/>
              </a:ext>
            </a:extLst>
          </p:cNvPr>
          <p:cNvSpPr txBox="1"/>
          <p:nvPr/>
        </p:nvSpPr>
        <p:spPr>
          <a:xfrm>
            <a:off x="906651" y="3697159"/>
            <a:ext cx="393657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Does other online forms (e.g., google form, Microsoft form) has location intelligence capabilities?</a:t>
            </a:r>
          </a:p>
        </p:txBody>
      </p:sp>
    </p:spTree>
    <p:extLst>
      <p:ext uri="{BB962C8B-B14F-4D97-AF65-F5344CB8AC3E}">
        <p14:creationId xmlns:p14="http://schemas.microsoft.com/office/powerpoint/2010/main" val="1531531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EA406-764A-9916-AAE9-6821261DB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5" y="1081472"/>
            <a:ext cx="5008854" cy="3467281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Web browser-based solution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Also supports mobile devices</a:t>
            </a:r>
          </a:p>
          <a:p>
            <a:r>
              <a:rPr lang="en-US" altLang="en-US" sz="2400" dirty="0"/>
              <a:t>Integrated with ArcGIS online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Available with ArcGIS Enterprise</a:t>
            </a:r>
          </a:p>
          <a:p>
            <a:r>
              <a:rPr lang="en-US" sz="2400" dirty="0"/>
              <a:t>Smart form</a:t>
            </a:r>
          </a:p>
          <a:p>
            <a:r>
              <a:rPr lang="en-US" sz="2400" dirty="0"/>
              <a:t>Support decision-making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6172D-CC9E-B32B-E76C-24A03C41A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85F765-975A-C628-F519-AF74E1EDC689}"/>
              </a:ext>
            </a:extLst>
          </p:cNvPr>
          <p:cNvSpPr txBox="1"/>
          <p:nvPr/>
        </p:nvSpPr>
        <p:spPr>
          <a:xfrm>
            <a:off x="251848" y="477321"/>
            <a:ext cx="66216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dirty="0">
                <a:solidFill>
                  <a:srgbClr val="7030A0"/>
                </a:solidFill>
              </a:rPr>
              <a:t>The need of </a:t>
            </a:r>
            <a:r>
              <a:rPr lang="en-US" sz="2800" dirty="0" err="1">
                <a:solidFill>
                  <a:srgbClr val="7030A0"/>
                </a:solidFill>
              </a:rPr>
              <a:t>formcentric</a:t>
            </a:r>
            <a:r>
              <a:rPr lang="en-US" sz="2800" dirty="0">
                <a:solidFill>
                  <a:srgbClr val="7030A0"/>
                </a:solidFill>
              </a:rPr>
              <a:t> data collection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86CA47-DC7F-9458-1A47-1A1051CF2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5876" y="1140017"/>
            <a:ext cx="2855276" cy="274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922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1027">
            <a:extLst>
              <a:ext uri="{FF2B5EF4-FFF2-40B4-BE49-F238E27FC236}">
                <a16:creationId xmlns:a16="http://schemas.microsoft.com/office/drawing/2014/main" id="{F91C3C4F-AFA8-48B3-AF1A-33AC2E596F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74938" y="1173828"/>
            <a:ext cx="7679724" cy="2795844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The “1-2-3” in the product name reflects the philosophy of the product and workflow. Survey123 provides components to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 (1) Create surveys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 (2) Gather responses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 (3) Analyze the results. and capabilities.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DBF9BC-B3FC-4D00-B7E0-B2749A883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5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EB9696-B2DB-43F4-B52A-F64A3152234F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itle 1">
            <a:extLst>
              <a:ext uri="{FF2B5EF4-FFF2-40B4-BE49-F238E27FC236}">
                <a16:creationId xmlns:a16="http://schemas.microsoft.com/office/drawing/2014/main" id="{9D7B9A9B-3B1A-4D8A-8275-AAA1205C7D4E}"/>
              </a:ext>
            </a:extLst>
          </p:cNvPr>
          <p:cNvSpPr txBox="1">
            <a:spLocks/>
          </p:cNvSpPr>
          <p:nvPr/>
        </p:nvSpPr>
        <p:spPr>
          <a:xfrm>
            <a:off x="274938" y="198235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Suvery123</a:t>
            </a:r>
          </a:p>
        </p:txBody>
      </p:sp>
    </p:spTree>
    <p:extLst>
      <p:ext uri="{BB962C8B-B14F-4D97-AF65-F5344CB8AC3E}">
        <p14:creationId xmlns:p14="http://schemas.microsoft.com/office/powerpoint/2010/main" val="3423897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11523" y="202819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Why Smart Forms in ArcGIS</a:t>
            </a:r>
          </a:p>
        </p:txBody>
      </p:sp>
      <p:sp>
        <p:nvSpPr>
          <p:cNvPr id="2" name="Rectangle 1027">
            <a:extLst>
              <a:ext uri="{FF2B5EF4-FFF2-40B4-BE49-F238E27FC236}">
                <a16:creationId xmlns:a16="http://schemas.microsoft.com/office/drawing/2014/main" id="{6AD63676-E604-4050-BF0E-A7B8DD754C47}"/>
              </a:ext>
            </a:extLst>
          </p:cNvPr>
          <p:cNvSpPr txBox="1">
            <a:spLocks noChangeArrowheads="1"/>
          </p:cNvSpPr>
          <p:nvPr/>
        </p:nvSpPr>
        <p:spPr>
          <a:xfrm>
            <a:off x="302741" y="1197227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6550" indent="-206550" defTabSz="308610">
              <a:lnSpc>
                <a:spcPct val="110000"/>
              </a:lnSpc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Improve data quality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Minimize mistakes at the point of entry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 more manual retyping from paper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altLang="en-US" dirty="0"/>
          </a:p>
        </p:txBody>
      </p:sp>
      <p:pic>
        <p:nvPicPr>
          <p:cNvPr id="2050" name="Picture 2" descr="ArcGIS Survey123">
            <a:extLst>
              <a:ext uri="{FF2B5EF4-FFF2-40B4-BE49-F238E27FC236}">
                <a16:creationId xmlns:a16="http://schemas.microsoft.com/office/drawing/2014/main" id="{35322937-F625-454D-AB17-671B0013D2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5362" y="1174647"/>
            <a:ext cx="1397103" cy="1397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405CF-7A6D-4814-8A03-D6C832601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F3AAC9-F865-2EBA-1A36-0E1B4B4481C5}"/>
              </a:ext>
            </a:extLst>
          </p:cNvPr>
          <p:cNvSpPr txBox="1"/>
          <p:nvPr/>
        </p:nvSpPr>
        <p:spPr>
          <a:xfrm>
            <a:off x="852406" y="2770995"/>
            <a:ext cx="26579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</a:t>
            </a:r>
            <a:r>
              <a:rPr lang="en-US" dirty="0">
                <a:hlinkClick r:id="rId4"/>
              </a:rPr>
              <a:t>: Survey123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257F96-4C34-9D86-B3F8-02AB1F19C5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4337" y="2770995"/>
            <a:ext cx="22098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047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A8C64-618E-DFF4-06F3-A37EAE9F3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278" y="1107059"/>
            <a:ext cx="7444990" cy="1690385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en-US" sz="2400" dirty="0"/>
              <a:t>Increase efficiency in the field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Automate calculations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Link photos, sketches, and other records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64504-F40C-DEB4-43DF-8AECD8C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76C2730-7EBC-534C-9545-B9A28F4B8D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2113" y="487234"/>
            <a:ext cx="7445375" cy="6198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Why Smart Forms in ArcGIS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04DEE9-125C-CE2B-357C-FB8E0F9E3358}"/>
              </a:ext>
            </a:extLst>
          </p:cNvPr>
          <p:cNvSpPr txBox="1"/>
          <p:nvPr/>
        </p:nvSpPr>
        <p:spPr>
          <a:xfrm>
            <a:off x="640278" y="2742181"/>
            <a:ext cx="6734014" cy="14296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Class Activity: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/>
              <a:t>Please input 2 to ‘Tree Height’ and 0.7 to ‘Tree Perimeter’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/>
              <a:t>Check the result of ‘Tree Volume’</a:t>
            </a:r>
          </a:p>
        </p:txBody>
      </p:sp>
    </p:spTree>
    <p:extLst>
      <p:ext uri="{BB962C8B-B14F-4D97-AF65-F5344CB8AC3E}">
        <p14:creationId xmlns:p14="http://schemas.microsoft.com/office/powerpoint/2010/main" val="2916114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A4B7C-D8FF-20DC-7530-B9F79EE00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53501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Why Smart Forms in ArcGIS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08266-9BC9-CC66-57B3-3E074301F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7" y="1061633"/>
            <a:ext cx="7444990" cy="1560989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en-US" sz="2400" dirty="0"/>
              <a:t>Increase efficiency in the field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Link photos, sketches, and other records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C2912-550F-CE4C-E1D1-D1068DC91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85CF75-2966-4515-D8F6-52442E1DADE2}"/>
              </a:ext>
            </a:extLst>
          </p:cNvPr>
          <p:cNvSpPr txBox="1"/>
          <p:nvPr/>
        </p:nvSpPr>
        <p:spPr>
          <a:xfrm>
            <a:off x="640278" y="2742181"/>
            <a:ext cx="6734014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Class Activity: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/>
              <a:t>Please take a photo and provide a recording in the survey</a:t>
            </a:r>
          </a:p>
        </p:txBody>
      </p:sp>
    </p:spTree>
    <p:extLst>
      <p:ext uri="{BB962C8B-B14F-4D97-AF65-F5344CB8AC3E}">
        <p14:creationId xmlns:p14="http://schemas.microsoft.com/office/powerpoint/2010/main" val="2251159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FB2AD-4DFA-57C5-9ADF-32A662D6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619017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7030A0"/>
                </a:solidFill>
              </a:rPr>
              <a:t>Why Smart Forms in ArcGIS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F3E52-589B-A357-A75A-40CF2C221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4" y="1145634"/>
            <a:ext cx="7444990" cy="1915281"/>
          </a:xfrm>
        </p:spPr>
        <p:txBody>
          <a:bodyPr>
            <a:noAutofit/>
          </a:bodyPr>
          <a:lstStyle/>
          <a:p>
            <a:r>
              <a:rPr lang="en-US" sz="2400" b="1" dirty="0"/>
              <a:t>Location intelligence built-in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/>
              <a:t>Every submission includes a geographic reference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400" dirty="0"/>
              <a:t>Easy integration with maps and spatial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B2515-1A1A-1488-6AA0-2838D58E3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D4D678-5A73-68EA-7785-B38194A62FFA}"/>
              </a:ext>
            </a:extLst>
          </p:cNvPr>
          <p:cNvSpPr txBox="1"/>
          <p:nvPr/>
        </p:nvSpPr>
        <p:spPr>
          <a:xfrm>
            <a:off x="640278" y="3060915"/>
            <a:ext cx="6734014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Class Activity: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000" dirty="0"/>
              <a:t>Mark where you are on the map</a:t>
            </a:r>
          </a:p>
        </p:txBody>
      </p:sp>
    </p:spTree>
    <p:extLst>
      <p:ext uri="{BB962C8B-B14F-4D97-AF65-F5344CB8AC3E}">
        <p14:creationId xmlns:p14="http://schemas.microsoft.com/office/powerpoint/2010/main" val="1428716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152400" y="202819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What makes a form ‘Smart’?</a:t>
            </a:r>
          </a:p>
        </p:txBody>
      </p:sp>
      <p:sp>
        <p:nvSpPr>
          <p:cNvPr id="2" name="Rectangle 1027">
            <a:extLst>
              <a:ext uri="{FF2B5EF4-FFF2-40B4-BE49-F238E27FC236}">
                <a16:creationId xmlns:a16="http://schemas.microsoft.com/office/drawing/2014/main" id="{958D884B-EBF0-40E1-A439-81591A938F8B}"/>
              </a:ext>
            </a:extLst>
          </p:cNvPr>
          <p:cNvSpPr txBox="1">
            <a:spLocks noChangeArrowheads="1"/>
          </p:cNvSpPr>
          <p:nvPr/>
        </p:nvSpPr>
        <p:spPr>
          <a:xfrm>
            <a:off x="351138" y="1981619"/>
            <a:ext cx="4205364" cy="19147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6550" indent="-206550" defTabSz="308610">
              <a:lnSpc>
                <a:spcPct val="120000"/>
              </a:lnSpc>
              <a:spcBef>
                <a:spcPts val="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Flexible question formats</a:t>
            </a:r>
          </a:p>
          <a:p>
            <a:pPr marL="425250" lvl="1" indent="-206550" defTabSz="308610">
              <a:lnSpc>
                <a:spcPct val="120000"/>
              </a:lnSpc>
              <a:spcBef>
                <a:spcPts val="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ü"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Capture text, numbers, dates, times, photos, barcodes</a:t>
            </a:r>
          </a:p>
          <a:p>
            <a:pPr marL="425250" lvl="1" indent="-206550" defTabSz="308610">
              <a:lnSpc>
                <a:spcPct val="120000"/>
              </a:lnSpc>
              <a:spcBef>
                <a:spcPts val="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" panose="05000000000000000000" pitchFamily="2" charset="2"/>
              <a:buChar char="ü"/>
            </a:pPr>
            <a:r>
              <a:rPr lang="en-US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Support both multiple-choice and single-choice options</a:t>
            </a:r>
            <a:endParaRPr lang="en-US" alt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6C7563-DE42-490A-97EE-84B84889B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6848C9-A139-896F-10D6-EC6210BD3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716" y="1115200"/>
            <a:ext cx="2803359" cy="384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427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527BB-ED9A-C3D7-C943-8736F9326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26529"/>
          </a:xfrm>
        </p:spPr>
        <p:txBody>
          <a:bodyPr/>
          <a:lstStyle/>
          <a:p>
            <a:r>
              <a:rPr lang="en-US" sz="2000" dirty="0">
                <a:solidFill>
                  <a:srgbClr val="7030A0"/>
                </a:solidFill>
              </a:rPr>
              <a:t>What makes a form ‘Smart’?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8986B-D098-05A6-2B5B-35698A7F9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7" y="1135716"/>
            <a:ext cx="7444990" cy="2725865"/>
          </a:xfrm>
        </p:spPr>
        <p:txBody>
          <a:bodyPr>
            <a:normAutofit lnSpcReduction="10000"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sz="1800" dirty="0"/>
              <a:t>Built-in intelligence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en-US" sz="1800" dirty="0"/>
              <a:t>Conditional skips and cascading choices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en-US" sz="1800" dirty="0"/>
              <a:t>Auto-fill values, enforce required fields, and suggest preferred answers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en-US" sz="1800" dirty="0"/>
              <a:t>Pull from external reference datasets for consistency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en-US" sz="1800" dirty="0"/>
              <a:t>User-friendly design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en-US" sz="1800" dirty="0"/>
              <a:t>Customizable look with themes, hints, and multilingual support</a:t>
            </a:r>
          </a:p>
          <a:p>
            <a:pPr lvl="1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Char char="ü"/>
            </a:pPr>
            <a:r>
              <a:rPr lang="en-US" altLang="en-US" sz="1800" dirty="0"/>
              <a:t>Clear layout improves usability in the field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B4469-6664-7BB9-B16F-4353B175B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5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228600" y="884602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28600" y="15585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Suvery123</a:t>
            </a:r>
          </a:p>
        </p:txBody>
      </p:sp>
      <p:pic>
        <p:nvPicPr>
          <p:cNvPr id="3074" name="Picture 2" descr="Smarter Forms, Smarter Field Work: 5 Reasons to Use Survey123 for ArcGIS">
            <a:extLst>
              <a:ext uri="{FF2B5EF4-FFF2-40B4-BE49-F238E27FC236}">
                <a16:creationId xmlns:a16="http://schemas.microsoft.com/office/drawing/2014/main" id="{871CA945-C357-44FF-8DDD-72746CB14A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664" y="1186141"/>
            <a:ext cx="6762471" cy="3580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61ED98-B58C-411C-8A11-927F69099FF5}"/>
              </a:ext>
            </a:extLst>
          </p:cNvPr>
          <p:cNvSpPr txBox="1"/>
          <p:nvPr/>
        </p:nvSpPr>
        <p:spPr>
          <a:xfrm>
            <a:off x="695465" y="4742643"/>
            <a:ext cx="73817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7030A0"/>
                </a:solidFill>
              </a:rPr>
              <a:t>https://www.esri.com/arcgis-blog/products/survey123/announcements/smarter-forms-smarter-field-work-5-reasons-to-use-survey123-for-arcgis/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C7F4C5-0861-4188-8496-99145A0FB318}"/>
              </a:ext>
            </a:extLst>
          </p:cNvPr>
          <p:cNvSpPr txBox="1"/>
          <p:nvPr/>
        </p:nvSpPr>
        <p:spPr>
          <a:xfrm>
            <a:off x="695465" y="891590"/>
            <a:ext cx="638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2C0A31-B161-42C5-84A6-B3066F7860D3}"/>
              </a:ext>
            </a:extLst>
          </p:cNvPr>
          <p:cNvSpPr txBox="1"/>
          <p:nvPr/>
        </p:nvSpPr>
        <p:spPr>
          <a:xfrm>
            <a:off x="3052830" y="891590"/>
            <a:ext cx="638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61007-4138-4A24-8DE6-0B89EC34878A}"/>
              </a:ext>
            </a:extLst>
          </p:cNvPr>
          <p:cNvSpPr txBox="1"/>
          <p:nvPr/>
        </p:nvSpPr>
        <p:spPr>
          <a:xfrm>
            <a:off x="5624281" y="838777"/>
            <a:ext cx="6383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9573A2-886B-4683-AB13-7762C5A03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182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27022" y="216995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Type of Survey123</a:t>
            </a:r>
          </a:p>
        </p:txBody>
      </p:sp>
      <p:sp>
        <p:nvSpPr>
          <p:cNvPr id="2" name="Rectangle 1027">
            <a:extLst>
              <a:ext uri="{FF2B5EF4-FFF2-40B4-BE49-F238E27FC236}">
                <a16:creationId xmlns:a16="http://schemas.microsoft.com/office/drawing/2014/main" id="{00528A78-88B4-4F95-8509-71154407D1F0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8"/>
            <a:ext cx="7929966" cy="4146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6550" indent="-206550" defTabSz="308610">
              <a:lnSpc>
                <a:spcPct val="130000"/>
              </a:lnSpc>
              <a:spcBef>
                <a:spcPts val="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Survey123 Web Designer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Build smart forms graphically in a web browser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Very easy to get started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Ideal for simple forms</a:t>
            </a:r>
          </a:p>
          <a:p>
            <a:pPr marL="206550" indent="-206550" defTabSz="308610">
              <a:lnSpc>
                <a:spcPct val="140000"/>
              </a:lnSpc>
              <a:spcBef>
                <a:spcPts val="0"/>
              </a:spcBef>
              <a:spcAft>
                <a:spcPts val="405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Survey123 Connect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Desktop tool, works in combination with Microsoft Excel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 sz="2400" dirty="0"/>
              <a:t>Requires learning and familiarity with </a:t>
            </a:r>
            <a:r>
              <a:rPr lang="en-US" altLang="en-US" sz="2400" dirty="0" err="1"/>
              <a:t>XLSForms</a:t>
            </a:r>
            <a:r>
              <a:rPr lang="en-US" altLang="en-US" sz="2400" dirty="0"/>
              <a:t> specification</a:t>
            </a:r>
          </a:p>
          <a:p>
            <a:pPr marL="411480" lvl="1" indent="0">
              <a:buNone/>
            </a:pPr>
            <a:endParaRPr lang="en-US" alt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1E3C4E-0D88-4F67-8503-3DB1D92DC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579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60889" y="195009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Type of Survey123</a:t>
            </a:r>
          </a:p>
        </p:txBody>
      </p:sp>
      <p:pic>
        <p:nvPicPr>
          <p:cNvPr id="4" name="Picture 3" descr="Image showing where to Create a New Survey">
            <a:extLst>
              <a:ext uri="{FF2B5EF4-FFF2-40B4-BE49-F238E27FC236}">
                <a16:creationId xmlns:a16="http://schemas.microsoft.com/office/drawing/2014/main" id="{08D966BD-0237-4645-B326-87492DB6A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558" y="1181607"/>
            <a:ext cx="5718484" cy="371916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3109C6-0A20-46CD-A509-123F58B6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057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152400" y="201157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Create Survey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Preview in left panel, set parameters in the right panel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ACB47-51F8-417F-9B01-4FF246796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09AF17-FFFA-65B1-DC48-84F5FEA33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163" y="1473643"/>
            <a:ext cx="6501539" cy="2991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06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36838" y="205053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Survey Option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Survey Question Types in Web Designer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Most common questions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Addresses many workflows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Simple forms</a:t>
            </a:r>
          </a:p>
        </p:txBody>
      </p:sp>
      <p:pic>
        <p:nvPicPr>
          <p:cNvPr id="5" name="Picture 4" descr="Image showing survey123 question types">
            <a:extLst>
              <a:ext uri="{FF2B5EF4-FFF2-40B4-BE49-F238E27FC236}">
                <a16:creationId xmlns:a16="http://schemas.microsoft.com/office/drawing/2014/main" id="{F3EBF3BF-5213-4756-A5A2-D684ED6F6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946" y="1405389"/>
            <a:ext cx="2954454" cy="3639113"/>
          </a:xfrm>
          <a:prstGeom prst="rect">
            <a:avLst/>
          </a:prstGeom>
        </p:spPr>
      </p:pic>
      <p:pic>
        <p:nvPicPr>
          <p:cNvPr id="9" name="Picture 8" descr="Image showing survey123 question types">
            <a:extLst>
              <a:ext uri="{FF2B5EF4-FFF2-40B4-BE49-F238E27FC236}">
                <a16:creationId xmlns:a16="http://schemas.microsoft.com/office/drawing/2014/main" id="{31E414D3-159F-42B9-98F5-BD857288EA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298" y="3654959"/>
            <a:ext cx="3312648" cy="148854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BBB00A-A857-4AAC-B278-E2C9B5AD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393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58018" y="17344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Creating Surveys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Setting Rules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Simple conditional statements can control visibility of questions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Applicable for Single choice, Dropdown, and Rating…</a:t>
            </a:r>
          </a:p>
        </p:txBody>
      </p:sp>
      <p:pic>
        <p:nvPicPr>
          <p:cNvPr id="3" name="Picture 2" descr="Question example">
            <a:extLst>
              <a:ext uri="{FF2B5EF4-FFF2-40B4-BE49-F238E27FC236}">
                <a16:creationId xmlns:a16="http://schemas.microsoft.com/office/drawing/2014/main" id="{49B9BB5D-928E-41F5-9551-42FAF8D65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663" y="2888589"/>
            <a:ext cx="5165198" cy="122421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7672EC-C3FD-48E2-BFF7-CEE4E91C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0523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38785" y="211790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Creating Surveys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Setting Rules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Simple conditional statements can control visibility of questions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Applicable for Single choice, Dropdown, Likert, and Rating</a:t>
            </a:r>
          </a:p>
        </p:txBody>
      </p:sp>
      <p:pic>
        <p:nvPicPr>
          <p:cNvPr id="3" name="Picture 2" descr="Question example">
            <a:extLst>
              <a:ext uri="{FF2B5EF4-FFF2-40B4-BE49-F238E27FC236}">
                <a16:creationId xmlns:a16="http://schemas.microsoft.com/office/drawing/2014/main" id="{49B9BB5D-928E-41F5-9551-42FAF8D65D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785" y="3405001"/>
            <a:ext cx="3441117" cy="815589"/>
          </a:xfrm>
          <a:prstGeom prst="rect">
            <a:avLst/>
          </a:prstGeom>
        </p:spPr>
      </p:pic>
      <p:pic>
        <p:nvPicPr>
          <p:cNvPr id="5" name="Picture 4" descr="Question example">
            <a:extLst>
              <a:ext uri="{FF2B5EF4-FFF2-40B4-BE49-F238E27FC236}">
                <a16:creationId xmlns:a16="http://schemas.microsoft.com/office/drawing/2014/main" id="{B969D28E-BE13-4342-BDC2-C8BC40DD6B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405001"/>
            <a:ext cx="3530523" cy="126181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8DC043B-CF88-4AE5-8172-3FB3DCFD1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545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19272" y="159319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Creating Surveys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Style Your Form</a:t>
            </a:r>
          </a:p>
        </p:txBody>
      </p:sp>
      <p:pic>
        <p:nvPicPr>
          <p:cNvPr id="8" name="Picture 7" descr="Survey123 theme example">
            <a:extLst>
              <a:ext uri="{FF2B5EF4-FFF2-40B4-BE49-F238E27FC236}">
                <a16:creationId xmlns:a16="http://schemas.microsoft.com/office/drawing/2014/main" id="{09AE83F6-9824-407D-B3C6-9EFD3F0860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1" y="1447378"/>
            <a:ext cx="7010718" cy="3384307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F007E5-BE21-4459-8021-601DAAB9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01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27021" y="256773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Creating Surveys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Updating Surveys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Published surveys can be edited in Web Designer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Supported changes</a:t>
            </a:r>
          </a:p>
          <a:p>
            <a:pPr marL="971550" lvl="3" indent="-457200">
              <a:buFont typeface="Arial" panose="020B0604020202020204" pitchFamily="34" charset="0"/>
              <a:buChar char="•"/>
            </a:pPr>
            <a:r>
              <a:rPr lang="en-US" altLang="en-US" dirty="0"/>
              <a:t>Add new questions</a:t>
            </a:r>
          </a:p>
          <a:p>
            <a:pPr marL="971550" lvl="3" indent="-457200">
              <a:buFont typeface="Arial" panose="020B0604020202020204" pitchFamily="34" charset="0"/>
              <a:buChar char="•"/>
            </a:pPr>
            <a:r>
              <a:rPr lang="en-US" altLang="en-US" dirty="0"/>
              <a:t>Reorder questions</a:t>
            </a:r>
          </a:p>
          <a:p>
            <a:pPr marL="971550" lvl="3" indent="-457200">
              <a:buFont typeface="Arial" panose="020B0604020202020204" pitchFamily="34" charset="0"/>
              <a:buChar char="•"/>
            </a:pPr>
            <a:r>
              <a:rPr lang="en-US" altLang="en-US" dirty="0"/>
              <a:t>Delete questions</a:t>
            </a:r>
          </a:p>
          <a:p>
            <a:pPr marL="971550" lvl="3" indent="-457200">
              <a:buFont typeface="Arial" panose="020B0604020202020204" pitchFamily="34" charset="0"/>
              <a:buChar char="•"/>
            </a:pPr>
            <a:r>
              <a:rPr lang="en-US" altLang="en-US" dirty="0"/>
              <a:t>Update labels in questions</a:t>
            </a:r>
          </a:p>
          <a:p>
            <a:pPr marL="971550" lvl="3" indent="-457200">
              <a:buFont typeface="Arial" panose="020B0604020202020204" pitchFamily="34" charset="0"/>
              <a:buChar char="•"/>
            </a:pPr>
            <a:r>
              <a:rPr lang="en-US" altLang="en-US" dirty="0"/>
              <a:t>Add, update, delete choices in lists</a:t>
            </a:r>
          </a:p>
          <a:p>
            <a:pPr marL="971550" lvl="3" indent="-457200">
              <a:buFont typeface="Arial" panose="020B0604020202020204" pitchFamily="34" charset="0"/>
              <a:buChar char="•"/>
            </a:pPr>
            <a:r>
              <a:rPr lang="en-US" altLang="en-US" dirty="0"/>
              <a:t>Update constraints, default values, hints, and required status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76825C-5A1D-449D-8AD4-7D1C8D29B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102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19272" y="190316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Creating Surveys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Private Surveys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Shared with a well-known group of users (secured access)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Requires use of one ArcGIS accounts per every filed user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Enables Editor Tracking capabilities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Ideal for sensitive data or when you want to understand who is doing what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endParaRPr lang="en-US" altLang="en-US" dirty="0"/>
          </a:p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Public Surveys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Shared with everyone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No need for ArcGIS accounts; anyone can submit data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Ideal for crowd-sourcing initiatives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04E1-940D-4736-8E81-05AD894E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59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27021" y="256773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Creating Surveys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Collaborate Tab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After publishing survey, you can control access</a:t>
            </a:r>
          </a:p>
          <a:p>
            <a:pPr marL="971550" lvl="3" indent="-457200">
              <a:buFont typeface="Arial" panose="020B0604020202020204" pitchFamily="34" charset="0"/>
              <a:buChar char="•"/>
            </a:pPr>
            <a:r>
              <a:rPr lang="en-US" altLang="en-US" dirty="0"/>
              <a:t>Data submission </a:t>
            </a:r>
            <a:r>
              <a:rPr lang="en-US" altLang="en-US" dirty="0">
                <a:sym typeface="Wingdings" panose="05000000000000000000" pitchFamily="2" charset="2"/>
              </a:rPr>
              <a:t> submitter (share survey)</a:t>
            </a:r>
          </a:p>
          <a:p>
            <a:pPr marL="971550" lvl="3" indent="-457200">
              <a:buFont typeface="Arial" panose="020B0604020202020204" pitchFamily="34" charset="0"/>
              <a:buChar char="•"/>
            </a:pPr>
            <a:r>
              <a:rPr lang="en-US" altLang="en-US" dirty="0"/>
              <a:t>Review results </a:t>
            </a:r>
            <a:r>
              <a:rPr lang="en-US" altLang="en-US" dirty="0">
                <a:sym typeface="Wingdings" panose="05000000000000000000" pitchFamily="2" charset="2"/>
              </a:rPr>
              <a:t> Viewer (share results)</a:t>
            </a: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DB3A59-6053-4F25-859B-0333FF2A2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22</a:t>
            </a:fld>
            <a:endParaRPr lang="en-US"/>
          </a:p>
        </p:txBody>
      </p:sp>
      <p:pic>
        <p:nvPicPr>
          <p:cNvPr id="9" name="Picture 8" descr="Image showing how to control access">
            <a:extLst>
              <a:ext uri="{FF2B5EF4-FFF2-40B4-BE49-F238E27FC236}">
                <a16:creationId xmlns:a16="http://schemas.microsoft.com/office/drawing/2014/main" id="{362B6526-8BF2-4EF1-B0E9-5D9ABBBF0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997" y="2466474"/>
            <a:ext cx="5825606" cy="2536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50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152400" y="190316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Control submission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Collaborate Tab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After publishing survey, you can control access</a:t>
            </a:r>
          </a:p>
          <a:p>
            <a:pPr marL="971550" lvl="3" indent="-457200">
              <a:buFont typeface="Arial" panose="020B0604020202020204" pitchFamily="34" charset="0"/>
              <a:buChar char="•"/>
            </a:pPr>
            <a:r>
              <a:rPr lang="en-US" altLang="en-US" dirty="0"/>
              <a:t>Survey Status: open/close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1C4E20-1F1A-42D7-B5F2-C0B8885D2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44AFB8-34C1-4C01-A75A-761896C7E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143" y="2240852"/>
            <a:ext cx="5835314" cy="2800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898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28600" y="188868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Accessing the Survey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Control how the survey is accessed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Link to share the survey </a:t>
            </a:r>
          </a:p>
        </p:txBody>
      </p:sp>
      <p:pic>
        <p:nvPicPr>
          <p:cNvPr id="5" name="Picture 4" descr="Image showing how to share survey">
            <a:extLst>
              <a:ext uri="{FF2B5EF4-FFF2-40B4-BE49-F238E27FC236}">
                <a16:creationId xmlns:a16="http://schemas.microsoft.com/office/drawing/2014/main" id="{58A63537-A84D-4910-AB59-AAAC1C3FC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26575"/>
            <a:ext cx="8229600" cy="198749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430BC3-8934-4193-A89A-A3C1D405D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6267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27021" y="182566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Accessing the Survey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Control how the survey is accessed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Link to share the survey 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Embed in a web page</a:t>
            </a:r>
          </a:p>
        </p:txBody>
      </p:sp>
      <p:pic>
        <p:nvPicPr>
          <p:cNvPr id="3" name="Picture 2" descr="Image showing how to share survey">
            <a:extLst>
              <a:ext uri="{FF2B5EF4-FFF2-40B4-BE49-F238E27FC236}">
                <a16:creationId xmlns:a16="http://schemas.microsoft.com/office/drawing/2014/main" id="{81BDF571-4AA5-4910-8A2E-46B966D69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610375"/>
            <a:ext cx="2384503" cy="324389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81062-E5E2-416D-A0DC-2D4F2F003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4359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34770" y="248135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Surveys in ArcGIS online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A survey is stored as a folder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May have 4 components</a:t>
            </a:r>
          </a:p>
          <a:p>
            <a:pPr marL="971550" lvl="3" indent="-457200">
              <a:buFont typeface="Arial" panose="020B0604020202020204" pitchFamily="34" charset="0"/>
              <a:buChar char="•"/>
            </a:pPr>
            <a:r>
              <a:rPr lang="en-US" altLang="en-US" dirty="0"/>
              <a:t>Form</a:t>
            </a:r>
          </a:p>
          <a:p>
            <a:pPr marL="971550" lvl="3" indent="-457200">
              <a:buFont typeface="Arial" panose="020B0604020202020204" pitchFamily="34" charset="0"/>
              <a:buChar char="•"/>
            </a:pPr>
            <a:r>
              <a:rPr lang="en-US" altLang="en-US" dirty="0"/>
              <a:t>Feature layer</a:t>
            </a:r>
          </a:p>
          <a:p>
            <a:pPr marL="971550" lvl="3" indent="-457200">
              <a:buFont typeface="Arial" panose="020B0604020202020204" pitchFamily="34" charset="0"/>
              <a:buChar char="•"/>
            </a:pPr>
            <a:r>
              <a:rPr lang="en-US" altLang="en-US" dirty="0"/>
              <a:t>Feature layer view (Fieldworker)</a:t>
            </a:r>
          </a:p>
          <a:p>
            <a:pPr marL="971550" lvl="3" indent="-457200">
              <a:buFont typeface="Arial" panose="020B0604020202020204" pitchFamily="34" charset="0"/>
              <a:buChar char="•"/>
            </a:pPr>
            <a:r>
              <a:rPr lang="en-US" altLang="en-US" dirty="0"/>
              <a:t>Feature layer view (stakeholder)</a:t>
            </a:r>
          </a:p>
        </p:txBody>
      </p:sp>
      <p:pic>
        <p:nvPicPr>
          <p:cNvPr id="3" name="Picture 2" descr="Image showing where is the survey123 files stored">
            <a:extLst>
              <a:ext uri="{FF2B5EF4-FFF2-40B4-BE49-F238E27FC236}">
                <a16:creationId xmlns:a16="http://schemas.microsoft.com/office/drawing/2014/main" id="{B9A50C9B-8FA1-40E1-A1F9-5144D1C33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616" y="3062929"/>
            <a:ext cx="4301721" cy="203748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13F630-FAB6-49D8-943E-87A589D0B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38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42596-58E6-26B1-37A4-D3DCE7255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305" y="526617"/>
            <a:ext cx="7444991" cy="426529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Surveys in ArcGIS online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86087-9EFD-D411-B753-8AC521480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2307" y="1079701"/>
            <a:ext cx="7444990" cy="3763785"/>
          </a:xfrm>
        </p:spPr>
        <p:txBody>
          <a:bodyPr>
            <a:normAutofit/>
          </a:bodyPr>
          <a:lstStyle/>
          <a:p>
            <a:r>
              <a:rPr lang="en-US" sz="2000" b="1" dirty="0"/>
              <a:t>Form (green icon)</a:t>
            </a:r>
            <a:endParaRPr lang="en-US" sz="2000" dirty="0"/>
          </a:p>
          <a:p>
            <a:pPr lvl="1"/>
            <a:r>
              <a:rPr lang="en-US" sz="2000" dirty="0"/>
              <a:t>This is the actual </a:t>
            </a:r>
            <a:r>
              <a:rPr lang="en-US" sz="2000" b="1" dirty="0"/>
              <a:t>Survey123 form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It defines the </a:t>
            </a:r>
            <a:r>
              <a:rPr lang="en-US" sz="2000" b="1" dirty="0"/>
              <a:t>questions, layout, logic, and appearance</a:t>
            </a:r>
            <a:r>
              <a:rPr lang="en-US" sz="2000" dirty="0"/>
              <a:t> of the survey.</a:t>
            </a:r>
          </a:p>
          <a:p>
            <a:r>
              <a:rPr lang="en-US" sz="2000" b="1" dirty="0"/>
              <a:t>Feature Layer (hosted)</a:t>
            </a:r>
          </a:p>
          <a:p>
            <a:pPr lvl="1"/>
            <a:r>
              <a:rPr lang="en-US" sz="1865" dirty="0"/>
              <a:t>This is the main database that stores all responses.</a:t>
            </a:r>
          </a:p>
          <a:p>
            <a:pPr lvl="1"/>
            <a:r>
              <a:rPr lang="en-US" sz="1865" dirty="0"/>
              <a:t>Every submission from the form is saved here as a record (geometry + attributes)</a:t>
            </a:r>
          </a:p>
          <a:p>
            <a:pPr lvl="1"/>
            <a:endParaRPr lang="en-US" sz="2000" dirty="0"/>
          </a:p>
          <a:p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B2D09-3D56-B170-441B-5FF2B14A5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612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99634" y="248135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Collect data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Web forms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Capture data from a web browser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Can be embedded within a website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Add and edit data</a:t>
            </a:r>
          </a:p>
        </p:txBody>
      </p:sp>
      <p:pic>
        <p:nvPicPr>
          <p:cNvPr id="5" name="Picture 4" descr="Image showing the preview of survey123">
            <a:extLst>
              <a:ext uri="{FF2B5EF4-FFF2-40B4-BE49-F238E27FC236}">
                <a16:creationId xmlns:a16="http://schemas.microsoft.com/office/drawing/2014/main" id="{64BFC5DE-50C1-4995-8A8B-170D8A85BF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076" y="2650522"/>
            <a:ext cx="3776609" cy="2449896"/>
          </a:xfrm>
          <a:prstGeom prst="rect">
            <a:avLst/>
          </a:prstGeom>
        </p:spPr>
      </p:pic>
      <p:pic>
        <p:nvPicPr>
          <p:cNvPr id="9" name="Picture 8" descr="Image showing the preview of survey123">
            <a:extLst>
              <a:ext uri="{FF2B5EF4-FFF2-40B4-BE49-F238E27FC236}">
                <a16:creationId xmlns:a16="http://schemas.microsoft.com/office/drawing/2014/main" id="{50373DC8-3829-4B6F-9F48-2E2B13251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45" y="2685311"/>
            <a:ext cx="2896118" cy="238031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A6001E-D6B5-486D-A2D1-33A6B665B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887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19272" y="189991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Collect data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Mobile App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Use for data collection in the field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Can capture new data, edit existing data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Supports offline workflows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Cross platform</a:t>
            </a:r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9EE5F372-11DA-4C4C-8122-78854FEAF633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327" y="471707"/>
            <a:ext cx="2217797" cy="456704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44639C3-E0D2-420E-9069-B557BE51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13950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198738" y="159979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Make decision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Ready to use reporting tools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Understand data submission patterns 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Create detailed reports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Aggregate survey data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Download data</a:t>
            </a:r>
          </a:p>
        </p:txBody>
      </p:sp>
      <p:pic>
        <p:nvPicPr>
          <p:cNvPr id="10" name="Picture 9" descr="Image showing survey123 reporting tool">
            <a:extLst>
              <a:ext uri="{FF2B5EF4-FFF2-40B4-BE49-F238E27FC236}">
                <a16:creationId xmlns:a16="http://schemas.microsoft.com/office/drawing/2014/main" id="{30753388-7C2C-48AE-9547-B10F8B0C3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86" y="3393982"/>
            <a:ext cx="2495405" cy="1436568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E49C73-C4F0-4A20-A194-DE38A3B6E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06DD7A-B662-1ED7-7A97-B546DDBE7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8867" y="2682787"/>
            <a:ext cx="4750382" cy="204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3049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65767" y="256773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Make decision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Feature reports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Create printable documents with your survey data (e.g., word file)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4C0961-4DB7-4D59-899B-9B4EDE5E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31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3B5DDB-EFD6-58D2-5FD3-042AA6FF1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905" y="2204584"/>
            <a:ext cx="6493790" cy="229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5313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258017" y="209416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dirty="0">
                <a:solidFill>
                  <a:srgbClr val="7030A0"/>
                </a:solidFill>
              </a:rPr>
              <a:t>Make decision</a:t>
            </a: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Bring your data into ArcGIS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Real-time data collection</a:t>
            </a:r>
          </a:p>
          <a:p>
            <a:pPr marL="971550" lvl="3" indent="-457200">
              <a:buFont typeface="Arial" panose="020B0604020202020204" pitchFamily="34" charset="0"/>
              <a:buChar char="•"/>
            </a:pPr>
            <a:r>
              <a:rPr lang="en-US" altLang="en-US" dirty="0"/>
              <a:t>Survey123 submitted data is immediately available for visualization and analysis</a:t>
            </a:r>
          </a:p>
          <a:p>
            <a:pPr marL="971550" lvl="3" indent="-457200">
              <a:buFont typeface="Arial" panose="020B0604020202020204" pitchFamily="34" charset="0"/>
              <a:buChar char="•"/>
            </a:pPr>
            <a:r>
              <a:rPr lang="en-US" altLang="en-US" dirty="0"/>
              <a:t>All data stored in ArcGIS feature services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Use with other ArcGIS Apps</a:t>
            </a:r>
          </a:p>
          <a:p>
            <a:pPr marL="560070" lvl="2" indent="-457200">
              <a:buFont typeface="Wingdings" panose="05000000000000000000" pitchFamily="2" charset="2"/>
              <a:buChar char="ü"/>
            </a:pPr>
            <a:r>
              <a:rPr lang="en-US" altLang="en-US" dirty="0"/>
              <a:t>Multiple Uses of data</a:t>
            </a:r>
          </a:p>
        </p:txBody>
      </p:sp>
      <p:pic>
        <p:nvPicPr>
          <p:cNvPr id="3" name="Picture 2" descr="Image showing ArcGIS tools">
            <a:extLst>
              <a:ext uri="{FF2B5EF4-FFF2-40B4-BE49-F238E27FC236}">
                <a16:creationId xmlns:a16="http://schemas.microsoft.com/office/drawing/2014/main" id="{BDE3ED1E-3589-4590-A4BD-7E01BA45A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3584" y="3002889"/>
            <a:ext cx="3124200" cy="1828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6228D5-0905-4F79-A032-823EAEACB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6343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2C807DF-E68B-4FDB-AF8B-FD65014E3363}"/>
              </a:ext>
            </a:extLst>
          </p:cNvPr>
          <p:cNvCxnSpPr/>
          <p:nvPr/>
        </p:nvCxnSpPr>
        <p:spPr>
          <a:xfrm>
            <a:off x="152400" y="922910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81ABCB3B-7396-4070-8FA3-31111AB30A9C}"/>
              </a:ext>
            </a:extLst>
          </p:cNvPr>
          <p:cNvSpPr txBox="1">
            <a:spLocks/>
          </p:cNvSpPr>
          <p:nvPr/>
        </p:nvSpPr>
        <p:spPr>
          <a:xfrm>
            <a:off x="118533" y="43082"/>
            <a:ext cx="8077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11480" rtl="0" eaLnBrk="1" latinLnBrk="0" hangingPunct="1">
              <a:spcBef>
                <a:spcPct val="0"/>
              </a:spcBef>
              <a:buNone/>
              <a:defRPr sz="396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2600" dirty="0">
              <a:solidFill>
                <a:srgbClr val="7030A0"/>
              </a:solidFill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C44700F-A006-4105-9EC3-DAD062FE3ABE}"/>
              </a:ext>
            </a:extLst>
          </p:cNvPr>
          <p:cNvSpPr txBox="1">
            <a:spLocks noChangeArrowheads="1"/>
          </p:cNvSpPr>
          <p:nvPr/>
        </p:nvSpPr>
        <p:spPr>
          <a:xfrm>
            <a:off x="152400" y="945489"/>
            <a:ext cx="7679724" cy="15574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8610" indent="-30861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8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8655" indent="-257175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25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21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180" indent="-205740" algn="l" defTabSz="411480" rtl="0" eaLnBrk="1" latinLnBrk="0" hangingPunct="1">
              <a:spcBef>
                <a:spcPct val="20000"/>
              </a:spcBef>
              <a:buFont typeface="Arial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1660" indent="-205740" algn="l" defTabSz="411480" rtl="0" eaLnBrk="1" latinLnBrk="0" hangingPunct="1">
              <a:spcBef>
                <a:spcPct val="20000"/>
              </a:spcBef>
              <a:buFont typeface="Arial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6314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67462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08610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97580" indent="-205740" algn="l" defTabSz="41148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buFont typeface="Courier New" panose="02070309020205020404" pitchFamily="49" charset="0"/>
              <a:buChar char="o"/>
            </a:pPr>
            <a:r>
              <a:rPr lang="en-US" altLang="en-US" dirty="0"/>
              <a:t>Survy123 Examples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08AC3-082F-45F5-A1B0-12D0B6E1807D}"/>
              </a:ext>
            </a:extLst>
          </p:cNvPr>
          <p:cNvSpPr txBox="1"/>
          <p:nvPr/>
        </p:nvSpPr>
        <p:spPr>
          <a:xfrm>
            <a:off x="924649" y="1877633"/>
            <a:ext cx="50670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https://survey123.arcgis.com/surveys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231D12-3E6E-4619-86E1-49DB8964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3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71305" y="1325254"/>
            <a:ext cx="3286989" cy="830997"/>
          </a:xfrm>
          <a:prstGeom prst="rect">
            <a:avLst/>
          </a:prstGeom>
          <a:noFill/>
        </p:spPr>
        <p:txBody>
          <a:bodyPr wrap="none" lIns="82296" tIns="41148" rIns="82296" bIns="41148">
            <a:spAutoFit/>
          </a:bodyPr>
          <a:lstStyle/>
          <a:p>
            <a:pPr algn="ctr"/>
            <a:r>
              <a:rPr lang="en-US" sz="4860" b="1" spc="180" dirty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rgbClr val="008000">
                    <a:alpha val="50000"/>
                  </a:srgbClr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C9EAE-E5B7-4784-94CD-D062E1781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DC20-79C9-9647-820E-6D40A3D210C3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6" name="Picture 5" descr="Geography department logo">
            <a:extLst>
              <a:ext uri="{FF2B5EF4-FFF2-40B4-BE49-F238E27FC236}">
                <a16:creationId xmlns:a16="http://schemas.microsoft.com/office/drawing/2014/main" id="{32DE135F-68C6-4911-85BA-92ABB3F9F85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400" y="4275667"/>
            <a:ext cx="5915025" cy="75819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ADF13BC-3A5F-4415-94E6-85FAF42998C9}"/>
              </a:ext>
            </a:extLst>
          </p:cNvPr>
          <p:cNvCxnSpPr/>
          <p:nvPr/>
        </p:nvCxnSpPr>
        <p:spPr>
          <a:xfrm>
            <a:off x="152400" y="4182575"/>
            <a:ext cx="8001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52230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2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Week02_Intro_To_GIS</Template>
  <TotalTime>2833</TotalTime>
  <Words>1058</Words>
  <Application>Microsoft Office PowerPoint</Application>
  <PresentationFormat>Custom</PresentationFormat>
  <Paragraphs>240</Paragraphs>
  <Slides>34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34</vt:i4>
      </vt:variant>
    </vt:vector>
  </HeadingPairs>
  <TitlesOfParts>
    <vt:vector size="43" baseType="lpstr">
      <vt:lpstr>Arial</vt:lpstr>
      <vt:lpstr>Arial Black</vt:lpstr>
      <vt:lpstr>Calibri</vt:lpstr>
      <vt:lpstr>Courier New</vt:lpstr>
      <vt:lpstr>Wingdings</vt:lpstr>
      <vt:lpstr>Wingdings 2</vt:lpstr>
      <vt:lpstr>DividendVTI</vt:lpstr>
      <vt:lpstr>1_DividendVTI</vt:lpstr>
      <vt:lpstr>2_DividendVTI</vt:lpstr>
      <vt:lpstr>WEEK 03   survey 123  lecture</vt:lpstr>
      <vt:lpstr>2.1  introduction </vt:lpstr>
      <vt:lpstr>PowerPoint Presentation</vt:lpstr>
      <vt:lpstr>PowerPoint Presentation</vt:lpstr>
      <vt:lpstr>PowerPoint Presentation</vt:lpstr>
      <vt:lpstr>PowerPoint Presentation</vt:lpstr>
      <vt:lpstr>Why Smart Forms in ArcGIS</vt:lpstr>
      <vt:lpstr>Why Smart Forms in ArcGIS</vt:lpstr>
      <vt:lpstr>Why Smart Forms in ArcGIS</vt:lpstr>
      <vt:lpstr>PowerPoint Presentation</vt:lpstr>
      <vt:lpstr>What makes a form ‘Smart’?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Surveys in ArcGIS online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Geographic Field Techniques</dc:title>
  <dc:creator>Yaqian He</dc:creator>
  <cp:lastModifiedBy>Yanan Wu</cp:lastModifiedBy>
  <cp:revision>111</cp:revision>
  <dcterms:created xsi:type="dcterms:W3CDTF">2020-07-26T21:20:11Z</dcterms:created>
  <dcterms:modified xsi:type="dcterms:W3CDTF">2025-09-02T02:15:24Z</dcterms:modified>
</cp:coreProperties>
</file>