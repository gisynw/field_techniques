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7.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8.xml" ContentType="application/vnd.openxmlformats-officedocument.theme+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8" r:id="rId5"/>
    <p:sldMasterId id="2147483721" r:id="rId6"/>
    <p:sldMasterId id="2147483734" r:id="rId7"/>
    <p:sldMasterId id="2147483746" r:id="rId8"/>
    <p:sldMasterId id="2147483758" r:id="rId9"/>
  </p:sldMasterIdLst>
  <p:notesMasterIdLst>
    <p:notesMasterId r:id="rId46"/>
  </p:notesMasterIdLst>
  <p:sldIdLst>
    <p:sldId id="914" r:id="rId10"/>
    <p:sldId id="1647" r:id="rId11"/>
    <p:sldId id="326" r:id="rId12"/>
    <p:sldId id="327" r:id="rId13"/>
    <p:sldId id="328" r:id="rId14"/>
    <p:sldId id="330" r:id="rId15"/>
    <p:sldId id="331" r:id="rId16"/>
    <p:sldId id="332" r:id="rId17"/>
    <p:sldId id="334" r:id="rId18"/>
    <p:sldId id="333" r:id="rId19"/>
    <p:sldId id="335" r:id="rId20"/>
    <p:sldId id="336" r:id="rId21"/>
    <p:sldId id="337" r:id="rId22"/>
    <p:sldId id="338" r:id="rId23"/>
    <p:sldId id="339" r:id="rId24"/>
    <p:sldId id="340" r:id="rId25"/>
    <p:sldId id="341" r:id="rId26"/>
    <p:sldId id="325" r:id="rId27"/>
    <p:sldId id="342" r:id="rId28"/>
    <p:sldId id="329" r:id="rId29"/>
    <p:sldId id="343" r:id="rId30"/>
    <p:sldId id="344" r:id="rId31"/>
    <p:sldId id="345" r:id="rId32"/>
    <p:sldId id="346" r:id="rId33"/>
    <p:sldId id="347" r:id="rId34"/>
    <p:sldId id="348" r:id="rId35"/>
    <p:sldId id="351" r:id="rId36"/>
    <p:sldId id="352" r:id="rId37"/>
    <p:sldId id="353" r:id="rId38"/>
    <p:sldId id="354" r:id="rId39"/>
    <p:sldId id="355" r:id="rId40"/>
    <p:sldId id="356" r:id="rId41"/>
    <p:sldId id="357" r:id="rId42"/>
    <p:sldId id="349" r:id="rId43"/>
    <p:sldId id="1648" r:id="rId44"/>
    <p:sldId id="270" r:id="rId45"/>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148" autoAdjust="0"/>
  </p:normalViewPr>
  <p:slideViewPr>
    <p:cSldViewPr snapToGrid="0" snapToObjects="1">
      <p:cViewPr varScale="1">
        <p:scale>
          <a:sx n="117" d="100"/>
          <a:sy n="117" d="100"/>
        </p:scale>
        <p:origin x="1770" y="96"/>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notesMaster" Target="notesMasters/notesMaster1.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9/30/2025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3</a:t>
            </a:fld>
            <a:endParaRPr lang="en-US"/>
          </a:p>
        </p:txBody>
      </p:sp>
    </p:spTree>
    <p:extLst>
      <p:ext uri="{BB962C8B-B14F-4D97-AF65-F5344CB8AC3E}">
        <p14:creationId xmlns:p14="http://schemas.microsoft.com/office/powerpoint/2010/main" val="3362162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2419716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3785990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5904562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3472959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28943255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9815765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1533668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41272892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13268078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660655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1594473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736173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25487841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7923469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545955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7040670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FreeSans"/>
              </a:rPr>
              <a:t>A </a:t>
            </a:r>
            <a:r>
              <a:rPr lang="en-US" dirty="0"/>
              <a:t>NOTAM</a:t>
            </a:r>
            <a:r>
              <a:rPr lang="en-US" b="0" i="0" dirty="0">
                <a:solidFill>
                  <a:srgbClr val="333333"/>
                </a:solidFill>
                <a:effectLst/>
                <a:latin typeface="FreeSans"/>
              </a:rPr>
              <a:t> is a notice containing information essential to personnel concerned with flight operations but not known far enough in advance to be publicized by other means. It states the abnormal status of a component of the National Airspace System (</a:t>
            </a:r>
            <a:r>
              <a:rPr lang="en-US" dirty="0"/>
              <a:t>NAS</a:t>
            </a:r>
            <a:r>
              <a:rPr lang="en-US" b="0" i="0" dirty="0">
                <a:solidFill>
                  <a:srgbClr val="333333"/>
                </a:solidFill>
                <a:effectLst/>
                <a:latin typeface="FreeSans"/>
              </a:rPr>
              <a:t>) – not the normal status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20</a:t>
            </a:fld>
            <a:endParaRPr lang="en-US"/>
          </a:p>
        </p:txBody>
      </p:sp>
    </p:spTree>
    <p:extLst>
      <p:ext uri="{BB962C8B-B14F-4D97-AF65-F5344CB8AC3E}">
        <p14:creationId xmlns:p14="http://schemas.microsoft.com/office/powerpoint/2010/main" val="24480290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FreeSans"/>
              </a:rPr>
              <a:t>A </a:t>
            </a:r>
            <a:r>
              <a:rPr lang="en-US" dirty="0"/>
              <a:t>NOTAM</a:t>
            </a:r>
            <a:r>
              <a:rPr lang="en-US" b="0" i="0" dirty="0">
                <a:solidFill>
                  <a:srgbClr val="333333"/>
                </a:solidFill>
                <a:effectLst/>
                <a:latin typeface="FreeSans"/>
              </a:rPr>
              <a:t> is a notice containing information essential to personnel concerned with flight operations but not known far enough in advance to be publicized by other means. It states the abnormal status of a component of the National Airspace System (</a:t>
            </a:r>
            <a:r>
              <a:rPr lang="en-US" dirty="0"/>
              <a:t>NAS</a:t>
            </a:r>
            <a:r>
              <a:rPr lang="en-US" b="0" i="0" dirty="0">
                <a:solidFill>
                  <a:srgbClr val="333333"/>
                </a:solidFill>
                <a:effectLst/>
                <a:latin typeface="FreeSans"/>
              </a:rPr>
              <a:t>) – not the normal status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21</a:t>
            </a:fld>
            <a:endParaRPr lang="en-US"/>
          </a:p>
        </p:txBody>
      </p:sp>
    </p:spTree>
    <p:extLst>
      <p:ext uri="{BB962C8B-B14F-4D97-AF65-F5344CB8AC3E}">
        <p14:creationId xmlns:p14="http://schemas.microsoft.com/office/powerpoint/2010/main" val="2487516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FreeSans"/>
              </a:rPr>
              <a:t>A </a:t>
            </a:r>
            <a:r>
              <a:rPr lang="en-US" dirty="0"/>
              <a:t>NOTAM</a:t>
            </a:r>
            <a:r>
              <a:rPr lang="en-US" b="0" i="0" dirty="0">
                <a:solidFill>
                  <a:srgbClr val="333333"/>
                </a:solidFill>
                <a:effectLst/>
                <a:latin typeface="FreeSans"/>
              </a:rPr>
              <a:t> is a notice containing information essential to personnel concerned with flight operations but not known far enough in advance to be publicized by other means. It states the abnormal status of a component of the National Airspace System (</a:t>
            </a:r>
            <a:r>
              <a:rPr lang="en-US" dirty="0"/>
              <a:t>NAS</a:t>
            </a:r>
            <a:r>
              <a:rPr lang="en-US" b="0" i="0" dirty="0">
                <a:solidFill>
                  <a:srgbClr val="333333"/>
                </a:solidFill>
                <a:effectLst/>
                <a:latin typeface="FreeSans"/>
              </a:rPr>
              <a:t>) – not the normal status</a:t>
            </a:r>
            <a:endParaRPr lang="en-US" dirty="0"/>
          </a:p>
        </p:txBody>
      </p:sp>
      <p:sp>
        <p:nvSpPr>
          <p:cNvPr id="4" name="Slide Number Placeholder 3"/>
          <p:cNvSpPr>
            <a:spLocks noGrp="1"/>
          </p:cNvSpPr>
          <p:nvPr>
            <p:ph type="sldNum" sz="quarter" idx="10"/>
          </p:nvPr>
        </p:nvSpPr>
        <p:spPr/>
        <p:txBody>
          <a:bodyPr/>
          <a:lstStyle/>
          <a:p>
            <a:fld id="{01F2A70B-78F2-4DCF-B53B-C990D2FAFB8A}" type="slidenum">
              <a:rPr lang="en-US" smtClean="0"/>
              <a:t>22</a:t>
            </a:fld>
            <a:endParaRPr lang="en-US"/>
          </a:p>
        </p:txBody>
      </p:sp>
    </p:spTree>
    <p:extLst>
      <p:ext uri="{BB962C8B-B14F-4D97-AF65-F5344CB8AC3E}">
        <p14:creationId xmlns:p14="http://schemas.microsoft.com/office/powerpoint/2010/main" val="38702637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9714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82587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70284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5152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335262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42955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14794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07924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36937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44934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09114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f614c2db75_0_44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f614c2db75_0_4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37128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36</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B2FC2276-8822-48E0-827C-9B687448FBD4}" type="datetime1">
              <a:rPr lang="en-US" smtClean="0"/>
              <a:t>9/30/2025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910546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45497484-9EBD-4C2B-A89A-769ACE5C9E92}" type="datetime1">
              <a:rPr lang="en-US" smtClean="0"/>
              <a:t>9/30/2025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92151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8E94529-4811-4D8F-A568-858DBBA149F6}" type="datetime1">
              <a:rPr lang="en-US" smtClean="0"/>
              <a:t>9/30/2025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696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136F59C6-93CB-442B-9BA7-29471B9A936F}"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02980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C6A211E4-39CE-412F-8542-F1BCB19F860C}" type="datetime1">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14990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071A7471-1F8D-4433-80A6-DC6E9976319D}" type="datetime1">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42844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5A03ED-9E94-4A6B-9795-09538D3BE1B7}" type="datetime1">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49138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2128CDD8-E440-472D-8126-3DC9FAF58FB5}" type="datetime1">
              <a:rPr lang="en-US" smtClean="0"/>
              <a:t>9/30/2025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92902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FEDDB760-8539-4493-B9C9-ED90FDBBCC80}"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33984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B4BE438E-2AA2-4269-BE09-F64F37272CC7}"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0840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9D7E4893-7BF5-4E16-932C-68B6957FB9CD}" type="datetime1">
              <a:rPr lang="en-US" smtClean="0"/>
              <a:t>9/30/2025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199551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D00F9BB-97E2-4F5E-A9A6-FAC40A4E9E52}" type="datetime1">
              <a:rPr lang="en-US" smtClean="0"/>
              <a:t>9/30/2025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812345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DFA16EE0-F357-46ED-94FA-906C52536BC8}" type="datetime1">
              <a:rPr lang="en-US" smtClean="0"/>
              <a:t>9/30/2025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58598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70A555F4-0623-4308-89A4-2EF3C67F970E}" type="datetime1">
              <a:rPr lang="en-US" smtClean="0"/>
              <a:t>9/30/2025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3548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6C2C25ED-83A1-4E27-9E45-CB4ECD4F0BBC}"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7604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FBC24F89-8A4A-4667-ACA3-D44E384795DF}" type="datetime1">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699828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8A613FE4-A8B1-43D2-900A-0789A75D843A}" type="datetime1">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170720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E2B1E2-CA70-4E33-B1AB-E13FFAB976F0}" type="datetime1">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448344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3E20A27F-A940-4DB1-BFA3-6B00386BFBB8}" type="datetime1">
              <a:rPr lang="en-US" smtClean="0"/>
              <a:t>9/30/2025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241408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FC8B4FF-525C-4739-8620-1BBEF31D3000}"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8418511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B66B1A4-BA96-45DD-B69E-04FB88AA18D4}"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875581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986499E-7FB9-4175-B5CC-46A07FADF573}" type="datetime1">
              <a:rPr lang="en-US" smtClean="0"/>
              <a:t>9/30/2025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308574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9/30/2025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624921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9/30/2025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320989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9/30/2025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4450102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02340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662581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365676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563331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9/30/2025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9526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2677781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827653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9/30/2025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168730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9/30/2025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0781245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9/30/2025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256476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9/30/2025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912949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373909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377356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561679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402590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9/30/2025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062994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777675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778236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9/30/2025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08876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725611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7855929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47932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15082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49174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40660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21767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084612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6827466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830854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290260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4646842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218477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5748052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8576505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4086137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744540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29979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244995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02640011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90536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002804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646532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86272031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17220" y="1597820"/>
            <a:ext cx="6995160" cy="1102519"/>
          </a:xfrm>
        </p:spPr>
        <p:txBody>
          <a:bodyPr/>
          <a:lstStyle/>
          <a:p>
            <a:r>
              <a:rPr lang="en-US" altLang="zh-CN"/>
              <a:t>Click to edit Master title style</a:t>
            </a:r>
            <a:endParaRPr lang="en-US"/>
          </a:p>
        </p:txBody>
      </p:sp>
      <p:sp>
        <p:nvSpPr>
          <p:cNvPr id="3" name="Subtitle 2"/>
          <p:cNvSpPr>
            <a:spLocks noGrp="1"/>
          </p:cNvSpPr>
          <p:nvPr>
            <p:ph type="subTitle" idx="1"/>
          </p:nvPr>
        </p:nvSpPr>
        <p:spPr>
          <a:xfrm>
            <a:off x="1234440" y="2914650"/>
            <a:ext cx="5760720" cy="1314450"/>
          </a:xfrm>
        </p:spPr>
        <p:txBody>
          <a:bodyPr/>
          <a:lstStyle>
            <a:lvl1pPr marL="0" indent="0" algn="ctr">
              <a:buNone/>
              <a:defRPr>
                <a:solidFill>
                  <a:schemeClr val="tx1">
                    <a:tint val="75000"/>
                  </a:schemeClr>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ltLang="zh-CN"/>
              <a:t>Click to edit Master subtitle style</a:t>
            </a:r>
            <a:endParaRPr lang="en-US"/>
          </a:p>
        </p:txBody>
      </p:sp>
      <p:sp>
        <p:nvSpPr>
          <p:cNvPr id="4" name="Date Placeholder 3"/>
          <p:cNvSpPr>
            <a:spLocks noGrp="1"/>
          </p:cNvSpPr>
          <p:nvPr>
            <p:ph type="dt" sz="half" idx="10"/>
          </p:nvPr>
        </p:nvSpPr>
        <p:spPr/>
        <p:txBody>
          <a:bodyPr/>
          <a:lstStyle/>
          <a:p>
            <a:fld id="{7D00F9BB-97E2-4F5E-A9A6-FAC40A4E9E52}"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8410903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DFA16EE0-F357-46ED-94FA-906C52536BC8}"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41498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50082" y="3305176"/>
            <a:ext cx="6995160" cy="1021556"/>
          </a:xfrm>
        </p:spPr>
        <p:txBody>
          <a:bodyPr anchor="t"/>
          <a:lstStyle>
            <a:lvl1pPr algn="l">
              <a:defRPr sz="3600" b="1" cap="all"/>
            </a:lvl1pPr>
          </a:lstStyle>
          <a:p>
            <a:r>
              <a:rPr lang="en-US" altLang="zh-CN"/>
              <a:t>Click to edit Master title style</a:t>
            </a:r>
            <a:endParaRPr lang="en-US"/>
          </a:p>
        </p:txBody>
      </p:sp>
      <p:sp>
        <p:nvSpPr>
          <p:cNvPr id="3" name="Text Placeholder 2"/>
          <p:cNvSpPr>
            <a:spLocks noGrp="1"/>
          </p:cNvSpPr>
          <p:nvPr>
            <p:ph type="body" idx="1"/>
          </p:nvPr>
        </p:nvSpPr>
        <p:spPr>
          <a:xfrm>
            <a:off x="650082" y="2180035"/>
            <a:ext cx="6995160" cy="1125140"/>
          </a:xfrm>
        </p:spPr>
        <p:txBody>
          <a:bodyPr anchor="b"/>
          <a:lstStyle>
            <a:lvl1pPr marL="0" indent="0">
              <a:buNone/>
              <a:defRPr sz="1800">
                <a:solidFill>
                  <a:schemeClr val="tx1">
                    <a:tint val="75000"/>
                  </a:schemeClr>
                </a:solidFill>
              </a:defRPr>
            </a:lvl1pPr>
            <a:lvl2pPr marL="411480" indent="0">
              <a:buNone/>
              <a:defRPr sz="1620">
                <a:solidFill>
                  <a:schemeClr val="tx1">
                    <a:tint val="75000"/>
                  </a:schemeClr>
                </a:solidFill>
              </a:defRPr>
            </a:lvl2pPr>
            <a:lvl3pPr marL="822960" indent="0">
              <a:buNone/>
              <a:defRPr sz="1440">
                <a:solidFill>
                  <a:schemeClr val="tx1">
                    <a:tint val="75000"/>
                  </a:schemeClr>
                </a:solidFill>
              </a:defRPr>
            </a:lvl3pPr>
            <a:lvl4pPr marL="1234440" indent="0">
              <a:buNone/>
              <a:defRPr sz="1260">
                <a:solidFill>
                  <a:schemeClr val="tx1">
                    <a:tint val="75000"/>
                  </a:schemeClr>
                </a:solidFill>
              </a:defRPr>
            </a:lvl4pPr>
            <a:lvl5pPr marL="1645920" indent="0">
              <a:buNone/>
              <a:defRPr sz="1260">
                <a:solidFill>
                  <a:schemeClr val="tx1">
                    <a:tint val="75000"/>
                  </a:schemeClr>
                </a:solidFill>
              </a:defRPr>
            </a:lvl5pPr>
            <a:lvl6pPr marL="2057400" indent="0">
              <a:buNone/>
              <a:defRPr sz="1260">
                <a:solidFill>
                  <a:schemeClr val="tx1">
                    <a:tint val="75000"/>
                  </a:schemeClr>
                </a:solidFill>
              </a:defRPr>
            </a:lvl6pPr>
            <a:lvl7pPr marL="2468880" indent="0">
              <a:buNone/>
              <a:defRPr sz="1260">
                <a:solidFill>
                  <a:schemeClr val="tx1">
                    <a:tint val="75000"/>
                  </a:schemeClr>
                </a:solidFill>
              </a:defRPr>
            </a:lvl7pPr>
            <a:lvl8pPr marL="2880360" indent="0">
              <a:buNone/>
              <a:defRPr sz="1260">
                <a:solidFill>
                  <a:schemeClr val="tx1">
                    <a:tint val="75000"/>
                  </a:schemeClr>
                </a:solidFill>
              </a:defRPr>
            </a:lvl8pPr>
            <a:lvl9pPr marL="3291840" indent="0">
              <a:buNone/>
              <a:defRPr sz="1260">
                <a:solidFill>
                  <a:schemeClr val="tx1">
                    <a:tint val="75000"/>
                  </a:schemeClr>
                </a:solidFill>
              </a:defRPr>
            </a:lvl9pPr>
          </a:lstStyle>
          <a:p>
            <a:pPr lvl="0"/>
            <a:r>
              <a:rPr lang="en-US" altLang="zh-CN"/>
              <a:t>Click to edit Master text styles</a:t>
            </a:r>
          </a:p>
        </p:txBody>
      </p:sp>
      <p:sp>
        <p:nvSpPr>
          <p:cNvPr id="4" name="Date Placeholder 3"/>
          <p:cNvSpPr>
            <a:spLocks noGrp="1"/>
          </p:cNvSpPr>
          <p:nvPr>
            <p:ph type="dt" sz="half" idx="10"/>
          </p:nvPr>
        </p:nvSpPr>
        <p:spPr/>
        <p:txBody>
          <a:bodyPr/>
          <a:lstStyle/>
          <a:p>
            <a:fld id="{70A555F4-0623-4308-89A4-2EF3C67F970E}"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28828778"/>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sz="half" idx="1"/>
          </p:nvPr>
        </p:nvSpPr>
        <p:spPr>
          <a:xfrm>
            <a:off x="4114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183380" y="1200151"/>
            <a:ext cx="3634740" cy="3394472"/>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4"/>
          <p:cNvSpPr>
            <a:spLocks noGrp="1"/>
          </p:cNvSpPr>
          <p:nvPr>
            <p:ph type="dt" sz="half" idx="10"/>
          </p:nvPr>
        </p:nvSpPr>
        <p:spPr/>
        <p:txBody>
          <a:bodyPr/>
          <a:lstStyle/>
          <a:p>
            <a:fld id="{6C2C25ED-83A1-4E27-9E45-CB4ECD4F0BBC}"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585528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11480" y="1151335"/>
            <a:ext cx="3636169"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ltLang="zh-CN"/>
              <a:t>Click to edit Master text styles</a:t>
            </a:r>
          </a:p>
        </p:txBody>
      </p:sp>
      <p:sp>
        <p:nvSpPr>
          <p:cNvPr id="4" name="Content Placeholder 3"/>
          <p:cNvSpPr>
            <a:spLocks noGrp="1"/>
          </p:cNvSpPr>
          <p:nvPr>
            <p:ph sz="half" idx="2"/>
          </p:nvPr>
        </p:nvSpPr>
        <p:spPr>
          <a:xfrm>
            <a:off x="411480" y="1631156"/>
            <a:ext cx="3636169"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Text Placeholder 4"/>
          <p:cNvSpPr>
            <a:spLocks noGrp="1"/>
          </p:cNvSpPr>
          <p:nvPr>
            <p:ph type="body" sz="quarter" idx="3"/>
          </p:nvPr>
        </p:nvSpPr>
        <p:spPr>
          <a:xfrm>
            <a:off x="4180524" y="1151335"/>
            <a:ext cx="3637598" cy="479822"/>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ltLang="zh-CN"/>
              <a:t>Click to edit Master text styles</a:t>
            </a:r>
          </a:p>
        </p:txBody>
      </p:sp>
      <p:sp>
        <p:nvSpPr>
          <p:cNvPr id="6" name="Content Placeholder 5"/>
          <p:cNvSpPr>
            <a:spLocks noGrp="1"/>
          </p:cNvSpPr>
          <p:nvPr>
            <p:ph sz="quarter" idx="4"/>
          </p:nvPr>
        </p:nvSpPr>
        <p:spPr>
          <a:xfrm>
            <a:off x="4180524" y="1631156"/>
            <a:ext cx="3637598" cy="2963466"/>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6"/>
          <p:cNvSpPr>
            <a:spLocks noGrp="1"/>
          </p:cNvSpPr>
          <p:nvPr>
            <p:ph type="dt" sz="half" idx="10"/>
          </p:nvPr>
        </p:nvSpPr>
        <p:spPr/>
        <p:txBody>
          <a:bodyPr/>
          <a:lstStyle/>
          <a:p>
            <a:fld id="{FBC24F89-8A4A-4667-ACA3-D44E384795DF}" type="datetime1">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0980034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Date Placeholder 2"/>
          <p:cNvSpPr>
            <a:spLocks noGrp="1"/>
          </p:cNvSpPr>
          <p:nvPr>
            <p:ph type="dt" sz="half" idx="10"/>
          </p:nvPr>
        </p:nvSpPr>
        <p:spPr/>
        <p:txBody>
          <a:bodyPr/>
          <a:lstStyle/>
          <a:p>
            <a:fld id="{8A613FE4-A8B1-43D2-900A-0789A75D843A}" type="datetime1">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497908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E2B1E2-CA70-4E33-B1AB-E13FFAB976F0}" type="datetime1">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1289164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11481" y="204787"/>
            <a:ext cx="2707482" cy="871538"/>
          </a:xfrm>
        </p:spPr>
        <p:txBody>
          <a:bodyPr anchor="b"/>
          <a:lstStyle>
            <a:lvl1pPr algn="l">
              <a:defRPr sz="1800" b="1"/>
            </a:lvl1pPr>
          </a:lstStyle>
          <a:p>
            <a:r>
              <a:rPr lang="en-US" altLang="zh-CN"/>
              <a:t>Click to edit Master title style</a:t>
            </a:r>
            <a:endParaRPr lang="en-US"/>
          </a:p>
        </p:txBody>
      </p:sp>
      <p:sp>
        <p:nvSpPr>
          <p:cNvPr id="3" name="Content Placeholder 2"/>
          <p:cNvSpPr>
            <a:spLocks noGrp="1"/>
          </p:cNvSpPr>
          <p:nvPr>
            <p:ph idx="1"/>
          </p:nvPr>
        </p:nvSpPr>
        <p:spPr>
          <a:xfrm>
            <a:off x="3217545" y="204789"/>
            <a:ext cx="4600575" cy="4389835"/>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Text Placeholder 3"/>
          <p:cNvSpPr>
            <a:spLocks noGrp="1"/>
          </p:cNvSpPr>
          <p:nvPr>
            <p:ph type="body" sz="half" idx="2"/>
          </p:nvPr>
        </p:nvSpPr>
        <p:spPr>
          <a:xfrm>
            <a:off x="411481" y="1076327"/>
            <a:ext cx="2707482" cy="351829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3E20A27F-A940-4DB1-BFA3-6B00386BFBB8}"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7165486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13059" y="3600450"/>
            <a:ext cx="4937760" cy="425054"/>
          </a:xfrm>
        </p:spPr>
        <p:txBody>
          <a:bodyPr anchor="b"/>
          <a:lstStyle>
            <a:lvl1pPr algn="l">
              <a:defRPr sz="1800" b="1"/>
            </a:lvl1pPr>
          </a:lstStyle>
          <a:p>
            <a:r>
              <a:rPr lang="en-US" altLang="zh-CN"/>
              <a:t>Click to edit Master title style</a:t>
            </a:r>
            <a:endParaRPr lang="en-US"/>
          </a:p>
        </p:txBody>
      </p:sp>
      <p:sp>
        <p:nvSpPr>
          <p:cNvPr id="3" name="Picture Placeholder 2"/>
          <p:cNvSpPr>
            <a:spLocks noGrp="1"/>
          </p:cNvSpPr>
          <p:nvPr>
            <p:ph type="pic" idx="1"/>
          </p:nvPr>
        </p:nvSpPr>
        <p:spPr>
          <a:xfrm>
            <a:off x="1613059" y="459581"/>
            <a:ext cx="4937760" cy="30861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altLang="zh-CN"/>
              <a:t>Click icon to add picture</a:t>
            </a:r>
            <a:endParaRPr lang="en-US"/>
          </a:p>
        </p:txBody>
      </p:sp>
      <p:sp>
        <p:nvSpPr>
          <p:cNvPr id="4" name="Text Placeholder 3"/>
          <p:cNvSpPr>
            <a:spLocks noGrp="1"/>
          </p:cNvSpPr>
          <p:nvPr>
            <p:ph type="body" sz="half" idx="2"/>
          </p:nvPr>
        </p:nvSpPr>
        <p:spPr>
          <a:xfrm>
            <a:off x="1613059" y="4025504"/>
            <a:ext cx="4937760" cy="603647"/>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FC8B4FF-525C-4739-8620-1BBEF31D3000}" type="datetime1">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0020223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0B66B1A4-BA96-45DD-B69E-04FB88AA18D4}"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5255861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66460" y="205979"/>
            <a:ext cx="1851660" cy="4388644"/>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11480" y="205979"/>
            <a:ext cx="5417820" cy="4388644"/>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10"/>
          </p:nvPr>
        </p:nvSpPr>
        <p:spPr/>
        <p:txBody>
          <a:bodyPr/>
          <a:lstStyle/>
          <a:p>
            <a:fld id="{A986499E-7FB9-4175-B5CC-46A07FADF573}" type="datetime1">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39243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8496581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6653744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7209276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717535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1191312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743982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6154841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67122103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816689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006333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3102618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494262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9/30/2025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1649330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9/30/2025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10741728"/>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13755998"/>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4081754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8404826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1957722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9/30/2025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23735480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9/30/2025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5951389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8255624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9/30/2025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04543606"/>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270797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6.xml"/><Relationship Id="rId3" Type="http://schemas.openxmlformats.org/officeDocument/2006/relationships/slideLayout" Target="../slideLayouts/slideLayout71.xml"/><Relationship Id="rId7" Type="http://schemas.openxmlformats.org/officeDocument/2006/relationships/slideLayout" Target="../slideLayouts/slideLayout75.xml"/><Relationship Id="rId12" Type="http://schemas.openxmlformats.org/officeDocument/2006/relationships/theme" Target="../theme/theme7.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0" Type="http://schemas.openxmlformats.org/officeDocument/2006/relationships/slideLayout" Target="../slideLayouts/slideLayout78.xml"/><Relationship Id="rId4" Type="http://schemas.openxmlformats.org/officeDocument/2006/relationships/slideLayout" Target="../slideLayouts/slideLayout72.xml"/><Relationship Id="rId9" Type="http://schemas.openxmlformats.org/officeDocument/2006/relationships/slideLayout" Target="../slideLayouts/slideLayout7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7.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theme" Target="../theme/theme8.xml"/><Relationship Id="rId2" Type="http://schemas.openxmlformats.org/officeDocument/2006/relationships/slideLayout" Target="../slideLayouts/slideLayout81.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0" Type="http://schemas.openxmlformats.org/officeDocument/2006/relationships/slideLayout" Target="../slideLayouts/slideLayout89.xml"/><Relationship Id="rId4" Type="http://schemas.openxmlformats.org/officeDocument/2006/relationships/slideLayout" Target="../slideLayouts/slideLayout83.xml"/><Relationship Id="rId9" Type="http://schemas.openxmlformats.org/officeDocument/2006/relationships/slideLayout" Target="../slideLayouts/slideLayout8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8.xml"/><Relationship Id="rId13" Type="http://schemas.openxmlformats.org/officeDocument/2006/relationships/theme" Target="../theme/theme9.xml"/><Relationship Id="rId3" Type="http://schemas.openxmlformats.org/officeDocument/2006/relationships/slideLayout" Target="../slideLayouts/slideLayout93.xml"/><Relationship Id="rId7" Type="http://schemas.openxmlformats.org/officeDocument/2006/relationships/slideLayout" Target="../slideLayouts/slideLayout97.xml"/><Relationship Id="rId12" Type="http://schemas.openxmlformats.org/officeDocument/2006/relationships/slideLayout" Target="../slideLayouts/slideLayout102.xml"/><Relationship Id="rId2" Type="http://schemas.openxmlformats.org/officeDocument/2006/relationships/slideLayout" Target="../slideLayouts/slideLayout92.xml"/><Relationship Id="rId1" Type="http://schemas.openxmlformats.org/officeDocument/2006/relationships/slideLayout" Target="../slideLayouts/slideLayout91.xml"/><Relationship Id="rId6" Type="http://schemas.openxmlformats.org/officeDocument/2006/relationships/slideLayout" Target="../slideLayouts/slideLayout96.xml"/><Relationship Id="rId11" Type="http://schemas.openxmlformats.org/officeDocument/2006/relationships/slideLayout" Target="../slideLayouts/slideLayout101.xml"/><Relationship Id="rId5" Type="http://schemas.openxmlformats.org/officeDocument/2006/relationships/slideLayout" Target="../slideLayouts/slideLayout95.xml"/><Relationship Id="rId10" Type="http://schemas.openxmlformats.org/officeDocument/2006/relationships/slideLayout" Target="../slideLayouts/slideLayout100.xml"/><Relationship Id="rId4" Type="http://schemas.openxmlformats.org/officeDocument/2006/relationships/slideLayout" Target="../slideLayouts/slideLayout94.xml"/><Relationship Id="rId9" Type="http://schemas.openxmlformats.org/officeDocument/2006/relationships/slideLayout" Target="../slideLayouts/slideLayout9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FC42EC64-2F82-4549-80F3-4C0D62F7FBE0}" type="datetime1">
              <a:rPr lang="en-US" smtClean="0"/>
              <a:t>9/30/2025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3793058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1E1391E-2A44-4376-9A8A-15039D79744E}" type="datetime1">
              <a:rPr lang="en-US" smtClean="0"/>
              <a:t>9/30/2025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4555058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9/30/2025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19634872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9/30/2025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56534645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45213194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19262616"/>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1480" y="205979"/>
            <a:ext cx="7406640" cy="857250"/>
          </a:xfrm>
          <a:prstGeom prst="rect">
            <a:avLst/>
          </a:prstGeom>
        </p:spPr>
        <p:txBody>
          <a:bodyPr vert="horz" lIns="91440" tIns="45720" rIns="91440" bIns="45720" rtlCol="0" anchor="ctr">
            <a:normAutofit/>
          </a:bodyPr>
          <a:lstStyle/>
          <a:p>
            <a:r>
              <a:rPr lang="en-US" altLang="zh-CN"/>
              <a:t>Click to edit Master title style</a:t>
            </a:r>
            <a:endParaRPr lang="en-US"/>
          </a:p>
        </p:txBody>
      </p:sp>
      <p:sp>
        <p:nvSpPr>
          <p:cNvPr id="3" name="Text Placeholder 2"/>
          <p:cNvSpPr>
            <a:spLocks noGrp="1"/>
          </p:cNvSpPr>
          <p:nvPr>
            <p:ph type="body" idx="1"/>
          </p:nvPr>
        </p:nvSpPr>
        <p:spPr>
          <a:xfrm>
            <a:off x="411480" y="1200151"/>
            <a:ext cx="7406640" cy="3394472"/>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3"/>
          <p:cNvSpPr>
            <a:spLocks noGrp="1"/>
          </p:cNvSpPr>
          <p:nvPr>
            <p:ph type="dt" sz="half" idx="2"/>
          </p:nvPr>
        </p:nvSpPr>
        <p:spPr>
          <a:xfrm>
            <a:off x="411480" y="4767263"/>
            <a:ext cx="1920240" cy="273844"/>
          </a:xfrm>
          <a:prstGeom prst="rect">
            <a:avLst/>
          </a:prstGeom>
        </p:spPr>
        <p:txBody>
          <a:bodyPr vert="horz" lIns="91440" tIns="45720" rIns="91440" bIns="45720" rtlCol="0" anchor="ctr"/>
          <a:lstStyle>
            <a:lvl1pPr algn="l">
              <a:defRPr sz="1080">
                <a:solidFill>
                  <a:schemeClr val="tx1">
                    <a:tint val="75000"/>
                  </a:schemeClr>
                </a:solidFill>
              </a:defRPr>
            </a:lvl1pPr>
          </a:lstStyle>
          <a:p>
            <a:fld id="{31E1391E-2A44-4376-9A8A-15039D79744E}" type="datetime1">
              <a:rPr lang="en-US" smtClean="0"/>
              <a:t>9/30/2025</a:t>
            </a:fld>
            <a:endParaRPr lang="en-US"/>
          </a:p>
        </p:txBody>
      </p:sp>
      <p:sp>
        <p:nvSpPr>
          <p:cNvPr id="5" name="Footer Placeholder 4"/>
          <p:cNvSpPr>
            <a:spLocks noGrp="1"/>
          </p:cNvSpPr>
          <p:nvPr>
            <p:ph type="ftr" sz="quarter" idx="3"/>
          </p:nvPr>
        </p:nvSpPr>
        <p:spPr>
          <a:xfrm>
            <a:off x="2811780" y="4767263"/>
            <a:ext cx="2606040" cy="273844"/>
          </a:xfrm>
          <a:prstGeom prst="rect">
            <a:avLst/>
          </a:prstGeom>
        </p:spPr>
        <p:txBody>
          <a:bodyPr vert="horz" lIns="91440" tIns="45720" rIns="91440" bIns="45720" rtlCol="0" anchor="ctr"/>
          <a:lstStyle>
            <a:lvl1pPr algn="ctr">
              <a:defRPr sz="108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897880" y="4767263"/>
            <a:ext cx="1920240" cy="273844"/>
          </a:xfrm>
          <a:prstGeom prst="rect">
            <a:avLst/>
          </a:prstGeom>
        </p:spPr>
        <p:txBody>
          <a:bodyPr vert="horz" lIns="91440" tIns="45720" rIns="91440" bIns="45720" rtlCol="0" anchor="ctr"/>
          <a:lstStyle>
            <a:lvl1pPr algn="r">
              <a:defRPr sz="1080">
                <a:solidFill>
                  <a:schemeClr val="tx1">
                    <a:tint val="75000"/>
                  </a:schemeClr>
                </a:solidFill>
              </a:defRPr>
            </a:lvl1pPr>
          </a:lstStyle>
          <a:p>
            <a:fld id="{127DDC20-79C9-9647-820E-6D40A3D210C3}" type="slidenum">
              <a:rPr lang="en-US" smtClean="0"/>
              <a:pPr/>
              <a:t>‹#›</a:t>
            </a:fld>
            <a:endParaRPr lang="en-US"/>
          </a:p>
        </p:txBody>
      </p:sp>
    </p:spTree>
    <p:extLst>
      <p:ext uri="{BB962C8B-B14F-4D97-AF65-F5344CB8AC3E}">
        <p14:creationId xmlns:p14="http://schemas.microsoft.com/office/powerpoint/2010/main" val="2571246524"/>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hf hdr="0" ftr="0" dt="0"/>
  <p:txStyles>
    <p:titleStyle>
      <a:lvl1pPr algn="ctr" defTabSz="411480" rtl="0" eaLnBrk="1" latinLnBrk="0" hangingPunct="1">
        <a:spcBef>
          <a:spcPct val="0"/>
        </a:spcBef>
        <a:buNone/>
        <a:defRPr sz="3960" kern="1200">
          <a:solidFill>
            <a:schemeClr val="tx1"/>
          </a:solidFill>
          <a:latin typeface="+mj-lt"/>
          <a:ea typeface="+mj-ea"/>
          <a:cs typeface="+mj-cs"/>
        </a:defRPr>
      </a:lvl1pPr>
    </p:titleStyle>
    <p:body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11480" rtl="0" eaLnBrk="1" latinLnBrk="0" hangingPunct="1">
        <a:defRPr sz="1620" kern="1200">
          <a:solidFill>
            <a:schemeClr val="tx1"/>
          </a:solidFill>
          <a:latin typeface="+mn-lt"/>
          <a:ea typeface="+mn-ea"/>
          <a:cs typeface="+mn-cs"/>
        </a:defRPr>
      </a:lvl1pPr>
      <a:lvl2pPr marL="411480" algn="l" defTabSz="411480" rtl="0" eaLnBrk="1" latinLnBrk="0" hangingPunct="1">
        <a:defRPr sz="1620" kern="1200">
          <a:solidFill>
            <a:schemeClr val="tx1"/>
          </a:solidFill>
          <a:latin typeface="+mn-lt"/>
          <a:ea typeface="+mn-ea"/>
          <a:cs typeface="+mn-cs"/>
        </a:defRPr>
      </a:lvl2pPr>
      <a:lvl3pPr marL="822960" algn="l" defTabSz="411480" rtl="0" eaLnBrk="1" latinLnBrk="0" hangingPunct="1">
        <a:defRPr sz="1620" kern="1200">
          <a:solidFill>
            <a:schemeClr val="tx1"/>
          </a:solidFill>
          <a:latin typeface="+mn-lt"/>
          <a:ea typeface="+mn-ea"/>
          <a:cs typeface="+mn-cs"/>
        </a:defRPr>
      </a:lvl3pPr>
      <a:lvl4pPr marL="1234440" algn="l" defTabSz="411480" rtl="0" eaLnBrk="1" latinLnBrk="0" hangingPunct="1">
        <a:defRPr sz="1620" kern="1200">
          <a:solidFill>
            <a:schemeClr val="tx1"/>
          </a:solidFill>
          <a:latin typeface="+mn-lt"/>
          <a:ea typeface="+mn-ea"/>
          <a:cs typeface="+mn-cs"/>
        </a:defRPr>
      </a:lvl4pPr>
      <a:lvl5pPr marL="1645920" algn="l" defTabSz="411480" rtl="0" eaLnBrk="1" latinLnBrk="0" hangingPunct="1">
        <a:defRPr sz="1620" kern="1200">
          <a:solidFill>
            <a:schemeClr val="tx1"/>
          </a:solidFill>
          <a:latin typeface="+mn-lt"/>
          <a:ea typeface="+mn-ea"/>
          <a:cs typeface="+mn-cs"/>
        </a:defRPr>
      </a:lvl5pPr>
      <a:lvl6pPr marL="2057400" algn="l" defTabSz="411480" rtl="0" eaLnBrk="1" latinLnBrk="0" hangingPunct="1">
        <a:defRPr sz="1620" kern="1200">
          <a:solidFill>
            <a:schemeClr val="tx1"/>
          </a:solidFill>
          <a:latin typeface="+mn-lt"/>
          <a:ea typeface="+mn-ea"/>
          <a:cs typeface="+mn-cs"/>
        </a:defRPr>
      </a:lvl6pPr>
      <a:lvl7pPr marL="2468880" algn="l" defTabSz="411480" rtl="0" eaLnBrk="1" latinLnBrk="0" hangingPunct="1">
        <a:defRPr sz="1620" kern="1200">
          <a:solidFill>
            <a:schemeClr val="tx1"/>
          </a:solidFill>
          <a:latin typeface="+mn-lt"/>
          <a:ea typeface="+mn-ea"/>
          <a:cs typeface="+mn-cs"/>
        </a:defRPr>
      </a:lvl7pPr>
      <a:lvl8pPr marL="2880360" algn="l" defTabSz="411480" rtl="0" eaLnBrk="1" latinLnBrk="0" hangingPunct="1">
        <a:defRPr sz="1620" kern="1200">
          <a:solidFill>
            <a:schemeClr val="tx1"/>
          </a:solidFill>
          <a:latin typeface="+mn-lt"/>
          <a:ea typeface="+mn-ea"/>
          <a:cs typeface="+mn-cs"/>
        </a:defRPr>
      </a:lvl8pPr>
      <a:lvl9pPr marL="3291840" algn="l" defTabSz="411480" rtl="0" eaLnBrk="1" latinLnBrk="0" hangingPunct="1">
        <a:defRPr sz="162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222159714"/>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9/30/2025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357980322"/>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4.xml"/><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8.jpg"/><Relationship Id="rId7" Type="http://schemas.openxmlformats.org/officeDocument/2006/relationships/hyperlink" Target="https://droneharmony.com/" TargetMode="External"/><Relationship Id="rId2" Type="http://schemas.openxmlformats.org/officeDocument/2006/relationships/notesSlide" Target="../notesSlides/notesSlide32.xml"/><Relationship Id="rId1" Type="http://schemas.openxmlformats.org/officeDocument/2006/relationships/slideLayout" Target="../slideLayouts/slideLayout4.xml"/><Relationship Id="rId6" Type="http://schemas.openxmlformats.org/officeDocument/2006/relationships/image" Target="../media/image31.jpg"/><Relationship Id="rId5" Type="http://schemas.openxmlformats.org/officeDocument/2006/relationships/image" Target="../media/image30.jpg"/><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jpg"/><Relationship Id="rId7"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jpg"/><Relationship Id="rId4" Type="http://schemas.openxmlformats.org/officeDocument/2006/relationships/image" Target="../media/image34.jpg"/></Relationships>
</file>

<file path=ppt/slides/_rels/slide35.xml.rels><?xml version="1.0" encoding="UTF-8" standalone="yes"?>
<Relationships xmlns="http://schemas.openxmlformats.org/package/2006/relationships"><Relationship Id="rId3" Type="http://schemas.openxmlformats.org/officeDocument/2006/relationships/hyperlink" Target="https://www.jouav.com/blog/applications-of-drones.html" TargetMode="External"/><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a:bodyPr>
          <a:lstStyle/>
          <a:p>
            <a:r>
              <a:rPr lang="en-US" sz="2700" dirty="0">
                <a:solidFill>
                  <a:srgbClr val="FFFFFF"/>
                </a:solidFill>
              </a:rPr>
              <a:t>WEEK 07</a:t>
            </a:r>
            <a:br>
              <a:rPr lang="en-US" sz="2700" dirty="0">
                <a:solidFill>
                  <a:srgbClr val="FFFFFF"/>
                </a:solidFill>
              </a:rPr>
            </a:br>
            <a:r>
              <a:rPr lang="en-US" altLang="zh-CN" sz="2800" dirty="0"/>
              <a:t>drone</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7.1 </a:t>
            </a:r>
            <a:br>
              <a:rPr lang="en-US" sz="4050">
                <a:solidFill>
                  <a:srgbClr val="FFFFFF"/>
                </a:solidFill>
              </a:rPr>
            </a:br>
            <a:r>
              <a:rPr lang="en-US" altLang="zh-CN" sz="4050">
                <a:solidFill>
                  <a:srgbClr val="FFFFFF"/>
                </a:solidFill>
              </a:rPr>
              <a:t>drone</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3201" y="1740396"/>
            <a:ext cx="7863839" cy="2048270"/>
          </a:xfrm>
        </p:spPr>
        <p:txBody>
          <a:bodyPr>
            <a:normAutofit/>
          </a:bodyPr>
          <a:lstStyle/>
          <a:p>
            <a:pPr>
              <a:buFont typeface="Courier New" panose="02070309020205020404" pitchFamily="49" charset="0"/>
              <a:buChar char="o"/>
            </a:pPr>
            <a:r>
              <a:rPr lang="en-US" sz="2800" dirty="0"/>
              <a:t>All drones weight more than .55 pounds must be registered</a:t>
            </a:r>
          </a:p>
          <a:p>
            <a:pPr lvl="1">
              <a:spcBef>
                <a:spcPts val="0"/>
              </a:spcBef>
              <a:buFont typeface="Wingdings" panose="05000000000000000000" pitchFamily="2" charset="2"/>
              <a:buChar char="ü"/>
            </a:pPr>
            <a:r>
              <a:rPr lang="en-US" sz="2000" dirty="0"/>
              <a:t>The only real, valid drone registration site is  </a:t>
            </a:r>
            <a:r>
              <a:rPr lang="en-US" sz="2000" b="1" dirty="0"/>
              <a:t>faadronezone.faa.gov</a:t>
            </a:r>
          </a:p>
          <a:p>
            <a:pPr lvl="1">
              <a:spcBef>
                <a:spcPts val="0"/>
              </a:spcBef>
              <a:buFont typeface="Wingdings" panose="05000000000000000000" pitchFamily="2" charset="2"/>
              <a:buChar char="ü"/>
            </a:pPr>
            <a:r>
              <a:rPr lang="en-US" sz="2000" dirty="0"/>
              <a:t>Any other site purporting to ‘help’ or ‘streamlining’ your registration is fake</a:t>
            </a:r>
          </a:p>
          <a:p>
            <a:pPr marL="0" indent="0">
              <a:buNone/>
            </a:pPr>
            <a:endParaRPr lang="en-US" sz="2800" dirty="0"/>
          </a:p>
          <a:p>
            <a:pPr marL="0" indent="0">
              <a:buNone/>
            </a:pPr>
            <a:endParaRPr lang="en-US" sz="2800" dirty="0"/>
          </a:p>
          <a:p>
            <a:pPr marL="0" indent="0">
              <a:buNone/>
            </a:pP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73654" y="1740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5" name="Picture 4" descr="FAA registration website">
            <a:extLst>
              <a:ext uri="{FF2B5EF4-FFF2-40B4-BE49-F238E27FC236}">
                <a16:creationId xmlns:a16="http://schemas.microsoft.com/office/drawing/2014/main" id="{C35D539F-A81C-4022-99E0-BC32B499FFC1}"/>
              </a:ext>
            </a:extLst>
          </p:cNvPr>
          <p:cNvPicPr>
            <a:picLocks noChangeAspect="1"/>
          </p:cNvPicPr>
          <p:nvPr/>
        </p:nvPicPr>
        <p:blipFill>
          <a:blip r:embed="rId3"/>
          <a:stretch>
            <a:fillRect/>
          </a:stretch>
        </p:blipFill>
        <p:spPr>
          <a:xfrm>
            <a:off x="203201" y="2930019"/>
            <a:ext cx="3548967" cy="1730881"/>
          </a:xfrm>
          <a:prstGeom prst="rect">
            <a:avLst/>
          </a:prstGeom>
        </p:spPr>
      </p:pic>
      <p:pic>
        <p:nvPicPr>
          <p:cNvPr id="6" name="Picture 5">
            <a:extLst>
              <a:ext uri="{FF2B5EF4-FFF2-40B4-BE49-F238E27FC236}">
                <a16:creationId xmlns:a16="http://schemas.microsoft.com/office/drawing/2014/main" id="{C4FFBC2A-5B12-596B-84AA-07DD23FE96A6}"/>
              </a:ext>
            </a:extLst>
          </p:cNvPr>
          <p:cNvPicPr>
            <a:picLocks noChangeAspect="1"/>
          </p:cNvPicPr>
          <p:nvPr/>
        </p:nvPicPr>
        <p:blipFill>
          <a:blip r:embed="rId4"/>
          <a:stretch>
            <a:fillRect/>
          </a:stretch>
        </p:blipFill>
        <p:spPr>
          <a:xfrm>
            <a:off x="3900584" y="3636191"/>
            <a:ext cx="4018039" cy="588591"/>
          </a:xfrm>
          <a:prstGeom prst="rect">
            <a:avLst/>
          </a:prstGeom>
        </p:spPr>
      </p:pic>
    </p:spTree>
    <p:extLst>
      <p:ext uri="{BB962C8B-B14F-4D97-AF65-F5344CB8AC3E}">
        <p14:creationId xmlns:p14="http://schemas.microsoft.com/office/powerpoint/2010/main" val="353029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79" y="1723523"/>
            <a:ext cx="7863839" cy="2048270"/>
          </a:xfrm>
        </p:spPr>
        <p:txBody>
          <a:bodyPr>
            <a:normAutofit/>
          </a:bodyPr>
          <a:lstStyle/>
          <a:p>
            <a:pPr>
              <a:buFont typeface="Courier New" panose="02070309020205020404" pitchFamily="49" charset="0"/>
              <a:buChar char="o"/>
            </a:pPr>
            <a:r>
              <a:rPr lang="en-US" sz="2800" dirty="0"/>
              <a:t>All drones weight more than .55 pounds must be registered</a:t>
            </a:r>
          </a:p>
          <a:p>
            <a:pPr lvl="1">
              <a:spcBef>
                <a:spcPts val="0"/>
              </a:spcBef>
              <a:buFont typeface="Wingdings" panose="05000000000000000000" pitchFamily="2" charset="2"/>
              <a:buChar char="ü"/>
            </a:pPr>
            <a:r>
              <a:rPr lang="en-US" sz="2000" dirty="0"/>
              <a:t>The only real, valid drone registration site is  </a:t>
            </a:r>
            <a:r>
              <a:rPr lang="en-US" sz="2000" b="1" dirty="0"/>
              <a:t>faadronezone.faa.gov</a:t>
            </a:r>
          </a:p>
          <a:p>
            <a:pPr lvl="1">
              <a:spcBef>
                <a:spcPts val="0"/>
              </a:spcBef>
              <a:buFont typeface="Wingdings" panose="05000000000000000000" pitchFamily="2" charset="2"/>
              <a:buChar char="ü"/>
            </a:pPr>
            <a:r>
              <a:rPr lang="en-US" sz="2000" dirty="0"/>
              <a:t>Any other site purporting to ‘help’ or ‘streamlining’ your registration is fake</a:t>
            </a:r>
          </a:p>
          <a:p>
            <a:pPr marL="0" indent="0">
              <a:buNone/>
            </a:pPr>
            <a:endParaRPr lang="en-US" sz="2800" dirty="0"/>
          </a:p>
          <a:p>
            <a:pPr marL="0" indent="0">
              <a:buNone/>
            </a:pPr>
            <a:endParaRPr lang="en-US" sz="2800" dirty="0"/>
          </a:p>
          <a:p>
            <a:pPr marL="0" indent="0">
              <a:buNone/>
            </a:pP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20979" y="16250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9" name="Picture 8">
            <a:extLst>
              <a:ext uri="{FF2B5EF4-FFF2-40B4-BE49-F238E27FC236}">
                <a16:creationId xmlns:a16="http://schemas.microsoft.com/office/drawing/2014/main" id="{7EAB6379-7949-5ED6-027D-C1D9C98267BF}"/>
              </a:ext>
            </a:extLst>
          </p:cNvPr>
          <p:cNvPicPr>
            <a:picLocks noChangeAspect="1"/>
          </p:cNvPicPr>
          <p:nvPr/>
        </p:nvPicPr>
        <p:blipFill>
          <a:blip r:embed="rId3"/>
          <a:stretch>
            <a:fillRect/>
          </a:stretch>
        </p:blipFill>
        <p:spPr>
          <a:xfrm>
            <a:off x="1120170" y="2888191"/>
            <a:ext cx="6361905" cy="2066667"/>
          </a:xfrm>
          <a:prstGeom prst="rect">
            <a:avLst/>
          </a:prstGeom>
        </p:spPr>
      </p:pic>
    </p:spTree>
    <p:extLst>
      <p:ext uri="{BB962C8B-B14F-4D97-AF65-F5344CB8AC3E}">
        <p14:creationId xmlns:p14="http://schemas.microsoft.com/office/powerpoint/2010/main" val="3982049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80" y="1905587"/>
            <a:ext cx="7863839" cy="2048270"/>
          </a:xfrm>
        </p:spPr>
        <p:txBody>
          <a:bodyPr>
            <a:normAutofit lnSpcReduction="10000"/>
          </a:bodyPr>
          <a:lstStyle/>
          <a:p>
            <a:pPr>
              <a:buFont typeface="Courier New" panose="02070309020205020404" pitchFamily="49" charset="0"/>
              <a:buChar char="o"/>
            </a:pPr>
            <a:r>
              <a:rPr lang="en-US" sz="2800" dirty="0"/>
              <a:t>You must have a drone license</a:t>
            </a:r>
          </a:p>
          <a:p>
            <a:pPr lvl="1">
              <a:buFont typeface="Wingdings" panose="05000000000000000000" pitchFamily="2" charset="2"/>
              <a:buChar char="ü"/>
            </a:pPr>
            <a:r>
              <a:rPr lang="en-US" sz="2440" dirty="0"/>
              <a:t>Have passed the Part 107 aeronautical knowledge test (Airspace, radio communication, remote operation, weather theory, sectional charts, and so on. 60 Questions, 70% to pass)</a:t>
            </a:r>
          </a:p>
          <a:p>
            <a:pPr>
              <a:buFont typeface="Courier New" panose="02070309020205020404" pitchFamily="49" charset="0"/>
              <a:buChar char="o"/>
            </a:pPr>
            <a:endParaRPr lang="en-US" sz="2800" dirty="0"/>
          </a:p>
          <a:p>
            <a:pPr marL="0" indent="0">
              <a:buNone/>
            </a:pPr>
            <a:endParaRPr lang="en-US" sz="2800" dirty="0"/>
          </a:p>
          <a:p>
            <a:pPr marL="0" indent="0">
              <a:buNone/>
            </a:pPr>
            <a:endParaRPr lang="en-US" sz="2800" dirty="0"/>
          </a:p>
          <a:p>
            <a:pPr marL="0" indent="0">
              <a:buNone/>
            </a:pP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5</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20980" y="12837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10" name="Picture 9" descr="Part 107 registration website">
            <a:extLst>
              <a:ext uri="{FF2B5EF4-FFF2-40B4-BE49-F238E27FC236}">
                <a16:creationId xmlns:a16="http://schemas.microsoft.com/office/drawing/2014/main" id="{FC1578B4-CAAE-4203-A13E-2FCE8FCEAE2B}"/>
              </a:ext>
            </a:extLst>
          </p:cNvPr>
          <p:cNvPicPr>
            <a:picLocks noChangeAspect="1"/>
          </p:cNvPicPr>
          <p:nvPr/>
        </p:nvPicPr>
        <p:blipFill>
          <a:blip r:embed="rId3"/>
          <a:stretch>
            <a:fillRect/>
          </a:stretch>
        </p:blipFill>
        <p:spPr>
          <a:xfrm>
            <a:off x="643891" y="2968998"/>
            <a:ext cx="3440430" cy="1900657"/>
          </a:xfrm>
          <a:prstGeom prst="rect">
            <a:avLst/>
          </a:prstGeom>
        </p:spPr>
      </p:pic>
      <p:pic>
        <p:nvPicPr>
          <p:cNvPr id="12" name="Picture 11" descr="Part 107 schedule card">
            <a:extLst>
              <a:ext uri="{FF2B5EF4-FFF2-40B4-BE49-F238E27FC236}">
                <a16:creationId xmlns:a16="http://schemas.microsoft.com/office/drawing/2014/main" id="{AEC48FAD-0E9F-4A4A-837B-37E6D9D2EA41}"/>
              </a:ext>
            </a:extLst>
          </p:cNvPr>
          <p:cNvPicPr>
            <a:picLocks noChangeAspect="1"/>
          </p:cNvPicPr>
          <p:nvPr/>
        </p:nvPicPr>
        <p:blipFill>
          <a:blip r:embed="rId4"/>
          <a:stretch>
            <a:fillRect/>
          </a:stretch>
        </p:blipFill>
        <p:spPr>
          <a:xfrm>
            <a:off x="4385309" y="2968997"/>
            <a:ext cx="3663847" cy="1577603"/>
          </a:xfrm>
          <a:prstGeom prst="rect">
            <a:avLst/>
          </a:prstGeom>
        </p:spPr>
      </p:pic>
    </p:spTree>
    <p:extLst>
      <p:ext uri="{BB962C8B-B14F-4D97-AF65-F5344CB8AC3E}">
        <p14:creationId xmlns:p14="http://schemas.microsoft.com/office/powerpoint/2010/main" val="107891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560" y="1060349"/>
            <a:ext cx="7863839" cy="3880054"/>
          </a:xfrm>
        </p:spPr>
        <p:txBody>
          <a:bodyPr>
            <a:normAutofit/>
          </a:bodyPr>
          <a:lstStyle/>
          <a:p>
            <a:pPr>
              <a:buFont typeface="Courier New" panose="02070309020205020404" pitchFamily="49" charset="0"/>
              <a:buChar char="o"/>
            </a:pPr>
            <a:r>
              <a:rPr lang="en-US" sz="2800" dirty="0"/>
              <a:t>You must have a drone license</a:t>
            </a:r>
            <a:endParaRPr lang="en-US" sz="2440" dirty="0"/>
          </a:p>
          <a:p>
            <a:pPr lvl="1">
              <a:buFont typeface="Wingdings" panose="05000000000000000000" pitchFamily="2" charset="2"/>
              <a:buChar char="ü"/>
            </a:pPr>
            <a:r>
              <a:rPr lang="en-US" sz="2440" dirty="0"/>
              <a:t>Are at least 16 years of age</a:t>
            </a:r>
          </a:p>
          <a:p>
            <a:pPr lvl="1">
              <a:buFont typeface="Wingdings" panose="05000000000000000000" pitchFamily="2" charset="2"/>
              <a:buChar char="ü"/>
            </a:pPr>
            <a:r>
              <a:rPr lang="en-US" sz="2440" dirty="0"/>
              <a:t>Have been vetted by the Transportation Security Administration</a:t>
            </a:r>
          </a:p>
          <a:p>
            <a:pPr lvl="1">
              <a:buFont typeface="Wingdings" panose="05000000000000000000" pitchFamily="2" charset="2"/>
              <a:buChar char="ü"/>
            </a:pPr>
            <a:r>
              <a:rPr lang="en-US" sz="2440" dirty="0"/>
              <a:t>If you are flying as a hobbyist or as part of a public (government) team, Part 107 does not appl</a:t>
            </a:r>
            <a:endParaRPr lang="en-US" sz="2800" dirty="0"/>
          </a:p>
          <a:p>
            <a:pPr marL="0" indent="0">
              <a:buNone/>
            </a:pPr>
            <a:endParaRPr lang="en-US" sz="2800" dirty="0"/>
          </a:p>
          <a:p>
            <a:pPr marL="0" indent="0">
              <a:buNone/>
            </a:pP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6</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40997" y="20309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spTree>
    <p:extLst>
      <p:ext uri="{BB962C8B-B14F-4D97-AF65-F5344CB8AC3E}">
        <p14:creationId xmlns:p14="http://schemas.microsoft.com/office/powerpoint/2010/main" val="2685710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1894" y="1796152"/>
            <a:ext cx="7863839" cy="1508520"/>
          </a:xfrm>
        </p:spPr>
        <p:txBody>
          <a:bodyPr>
            <a:normAutofit fontScale="92500" lnSpcReduction="20000"/>
          </a:bodyPr>
          <a:lstStyle/>
          <a:p>
            <a:pPr>
              <a:buFont typeface="Courier New" panose="02070309020205020404" pitchFamily="49" charset="0"/>
              <a:buChar char="o"/>
            </a:pPr>
            <a:r>
              <a:rPr lang="en-US" sz="2800" dirty="0"/>
              <a:t>You may need authorization near airports</a:t>
            </a:r>
          </a:p>
          <a:p>
            <a:pPr lvl="1">
              <a:buFont typeface="Wingdings" panose="05000000000000000000" pitchFamily="2" charset="2"/>
              <a:buChar char="ü"/>
            </a:pPr>
            <a:r>
              <a:rPr lang="en-US" sz="2080" dirty="0"/>
              <a:t>Controlled airspace: B, C, D, E</a:t>
            </a:r>
          </a:p>
          <a:p>
            <a:pPr lvl="1">
              <a:buFont typeface="Wingdings" panose="05000000000000000000" pitchFamily="2" charset="2"/>
              <a:buChar char="ü"/>
            </a:pPr>
            <a:r>
              <a:rPr lang="en-US" sz="2080" dirty="0"/>
              <a:t>Uncontrolled airspace: G</a:t>
            </a:r>
          </a:p>
          <a:p>
            <a:pPr lvl="1">
              <a:buFont typeface="Wingdings" panose="05000000000000000000" pitchFamily="2" charset="2"/>
              <a:buChar char="ü"/>
            </a:pPr>
            <a:r>
              <a:rPr lang="en-US" sz="2080" dirty="0"/>
              <a:t>B C, D and E surface area: Authorization required</a:t>
            </a:r>
          </a:p>
          <a:p>
            <a:pPr>
              <a:buFont typeface="Courier New" panose="02070309020205020404" pitchFamily="49" charset="0"/>
              <a:buChar char="o"/>
            </a:pPr>
            <a:endParaRPr lang="en-US" sz="2800" dirty="0"/>
          </a:p>
          <a:p>
            <a:pPr marL="0" indent="0">
              <a:buNone/>
            </a:pPr>
            <a:endParaRPr lang="en-US" sz="2800" dirty="0"/>
          </a:p>
          <a:p>
            <a:pPr marL="0" indent="0">
              <a:buNone/>
            </a:pPr>
            <a:endParaRPr lang="en-US" sz="2800" dirty="0"/>
          </a:p>
          <a:p>
            <a:pPr marL="0" indent="0">
              <a:buNone/>
            </a:pP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7</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331894" y="18227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6" name="Google Shape;397;p51" descr="Airspace">
            <a:extLst>
              <a:ext uri="{FF2B5EF4-FFF2-40B4-BE49-F238E27FC236}">
                <a16:creationId xmlns:a16="http://schemas.microsoft.com/office/drawing/2014/main" id="{DF0A3AAA-563E-4E34-A8C9-98D017650188}"/>
              </a:ext>
            </a:extLst>
          </p:cNvPr>
          <p:cNvPicPr preferRelativeResize="0"/>
          <p:nvPr/>
        </p:nvPicPr>
        <p:blipFill rotWithShape="1">
          <a:blip r:embed="rId3">
            <a:alphaModFix/>
          </a:blip>
          <a:srcRect t="1" b="24522"/>
          <a:stretch/>
        </p:blipFill>
        <p:spPr>
          <a:xfrm>
            <a:off x="816043" y="2550412"/>
            <a:ext cx="6673713" cy="2490695"/>
          </a:xfrm>
          <a:prstGeom prst="rect">
            <a:avLst/>
          </a:prstGeom>
          <a:noFill/>
          <a:ln>
            <a:noFill/>
          </a:ln>
        </p:spPr>
      </p:pic>
    </p:spTree>
    <p:extLst>
      <p:ext uri="{BB962C8B-B14F-4D97-AF65-F5344CB8AC3E}">
        <p14:creationId xmlns:p14="http://schemas.microsoft.com/office/powerpoint/2010/main" val="2818754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79" y="965563"/>
            <a:ext cx="7863839" cy="1508520"/>
          </a:xfrm>
        </p:spPr>
        <p:txBody>
          <a:bodyPr>
            <a:normAutofit/>
          </a:bodyPr>
          <a:lstStyle/>
          <a:p>
            <a:pPr>
              <a:buFont typeface="Courier New" panose="02070309020205020404" pitchFamily="49" charset="0"/>
              <a:buChar char="o"/>
            </a:pPr>
            <a:r>
              <a:rPr lang="en-US" sz="2800" dirty="0"/>
              <a:t>You may need authorization near airports</a:t>
            </a:r>
          </a:p>
          <a:p>
            <a:pPr lvl="1">
              <a:buFont typeface="Wingdings" panose="05000000000000000000" pitchFamily="2" charset="2"/>
              <a:buChar char="ü"/>
            </a:pPr>
            <a:r>
              <a:rPr lang="en-US" sz="2080" dirty="0"/>
              <a:t>Authorization are applied through FAA not less than 90 days before the planned operations</a:t>
            </a: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8</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347133" y="23086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6" name="Google Shape;397;p51" descr="Airsapce">
            <a:extLst>
              <a:ext uri="{FF2B5EF4-FFF2-40B4-BE49-F238E27FC236}">
                <a16:creationId xmlns:a16="http://schemas.microsoft.com/office/drawing/2014/main" id="{DF0A3AAA-563E-4E34-A8C9-98D017650188}"/>
              </a:ext>
            </a:extLst>
          </p:cNvPr>
          <p:cNvPicPr preferRelativeResize="0"/>
          <p:nvPr/>
        </p:nvPicPr>
        <p:blipFill rotWithShape="1">
          <a:blip r:embed="rId3">
            <a:alphaModFix/>
          </a:blip>
          <a:srcRect t="1" b="24522"/>
          <a:stretch/>
        </p:blipFill>
        <p:spPr>
          <a:xfrm>
            <a:off x="816043" y="2550412"/>
            <a:ext cx="6673713" cy="2490695"/>
          </a:xfrm>
          <a:prstGeom prst="rect">
            <a:avLst/>
          </a:prstGeom>
          <a:noFill/>
          <a:ln>
            <a:noFill/>
          </a:ln>
        </p:spPr>
      </p:pic>
    </p:spTree>
    <p:extLst>
      <p:ext uri="{BB962C8B-B14F-4D97-AF65-F5344CB8AC3E}">
        <p14:creationId xmlns:p14="http://schemas.microsoft.com/office/powerpoint/2010/main" val="3585749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991219"/>
            <a:ext cx="7863839" cy="1508520"/>
          </a:xfrm>
        </p:spPr>
        <p:txBody>
          <a:bodyPr>
            <a:normAutofit fontScale="92500" lnSpcReduction="10000"/>
          </a:bodyPr>
          <a:lstStyle/>
          <a:p>
            <a:pPr>
              <a:buFont typeface="Courier New" panose="02070309020205020404" pitchFamily="49" charset="0"/>
              <a:buChar char="o"/>
            </a:pPr>
            <a:r>
              <a:rPr lang="en-US" sz="2800" dirty="0"/>
              <a:t>No flying above 400 ft AGL</a:t>
            </a:r>
          </a:p>
          <a:p>
            <a:pPr lvl="1">
              <a:buFont typeface="Wingdings" panose="05000000000000000000" pitchFamily="2" charset="2"/>
              <a:buChar char="ü"/>
            </a:pPr>
            <a:r>
              <a:rPr lang="en-US" sz="2080" dirty="0"/>
              <a:t>With some exceptions</a:t>
            </a:r>
          </a:p>
          <a:p>
            <a:pPr lvl="1">
              <a:buFont typeface="Wingdings" panose="05000000000000000000" pitchFamily="2" charset="2"/>
              <a:buChar char="ü"/>
            </a:pPr>
            <a:r>
              <a:rPr lang="en-US" sz="2080" dirty="0"/>
              <a:t>If you are already higher than 400 feet (e.g., on top of building), you must remain within 400 feet of the structure in any direction</a:t>
            </a: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9</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65490" y="14439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6" name="Google Shape;397;p51" descr="Airspace">
            <a:extLst>
              <a:ext uri="{FF2B5EF4-FFF2-40B4-BE49-F238E27FC236}">
                <a16:creationId xmlns:a16="http://schemas.microsoft.com/office/drawing/2014/main" id="{DF0A3AAA-563E-4E34-A8C9-98D017650188}"/>
              </a:ext>
            </a:extLst>
          </p:cNvPr>
          <p:cNvPicPr preferRelativeResize="0"/>
          <p:nvPr/>
        </p:nvPicPr>
        <p:blipFill rotWithShape="1">
          <a:blip r:embed="rId3">
            <a:alphaModFix/>
          </a:blip>
          <a:srcRect t="1" b="24522"/>
          <a:stretch/>
        </p:blipFill>
        <p:spPr>
          <a:xfrm>
            <a:off x="816043" y="2550412"/>
            <a:ext cx="6673713" cy="2490695"/>
          </a:xfrm>
          <a:prstGeom prst="rect">
            <a:avLst/>
          </a:prstGeom>
          <a:noFill/>
          <a:ln>
            <a:noFill/>
          </a:ln>
        </p:spPr>
      </p:pic>
    </p:spTree>
    <p:extLst>
      <p:ext uri="{BB962C8B-B14F-4D97-AF65-F5344CB8AC3E}">
        <p14:creationId xmlns:p14="http://schemas.microsoft.com/office/powerpoint/2010/main" val="1003747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560" y="1063230"/>
            <a:ext cx="7863839" cy="1508520"/>
          </a:xfrm>
        </p:spPr>
        <p:txBody>
          <a:bodyPr>
            <a:normAutofit fontScale="92500" lnSpcReduction="10000"/>
          </a:bodyPr>
          <a:lstStyle/>
          <a:p>
            <a:pPr>
              <a:buFont typeface="Courier New" panose="02070309020205020404" pitchFamily="49" charset="0"/>
              <a:buChar char="o"/>
            </a:pPr>
            <a:r>
              <a:rPr lang="en-US" sz="2800" dirty="0"/>
              <a:t>No flying beyond visual line of sight (VLOS)</a:t>
            </a:r>
          </a:p>
          <a:p>
            <a:pPr lvl="1">
              <a:buFont typeface="Wingdings" panose="05000000000000000000" pitchFamily="2" charset="2"/>
              <a:buChar char="ü"/>
            </a:pPr>
            <a:r>
              <a:rPr lang="en-US" sz="1900" dirty="0"/>
              <a:t>You must be able to see and assess risk at all times during the flight</a:t>
            </a:r>
          </a:p>
          <a:p>
            <a:pPr lvl="1">
              <a:buFont typeface="Wingdings" panose="05000000000000000000" pitchFamily="2" charset="2"/>
              <a:buChar char="ü"/>
            </a:pPr>
            <a:r>
              <a:rPr lang="en-US" sz="1900" dirty="0"/>
              <a:t>If you can’t see the sky around the drone, or the ground below the drone, you’re not within visual line of sight</a:t>
            </a: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10</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162560" y="1627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9" name="Google Shape;231;p28" descr="VLOS definision">
            <a:extLst>
              <a:ext uri="{FF2B5EF4-FFF2-40B4-BE49-F238E27FC236}">
                <a16:creationId xmlns:a16="http://schemas.microsoft.com/office/drawing/2014/main" id="{A535D8CD-29B6-4849-A34D-6C022186BA42}"/>
              </a:ext>
            </a:extLst>
          </p:cNvPr>
          <p:cNvPicPr preferRelativeResize="0"/>
          <p:nvPr/>
        </p:nvPicPr>
        <p:blipFill>
          <a:blip r:embed="rId3">
            <a:alphaModFix/>
          </a:blip>
          <a:stretch>
            <a:fillRect/>
          </a:stretch>
        </p:blipFill>
        <p:spPr>
          <a:xfrm>
            <a:off x="3822699" y="2571750"/>
            <a:ext cx="3822701" cy="2528668"/>
          </a:xfrm>
          <a:prstGeom prst="rect">
            <a:avLst/>
          </a:prstGeom>
          <a:noFill/>
          <a:ln>
            <a:noFill/>
          </a:ln>
        </p:spPr>
      </p:pic>
      <p:sp>
        <p:nvSpPr>
          <p:cNvPr id="10" name="Google Shape;232;p28">
            <a:extLst>
              <a:ext uri="{FF2B5EF4-FFF2-40B4-BE49-F238E27FC236}">
                <a16:creationId xmlns:a16="http://schemas.microsoft.com/office/drawing/2014/main" id="{F0B9A7AE-5303-4033-BDFE-737E143B0A6B}"/>
              </a:ext>
            </a:extLst>
          </p:cNvPr>
          <p:cNvSpPr txBox="1"/>
          <p:nvPr/>
        </p:nvSpPr>
        <p:spPr>
          <a:xfrm>
            <a:off x="118533" y="2843399"/>
            <a:ext cx="3606800" cy="2020697"/>
          </a:xfrm>
          <a:prstGeom prst="rect">
            <a:avLst/>
          </a:prstGeom>
          <a:solidFill>
            <a:schemeClr val="accent2"/>
          </a:solid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GB" sz="1200" dirty="0">
                <a:solidFill>
                  <a:schemeClr val="lt1"/>
                </a:solidFill>
              </a:rPr>
              <a:t>Visual line of sight (107.31) is defined by being able to:</a:t>
            </a:r>
            <a:endParaRPr sz="1200" dirty="0">
              <a:solidFill>
                <a:schemeClr val="lt1"/>
              </a:solidFill>
            </a:endParaRPr>
          </a:p>
          <a:p>
            <a:pPr marL="0" lvl="0" indent="0" algn="l" rtl="0">
              <a:lnSpc>
                <a:spcPct val="100000"/>
              </a:lnSpc>
              <a:spcBef>
                <a:spcPts val="500"/>
              </a:spcBef>
              <a:spcAft>
                <a:spcPts val="0"/>
              </a:spcAft>
              <a:buNone/>
            </a:pPr>
            <a:r>
              <a:rPr lang="en-GB" sz="1000" dirty="0">
                <a:solidFill>
                  <a:schemeClr val="lt1"/>
                </a:solidFill>
              </a:rPr>
              <a:t>1.Know the unmanned aircraft’s location;</a:t>
            </a:r>
            <a:endParaRPr sz="1000" dirty="0">
              <a:solidFill>
                <a:schemeClr val="lt1"/>
              </a:solidFill>
            </a:endParaRPr>
          </a:p>
          <a:p>
            <a:pPr marL="0" lvl="0" indent="0" algn="l" rtl="0">
              <a:lnSpc>
                <a:spcPct val="100000"/>
              </a:lnSpc>
              <a:spcBef>
                <a:spcPts val="500"/>
              </a:spcBef>
              <a:spcAft>
                <a:spcPts val="0"/>
              </a:spcAft>
              <a:buNone/>
            </a:pPr>
            <a:r>
              <a:rPr lang="en-GB" sz="1000" dirty="0">
                <a:solidFill>
                  <a:schemeClr val="lt1"/>
                </a:solidFill>
              </a:rPr>
              <a:t>2.Determine the unmanned aircraft’s attitude, altitude and direction of flight;</a:t>
            </a:r>
            <a:endParaRPr sz="1000" dirty="0">
              <a:solidFill>
                <a:schemeClr val="lt1"/>
              </a:solidFill>
            </a:endParaRPr>
          </a:p>
          <a:p>
            <a:pPr marL="0" lvl="0" indent="0" algn="l" rtl="0">
              <a:lnSpc>
                <a:spcPct val="100000"/>
              </a:lnSpc>
              <a:spcBef>
                <a:spcPts val="500"/>
              </a:spcBef>
              <a:spcAft>
                <a:spcPts val="0"/>
              </a:spcAft>
              <a:buNone/>
            </a:pPr>
            <a:r>
              <a:rPr lang="en-GB" sz="1000" dirty="0">
                <a:solidFill>
                  <a:schemeClr val="lt1"/>
                </a:solidFill>
              </a:rPr>
              <a:t>3.Observe the airspace for other air traffic or hazards</a:t>
            </a:r>
            <a:endParaRPr sz="1000" dirty="0">
              <a:solidFill>
                <a:schemeClr val="lt1"/>
              </a:solidFill>
            </a:endParaRPr>
          </a:p>
          <a:p>
            <a:pPr marL="0" lvl="0" indent="0" algn="l" rtl="0">
              <a:lnSpc>
                <a:spcPct val="100000"/>
              </a:lnSpc>
              <a:spcBef>
                <a:spcPts val="500"/>
              </a:spcBef>
              <a:spcAft>
                <a:spcPts val="0"/>
              </a:spcAft>
              <a:buNone/>
            </a:pPr>
            <a:r>
              <a:rPr lang="en-GB" sz="1000" dirty="0">
                <a:solidFill>
                  <a:schemeClr val="lt1"/>
                </a:solidFill>
              </a:rPr>
              <a:t>4.Determine that the unmanned aircraft does not endanger the life or property of another</a:t>
            </a:r>
            <a:endParaRPr sz="1000" dirty="0">
              <a:solidFill>
                <a:schemeClr val="lt1"/>
              </a:solidFill>
            </a:endParaRPr>
          </a:p>
          <a:p>
            <a:pPr marL="0" lvl="0" indent="0" algn="l" rtl="0">
              <a:spcBef>
                <a:spcPts val="0"/>
              </a:spcBef>
              <a:spcAft>
                <a:spcPts val="0"/>
              </a:spcAft>
              <a:buNone/>
            </a:pPr>
            <a:endParaRPr dirty="0">
              <a:solidFill>
                <a:schemeClr val="lt1"/>
              </a:solidFill>
              <a:latin typeface="Lato"/>
              <a:ea typeface="Lato"/>
              <a:cs typeface="Lato"/>
              <a:sym typeface="Lato"/>
            </a:endParaRPr>
          </a:p>
        </p:txBody>
      </p:sp>
    </p:spTree>
    <p:extLst>
      <p:ext uri="{BB962C8B-B14F-4D97-AF65-F5344CB8AC3E}">
        <p14:creationId xmlns:p14="http://schemas.microsoft.com/office/powerpoint/2010/main" val="2602415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5490" y="931665"/>
            <a:ext cx="7863839" cy="1661023"/>
          </a:xfrm>
        </p:spPr>
        <p:txBody>
          <a:bodyPr>
            <a:normAutofit/>
          </a:bodyPr>
          <a:lstStyle/>
          <a:p>
            <a:pPr>
              <a:buFont typeface="Courier New" panose="02070309020205020404" pitchFamily="49" charset="0"/>
              <a:buChar char="o"/>
            </a:pPr>
            <a:r>
              <a:rPr lang="en-US" sz="2800" dirty="0"/>
              <a:t>No flying over people</a:t>
            </a:r>
          </a:p>
          <a:p>
            <a:pPr lvl="1">
              <a:buFont typeface="Wingdings" panose="05000000000000000000" pitchFamily="2" charset="2"/>
              <a:buChar char="ü"/>
            </a:pPr>
            <a:r>
              <a:rPr lang="en-US" sz="2080" dirty="0"/>
              <a:t>Unless they are part of team</a:t>
            </a:r>
          </a:p>
          <a:p>
            <a:pPr lvl="1">
              <a:buFont typeface="Wingdings" panose="05000000000000000000" pitchFamily="2" charset="2"/>
              <a:buChar char="ü"/>
            </a:pPr>
            <a:r>
              <a:rPr lang="en-US" sz="2080" dirty="0"/>
              <a:t>The drone must not put anyone at risk if the drone was to fall</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11</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65490" y="20598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pic>
        <p:nvPicPr>
          <p:cNvPr id="9" name="Google Shape;239;p29" descr="Flying example">
            <a:extLst>
              <a:ext uri="{FF2B5EF4-FFF2-40B4-BE49-F238E27FC236}">
                <a16:creationId xmlns:a16="http://schemas.microsoft.com/office/drawing/2014/main" id="{5B0E7667-D944-42DF-AC6F-92C8717C0551}"/>
              </a:ext>
            </a:extLst>
          </p:cNvPr>
          <p:cNvPicPr preferRelativeResize="0"/>
          <p:nvPr/>
        </p:nvPicPr>
        <p:blipFill>
          <a:blip r:embed="rId3">
            <a:alphaModFix/>
          </a:blip>
          <a:stretch>
            <a:fillRect/>
          </a:stretch>
        </p:blipFill>
        <p:spPr>
          <a:xfrm>
            <a:off x="1873300" y="2431614"/>
            <a:ext cx="4210000" cy="2547396"/>
          </a:xfrm>
          <a:prstGeom prst="rect">
            <a:avLst/>
          </a:prstGeom>
          <a:noFill/>
          <a:ln>
            <a:noFill/>
          </a:ln>
        </p:spPr>
      </p:pic>
    </p:spTree>
    <p:extLst>
      <p:ext uri="{BB962C8B-B14F-4D97-AF65-F5344CB8AC3E}">
        <p14:creationId xmlns:p14="http://schemas.microsoft.com/office/powerpoint/2010/main" val="3570936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2880" y="932134"/>
            <a:ext cx="7863839" cy="4022724"/>
          </a:xfrm>
        </p:spPr>
        <p:txBody>
          <a:bodyPr>
            <a:normAutofit lnSpcReduction="10000"/>
          </a:bodyPr>
          <a:lstStyle/>
          <a:p>
            <a:pPr>
              <a:buFont typeface="Courier New" panose="02070309020205020404" pitchFamily="49" charset="0"/>
              <a:buChar char="o"/>
            </a:pPr>
            <a:r>
              <a:rPr lang="en-US" sz="2800" dirty="0"/>
              <a:t>The person operating the drone controls must hold a remote pilot certificate, or be under the direct supervision of, and within close proximity to, someone who does.</a:t>
            </a:r>
          </a:p>
          <a:p>
            <a:pPr>
              <a:buFont typeface="Courier New" panose="02070309020205020404" pitchFamily="49" charset="0"/>
              <a:buChar char="o"/>
            </a:pPr>
            <a:r>
              <a:rPr lang="en-US" sz="2800" dirty="0"/>
              <a:t>A remote pilot must have his/her pilot certificate on his/her person or within easy access while acting as Pilot in Command. A remote pilot must also be able to show 24-calendar month recurrency.</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12</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306311" y="14305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spTree>
    <p:extLst>
      <p:ext uri="{BB962C8B-B14F-4D97-AF65-F5344CB8AC3E}">
        <p14:creationId xmlns:p14="http://schemas.microsoft.com/office/powerpoint/2010/main" val="4281187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560" y="1063230"/>
            <a:ext cx="7863839" cy="4037187"/>
          </a:xfrm>
        </p:spPr>
        <p:txBody>
          <a:bodyPr>
            <a:normAutofit lnSpcReduction="10000"/>
          </a:bodyPr>
          <a:lstStyle/>
          <a:p>
            <a:pPr>
              <a:buFont typeface="Courier New" panose="02070309020205020404" pitchFamily="49" charset="0"/>
              <a:buChar char="o"/>
            </a:pPr>
            <a:r>
              <a:rPr lang="en-US" sz="2800" dirty="0"/>
              <a:t>If you change your permanent address you must notify the FAA Airman Certification branch of the new address within 30 days</a:t>
            </a:r>
          </a:p>
          <a:p>
            <a:pPr>
              <a:buFont typeface="Courier New" panose="02070309020205020404" pitchFamily="49" charset="0"/>
              <a:buChar char="o"/>
            </a:pPr>
            <a:r>
              <a:rPr lang="en-US" sz="2800" dirty="0"/>
              <a:t>You may choose to use a Visual Observer (VO) to supplement situational awareness</a:t>
            </a:r>
          </a:p>
          <a:p>
            <a:pPr>
              <a:buFont typeface="Courier New" panose="02070309020205020404" pitchFamily="49" charset="0"/>
              <a:buChar char="o"/>
            </a:pPr>
            <a:r>
              <a:rPr lang="en-US" sz="2800" dirty="0"/>
              <a:t>You must report to the FAA within 10 calendar days of any operation that results in serious injury, loss of consciousness, or property damage of $500 or more</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13</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65490" y="13582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spTree>
    <p:extLst>
      <p:ext uri="{BB962C8B-B14F-4D97-AF65-F5344CB8AC3E}">
        <p14:creationId xmlns:p14="http://schemas.microsoft.com/office/powerpoint/2010/main" val="375725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9561" y="969982"/>
            <a:ext cx="7863839" cy="4059217"/>
          </a:xfrm>
        </p:spPr>
        <p:txBody>
          <a:bodyPr>
            <a:normAutofit/>
          </a:bodyPr>
          <a:lstStyle/>
          <a:p>
            <a:pPr>
              <a:buFont typeface="Courier New" panose="02070309020205020404" pitchFamily="49" charset="0"/>
              <a:buChar char="o"/>
            </a:pPr>
            <a:r>
              <a:rPr lang="en-US" sz="2800" dirty="0"/>
              <a:t>You must give way to any manned aircraft. Do not fly under unmanned balloons</a:t>
            </a:r>
          </a:p>
          <a:p>
            <a:pPr>
              <a:buFont typeface="Courier New" panose="02070309020205020404" pitchFamily="49" charset="0"/>
              <a:buChar char="o"/>
            </a:pPr>
            <a:r>
              <a:rPr lang="en-US" sz="2800" dirty="0"/>
              <a:t>You must only fly one drone at a time</a:t>
            </a:r>
          </a:p>
          <a:p>
            <a:pPr>
              <a:buFont typeface="Courier New" panose="02070309020205020404" pitchFamily="49" charset="0"/>
              <a:buChar char="o"/>
            </a:pPr>
            <a:r>
              <a:rPr lang="en-US" sz="2800" dirty="0"/>
              <a:t>You may not fly faster than 100 mph</a:t>
            </a:r>
          </a:p>
          <a:p>
            <a:pPr>
              <a:buFont typeface="Courier New" panose="02070309020205020404" pitchFamily="49" charset="0"/>
              <a:buChar char="o"/>
            </a:pPr>
            <a:r>
              <a:rPr lang="en-US" sz="2800" dirty="0"/>
              <a:t>You may not operate the drone from a moving aircraft, but you may operate the drone from a moving vehicle if you are flying over a sparsely populated area </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14</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89561" y="21453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spTree>
    <p:extLst>
      <p:ext uri="{BB962C8B-B14F-4D97-AF65-F5344CB8AC3E}">
        <p14:creationId xmlns:p14="http://schemas.microsoft.com/office/powerpoint/2010/main" val="2973535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980" y="1126311"/>
            <a:ext cx="7863839" cy="3443067"/>
          </a:xfrm>
        </p:spPr>
        <p:txBody>
          <a:bodyPr>
            <a:normAutofit/>
          </a:bodyPr>
          <a:lstStyle/>
          <a:p>
            <a:pPr>
              <a:buFont typeface="Courier New" panose="02070309020205020404" pitchFamily="49" charset="0"/>
              <a:buChar char="o"/>
            </a:pPr>
            <a:r>
              <a:rPr lang="en-US" sz="2800" dirty="0"/>
              <a:t>You may not fly recklessly or in any way that endangers the life or property of another person</a:t>
            </a:r>
          </a:p>
          <a:p>
            <a:pPr>
              <a:buFont typeface="Courier New" panose="02070309020205020404" pitchFamily="49" charset="0"/>
              <a:buChar char="o"/>
            </a:pPr>
            <a:r>
              <a:rPr lang="en-US" sz="2800" dirty="0"/>
              <a:t>You may not fly if you are tired, mentally or physically impaired</a:t>
            </a:r>
          </a:p>
          <a:p>
            <a:pPr>
              <a:buFont typeface="Courier New" panose="02070309020205020404" pitchFamily="49" charset="0"/>
              <a:buChar char="o"/>
            </a:pPr>
            <a:r>
              <a:rPr lang="en-US" sz="2800" dirty="0"/>
              <a:t>You may not fly if you have consumed alcohol within the prior 8 hours, or with a blood alcohol content of 0.04% or greater</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15</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338968" y="167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spTree>
    <p:extLst>
      <p:ext uri="{BB962C8B-B14F-4D97-AF65-F5344CB8AC3E}">
        <p14:creationId xmlns:p14="http://schemas.microsoft.com/office/powerpoint/2010/main" val="203843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560" y="1063230"/>
            <a:ext cx="7863839" cy="4037188"/>
          </a:xfrm>
        </p:spPr>
        <p:txBody>
          <a:bodyPr>
            <a:normAutofit lnSpcReduction="10000"/>
          </a:bodyPr>
          <a:lstStyle/>
          <a:p>
            <a:pPr>
              <a:buFont typeface="Courier New" panose="02070309020205020404" pitchFamily="49" charset="0"/>
              <a:buChar char="o"/>
            </a:pPr>
            <a:r>
              <a:rPr lang="en-US" sz="2800" dirty="0"/>
              <a:t>You may fly during civil twilight or night with appropriate anti-collision lighting, visible for at least 3 statute miles</a:t>
            </a:r>
          </a:p>
          <a:p>
            <a:pPr>
              <a:buFont typeface="Courier New" panose="02070309020205020404" pitchFamily="49" charset="0"/>
              <a:buChar char="o"/>
            </a:pPr>
            <a:r>
              <a:rPr lang="en-US" sz="2800" dirty="0"/>
              <a:t>Civil twilight is defined as 30 minutes before official sunrise and 30 minutes after official sunset. Night is defined as the period between the end of evening civil twilight and beginning of morning civil twilight</a:t>
            </a:r>
          </a:p>
          <a:p>
            <a:pPr>
              <a:buFont typeface="Courier New" panose="02070309020205020404" pitchFamily="49" charset="0"/>
              <a:buChar char="o"/>
            </a:pPr>
            <a:r>
              <a:rPr lang="en-US" sz="2800" dirty="0"/>
              <a:t>Night flight may need waiver and has additional requirement of passing a Part 107 after 04/05/2021</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16</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89983" y="1973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spTree>
    <p:extLst>
      <p:ext uri="{BB962C8B-B14F-4D97-AF65-F5344CB8AC3E}">
        <p14:creationId xmlns:p14="http://schemas.microsoft.com/office/powerpoint/2010/main" val="1689350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560" y="1063230"/>
            <a:ext cx="7863839" cy="4037188"/>
          </a:xfrm>
        </p:spPr>
        <p:txBody>
          <a:bodyPr>
            <a:normAutofit lnSpcReduction="10000"/>
          </a:bodyPr>
          <a:lstStyle/>
          <a:p>
            <a:pPr>
              <a:buFont typeface="Courier New" panose="02070309020205020404" pitchFamily="49" charset="0"/>
              <a:buChar char="o"/>
            </a:pPr>
            <a:r>
              <a:rPr lang="en-US" sz="2800" dirty="0"/>
              <a:t>You must have 3 statute miles of visibility</a:t>
            </a:r>
          </a:p>
          <a:p>
            <a:pPr>
              <a:buFont typeface="Courier New" panose="02070309020205020404" pitchFamily="49" charset="0"/>
              <a:buChar char="o"/>
            </a:pPr>
            <a:r>
              <a:rPr lang="en-US" sz="2800" dirty="0"/>
              <a:t>You must remain at least 500 feet below and 2,000 feet horizontally from clouds</a:t>
            </a:r>
          </a:p>
          <a:p>
            <a:pPr>
              <a:buFont typeface="Courier New" panose="02070309020205020404" pitchFamily="49" charset="0"/>
              <a:buChar char="o"/>
            </a:pPr>
            <a:r>
              <a:rPr lang="en-US" sz="2800" dirty="0"/>
              <a:t>You may not fly anywhere that may interfere with the operation of an airport. This includes, but is not limited to, approach corridors, traffic patterns, taxiways, runways, and helipads</a:t>
            </a:r>
          </a:p>
          <a:p>
            <a:pPr>
              <a:buFont typeface="Courier New" panose="02070309020205020404" pitchFamily="49" charset="0"/>
              <a:buChar char="o"/>
            </a:pPr>
            <a:r>
              <a:rPr lang="en-US" sz="2800" dirty="0"/>
              <a:t>The drone plus additional cargo may not weigh 55 pounds or more</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17</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49161" y="1973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Safety and Regulation</a:t>
            </a:r>
            <a:endParaRPr lang="en-US" sz="2600" dirty="0">
              <a:solidFill>
                <a:srgbClr val="7030A0"/>
              </a:solidFill>
            </a:endParaRPr>
          </a:p>
        </p:txBody>
      </p:sp>
    </p:spTree>
    <p:extLst>
      <p:ext uri="{BB962C8B-B14F-4D97-AF65-F5344CB8AC3E}">
        <p14:creationId xmlns:p14="http://schemas.microsoft.com/office/powerpoint/2010/main" val="4216999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056881"/>
            <a:ext cx="4338320" cy="3840955"/>
          </a:xfrm>
        </p:spPr>
        <p:txBody>
          <a:bodyPr>
            <a:normAutofit/>
          </a:bodyPr>
          <a:lstStyle/>
          <a:p>
            <a:pPr>
              <a:buFont typeface="Courier New" panose="02070309020205020404" pitchFamily="49" charset="0"/>
              <a:buChar char="o"/>
            </a:pPr>
            <a:r>
              <a:rPr lang="en-US" sz="2800" dirty="0"/>
              <a:t>DJI Phantom 2</a:t>
            </a:r>
          </a:p>
          <a:p>
            <a:pPr lvl="1">
              <a:buFont typeface="Wingdings" panose="05000000000000000000" pitchFamily="2" charset="2"/>
              <a:buChar char="ü"/>
            </a:pPr>
            <a:r>
              <a:rPr lang="en-US" sz="2000" dirty="0"/>
              <a:t>Is basic and somewhat antiquated</a:t>
            </a:r>
          </a:p>
          <a:p>
            <a:pPr lvl="1">
              <a:buFont typeface="Wingdings" panose="05000000000000000000" pitchFamily="2" charset="2"/>
              <a:buChar char="ü"/>
            </a:pPr>
            <a:r>
              <a:rPr lang="en-US" sz="2000" dirty="0"/>
              <a:t>Cost &lt; $300 (if you can find them)</a:t>
            </a:r>
          </a:p>
          <a:p>
            <a:pPr lvl="1">
              <a:buFont typeface="Wingdings" panose="05000000000000000000" pitchFamily="2" charset="2"/>
              <a:buChar char="ü"/>
            </a:pPr>
            <a:r>
              <a:rPr lang="en-US" sz="2000" dirty="0"/>
              <a:t>Have smart battery</a:t>
            </a:r>
          </a:p>
          <a:p>
            <a:pPr lvl="1">
              <a:buFont typeface="Wingdings" panose="05000000000000000000" pitchFamily="2" charset="2"/>
              <a:buChar char="ü"/>
            </a:pPr>
            <a:r>
              <a:rPr lang="en-US" sz="2000" dirty="0"/>
              <a:t>Have approximately 20 minutes of flight time</a:t>
            </a:r>
          </a:p>
          <a:p>
            <a:pPr lvl="1">
              <a:buFont typeface="Wingdings" panose="05000000000000000000" pitchFamily="2" charset="2"/>
              <a:buChar char="ü"/>
            </a:pPr>
            <a:r>
              <a:rPr lang="en-US" sz="2000" dirty="0"/>
              <a:t>DJI products are prohibited for most federal agencies</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18</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73655" y="1702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Drone</a:t>
            </a:r>
            <a:endParaRPr lang="en-US" sz="2600" dirty="0">
              <a:solidFill>
                <a:srgbClr val="7030A0"/>
              </a:solidFill>
            </a:endParaRPr>
          </a:p>
        </p:txBody>
      </p:sp>
      <p:pic>
        <p:nvPicPr>
          <p:cNvPr id="10" name="Google Shape;132;p16" descr="Drone image">
            <a:extLst>
              <a:ext uri="{FF2B5EF4-FFF2-40B4-BE49-F238E27FC236}">
                <a16:creationId xmlns:a16="http://schemas.microsoft.com/office/drawing/2014/main" id="{F220571E-627C-46C1-99F0-F8FEF0000D0D}"/>
              </a:ext>
            </a:extLst>
          </p:cNvPr>
          <p:cNvPicPr preferRelativeResize="0"/>
          <p:nvPr/>
        </p:nvPicPr>
        <p:blipFill>
          <a:blip r:embed="rId3">
            <a:alphaModFix/>
          </a:blip>
          <a:stretch>
            <a:fillRect/>
          </a:stretch>
        </p:blipFill>
        <p:spPr>
          <a:xfrm>
            <a:off x="4749800" y="1743120"/>
            <a:ext cx="2878374" cy="2158776"/>
          </a:xfrm>
          <a:prstGeom prst="rect">
            <a:avLst/>
          </a:prstGeom>
          <a:noFill/>
          <a:ln>
            <a:noFill/>
          </a:ln>
        </p:spPr>
      </p:pic>
    </p:spTree>
    <p:extLst>
      <p:ext uri="{BB962C8B-B14F-4D97-AF65-F5344CB8AC3E}">
        <p14:creationId xmlns:p14="http://schemas.microsoft.com/office/powerpoint/2010/main" val="245297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8533" y="1056881"/>
            <a:ext cx="4338320" cy="3840955"/>
          </a:xfrm>
        </p:spPr>
        <p:txBody>
          <a:bodyPr>
            <a:normAutofit lnSpcReduction="10000"/>
          </a:bodyPr>
          <a:lstStyle/>
          <a:p>
            <a:pPr>
              <a:buFont typeface="Courier New" panose="02070309020205020404" pitchFamily="49" charset="0"/>
              <a:buChar char="o"/>
            </a:pPr>
            <a:r>
              <a:rPr lang="en-US" sz="2800" dirty="0"/>
              <a:t>DJI Phantom 4 Pro</a:t>
            </a:r>
          </a:p>
          <a:p>
            <a:pPr lvl="1">
              <a:buFont typeface="Wingdings" panose="05000000000000000000" pitchFamily="2" charset="2"/>
              <a:buChar char="ü"/>
            </a:pPr>
            <a:r>
              <a:rPr lang="en-US" sz="2000" dirty="0"/>
              <a:t>Weight 1,380 g</a:t>
            </a:r>
          </a:p>
          <a:p>
            <a:pPr lvl="1">
              <a:buFont typeface="Wingdings" panose="05000000000000000000" pitchFamily="2" charset="2"/>
              <a:buChar char="ü"/>
            </a:pPr>
            <a:r>
              <a:rPr lang="en-US" sz="2000" dirty="0"/>
              <a:t>Cost $1,599 </a:t>
            </a:r>
          </a:p>
          <a:p>
            <a:pPr lvl="1">
              <a:buFont typeface="Wingdings" panose="05000000000000000000" pitchFamily="2" charset="2"/>
              <a:buChar char="ü"/>
            </a:pPr>
            <a:r>
              <a:rPr lang="en-US" sz="2000" dirty="0"/>
              <a:t>Have smart battery</a:t>
            </a:r>
          </a:p>
          <a:p>
            <a:pPr lvl="1">
              <a:buFont typeface="Wingdings" panose="05000000000000000000" pitchFamily="2" charset="2"/>
              <a:buChar char="ü"/>
            </a:pPr>
            <a:r>
              <a:rPr lang="en-US" sz="2000" dirty="0"/>
              <a:t>Have approximately 28 minutes of flight time</a:t>
            </a:r>
          </a:p>
          <a:p>
            <a:pPr lvl="1">
              <a:buFont typeface="Wingdings" panose="05000000000000000000" pitchFamily="2" charset="2"/>
              <a:buChar char="ü"/>
            </a:pPr>
            <a:r>
              <a:rPr lang="en-US" sz="2000" dirty="0"/>
              <a:t>Max transmission distance: 2.2 mi to 3.1 mi</a:t>
            </a:r>
          </a:p>
          <a:p>
            <a:pPr lvl="1">
              <a:buFont typeface="Wingdings" panose="05000000000000000000" pitchFamily="2" charset="2"/>
              <a:buChar char="ü"/>
            </a:pPr>
            <a:r>
              <a:rPr lang="en-US" sz="2000" dirty="0"/>
              <a:t>Satellite positioning systems: GPS/GLONASS</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19</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65490" y="19963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Drone</a:t>
            </a:r>
            <a:endParaRPr lang="en-US" sz="2600" dirty="0">
              <a:solidFill>
                <a:srgbClr val="7030A0"/>
              </a:solidFill>
            </a:endParaRPr>
          </a:p>
        </p:txBody>
      </p:sp>
      <p:pic>
        <p:nvPicPr>
          <p:cNvPr id="4" name="Picture 3" descr="DJI">
            <a:extLst>
              <a:ext uri="{FF2B5EF4-FFF2-40B4-BE49-F238E27FC236}">
                <a16:creationId xmlns:a16="http://schemas.microsoft.com/office/drawing/2014/main" id="{4AD0230B-91A1-1DC9-2392-972D92DA1A76}"/>
              </a:ext>
            </a:extLst>
          </p:cNvPr>
          <p:cNvPicPr>
            <a:picLocks noChangeAspect="1"/>
          </p:cNvPicPr>
          <p:nvPr/>
        </p:nvPicPr>
        <p:blipFill>
          <a:blip r:embed="rId3"/>
          <a:stretch>
            <a:fillRect/>
          </a:stretch>
        </p:blipFill>
        <p:spPr>
          <a:xfrm rot="5400000">
            <a:off x="4766070" y="1646040"/>
            <a:ext cx="3132894" cy="2349671"/>
          </a:xfrm>
          <a:prstGeom prst="rect">
            <a:avLst/>
          </a:prstGeom>
        </p:spPr>
      </p:pic>
    </p:spTree>
    <p:extLst>
      <p:ext uri="{BB962C8B-B14F-4D97-AF65-F5344CB8AC3E}">
        <p14:creationId xmlns:p14="http://schemas.microsoft.com/office/powerpoint/2010/main" val="1187099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2560" y="950084"/>
            <a:ext cx="7871097" cy="4018137"/>
          </a:xfrm>
        </p:spPr>
        <p:txBody>
          <a:bodyPr>
            <a:noAutofit/>
          </a:bodyPr>
          <a:lstStyle/>
          <a:p>
            <a:pPr>
              <a:buFont typeface="Courier New" panose="02070309020205020404" pitchFamily="49" charset="0"/>
              <a:buChar char="o"/>
            </a:pPr>
            <a:r>
              <a:rPr lang="en-US" sz="1600" dirty="0"/>
              <a:t>Conduct a preflight inspection of the drone to make sure it is in a condition for safe operation</a:t>
            </a:r>
          </a:p>
          <a:p>
            <a:pPr>
              <a:buFont typeface="Courier New" panose="02070309020205020404" pitchFamily="49" charset="0"/>
              <a:buChar char="o"/>
            </a:pPr>
            <a:r>
              <a:rPr lang="en-US" sz="1600" dirty="0"/>
              <a:t>Check for all Notices To Airmen (NOTAMs) to determine if there are any applicable airspace restrictions</a:t>
            </a:r>
          </a:p>
          <a:p>
            <a:pPr>
              <a:buFont typeface="Courier New" panose="02070309020205020404" pitchFamily="49" charset="0"/>
              <a:buChar char="o"/>
            </a:pPr>
            <a:r>
              <a:rPr lang="en-US" sz="1600" dirty="0"/>
              <a:t>Conduct an assessment of the operating environment</a:t>
            </a:r>
          </a:p>
          <a:p>
            <a:pPr>
              <a:buFont typeface="Courier New" panose="02070309020205020404" pitchFamily="49" charset="0"/>
              <a:buChar char="o"/>
            </a:pPr>
            <a:r>
              <a:rPr lang="en-US" sz="1600" dirty="0"/>
              <a:t>Obtain local weather information</a:t>
            </a:r>
          </a:p>
          <a:p>
            <a:pPr>
              <a:buFont typeface="Courier New" panose="02070309020205020404" pitchFamily="49" charset="0"/>
              <a:buChar char="o"/>
            </a:pPr>
            <a:r>
              <a:rPr lang="en-US" sz="1600" dirty="0"/>
              <a:t>Obtain local airspace information and restrictions</a:t>
            </a:r>
          </a:p>
          <a:p>
            <a:pPr>
              <a:buFont typeface="Courier New" panose="02070309020205020404" pitchFamily="49" charset="0"/>
              <a:buChar char="o"/>
            </a:pPr>
            <a:r>
              <a:rPr lang="en-US" sz="1600" dirty="0"/>
              <a:t>Locate and access persons and property in the area, as well as all other potential ground hazards</a:t>
            </a:r>
          </a:p>
          <a:p>
            <a:pPr>
              <a:buFont typeface="Courier New" panose="02070309020205020404" pitchFamily="49" charset="0"/>
              <a:buChar char="o"/>
            </a:pPr>
            <a:r>
              <a:rPr lang="en-US" sz="1600" dirty="0"/>
              <a:t>Ensure that all control links between the control system and the drone are working properly</a:t>
            </a:r>
          </a:p>
          <a:p>
            <a:pPr>
              <a:buFont typeface="Courier New" panose="02070309020205020404" pitchFamily="49" charset="0"/>
              <a:buChar char="o"/>
            </a:pPr>
            <a:r>
              <a:rPr lang="en-US" sz="1600" dirty="0"/>
              <a:t>Ensure there is sufficient power to continue flight operations to a normal landing</a:t>
            </a:r>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20</a:t>
            </a:fld>
            <a:endParaRPr lang="en-US"/>
          </a:p>
        </p:txBody>
      </p:sp>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306312" y="17527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Drone preflight checking</a:t>
            </a:r>
            <a:endParaRPr lang="en-US" sz="2600" dirty="0">
              <a:solidFill>
                <a:srgbClr val="7030A0"/>
              </a:solidFill>
            </a:endParaRPr>
          </a:p>
        </p:txBody>
      </p:sp>
    </p:spTree>
    <p:extLst>
      <p:ext uri="{BB962C8B-B14F-4D97-AF65-F5344CB8AC3E}">
        <p14:creationId xmlns:p14="http://schemas.microsoft.com/office/powerpoint/2010/main" val="5354905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152400" y="15750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Drone preflight checking</a:t>
            </a:r>
            <a:endParaRPr lang="en-US" sz="2600" dirty="0">
              <a:solidFill>
                <a:srgbClr val="7030A0"/>
              </a:solidFill>
            </a:endParaRPr>
          </a:p>
        </p:txBody>
      </p:sp>
      <p:sp>
        <p:nvSpPr>
          <p:cNvPr id="5" name="Content Placeholder 4">
            <a:extLst>
              <a:ext uri="{FF2B5EF4-FFF2-40B4-BE49-F238E27FC236}">
                <a16:creationId xmlns:a16="http://schemas.microsoft.com/office/drawing/2014/main" id="{D7A3C29B-95A1-E6C6-D93E-33D9AC7CCC00}"/>
              </a:ext>
            </a:extLst>
          </p:cNvPr>
          <p:cNvSpPr>
            <a:spLocks noGrp="1"/>
          </p:cNvSpPr>
          <p:nvPr>
            <p:ph idx="1"/>
          </p:nvPr>
        </p:nvSpPr>
        <p:spPr>
          <a:xfrm>
            <a:off x="231866" y="1086731"/>
            <a:ext cx="4684168" cy="3659232"/>
          </a:xfrm>
        </p:spPr>
        <p:txBody>
          <a:bodyPr>
            <a:normAutofit/>
          </a:bodyPr>
          <a:lstStyle/>
          <a:p>
            <a:pPr>
              <a:buFont typeface="Courier New" panose="02070309020205020404" pitchFamily="49" charset="0"/>
              <a:buChar char="o"/>
            </a:pPr>
            <a:r>
              <a:rPr lang="en-US" sz="2000" dirty="0"/>
              <a:t>Download and Install the App</a:t>
            </a:r>
          </a:p>
          <a:p>
            <a:pPr>
              <a:buFont typeface="Courier New" panose="02070309020205020404" pitchFamily="49" charset="0"/>
              <a:buChar char="o"/>
            </a:pPr>
            <a:r>
              <a:rPr lang="en-US" sz="2000" dirty="0"/>
              <a:t>Search three locations: </a:t>
            </a:r>
          </a:p>
          <a:p>
            <a:pPr lvl="1">
              <a:buFont typeface="Wingdings" panose="05000000000000000000" pitchFamily="2" charset="2"/>
              <a:buChar char="ü"/>
            </a:pPr>
            <a:r>
              <a:rPr lang="en-US" sz="2000" dirty="0"/>
              <a:t>Your current location</a:t>
            </a:r>
          </a:p>
          <a:p>
            <a:pPr lvl="1">
              <a:buFont typeface="Wingdings" panose="05000000000000000000" pitchFamily="2" charset="2"/>
              <a:buChar char="ü"/>
            </a:pPr>
            <a:r>
              <a:rPr lang="en-US" sz="2000" b="0" i="0" dirty="0">
                <a:solidFill>
                  <a:srgbClr val="202124"/>
                </a:solidFill>
                <a:effectLst/>
                <a:latin typeface="Google Sans"/>
              </a:rPr>
              <a:t>Bill and Hillary Clinton National Airport</a:t>
            </a:r>
          </a:p>
          <a:p>
            <a:pPr lvl="1">
              <a:buFont typeface="Wingdings" panose="05000000000000000000" pitchFamily="2" charset="2"/>
              <a:buChar char="ü"/>
            </a:pPr>
            <a:r>
              <a:rPr lang="en-US" sz="2000" b="0" i="0" dirty="0">
                <a:solidFill>
                  <a:srgbClr val="202124"/>
                </a:solidFill>
                <a:effectLst/>
                <a:latin typeface="Google Sans"/>
              </a:rPr>
              <a:t>Downtown Grill, Conway</a:t>
            </a:r>
            <a:endParaRPr lang="en-US" sz="2000" dirty="0"/>
          </a:p>
          <a:p>
            <a:pPr>
              <a:buFont typeface="Courier New" panose="02070309020205020404" pitchFamily="49" charset="0"/>
              <a:buChar char="o"/>
            </a:pPr>
            <a:endParaRPr lang="en-US" dirty="0"/>
          </a:p>
          <a:p>
            <a:pPr marL="0" indent="0">
              <a:buNone/>
            </a:pPr>
            <a:endParaRPr lang="en-US"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4" name="Picture 3">
            <a:extLst>
              <a:ext uri="{FF2B5EF4-FFF2-40B4-BE49-F238E27FC236}">
                <a16:creationId xmlns:a16="http://schemas.microsoft.com/office/drawing/2014/main" id="{F11AE6FB-08CE-27B9-F43C-8D330DDD386A}"/>
              </a:ext>
            </a:extLst>
          </p:cNvPr>
          <p:cNvPicPr>
            <a:picLocks noChangeAspect="1"/>
          </p:cNvPicPr>
          <p:nvPr/>
        </p:nvPicPr>
        <p:blipFill>
          <a:blip r:embed="rId3"/>
          <a:stretch>
            <a:fillRect/>
          </a:stretch>
        </p:blipFill>
        <p:spPr>
          <a:xfrm>
            <a:off x="5172741" y="1411953"/>
            <a:ext cx="2824993" cy="3008788"/>
          </a:xfrm>
          <a:prstGeom prst="rect">
            <a:avLst/>
          </a:prstGeom>
        </p:spPr>
      </p:pic>
      <p:sp>
        <p:nvSpPr>
          <p:cNvPr id="10" name="TextBox 9">
            <a:extLst>
              <a:ext uri="{FF2B5EF4-FFF2-40B4-BE49-F238E27FC236}">
                <a16:creationId xmlns:a16="http://schemas.microsoft.com/office/drawing/2014/main" id="{C4016C53-BE0E-5A69-F971-DCE9E3357A07}"/>
              </a:ext>
            </a:extLst>
          </p:cNvPr>
          <p:cNvSpPr txBox="1"/>
          <p:nvPr/>
        </p:nvSpPr>
        <p:spPr>
          <a:xfrm>
            <a:off x="4916034" y="4561297"/>
            <a:ext cx="4118882" cy="369332"/>
          </a:xfrm>
          <a:prstGeom prst="rect">
            <a:avLst/>
          </a:prstGeom>
          <a:noFill/>
        </p:spPr>
        <p:txBody>
          <a:bodyPr wrap="square">
            <a:spAutoFit/>
          </a:bodyPr>
          <a:lstStyle/>
          <a:p>
            <a:r>
              <a:rPr lang="zh-CN" altLang="en-US"/>
              <a:t>https://portal.airspacelink.com/</a:t>
            </a:r>
            <a:endParaRPr lang="zh-CN" altLang="en-US" dirty="0"/>
          </a:p>
        </p:txBody>
      </p:sp>
      <p:sp>
        <p:nvSpPr>
          <p:cNvPr id="12" name="TextBox 11">
            <a:extLst>
              <a:ext uri="{FF2B5EF4-FFF2-40B4-BE49-F238E27FC236}">
                <a16:creationId xmlns:a16="http://schemas.microsoft.com/office/drawing/2014/main" id="{FA0296B9-FD9B-EEDE-B9F0-2C88197544CA}"/>
              </a:ext>
            </a:extLst>
          </p:cNvPr>
          <p:cNvSpPr txBox="1"/>
          <p:nvPr/>
        </p:nvSpPr>
        <p:spPr>
          <a:xfrm>
            <a:off x="0" y="4561297"/>
            <a:ext cx="4523014" cy="646331"/>
          </a:xfrm>
          <a:prstGeom prst="rect">
            <a:avLst/>
          </a:prstGeom>
          <a:noFill/>
        </p:spPr>
        <p:txBody>
          <a:bodyPr wrap="square">
            <a:spAutoFit/>
          </a:bodyPr>
          <a:lstStyle/>
          <a:p>
            <a:r>
              <a:rPr lang="zh-CN" altLang="en-US" dirty="0"/>
              <a:t>https://www.faa.gov/uas/getting_started/b4ufly</a:t>
            </a:r>
          </a:p>
        </p:txBody>
      </p:sp>
    </p:spTree>
    <p:extLst>
      <p:ext uri="{BB962C8B-B14F-4D97-AF65-F5344CB8AC3E}">
        <p14:creationId xmlns:p14="http://schemas.microsoft.com/office/powerpoint/2010/main" val="1957009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11025B5-289F-46B3-96C8-1DD9C73A328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6B8FFC0B-4AFD-462F-A762-1FE7F839F5A5}"/>
              </a:ext>
            </a:extLst>
          </p:cNvPr>
          <p:cNvSpPr txBox="1">
            <a:spLocks/>
          </p:cNvSpPr>
          <p:nvPr/>
        </p:nvSpPr>
        <p:spPr>
          <a:xfrm>
            <a:off x="224669" y="1750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Drone preflight checking</a:t>
            </a:r>
            <a:endParaRPr lang="en-US" sz="2600" dirty="0">
              <a:solidFill>
                <a:srgbClr val="7030A0"/>
              </a:solidFill>
            </a:endParaRPr>
          </a:p>
        </p:txBody>
      </p:sp>
      <p:sp>
        <p:nvSpPr>
          <p:cNvPr id="5" name="Content Placeholder 4">
            <a:extLst>
              <a:ext uri="{FF2B5EF4-FFF2-40B4-BE49-F238E27FC236}">
                <a16:creationId xmlns:a16="http://schemas.microsoft.com/office/drawing/2014/main" id="{D7A3C29B-95A1-E6C6-D93E-33D9AC7CCC00}"/>
              </a:ext>
            </a:extLst>
          </p:cNvPr>
          <p:cNvSpPr>
            <a:spLocks noGrp="1"/>
          </p:cNvSpPr>
          <p:nvPr>
            <p:ph idx="1"/>
          </p:nvPr>
        </p:nvSpPr>
        <p:spPr>
          <a:xfrm>
            <a:off x="411480" y="1200151"/>
            <a:ext cx="4684168" cy="3659232"/>
          </a:xfrm>
        </p:spPr>
        <p:txBody>
          <a:bodyPr>
            <a:normAutofit/>
          </a:bodyPr>
          <a:lstStyle/>
          <a:p>
            <a:pPr>
              <a:buFont typeface="Courier New" panose="02070309020205020404" pitchFamily="49" charset="0"/>
              <a:buChar char="o"/>
            </a:pPr>
            <a:r>
              <a:rPr lang="en-US" sz="2800" dirty="0"/>
              <a:t>Download and Install the App</a:t>
            </a:r>
          </a:p>
          <a:p>
            <a:pPr>
              <a:buFont typeface="Courier New" panose="02070309020205020404" pitchFamily="49" charset="0"/>
              <a:buChar char="o"/>
            </a:pPr>
            <a:r>
              <a:rPr lang="en-US" sz="2800" dirty="0"/>
              <a:t>Create an account</a:t>
            </a:r>
          </a:p>
          <a:p>
            <a:pPr>
              <a:buFont typeface="Courier New" panose="02070309020205020404" pitchFamily="49" charset="0"/>
              <a:buChar char="o"/>
            </a:pPr>
            <a:r>
              <a:rPr lang="en-US" sz="2800" dirty="0"/>
              <a:t>GEO Zones</a:t>
            </a:r>
          </a:p>
          <a:p>
            <a:pPr marL="0" indent="0">
              <a:buNone/>
            </a:pPr>
            <a:endParaRPr lang="en-US" sz="2800" dirty="0"/>
          </a:p>
        </p:txBody>
      </p:sp>
      <p:sp>
        <p:nvSpPr>
          <p:cNvPr id="2" name="Slide Number Placeholder 1">
            <a:extLst>
              <a:ext uri="{FF2B5EF4-FFF2-40B4-BE49-F238E27FC236}">
                <a16:creationId xmlns:a16="http://schemas.microsoft.com/office/drawing/2014/main" id="{4D15657D-B81F-471B-A7E2-93341103B665}"/>
              </a:ext>
            </a:extLst>
          </p:cNvPr>
          <p:cNvSpPr>
            <a:spLocks noGrp="1"/>
          </p:cNvSpPr>
          <p:nvPr>
            <p:ph type="sldNum" sz="quarter" idx="12"/>
          </p:nvPr>
        </p:nvSpPr>
        <p:spPr/>
        <p:txBody>
          <a:bodyPr/>
          <a:lstStyle/>
          <a:p>
            <a:fld id="{127DDC20-79C9-9647-820E-6D40A3D210C3}" type="slidenum">
              <a:rPr lang="en-US" smtClean="0"/>
              <a:pPr/>
              <a:t>22</a:t>
            </a:fld>
            <a:endParaRPr lang="en-US"/>
          </a:p>
        </p:txBody>
      </p:sp>
      <p:sp>
        <p:nvSpPr>
          <p:cNvPr id="3" name="TextBox 2">
            <a:extLst>
              <a:ext uri="{FF2B5EF4-FFF2-40B4-BE49-F238E27FC236}">
                <a16:creationId xmlns:a16="http://schemas.microsoft.com/office/drawing/2014/main" id="{EA7C0F02-4CB5-77D7-940C-8B842DC9C0EF}"/>
              </a:ext>
            </a:extLst>
          </p:cNvPr>
          <p:cNvSpPr txBox="1"/>
          <p:nvPr/>
        </p:nvSpPr>
        <p:spPr>
          <a:xfrm>
            <a:off x="5682343" y="1741697"/>
            <a:ext cx="1555414" cy="492443"/>
          </a:xfrm>
          <a:prstGeom prst="rect">
            <a:avLst/>
          </a:prstGeom>
          <a:noFill/>
        </p:spPr>
        <p:txBody>
          <a:bodyPr wrap="square">
            <a:spAutoFit/>
          </a:bodyPr>
          <a:lstStyle/>
          <a:p>
            <a:r>
              <a:rPr lang="en-US" altLang="en-US" sz="2600" dirty="0"/>
              <a:t>DJI GO 4 </a:t>
            </a:r>
          </a:p>
        </p:txBody>
      </p:sp>
      <p:pic>
        <p:nvPicPr>
          <p:cNvPr id="4" name="Picture 3" descr="DJI GO 4 logo">
            <a:extLst>
              <a:ext uri="{FF2B5EF4-FFF2-40B4-BE49-F238E27FC236}">
                <a16:creationId xmlns:a16="http://schemas.microsoft.com/office/drawing/2014/main" id="{3DEFD3DE-8E6A-A938-73FF-0F08CF97649D}"/>
              </a:ext>
            </a:extLst>
          </p:cNvPr>
          <p:cNvPicPr>
            <a:picLocks noChangeAspect="1"/>
          </p:cNvPicPr>
          <p:nvPr/>
        </p:nvPicPr>
        <p:blipFill>
          <a:blip r:embed="rId3"/>
          <a:stretch>
            <a:fillRect/>
          </a:stretch>
        </p:blipFill>
        <p:spPr>
          <a:xfrm>
            <a:off x="5370553" y="2185714"/>
            <a:ext cx="2048366" cy="2131128"/>
          </a:xfrm>
          <a:prstGeom prst="rect">
            <a:avLst/>
          </a:prstGeom>
        </p:spPr>
      </p:pic>
    </p:spTree>
    <p:extLst>
      <p:ext uri="{BB962C8B-B14F-4D97-AF65-F5344CB8AC3E}">
        <p14:creationId xmlns:p14="http://schemas.microsoft.com/office/powerpoint/2010/main" val="3961658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363461" y="1636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 name="Google Shape;147;p21" descr="Mission path">
            <a:extLst>
              <a:ext uri="{FF2B5EF4-FFF2-40B4-BE49-F238E27FC236}">
                <a16:creationId xmlns:a16="http://schemas.microsoft.com/office/drawing/2014/main" id="{D06FB726-B3E5-9C10-0B16-F0F3DF3715CB}"/>
              </a:ext>
            </a:extLst>
          </p:cNvPr>
          <p:cNvPicPr preferRelativeResize="0"/>
          <p:nvPr/>
        </p:nvPicPr>
        <p:blipFill>
          <a:blip r:embed="rId3">
            <a:alphaModFix/>
          </a:blip>
          <a:stretch>
            <a:fillRect/>
          </a:stretch>
        </p:blipFill>
        <p:spPr>
          <a:xfrm>
            <a:off x="4731326" y="1130883"/>
            <a:ext cx="3065568" cy="1726618"/>
          </a:xfrm>
          <a:prstGeom prst="rect">
            <a:avLst/>
          </a:prstGeom>
          <a:noFill/>
          <a:ln>
            <a:noFill/>
          </a:ln>
        </p:spPr>
      </p:pic>
      <p:pic>
        <p:nvPicPr>
          <p:cNvPr id="4" name="Google Shape;163;p23" descr="Mission path">
            <a:extLst>
              <a:ext uri="{FF2B5EF4-FFF2-40B4-BE49-F238E27FC236}">
                <a16:creationId xmlns:a16="http://schemas.microsoft.com/office/drawing/2014/main" id="{EE6EBB78-4A01-46C5-DA5F-60D078A2AD23}"/>
              </a:ext>
            </a:extLst>
          </p:cNvPr>
          <p:cNvPicPr preferRelativeResize="0"/>
          <p:nvPr/>
        </p:nvPicPr>
        <p:blipFill>
          <a:blip r:embed="rId4">
            <a:alphaModFix/>
          </a:blip>
          <a:stretch>
            <a:fillRect/>
          </a:stretch>
        </p:blipFill>
        <p:spPr>
          <a:xfrm>
            <a:off x="5404756" y="3317240"/>
            <a:ext cx="1899163" cy="1390753"/>
          </a:xfrm>
          <a:prstGeom prst="rect">
            <a:avLst/>
          </a:prstGeom>
          <a:noFill/>
          <a:ln>
            <a:noFill/>
          </a:ln>
        </p:spPr>
      </p:pic>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18533" y="1836074"/>
            <a:ext cx="5122938" cy="2788500"/>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a:spcBef>
                <a:spcPts val="0"/>
              </a:spcBef>
              <a:buFont typeface="Courier New" panose="02070309020205020404" pitchFamily="49" charset="0"/>
              <a:buChar char="o"/>
            </a:pPr>
            <a:r>
              <a:rPr lang="en-US" sz="2400" dirty="0"/>
              <a:t>Better data</a:t>
            </a:r>
          </a:p>
          <a:p>
            <a:pPr lvl="1">
              <a:spcBef>
                <a:spcPts val="0"/>
              </a:spcBef>
              <a:buFont typeface="Wingdings" panose="05000000000000000000" pitchFamily="2" charset="2"/>
              <a:buChar char="ü"/>
            </a:pPr>
            <a:r>
              <a:rPr lang="en-US" sz="1240" dirty="0"/>
              <a:t>Same altitude, fly speed, and so on</a:t>
            </a:r>
          </a:p>
          <a:p>
            <a:pPr marL="308610" lvl="1" indent="-308610">
              <a:spcBef>
                <a:spcPts val="0"/>
              </a:spcBef>
              <a:buFont typeface="Courier New" panose="02070309020205020404" pitchFamily="49" charset="0"/>
              <a:buChar char="o"/>
            </a:pPr>
            <a:r>
              <a:rPr lang="en-US" sz="2400" dirty="0"/>
              <a:t>Replicate missions</a:t>
            </a:r>
          </a:p>
          <a:p>
            <a:pPr lvl="1">
              <a:spcBef>
                <a:spcPts val="0"/>
              </a:spcBef>
              <a:buFont typeface="Wingdings" panose="05000000000000000000" pitchFamily="2" charset="2"/>
              <a:buChar char="ü"/>
            </a:pPr>
            <a:r>
              <a:rPr lang="en-US" sz="1240" dirty="0"/>
              <a:t>This is helpful with time </a:t>
            </a:r>
            <a:br>
              <a:rPr lang="en-US" sz="1240" dirty="0"/>
            </a:br>
            <a:r>
              <a:rPr lang="en-US" sz="1240" dirty="0"/>
              <a:t>series analyses!</a:t>
            </a:r>
          </a:p>
          <a:p>
            <a:pPr marL="308610" lvl="1" indent="-308610">
              <a:spcBef>
                <a:spcPts val="0"/>
              </a:spcBef>
              <a:buFont typeface="Courier New" panose="02070309020205020404" pitchFamily="49" charset="0"/>
              <a:buChar char="o"/>
            </a:pPr>
            <a:r>
              <a:rPr lang="en-US" sz="2400" dirty="0"/>
              <a:t>It’s automated</a:t>
            </a:r>
          </a:p>
          <a:p>
            <a:pPr lvl="1">
              <a:spcBef>
                <a:spcPts val="0"/>
              </a:spcBef>
              <a:buFont typeface="Wingdings" panose="05000000000000000000" pitchFamily="2" charset="2"/>
              <a:buChar char="ü"/>
            </a:pPr>
            <a:r>
              <a:rPr lang="en-US" altLang="zh-CN" sz="1240" dirty="0"/>
              <a:t>Save time</a:t>
            </a:r>
            <a:endParaRPr lang="en-US" sz="1240" dirty="0"/>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23</a:t>
            </a:fld>
            <a:endParaRPr lang="en-US"/>
          </a:p>
        </p:txBody>
      </p:sp>
    </p:spTree>
    <p:extLst>
      <p:ext uri="{BB962C8B-B14F-4D97-AF65-F5344CB8AC3E}">
        <p14:creationId xmlns:p14="http://schemas.microsoft.com/office/powerpoint/2010/main" val="40118223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49161" y="16369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 name="Google Shape;147;p21" descr="Mission path">
            <a:extLst>
              <a:ext uri="{FF2B5EF4-FFF2-40B4-BE49-F238E27FC236}">
                <a16:creationId xmlns:a16="http://schemas.microsoft.com/office/drawing/2014/main" id="{D06FB726-B3E5-9C10-0B16-F0F3DF3715CB}"/>
              </a:ext>
            </a:extLst>
          </p:cNvPr>
          <p:cNvPicPr preferRelativeResize="0"/>
          <p:nvPr/>
        </p:nvPicPr>
        <p:blipFill>
          <a:blip r:embed="rId3">
            <a:alphaModFix/>
          </a:blip>
          <a:stretch>
            <a:fillRect/>
          </a:stretch>
        </p:blipFill>
        <p:spPr>
          <a:xfrm>
            <a:off x="4731326" y="1130883"/>
            <a:ext cx="3065568" cy="1726618"/>
          </a:xfrm>
          <a:prstGeom prst="rect">
            <a:avLst/>
          </a:prstGeom>
          <a:noFill/>
          <a:ln>
            <a:noFill/>
          </a:ln>
        </p:spPr>
      </p:pic>
      <p:pic>
        <p:nvPicPr>
          <p:cNvPr id="4" name="Google Shape;163;p23" descr="Mission path">
            <a:extLst>
              <a:ext uri="{FF2B5EF4-FFF2-40B4-BE49-F238E27FC236}">
                <a16:creationId xmlns:a16="http://schemas.microsoft.com/office/drawing/2014/main" id="{EE6EBB78-4A01-46C5-DA5F-60D078A2AD23}"/>
              </a:ext>
            </a:extLst>
          </p:cNvPr>
          <p:cNvPicPr preferRelativeResize="0"/>
          <p:nvPr/>
        </p:nvPicPr>
        <p:blipFill>
          <a:blip r:embed="rId4">
            <a:alphaModFix/>
          </a:blip>
          <a:stretch>
            <a:fillRect/>
          </a:stretch>
        </p:blipFill>
        <p:spPr>
          <a:xfrm>
            <a:off x="5404756" y="3317240"/>
            <a:ext cx="1899163" cy="1390753"/>
          </a:xfrm>
          <a:prstGeom prst="rect">
            <a:avLst/>
          </a:prstGeom>
          <a:noFill/>
          <a:ln>
            <a:noFill/>
          </a:ln>
        </p:spPr>
      </p:pic>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45489"/>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Input into a mission plan</a:t>
            </a:r>
          </a:p>
          <a:p>
            <a:pPr lvl="1">
              <a:spcBef>
                <a:spcPts val="0"/>
              </a:spcBef>
              <a:buSzPts val="1900"/>
              <a:buFont typeface="Wingdings" panose="05000000000000000000" pitchFamily="2" charset="2"/>
              <a:buChar char="ü"/>
            </a:pPr>
            <a:r>
              <a:rPr lang="en-US" sz="2040" dirty="0"/>
              <a:t>Project goals </a:t>
            </a:r>
          </a:p>
          <a:p>
            <a:pPr lvl="1">
              <a:spcBef>
                <a:spcPts val="0"/>
              </a:spcBef>
              <a:buSzPts val="1900"/>
              <a:buFont typeface="Wingdings" panose="05000000000000000000" pitchFamily="2" charset="2"/>
              <a:buChar char="ü"/>
            </a:pPr>
            <a:r>
              <a:rPr lang="en-US" sz="2040" dirty="0"/>
              <a:t>Size of study area</a:t>
            </a:r>
          </a:p>
          <a:p>
            <a:pPr lvl="1">
              <a:spcBef>
                <a:spcPts val="0"/>
              </a:spcBef>
              <a:buSzPts val="1900"/>
              <a:buFont typeface="Wingdings" panose="05000000000000000000" pitchFamily="2" charset="2"/>
              <a:buChar char="ü"/>
            </a:pPr>
            <a:r>
              <a:rPr lang="en-US" sz="2040" dirty="0"/>
              <a:t>Required GSD (Ground Sample Distance)</a:t>
            </a:r>
          </a:p>
          <a:p>
            <a:pPr lvl="1">
              <a:spcBef>
                <a:spcPts val="0"/>
              </a:spcBef>
              <a:buSzPts val="1900"/>
              <a:buFont typeface="Wingdings" panose="05000000000000000000" pitchFamily="2" charset="2"/>
              <a:buChar char="ü"/>
            </a:pPr>
            <a:r>
              <a:rPr lang="en-US" sz="2040" dirty="0"/>
              <a:t>Ground cover type</a:t>
            </a:r>
          </a:p>
          <a:p>
            <a:pPr lvl="1">
              <a:spcBef>
                <a:spcPts val="0"/>
              </a:spcBef>
              <a:buSzPts val="1900"/>
              <a:buFont typeface="Wingdings" panose="05000000000000000000" pitchFamily="2" charset="2"/>
              <a:buChar char="ü"/>
            </a:pPr>
            <a:r>
              <a:rPr lang="en-US" sz="2040" dirty="0"/>
              <a:t>Sensor</a:t>
            </a:r>
          </a:p>
          <a:p>
            <a:pPr lvl="1">
              <a:spcBef>
                <a:spcPts val="0"/>
              </a:spcBef>
              <a:buSzPts val="1900"/>
              <a:buFont typeface="Wingdings" panose="05000000000000000000" pitchFamily="2" charset="2"/>
              <a:buChar char="ü"/>
            </a:pPr>
            <a:r>
              <a:rPr lang="en-US" sz="2040" dirty="0"/>
              <a:t>Platform</a:t>
            </a:r>
          </a:p>
          <a:p>
            <a:pPr lvl="1">
              <a:spcBef>
                <a:spcPts val="0"/>
              </a:spcBef>
              <a:buSzPts val="1900"/>
              <a:buFont typeface="Wingdings" panose="05000000000000000000" pitchFamily="2" charset="2"/>
              <a:buChar char="ü"/>
            </a:pPr>
            <a:r>
              <a:rPr lang="en-US" sz="2040" dirty="0"/>
              <a:t>Spatial accuracy needs</a:t>
            </a:r>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extLst>
      <p:ext uri="{BB962C8B-B14F-4D97-AF65-F5344CB8AC3E}">
        <p14:creationId xmlns:p14="http://schemas.microsoft.com/office/powerpoint/2010/main" val="2934766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89983" y="19273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 name="Google Shape;147;p21" descr="Mission path">
            <a:extLst>
              <a:ext uri="{FF2B5EF4-FFF2-40B4-BE49-F238E27FC236}">
                <a16:creationId xmlns:a16="http://schemas.microsoft.com/office/drawing/2014/main" id="{D06FB726-B3E5-9C10-0B16-F0F3DF3715CB}"/>
              </a:ext>
            </a:extLst>
          </p:cNvPr>
          <p:cNvPicPr preferRelativeResize="0"/>
          <p:nvPr/>
        </p:nvPicPr>
        <p:blipFill>
          <a:blip r:embed="rId3">
            <a:alphaModFix/>
          </a:blip>
          <a:stretch>
            <a:fillRect/>
          </a:stretch>
        </p:blipFill>
        <p:spPr>
          <a:xfrm>
            <a:off x="4731326" y="1130883"/>
            <a:ext cx="3065568" cy="1726618"/>
          </a:xfrm>
          <a:prstGeom prst="rect">
            <a:avLst/>
          </a:prstGeom>
          <a:noFill/>
          <a:ln>
            <a:noFill/>
          </a:ln>
        </p:spPr>
      </p:pic>
      <p:pic>
        <p:nvPicPr>
          <p:cNvPr id="4" name="Google Shape;163;p23" descr="Mission path">
            <a:extLst>
              <a:ext uri="{FF2B5EF4-FFF2-40B4-BE49-F238E27FC236}">
                <a16:creationId xmlns:a16="http://schemas.microsoft.com/office/drawing/2014/main" id="{EE6EBB78-4A01-46C5-DA5F-60D078A2AD23}"/>
              </a:ext>
            </a:extLst>
          </p:cNvPr>
          <p:cNvPicPr preferRelativeResize="0"/>
          <p:nvPr/>
        </p:nvPicPr>
        <p:blipFill>
          <a:blip r:embed="rId4">
            <a:alphaModFix/>
          </a:blip>
          <a:stretch>
            <a:fillRect/>
          </a:stretch>
        </p:blipFill>
        <p:spPr>
          <a:xfrm>
            <a:off x="5404756" y="3317240"/>
            <a:ext cx="1899163" cy="1390753"/>
          </a:xfrm>
          <a:prstGeom prst="rect">
            <a:avLst/>
          </a:prstGeom>
          <a:noFill/>
          <a:ln>
            <a:noFill/>
          </a:ln>
        </p:spPr>
      </p:pic>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69090"/>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Goals and Aspirations</a:t>
            </a:r>
          </a:p>
          <a:p>
            <a:pPr marL="823595" lvl="1" indent="-342900">
              <a:spcBef>
                <a:spcPts val="700"/>
              </a:spcBef>
              <a:buSzPts val="1700"/>
              <a:buFont typeface="Wingdings" panose="05000000000000000000" pitchFamily="2" charset="2"/>
              <a:buChar char="ü"/>
            </a:pPr>
            <a:r>
              <a:rPr lang="en-US" sz="2040" u="sng" dirty="0"/>
              <a:t>sensor</a:t>
            </a:r>
            <a:r>
              <a:rPr lang="en-US" sz="2040" dirty="0"/>
              <a:t> type</a:t>
            </a:r>
          </a:p>
          <a:p>
            <a:pPr marL="823595" lvl="1" indent="-342900">
              <a:spcBef>
                <a:spcPts val="700"/>
              </a:spcBef>
              <a:buSzPts val="1700"/>
              <a:buFont typeface="Wingdings" panose="05000000000000000000" pitchFamily="2" charset="2"/>
              <a:buChar char="ü"/>
            </a:pPr>
            <a:r>
              <a:rPr lang="en-US" sz="2040" dirty="0"/>
              <a:t>preferred </a:t>
            </a:r>
            <a:r>
              <a:rPr lang="en-US" sz="2040" u="sng" dirty="0"/>
              <a:t>GSD</a:t>
            </a:r>
          </a:p>
          <a:p>
            <a:pPr marL="823595" lvl="1" indent="-342900">
              <a:spcBef>
                <a:spcPts val="700"/>
              </a:spcBef>
              <a:buSzPts val="1700"/>
              <a:buFont typeface="Wingdings" panose="05000000000000000000" pitchFamily="2" charset="2"/>
              <a:buChar char="ü"/>
            </a:pPr>
            <a:r>
              <a:rPr lang="en-US" sz="2040" u="sng" dirty="0"/>
              <a:t>size</a:t>
            </a:r>
            <a:r>
              <a:rPr lang="en-US" sz="2040" dirty="0"/>
              <a:t> of study area</a:t>
            </a:r>
          </a:p>
          <a:p>
            <a:pPr marL="823595" lvl="1" indent="-342900">
              <a:spcBef>
                <a:spcPts val="700"/>
              </a:spcBef>
              <a:buSzPts val="1700"/>
              <a:buFont typeface="Wingdings" panose="05000000000000000000" pitchFamily="2" charset="2"/>
              <a:buChar char="ü"/>
            </a:pPr>
            <a:r>
              <a:rPr lang="en-US" sz="2040" dirty="0"/>
              <a:t>preferred </a:t>
            </a:r>
            <a:r>
              <a:rPr lang="en-US" sz="2040" u="sng" dirty="0"/>
              <a:t>aircraft</a:t>
            </a:r>
          </a:p>
          <a:p>
            <a:pPr marL="823595" lvl="1" indent="-342900">
              <a:spcBef>
                <a:spcPts val="700"/>
              </a:spcBef>
              <a:buSzPts val="1700"/>
              <a:buFont typeface="Wingdings" panose="05000000000000000000" pitchFamily="2" charset="2"/>
              <a:buChar char="ü"/>
            </a:pPr>
            <a:r>
              <a:rPr lang="en-US" sz="2040" u="sng" dirty="0"/>
              <a:t>repeatability</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extLst>
      <p:ext uri="{BB962C8B-B14F-4D97-AF65-F5344CB8AC3E}">
        <p14:creationId xmlns:p14="http://schemas.microsoft.com/office/powerpoint/2010/main" val="19652700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371626" y="21866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 name="Google Shape;147;p21" descr="Mission path">
            <a:extLst>
              <a:ext uri="{FF2B5EF4-FFF2-40B4-BE49-F238E27FC236}">
                <a16:creationId xmlns:a16="http://schemas.microsoft.com/office/drawing/2014/main" id="{D06FB726-B3E5-9C10-0B16-F0F3DF3715CB}"/>
              </a:ext>
            </a:extLst>
          </p:cNvPr>
          <p:cNvPicPr preferRelativeResize="0"/>
          <p:nvPr/>
        </p:nvPicPr>
        <p:blipFill>
          <a:blip r:embed="rId3">
            <a:alphaModFix/>
          </a:blip>
          <a:stretch>
            <a:fillRect/>
          </a:stretch>
        </p:blipFill>
        <p:spPr>
          <a:xfrm>
            <a:off x="4731326" y="1130883"/>
            <a:ext cx="3065568" cy="1726618"/>
          </a:xfrm>
          <a:prstGeom prst="rect">
            <a:avLst/>
          </a:prstGeom>
          <a:noFill/>
          <a:ln>
            <a:noFill/>
          </a:ln>
        </p:spPr>
      </p:pic>
      <p:pic>
        <p:nvPicPr>
          <p:cNvPr id="4" name="Google Shape;163;p23" descr="Mission path">
            <a:extLst>
              <a:ext uri="{FF2B5EF4-FFF2-40B4-BE49-F238E27FC236}">
                <a16:creationId xmlns:a16="http://schemas.microsoft.com/office/drawing/2014/main" id="{EE6EBB78-4A01-46C5-DA5F-60D078A2AD23}"/>
              </a:ext>
            </a:extLst>
          </p:cNvPr>
          <p:cNvPicPr preferRelativeResize="0"/>
          <p:nvPr/>
        </p:nvPicPr>
        <p:blipFill>
          <a:blip r:embed="rId4">
            <a:alphaModFix/>
          </a:blip>
          <a:stretch>
            <a:fillRect/>
          </a:stretch>
        </p:blipFill>
        <p:spPr>
          <a:xfrm>
            <a:off x="5404756" y="3317240"/>
            <a:ext cx="1899163" cy="1390753"/>
          </a:xfrm>
          <a:prstGeom prst="rect">
            <a:avLst/>
          </a:prstGeom>
          <a:noFill/>
          <a:ln>
            <a:noFill/>
          </a:ln>
        </p:spPr>
      </p:pic>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18533" y="960926"/>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Logistic and Constraints</a:t>
            </a:r>
          </a:p>
          <a:p>
            <a:pPr marL="823595" lvl="1" indent="-342900">
              <a:spcBef>
                <a:spcPts val="700"/>
              </a:spcBef>
              <a:buSzPts val="1700"/>
              <a:buFont typeface="Wingdings" panose="05000000000000000000" pitchFamily="2" charset="2"/>
              <a:buChar char="ü"/>
            </a:pPr>
            <a:r>
              <a:rPr lang="en-US" sz="2040" dirty="0"/>
              <a:t>airspace &amp; local </a:t>
            </a:r>
            <a:r>
              <a:rPr lang="en-US" sz="2040" u="sng" dirty="0"/>
              <a:t>permissions</a:t>
            </a:r>
          </a:p>
          <a:p>
            <a:pPr marL="823595" lvl="1" indent="-342900">
              <a:spcBef>
                <a:spcPts val="700"/>
              </a:spcBef>
              <a:buSzPts val="1700"/>
              <a:buFont typeface="Wingdings" panose="05000000000000000000" pitchFamily="2" charset="2"/>
              <a:buChar char="ü"/>
            </a:pPr>
            <a:r>
              <a:rPr lang="en-US" sz="2040" dirty="0"/>
              <a:t>site access &amp; launch points</a:t>
            </a:r>
          </a:p>
          <a:p>
            <a:pPr marL="823595" lvl="1" indent="-342900">
              <a:spcBef>
                <a:spcPts val="700"/>
              </a:spcBef>
              <a:buSzPts val="1700"/>
              <a:buFont typeface="Wingdings" panose="05000000000000000000" pitchFamily="2" charset="2"/>
              <a:buChar char="ü"/>
            </a:pPr>
            <a:r>
              <a:rPr lang="en-US" sz="2040" dirty="0"/>
              <a:t>time available for field work</a:t>
            </a:r>
          </a:p>
          <a:p>
            <a:pPr marL="823595" lvl="1" indent="-342900">
              <a:spcBef>
                <a:spcPts val="700"/>
              </a:spcBef>
              <a:buSzPts val="1700"/>
              <a:buFont typeface="Wingdings" panose="05000000000000000000" pitchFamily="2" charset="2"/>
              <a:buChar char="ü"/>
            </a:pPr>
            <a:r>
              <a:rPr lang="en-US" sz="2040" dirty="0"/>
              <a:t>flight time, # batteries</a:t>
            </a:r>
          </a:p>
          <a:p>
            <a:pPr marL="823595" lvl="1" indent="-342900">
              <a:spcBef>
                <a:spcPts val="700"/>
              </a:spcBef>
              <a:buSzPts val="1700"/>
              <a:buFont typeface="Wingdings" panose="05000000000000000000" pitchFamily="2" charset="2"/>
              <a:buChar char="ü"/>
            </a:pPr>
            <a:r>
              <a:rPr lang="en-US" sz="2040" dirty="0"/>
              <a:t>wind &amp; weather</a:t>
            </a:r>
          </a:p>
          <a:p>
            <a:pPr marL="823595" lvl="1" indent="-342900">
              <a:spcBef>
                <a:spcPts val="700"/>
              </a:spcBef>
              <a:buSzPts val="1700"/>
              <a:buFont typeface="Wingdings" panose="05000000000000000000" pitchFamily="2" charset="2"/>
              <a:buChar char="ü"/>
            </a:pPr>
            <a:r>
              <a:rPr lang="en-US" sz="2040" dirty="0"/>
              <a:t>sun &amp; shadows</a:t>
            </a:r>
          </a:p>
          <a:p>
            <a:pPr marL="823595" lvl="1" indent="-342900">
              <a:spcBef>
                <a:spcPts val="700"/>
              </a:spcBef>
              <a:buSzPts val="1700"/>
              <a:buFont typeface="Wingdings" panose="05000000000000000000" pitchFamily="2" charset="2"/>
              <a:buChar char="ü"/>
            </a:pPr>
            <a:r>
              <a:rPr lang="en-US" sz="2040" dirty="0"/>
              <a:t>data processing resources</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10991797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32833" y="1809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a:t>
            </a:r>
            <a:r>
              <a:rPr lang="en-US" sz="3200" dirty="0" err="1">
                <a:solidFill>
                  <a:srgbClr val="7030A0"/>
                </a:solidFill>
              </a:rPr>
              <a:t>PlanW</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 name="Google Shape;147;p21" descr="Mission path">
            <a:extLst>
              <a:ext uri="{FF2B5EF4-FFF2-40B4-BE49-F238E27FC236}">
                <a16:creationId xmlns:a16="http://schemas.microsoft.com/office/drawing/2014/main" id="{D06FB726-B3E5-9C10-0B16-F0F3DF3715CB}"/>
              </a:ext>
            </a:extLst>
          </p:cNvPr>
          <p:cNvPicPr preferRelativeResize="0"/>
          <p:nvPr/>
        </p:nvPicPr>
        <p:blipFill>
          <a:blip r:embed="rId3">
            <a:alphaModFix/>
          </a:blip>
          <a:stretch>
            <a:fillRect/>
          </a:stretch>
        </p:blipFill>
        <p:spPr>
          <a:xfrm>
            <a:off x="4731326" y="1130883"/>
            <a:ext cx="3065568" cy="1726618"/>
          </a:xfrm>
          <a:prstGeom prst="rect">
            <a:avLst/>
          </a:prstGeom>
          <a:noFill/>
          <a:ln>
            <a:noFill/>
          </a:ln>
        </p:spPr>
      </p:pic>
      <p:pic>
        <p:nvPicPr>
          <p:cNvPr id="4" name="Google Shape;163;p23" descr="Mission path">
            <a:extLst>
              <a:ext uri="{FF2B5EF4-FFF2-40B4-BE49-F238E27FC236}">
                <a16:creationId xmlns:a16="http://schemas.microsoft.com/office/drawing/2014/main" id="{EE6EBB78-4A01-46C5-DA5F-60D078A2AD23}"/>
              </a:ext>
            </a:extLst>
          </p:cNvPr>
          <p:cNvPicPr preferRelativeResize="0"/>
          <p:nvPr/>
        </p:nvPicPr>
        <p:blipFill>
          <a:blip r:embed="rId4">
            <a:alphaModFix/>
          </a:blip>
          <a:stretch>
            <a:fillRect/>
          </a:stretch>
        </p:blipFill>
        <p:spPr>
          <a:xfrm>
            <a:off x="5404756" y="3317240"/>
            <a:ext cx="1899163" cy="1390753"/>
          </a:xfrm>
          <a:prstGeom prst="rect">
            <a:avLst/>
          </a:prstGeom>
          <a:noFill/>
          <a:ln>
            <a:noFill/>
          </a:ln>
        </p:spPr>
      </p:pic>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18533" y="945489"/>
            <a:ext cx="5122938" cy="342989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Rules of Thumb</a:t>
            </a:r>
          </a:p>
          <a:p>
            <a:pPr marL="956945" lvl="1" indent="-457200">
              <a:spcBef>
                <a:spcPts val="0"/>
              </a:spcBef>
              <a:buSzPts val="1400"/>
              <a:buFont typeface="Wingdings" panose="05000000000000000000" pitchFamily="2" charset="2"/>
              <a:buChar char="ü"/>
            </a:pPr>
            <a:r>
              <a:rPr lang="en-US" sz="1600" dirty="0"/>
              <a:t>Visibility</a:t>
            </a:r>
          </a:p>
          <a:p>
            <a:pPr marL="1299845" lvl="2" indent="-342900">
              <a:spcBef>
                <a:spcPts val="0"/>
              </a:spcBef>
              <a:buSzPts val="1400"/>
              <a:buFont typeface="Arial" panose="020B0604020202020204" pitchFamily="34" charset="0"/>
              <a:buChar char="•"/>
            </a:pPr>
            <a:r>
              <a:rPr lang="en-US" sz="1600" dirty="0"/>
              <a:t>Fly at least double the height of trees </a:t>
            </a:r>
          </a:p>
          <a:p>
            <a:pPr marL="956945" lvl="1" indent="-457200">
              <a:spcBef>
                <a:spcPts val="0"/>
              </a:spcBef>
              <a:buSzPts val="1400"/>
              <a:buFont typeface="Wingdings" panose="05000000000000000000" pitchFamily="2" charset="2"/>
              <a:buChar char="ü"/>
            </a:pPr>
            <a:r>
              <a:rPr lang="en-US" sz="1600" dirty="0"/>
              <a:t>Large areas</a:t>
            </a:r>
          </a:p>
          <a:p>
            <a:pPr marL="1299845" lvl="2" indent="-342900">
              <a:spcBef>
                <a:spcPts val="0"/>
              </a:spcBef>
              <a:buSzPts val="1400"/>
              <a:buFont typeface="Arial" panose="020B0604020202020204" pitchFamily="34" charset="0"/>
              <a:buChar char="•"/>
            </a:pPr>
            <a:r>
              <a:rPr lang="en-US" sz="1600" dirty="0"/>
              <a:t>Plan your mission so you are flying back toward yourself</a:t>
            </a:r>
          </a:p>
          <a:p>
            <a:pPr marL="1242695" lvl="2" indent="-285750">
              <a:spcBef>
                <a:spcPts val="0"/>
              </a:spcBef>
              <a:buSzPts val="1400"/>
              <a:buFont typeface="Arial" panose="020B0604020202020204" pitchFamily="34" charset="0"/>
              <a:buChar char="•"/>
            </a:pPr>
            <a:r>
              <a:rPr lang="en-US" sz="1600" dirty="0"/>
              <a:t>Consecutive flights need begin where the last one ended</a:t>
            </a:r>
          </a:p>
          <a:p>
            <a:pPr marL="956945" lvl="1" indent="-457200">
              <a:spcBef>
                <a:spcPts val="0"/>
              </a:spcBef>
              <a:buSzPts val="1400"/>
              <a:buFont typeface="Wingdings" panose="05000000000000000000" pitchFamily="2" charset="2"/>
              <a:buChar char="ü"/>
            </a:pPr>
            <a:r>
              <a:rPr lang="en-US" sz="1600" dirty="0"/>
              <a:t>Challenging terrain</a:t>
            </a:r>
          </a:p>
          <a:p>
            <a:pPr marL="1316990" lvl="2" indent="-457200">
              <a:spcBef>
                <a:spcPts val="0"/>
              </a:spcBef>
              <a:buSzPts val="1400"/>
              <a:buFont typeface="Arial" panose="020B0604020202020204" pitchFamily="34" charset="0"/>
              <a:buChar char="•"/>
            </a:pPr>
            <a:r>
              <a:rPr lang="en-US" sz="1600" dirty="0"/>
              <a:t>Launch from the highest altitude possible</a:t>
            </a:r>
          </a:p>
          <a:p>
            <a:pPr marL="956945" lvl="1" indent="-457200">
              <a:spcBef>
                <a:spcPts val="0"/>
              </a:spcBef>
              <a:buSzPts val="1400"/>
              <a:buFont typeface="Wingdings" panose="05000000000000000000" pitchFamily="2" charset="2"/>
              <a:buChar char="ü"/>
            </a:pPr>
            <a:r>
              <a:rPr lang="en-US" sz="1600" dirty="0"/>
              <a:t>Challenging surface cover</a:t>
            </a:r>
          </a:p>
          <a:p>
            <a:pPr marL="1316990" lvl="2" indent="-457200">
              <a:spcBef>
                <a:spcPts val="0"/>
              </a:spcBef>
              <a:buSzPts val="1400"/>
              <a:buFont typeface="Arial" panose="020B0604020202020204" pitchFamily="34" charset="0"/>
              <a:buChar char="•"/>
            </a:pPr>
            <a:r>
              <a:rPr lang="en-US" sz="1600" dirty="0"/>
              <a:t>Photogrammetry of whipping grass in the wind is most difficult with low altitude flights</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27</a:t>
            </a:fld>
            <a:endParaRPr lang="en-US"/>
          </a:p>
        </p:txBody>
      </p:sp>
    </p:spTree>
    <p:extLst>
      <p:ext uri="{BB962C8B-B14F-4D97-AF65-F5344CB8AC3E}">
        <p14:creationId xmlns:p14="http://schemas.microsoft.com/office/powerpoint/2010/main" val="19611092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322640" y="15927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45489"/>
            <a:ext cx="5122938" cy="3977575"/>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Overlap</a:t>
            </a:r>
          </a:p>
          <a:p>
            <a:pPr lvl="1">
              <a:spcBef>
                <a:spcPts val="0"/>
              </a:spcBef>
              <a:buClr>
                <a:schemeClr val="dk1"/>
              </a:buClr>
              <a:buSzPts val="1100"/>
              <a:buFont typeface="Wingdings" panose="05000000000000000000" pitchFamily="2" charset="2"/>
              <a:buChar char="ü"/>
            </a:pPr>
            <a:r>
              <a:rPr lang="en-US" sz="1800" b="1" dirty="0"/>
              <a:t>Minimum</a:t>
            </a:r>
          </a:p>
          <a:p>
            <a:pPr lvl="2">
              <a:spcBef>
                <a:spcPts val="700"/>
              </a:spcBef>
              <a:buClr>
                <a:schemeClr val="dk1"/>
              </a:buClr>
              <a:buSzPts val="1100"/>
              <a:buFont typeface="Arial" panose="020B0604020202020204" pitchFamily="34" charset="0"/>
              <a:buChar char="•"/>
            </a:pPr>
            <a:r>
              <a:rPr lang="en-US" sz="1440" dirty="0"/>
              <a:t>75% frontal overlap</a:t>
            </a:r>
          </a:p>
          <a:p>
            <a:pPr lvl="2">
              <a:spcBef>
                <a:spcPts val="700"/>
              </a:spcBef>
              <a:buClr>
                <a:schemeClr val="dk1"/>
              </a:buClr>
              <a:buSzPts val="1100"/>
              <a:buFont typeface="Arial" panose="020B0604020202020204" pitchFamily="34" charset="0"/>
              <a:buChar char="•"/>
            </a:pPr>
            <a:r>
              <a:rPr lang="en-US" sz="1440" dirty="0"/>
              <a:t>60% side overlap</a:t>
            </a:r>
          </a:p>
          <a:p>
            <a:pPr lvl="1">
              <a:spcBef>
                <a:spcPts val="0"/>
              </a:spcBef>
              <a:buClr>
                <a:schemeClr val="dk1"/>
              </a:buClr>
              <a:buSzPts val="1100"/>
              <a:buFont typeface="Wingdings" panose="05000000000000000000" pitchFamily="2" charset="2"/>
              <a:buChar char="ü"/>
            </a:pPr>
            <a:r>
              <a:rPr lang="en-US" sz="1800" b="1" dirty="0"/>
              <a:t>BUT this depends</a:t>
            </a:r>
          </a:p>
          <a:p>
            <a:pPr lvl="2">
              <a:spcBef>
                <a:spcPts val="700"/>
              </a:spcBef>
              <a:spcAft>
                <a:spcPts val="700"/>
              </a:spcAft>
              <a:buClr>
                <a:schemeClr val="dk1"/>
              </a:buClr>
              <a:buSzPts val="1100"/>
              <a:buFont typeface="Arial" panose="020B0604020202020204" pitchFamily="34" charset="0"/>
              <a:buChar char="•"/>
            </a:pPr>
            <a:r>
              <a:rPr lang="en-US" sz="1080" dirty="0"/>
              <a:t>Higher overlap is needed for thermal imagery and high relief terrain</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28</a:t>
            </a:fld>
            <a:endParaRPr lang="en-US"/>
          </a:p>
        </p:txBody>
      </p:sp>
      <p:pic>
        <p:nvPicPr>
          <p:cNvPr id="3" name="Google Shape;356;p35" descr="overlap">
            <a:extLst>
              <a:ext uri="{FF2B5EF4-FFF2-40B4-BE49-F238E27FC236}">
                <a16:creationId xmlns:a16="http://schemas.microsoft.com/office/drawing/2014/main" id="{3C76EF0F-BB20-C3E1-24CC-5FC6407325FB}"/>
              </a:ext>
            </a:extLst>
          </p:cNvPr>
          <p:cNvPicPr preferRelativeResize="0"/>
          <p:nvPr/>
        </p:nvPicPr>
        <p:blipFill rotWithShape="1">
          <a:blip r:embed="rId3">
            <a:alphaModFix/>
          </a:blip>
          <a:srcRect/>
          <a:stretch/>
        </p:blipFill>
        <p:spPr>
          <a:xfrm>
            <a:off x="1353153" y="3044449"/>
            <a:ext cx="2573476" cy="1544100"/>
          </a:xfrm>
          <a:prstGeom prst="rect">
            <a:avLst/>
          </a:prstGeom>
          <a:noFill/>
          <a:ln>
            <a:noFill/>
          </a:ln>
        </p:spPr>
      </p:pic>
      <p:pic>
        <p:nvPicPr>
          <p:cNvPr id="8" name="Google Shape;357;p35" descr="overlap">
            <a:extLst>
              <a:ext uri="{FF2B5EF4-FFF2-40B4-BE49-F238E27FC236}">
                <a16:creationId xmlns:a16="http://schemas.microsoft.com/office/drawing/2014/main" id="{D171D619-262D-EEC2-558A-58B51C1BD567}"/>
              </a:ext>
            </a:extLst>
          </p:cNvPr>
          <p:cNvPicPr preferRelativeResize="0">
            <a:picLocks/>
          </p:cNvPicPr>
          <p:nvPr/>
        </p:nvPicPr>
        <p:blipFill rotWithShape="1">
          <a:blip r:embed="rId4">
            <a:alphaModFix/>
          </a:blip>
          <a:srcRect r="31138"/>
          <a:stretch/>
        </p:blipFill>
        <p:spPr>
          <a:xfrm>
            <a:off x="5275338" y="1495806"/>
            <a:ext cx="2429700" cy="1963800"/>
          </a:xfrm>
          <a:prstGeom prst="rect">
            <a:avLst/>
          </a:prstGeom>
          <a:noFill/>
          <a:ln>
            <a:noFill/>
          </a:ln>
        </p:spPr>
      </p:pic>
    </p:spTree>
    <p:extLst>
      <p:ext uri="{BB962C8B-B14F-4D97-AF65-F5344CB8AC3E}">
        <p14:creationId xmlns:p14="http://schemas.microsoft.com/office/powerpoint/2010/main" val="36607773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57326" y="14547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45489"/>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Overlap</a:t>
            </a:r>
          </a:p>
          <a:p>
            <a:pPr lvl="1">
              <a:spcBef>
                <a:spcPts val="0"/>
              </a:spcBef>
              <a:buClr>
                <a:schemeClr val="dk1"/>
              </a:buClr>
              <a:buSzPts val="1100"/>
              <a:buFont typeface="Wingdings" panose="05000000000000000000" pitchFamily="2" charset="2"/>
              <a:buChar char="ü"/>
            </a:pPr>
            <a:r>
              <a:rPr lang="en-US" sz="1800" b="1" dirty="0"/>
              <a:t>Agriculture and dense vegetation</a:t>
            </a:r>
          </a:p>
          <a:p>
            <a:pPr lvl="2">
              <a:spcBef>
                <a:spcPts val="700"/>
              </a:spcBef>
              <a:buClr>
                <a:schemeClr val="dk1"/>
              </a:buClr>
              <a:buSzPts val="1100"/>
              <a:buFont typeface="Arial" panose="020B0604020202020204" pitchFamily="34" charset="0"/>
              <a:buChar char="•"/>
            </a:pPr>
            <a:r>
              <a:rPr lang="en-US" sz="1440" dirty="0"/>
              <a:t>85% frontal overlap</a:t>
            </a:r>
          </a:p>
          <a:p>
            <a:pPr lvl="2">
              <a:spcBef>
                <a:spcPts val="700"/>
              </a:spcBef>
              <a:buClr>
                <a:schemeClr val="dk1"/>
              </a:buClr>
              <a:buSzPts val="1100"/>
              <a:buFont typeface="Arial" panose="020B0604020202020204" pitchFamily="34" charset="0"/>
              <a:buChar char="•"/>
            </a:pPr>
            <a:r>
              <a:rPr lang="en-US" sz="1440" dirty="0"/>
              <a:t>80% side overlap</a:t>
            </a:r>
          </a:p>
          <a:p>
            <a:pPr lvl="1">
              <a:spcBef>
                <a:spcPts val="0"/>
              </a:spcBef>
              <a:buClr>
                <a:schemeClr val="dk1"/>
              </a:buClr>
              <a:buSzPts val="1100"/>
              <a:buFont typeface="Wingdings" panose="05000000000000000000" pitchFamily="2" charset="2"/>
              <a:buChar char="ü"/>
            </a:pPr>
            <a:r>
              <a:rPr lang="en-US" sz="1800" b="1" dirty="0"/>
              <a:t>Aim for 5-10 cm/pixel GSD</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29</a:t>
            </a:fld>
            <a:endParaRPr lang="en-US"/>
          </a:p>
        </p:txBody>
      </p:sp>
      <p:pic>
        <p:nvPicPr>
          <p:cNvPr id="2" name="Google Shape;364;p36" descr="Agriculture field">
            <a:extLst>
              <a:ext uri="{FF2B5EF4-FFF2-40B4-BE49-F238E27FC236}">
                <a16:creationId xmlns:a16="http://schemas.microsoft.com/office/drawing/2014/main" id="{BDCBDF84-6066-934A-FC52-235D015389C5}"/>
              </a:ext>
            </a:extLst>
          </p:cNvPr>
          <p:cNvPicPr preferRelativeResize="0"/>
          <p:nvPr/>
        </p:nvPicPr>
        <p:blipFill>
          <a:blip r:embed="rId3">
            <a:alphaModFix/>
          </a:blip>
          <a:stretch>
            <a:fillRect/>
          </a:stretch>
        </p:blipFill>
        <p:spPr>
          <a:xfrm>
            <a:off x="1031581" y="2647857"/>
            <a:ext cx="4866299" cy="2393250"/>
          </a:xfrm>
          <a:prstGeom prst="rect">
            <a:avLst/>
          </a:prstGeom>
          <a:noFill/>
          <a:ln>
            <a:noFill/>
          </a:ln>
        </p:spPr>
      </p:pic>
    </p:spTree>
    <p:extLst>
      <p:ext uri="{BB962C8B-B14F-4D97-AF65-F5344CB8AC3E}">
        <p14:creationId xmlns:p14="http://schemas.microsoft.com/office/powerpoint/2010/main" val="39063010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306312" y="14542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45489"/>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Select a launch point</a:t>
            </a:r>
          </a:p>
          <a:p>
            <a:pPr lvl="1">
              <a:spcBef>
                <a:spcPts val="0"/>
              </a:spcBef>
              <a:buSzPts val="1900"/>
              <a:buFont typeface="Wingdings" panose="05000000000000000000" pitchFamily="2" charset="2"/>
              <a:buChar char="ü"/>
            </a:pPr>
            <a:r>
              <a:rPr lang="en-US" sz="2000" dirty="0"/>
              <a:t>Launch </a:t>
            </a:r>
            <a:r>
              <a:rPr lang="en-US" sz="2000" b="1" dirty="0"/>
              <a:t>high</a:t>
            </a:r>
            <a:r>
              <a:rPr lang="en-US" sz="2000" dirty="0"/>
              <a:t> for safety &amp; better GPS reception</a:t>
            </a:r>
          </a:p>
          <a:p>
            <a:pPr lvl="1">
              <a:spcBef>
                <a:spcPts val="0"/>
              </a:spcBef>
              <a:buSzPts val="1900"/>
              <a:buFont typeface="Wingdings" panose="05000000000000000000" pitchFamily="2" charset="2"/>
              <a:buChar char="ü"/>
            </a:pPr>
            <a:r>
              <a:rPr lang="en-US" sz="2000" b="1" dirty="0"/>
              <a:t>Flat</a:t>
            </a:r>
            <a:r>
              <a:rPr lang="en-US" sz="2000" dirty="0"/>
              <a:t> is good</a:t>
            </a:r>
          </a:p>
          <a:p>
            <a:pPr lvl="1">
              <a:spcBef>
                <a:spcPts val="0"/>
              </a:spcBef>
              <a:buSzPts val="1900"/>
              <a:buFont typeface="Wingdings" panose="05000000000000000000" pitchFamily="2" charset="2"/>
              <a:buChar char="ü"/>
            </a:pPr>
            <a:r>
              <a:rPr lang="en-US" sz="2000" b="1" dirty="0"/>
              <a:t>Level</a:t>
            </a:r>
            <a:r>
              <a:rPr lang="en-US" sz="2000" dirty="0"/>
              <a:t> is even better</a:t>
            </a:r>
          </a:p>
          <a:p>
            <a:pPr lvl="1">
              <a:spcBef>
                <a:spcPts val="0"/>
              </a:spcBef>
              <a:buSzPts val="1900"/>
              <a:buFont typeface="Wingdings" panose="05000000000000000000" pitchFamily="2" charset="2"/>
              <a:buChar char="ü"/>
            </a:pPr>
            <a:r>
              <a:rPr lang="en-US" sz="2000" b="1" dirty="0"/>
              <a:t>Away</a:t>
            </a:r>
            <a:r>
              <a:rPr lang="en-US" sz="2000" dirty="0"/>
              <a:t> from obstacles</a:t>
            </a:r>
          </a:p>
          <a:p>
            <a:pPr lvl="1">
              <a:spcBef>
                <a:spcPts val="0"/>
              </a:spcBef>
              <a:buSzPts val="1900"/>
              <a:buFont typeface="Wingdings" panose="05000000000000000000" pitchFamily="2" charset="2"/>
              <a:buChar char="ü"/>
            </a:pPr>
            <a:r>
              <a:rPr lang="en-US" sz="2000" dirty="0"/>
              <a:t>Sun at your </a:t>
            </a:r>
            <a:r>
              <a:rPr lang="en-US" sz="2000" b="1" dirty="0"/>
              <a:t>back</a:t>
            </a:r>
          </a:p>
          <a:p>
            <a:pPr lvl="1">
              <a:spcBef>
                <a:spcPts val="0"/>
              </a:spcBef>
              <a:buSzPts val="1900"/>
              <a:buFont typeface="Wingdings" panose="05000000000000000000" pitchFamily="2" charset="2"/>
              <a:buChar char="ü"/>
            </a:pPr>
            <a:r>
              <a:rPr lang="en-US" sz="2000" b="1" dirty="0"/>
              <a:t>Downwind</a:t>
            </a:r>
            <a:r>
              <a:rPr lang="en-US" sz="2000" dirty="0"/>
              <a:t> from AOI (area of interest)</a:t>
            </a:r>
          </a:p>
          <a:p>
            <a:pPr lvl="1">
              <a:spcBef>
                <a:spcPts val="0"/>
              </a:spcBef>
              <a:buSzPts val="1900"/>
              <a:buFont typeface="Wingdings" panose="05000000000000000000" pitchFamily="2" charset="2"/>
              <a:buChar char="ü"/>
            </a:pPr>
            <a:r>
              <a:rPr lang="en-US" sz="2000" b="1" dirty="0"/>
              <a:t>Minimize</a:t>
            </a:r>
            <a:r>
              <a:rPr lang="en-US" sz="2000" dirty="0"/>
              <a:t> time between flights</a:t>
            </a:r>
          </a:p>
          <a:p>
            <a:pPr lvl="1">
              <a:spcBef>
                <a:spcPts val="0"/>
              </a:spcBef>
              <a:buSzPts val="1900"/>
              <a:buFont typeface="Wingdings" panose="05000000000000000000" pitchFamily="2" charset="2"/>
              <a:buChar char="ü"/>
            </a:pPr>
            <a:r>
              <a:rPr lang="en-US" sz="2000" dirty="0"/>
              <a:t>Use a </a:t>
            </a:r>
            <a:r>
              <a:rPr lang="en-US" sz="2000" b="1" dirty="0"/>
              <a:t>landing pad</a:t>
            </a:r>
            <a:r>
              <a:rPr lang="en-US" sz="2000" dirty="0"/>
              <a:t> in dusty environments</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30</a:t>
            </a:fld>
            <a:endParaRPr lang="en-US"/>
          </a:p>
        </p:txBody>
      </p:sp>
      <p:pic>
        <p:nvPicPr>
          <p:cNvPr id="3" name="Google Shape;394;p39" descr="launch point">
            <a:extLst>
              <a:ext uri="{FF2B5EF4-FFF2-40B4-BE49-F238E27FC236}">
                <a16:creationId xmlns:a16="http://schemas.microsoft.com/office/drawing/2014/main" id="{3851D990-6882-80A9-3D89-FC71F6337139}"/>
              </a:ext>
            </a:extLst>
          </p:cNvPr>
          <p:cNvPicPr preferRelativeResize="0"/>
          <p:nvPr/>
        </p:nvPicPr>
        <p:blipFill rotWithShape="1">
          <a:blip r:embed="rId3">
            <a:alphaModFix/>
          </a:blip>
          <a:srcRect/>
          <a:stretch/>
        </p:blipFill>
        <p:spPr>
          <a:xfrm>
            <a:off x="5135434" y="1628998"/>
            <a:ext cx="2682686" cy="2114455"/>
          </a:xfrm>
          <a:prstGeom prst="rect">
            <a:avLst/>
          </a:prstGeom>
          <a:noFill/>
          <a:ln>
            <a:noFill/>
          </a:ln>
        </p:spPr>
      </p:pic>
    </p:spTree>
    <p:extLst>
      <p:ext uri="{BB962C8B-B14F-4D97-AF65-F5344CB8AC3E}">
        <p14:creationId xmlns:p14="http://schemas.microsoft.com/office/powerpoint/2010/main" val="32462778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65490" y="16046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45489"/>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Ground Control Points</a:t>
            </a:r>
          </a:p>
          <a:p>
            <a:pPr lvl="1">
              <a:spcBef>
                <a:spcPts val="0"/>
              </a:spcBef>
              <a:buSzPts val="1900"/>
              <a:buFont typeface="Wingdings" panose="05000000000000000000" pitchFamily="2" charset="2"/>
              <a:buChar char="ü"/>
            </a:pPr>
            <a:r>
              <a:rPr lang="en-US" sz="2000" dirty="0"/>
              <a:t>Need precise geo-registration for overlays</a:t>
            </a:r>
          </a:p>
          <a:p>
            <a:pPr lvl="1">
              <a:spcBef>
                <a:spcPts val="0"/>
              </a:spcBef>
              <a:buSzPts val="1900"/>
              <a:buFont typeface="Wingdings" panose="05000000000000000000" pitchFamily="2" charset="2"/>
              <a:buChar char="ü"/>
            </a:pPr>
            <a:r>
              <a:rPr lang="en-US" sz="2000" dirty="0"/>
              <a:t>Need to mosaic multiple flights over complex topography</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31</a:t>
            </a:fld>
            <a:endParaRPr lang="en-US"/>
          </a:p>
        </p:txBody>
      </p:sp>
      <p:pic>
        <p:nvPicPr>
          <p:cNvPr id="2" name="Google Shape;640;p51" descr="control points">
            <a:extLst>
              <a:ext uri="{FF2B5EF4-FFF2-40B4-BE49-F238E27FC236}">
                <a16:creationId xmlns:a16="http://schemas.microsoft.com/office/drawing/2014/main" id="{07A04644-98F0-F3F3-7A4C-0B05C61A6CF1}"/>
              </a:ext>
            </a:extLst>
          </p:cNvPr>
          <p:cNvPicPr preferRelativeResize="0"/>
          <p:nvPr/>
        </p:nvPicPr>
        <p:blipFill>
          <a:blip r:embed="rId3">
            <a:alphaModFix/>
          </a:blip>
          <a:stretch>
            <a:fillRect/>
          </a:stretch>
        </p:blipFill>
        <p:spPr>
          <a:xfrm>
            <a:off x="5219026" y="1208151"/>
            <a:ext cx="2019850" cy="2085275"/>
          </a:xfrm>
          <a:prstGeom prst="rect">
            <a:avLst/>
          </a:prstGeom>
          <a:noFill/>
          <a:ln>
            <a:noFill/>
          </a:ln>
        </p:spPr>
      </p:pic>
      <p:pic>
        <p:nvPicPr>
          <p:cNvPr id="4" name="Google Shape;643;p51" descr="control points">
            <a:extLst>
              <a:ext uri="{FF2B5EF4-FFF2-40B4-BE49-F238E27FC236}">
                <a16:creationId xmlns:a16="http://schemas.microsoft.com/office/drawing/2014/main" id="{215016CF-0F92-383E-AAA2-EF0B2BEBB961}"/>
              </a:ext>
            </a:extLst>
          </p:cNvPr>
          <p:cNvPicPr preferRelativeResize="0"/>
          <p:nvPr/>
        </p:nvPicPr>
        <p:blipFill>
          <a:blip r:embed="rId4">
            <a:alphaModFix/>
          </a:blip>
          <a:stretch>
            <a:fillRect/>
          </a:stretch>
        </p:blipFill>
        <p:spPr>
          <a:xfrm>
            <a:off x="5219025" y="3483858"/>
            <a:ext cx="1209105" cy="760010"/>
          </a:xfrm>
          <a:prstGeom prst="rect">
            <a:avLst/>
          </a:prstGeom>
          <a:noFill/>
          <a:ln>
            <a:noFill/>
          </a:ln>
        </p:spPr>
      </p:pic>
      <p:pic>
        <p:nvPicPr>
          <p:cNvPr id="8" name="Google Shape;644;p51" descr="control points">
            <a:extLst>
              <a:ext uri="{FF2B5EF4-FFF2-40B4-BE49-F238E27FC236}">
                <a16:creationId xmlns:a16="http://schemas.microsoft.com/office/drawing/2014/main" id="{DAD0B0EB-6AD2-CF9C-D9F8-1191E054E2CD}"/>
              </a:ext>
            </a:extLst>
          </p:cNvPr>
          <p:cNvPicPr preferRelativeResize="0"/>
          <p:nvPr/>
        </p:nvPicPr>
        <p:blipFill>
          <a:blip r:embed="rId5">
            <a:alphaModFix/>
          </a:blip>
          <a:stretch>
            <a:fillRect/>
          </a:stretch>
        </p:blipFill>
        <p:spPr>
          <a:xfrm>
            <a:off x="6504038" y="3478100"/>
            <a:ext cx="800313" cy="771525"/>
          </a:xfrm>
          <a:prstGeom prst="rect">
            <a:avLst/>
          </a:prstGeom>
          <a:noFill/>
          <a:ln>
            <a:noFill/>
          </a:ln>
        </p:spPr>
      </p:pic>
    </p:spTree>
    <p:extLst>
      <p:ext uri="{BB962C8B-B14F-4D97-AF65-F5344CB8AC3E}">
        <p14:creationId xmlns:p14="http://schemas.microsoft.com/office/powerpoint/2010/main" val="2806603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89983" y="15544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45489"/>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Mission Planning Apps</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32</a:t>
            </a:fld>
            <a:endParaRPr lang="en-US"/>
          </a:p>
        </p:txBody>
      </p:sp>
      <p:sp>
        <p:nvSpPr>
          <p:cNvPr id="19" name="Google Shape;675;p55">
            <a:extLst>
              <a:ext uri="{FF2B5EF4-FFF2-40B4-BE49-F238E27FC236}">
                <a16:creationId xmlns:a16="http://schemas.microsoft.com/office/drawing/2014/main" id="{18850351-F61F-9EEC-0E2C-4F2FA51A5A73}"/>
              </a:ext>
            </a:extLst>
          </p:cNvPr>
          <p:cNvSpPr/>
          <p:nvPr/>
        </p:nvSpPr>
        <p:spPr>
          <a:xfrm>
            <a:off x="1484121" y="1686827"/>
            <a:ext cx="2674200" cy="459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solidFill>
                  <a:srgbClr val="000000"/>
                </a:solidFill>
              </a:rPr>
              <a:t>Pix4D Capture</a:t>
            </a:r>
            <a:endParaRPr sz="900">
              <a:solidFill>
                <a:srgbClr val="000000"/>
              </a:solidFill>
            </a:endParaRPr>
          </a:p>
        </p:txBody>
      </p:sp>
      <p:sp>
        <p:nvSpPr>
          <p:cNvPr id="20" name="Google Shape;676;p55">
            <a:extLst>
              <a:ext uri="{FF2B5EF4-FFF2-40B4-BE49-F238E27FC236}">
                <a16:creationId xmlns:a16="http://schemas.microsoft.com/office/drawing/2014/main" id="{AB81DDCF-CE20-34F3-92A6-6C2A08DDAD6D}"/>
              </a:ext>
            </a:extLst>
          </p:cNvPr>
          <p:cNvSpPr/>
          <p:nvPr/>
        </p:nvSpPr>
        <p:spPr>
          <a:xfrm>
            <a:off x="1484121" y="2768625"/>
            <a:ext cx="2006700" cy="459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solidFill>
                  <a:srgbClr val="000000"/>
                </a:solidFill>
              </a:rPr>
              <a:t>DroneDeploy</a:t>
            </a:r>
            <a:endParaRPr sz="900">
              <a:solidFill>
                <a:srgbClr val="000000"/>
              </a:solidFill>
            </a:endParaRPr>
          </a:p>
        </p:txBody>
      </p:sp>
      <p:pic>
        <p:nvPicPr>
          <p:cNvPr id="21" name="Google Shape;677;p55" descr="pix4d">
            <a:extLst>
              <a:ext uri="{FF2B5EF4-FFF2-40B4-BE49-F238E27FC236}">
                <a16:creationId xmlns:a16="http://schemas.microsoft.com/office/drawing/2014/main" id="{E876BC34-5336-2F31-527C-A66201E97D30}"/>
              </a:ext>
            </a:extLst>
          </p:cNvPr>
          <p:cNvPicPr preferRelativeResize="0"/>
          <p:nvPr/>
        </p:nvPicPr>
        <p:blipFill rotWithShape="1">
          <a:blip r:embed="rId3">
            <a:alphaModFix/>
          </a:blip>
          <a:srcRect/>
          <a:stretch/>
        </p:blipFill>
        <p:spPr>
          <a:xfrm>
            <a:off x="463725" y="1505142"/>
            <a:ext cx="846585" cy="822960"/>
          </a:xfrm>
          <a:prstGeom prst="rect">
            <a:avLst/>
          </a:prstGeom>
          <a:noFill/>
          <a:ln>
            <a:noFill/>
          </a:ln>
        </p:spPr>
      </p:pic>
      <p:pic>
        <p:nvPicPr>
          <p:cNvPr id="22" name="Google Shape;678;p55" descr="drone deploy">
            <a:extLst>
              <a:ext uri="{FF2B5EF4-FFF2-40B4-BE49-F238E27FC236}">
                <a16:creationId xmlns:a16="http://schemas.microsoft.com/office/drawing/2014/main" id="{1995B852-52B1-96D0-62AA-873CE1277A03}"/>
              </a:ext>
            </a:extLst>
          </p:cNvPr>
          <p:cNvPicPr preferRelativeResize="0"/>
          <p:nvPr/>
        </p:nvPicPr>
        <p:blipFill rotWithShape="1">
          <a:blip r:embed="rId4">
            <a:alphaModFix/>
          </a:blip>
          <a:srcRect/>
          <a:stretch/>
        </p:blipFill>
        <p:spPr>
          <a:xfrm>
            <a:off x="469871" y="2586948"/>
            <a:ext cx="834285" cy="822960"/>
          </a:xfrm>
          <a:prstGeom prst="rect">
            <a:avLst/>
          </a:prstGeom>
          <a:noFill/>
          <a:ln>
            <a:noFill/>
          </a:ln>
        </p:spPr>
      </p:pic>
      <p:sp>
        <p:nvSpPr>
          <p:cNvPr id="23" name="Google Shape;679;p55">
            <a:extLst>
              <a:ext uri="{FF2B5EF4-FFF2-40B4-BE49-F238E27FC236}">
                <a16:creationId xmlns:a16="http://schemas.microsoft.com/office/drawing/2014/main" id="{5E630A2E-B0BD-612C-3B8D-D9AAD9D28819}"/>
              </a:ext>
            </a:extLst>
          </p:cNvPr>
          <p:cNvSpPr/>
          <p:nvPr/>
        </p:nvSpPr>
        <p:spPr>
          <a:xfrm>
            <a:off x="5730796" y="1686825"/>
            <a:ext cx="2869500" cy="459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t>Precision Flight</a:t>
            </a:r>
            <a:endParaRPr sz="900">
              <a:solidFill>
                <a:srgbClr val="000000"/>
              </a:solidFill>
            </a:endParaRPr>
          </a:p>
        </p:txBody>
      </p:sp>
      <p:pic>
        <p:nvPicPr>
          <p:cNvPr id="24" name="Google Shape;680;p55" descr="DJI pilot">
            <a:extLst>
              <a:ext uri="{FF2B5EF4-FFF2-40B4-BE49-F238E27FC236}">
                <a16:creationId xmlns:a16="http://schemas.microsoft.com/office/drawing/2014/main" id="{C408BD27-07CB-DC0F-7BAF-C2E9F0C3971E}"/>
              </a:ext>
            </a:extLst>
          </p:cNvPr>
          <p:cNvPicPr preferRelativeResize="0"/>
          <p:nvPr/>
        </p:nvPicPr>
        <p:blipFill>
          <a:blip r:embed="rId5">
            <a:alphaModFix/>
          </a:blip>
          <a:stretch>
            <a:fillRect/>
          </a:stretch>
        </p:blipFill>
        <p:spPr>
          <a:xfrm>
            <a:off x="560496" y="3617849"/>
            <a:ext cx="749825" cy="744925"/>
          </a:xfrm>
          <a:prstGeom prst="rect">
            <a:avLst/>
          </a:prstGeom>
          <a:noFill/>
          <a:ln>
            <a:noFill/>
          </a:ln>
        </p:spPr>
      </p:pic>
      <p:sp>
        <p:nvSpPr>
          <p:cNvPr id="25" name="Google Shape;681;p55">
            <a:extLst>
              <a:ext uri="{FF2B5EF4-FFF2-40B4-BE49-F238E27FC236}">
                <a16:creationId xmlns:a16="http://schemas.microsoft.com/office/drawing/2014/main" id="{6A783389-A4D8-4CD5-3260-619E33DFBD0B}"/>
              </a:ext>
            </a:extLst>
          </p:cNvPr>
          <p:cNvSpPr/>
          <p:nvPr/>
        </p:nvSpPr>
        <p:spPr>
          <a:xfrm>
            <a:off x="1433346" y="3690950"/>
            <a:ext cx="2006700" cy="459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t>DJI Pilot</a:t>
            </a:r>
            <a:endParaRPr sz="900">
              <a:solidFill>
                <a:srgbClr val="000000"/>
              </a:solidFill>
            </a:endParaRPr>
          </a:p>
        </p:txBody>
      </p:sp>
      <p:pic>
        <p:nvPicPr>
          <p:cNvPr id="26" name="Google Shape;682;p55" descr="Precision floght">
            <a:extLst>
              <a:ext uri="{FF2B5EF4-FFF2-40B4-BE49-F238E27FC236}">
                <a16:creationId xmlns:a16="http://schemas.microsoft.com/office/drawing/2014/main" id="{178AB556-77ED-5C93-CFE3-E2B0640E5F5A}"/>
              </a:ext>
            </a:extLst>
          </p:cNvPr>
          <p:cNvPicPr preferRelativeResize="0"/>
          <p:nvPr/>
        </p:nvPicPr>
        <p:blipFill>
          <a:blip r:embed="rId6">
            <a:alphaModFix/>
          </a:blip>
          <a:stretch>
            <a:fillRect/>
          </a:stretch>
        </p:blipFill>
        <p:spPr>
          <a:xfrm>
            <a:off x="4649059" y="1452613"/>
            <a:ext cx="928025" cy="928025"/>
          </a:xfrm>
          <a:prstGeom prst="rect">
            <a:avLst/>
          </a:prstGeom>
          <a:noFill/>
          <a:ln>
            <a:noFill/>
          </a:ln>
        </p:spPr>
      </p:pic>
      <p:pic>
        <p:nvPicPr>
          <p:cNvPr id="27" name="Google Shape;683;p55" descr="emostion">
            <a:extLst>
              <a:ext uri="{FF2B5EF4-FFF2-40B4-BE49-F238E27FC236}">
                <a16:creationId xmlns:a16="http://schemas.microsoft.com/office/drawing/2014/main" id="{DE523B51-2DCC-EDB9-4462-2309947AD942}"/>
              </a:ext>
            </a:extLst>
          </p:cNvPr>
          <p:cNvPicPr preferRelativeResize="0"/>
          <p:nvPr/>
        </p:nvPicPr>
        <p:blipFill>
          <a:blip r:embed="rId7">
            <a:alphaModFix/>
          </a:blip>
          <a:stretch>
            <a:fillRect/>
          </a:stretch>
        </p:blipFill>
        <p:spPr>
          <a:xfrm>
            <a:off x="4649071" y="2960249"/>
            <a:ext cx="2643556" cy="657601"/>
          </a:xfrm>
          <a:prstGeom prst="rect">
            <a:avLst/>
          </a:prstGeom>
          <a:noFill/>
          <a:ln>
            <a:noFill/>
          </a:ln>
        </p:spPr>
      </p:pic>
    </p:spTree>
    <p:extLst>
      <p:ext uri="{BB962C8B-B14F-4D97-AF65-F5344CB8AC3E}">
        <p14:creationId xmlns:p14="http://schemas.microsoft.com/office/powerpoint/2010/main" val="37290155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32833" y="15552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52400" y="945489"/>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Mission Planning Apps</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33</a:t>
            </a:fld>
            <a:endParaRPr lang="en-US"/>
          </a:p>
        </p:txBody>
      </p:sp>
      <p:pic>
        <p:nvPicPr>
          <p:cNvPr id="2" name="Google Shape;689;p56" descr="Litchi">
            <a:extLst>
              <a:ext uri="{FF2B5EF4-FFF2-40B4-BE49-F238E27FC236}">
                <a16:creationId xmlns:a16="http://schemas.microsoft.com/office/drawing/2014/main" id="{FD130A88-98C7-6BAB-D460-122CA51A3631}"/>
              </a:ext>
            </a:extLst>
          </p:cNvPr>
          <p:cNvPicPr preferRelativeResize="0"/>
          <p:nvPr/>
        </p:nvPicPr>
        <p:blipFill rotWithShape="1">
          <a:blip r:embed="rId3">
            <a:alphaModFix/>
          </a:blip>
          <a:srcRect/>
          <a:stretch/>
        </p:blipFill>
        <p:spPr>
          <a:xfrm>
            <a:off x="5010212" y="2594201"/>
            <a:ext cx="1011395" cy="1011395"/>
          </a:xfrm>
          <a:prstGeom prst="rect">
            <a:avLst/>
          </a:prstGeom>
          <a:noFill/>
          <a:ln>
            <a:noFill/>
          </a:ln>
        </p:spPr>
      </p:pic>
      <p:sp>
        <p:nvSpPr>
          <p:cNvPr id="3" name="Google Shape;690;p56">
            <a:extLst>
              <a:ext uri="{FF2B5EF4-FFF2-40B4-BE49-F238E27FC236}">
                <a16:creationId xmlns:a16="http://schemas.microsoft.com/office/drawing/2014/main" id="{1C50BCFD-8CD1-CF4C-FF4D-922F990462C2}"/>
              </a:ext>
            </a:extLst>
          </p:cNvPr>
          <p:cNvSpPr/>
          <p:nvPr/>
        </p:nvSpPr>
        <p:spPr>
          <a:xfrm>
            <a:off x="6021600" y="1858101"/>
            <a:ext cx="2918700" cy="392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solidFill>
                  <a:srgbClr val="000000"/>
                </a:solidFill>
              </a:rPr>
              <a:t>Map Pilot</a:t>
            </a:r>
            <a:endParaRPr sz="900">
              <a:solidFill>
                <a:srgbClr val="000000"/>
              </a:solidFill>
            </a:endParaRPr>
          </a:p>
        </p:txBody>
      </p:sp>
      <p:pic>
        <p:nvPicPr>
          <p:cNvPr id="4" name="Google Shape;691;p56" descr="Map pilot">
            <a:extLst>
              <a:ext uri="{FF2B5EF4-FFF2-40B4-BE49-F238E27FC236}">
                <a16:creationId xmlns:a16="http://schemas.microsoft.com/office/drawing/2014/main" id="{15039CC6-E28F-ACA6-B90C-2AB70CEC6A7E}"/>
              </a:ext>
            </a:extLst>
          </p:cNvPr>
          <p:cNvPicPr preferRelativeResize="0"/>
          <p:nvPr/>
        </p:nvPicPr>
        <p:blipFill rotWithShape="1">
          <a:blip r:embed="rId4">
            <a:alphaModFix/>
          </a:blip>
          <a:srcRect/>
          <a:stretch/>
        </p:blipFill>
        <p:spPr>
          <a:xfrm>
            <a:off x="5010213" y="1642828"/>
            <a:ext cx="836378" cy="822960"/>
          </a:xfrm>
          <a:prstGeom prst="rect">
            <a:avLst/>
          </a:prstGeom>
          <a:noFill/>
          <a:ln>
            <a:noFill/>
          </a:ln>
        </p:spPr>
      </p:pic>
      <p:sp>
        <p:nvSpPr>
          <p:cNvPr id="8" name="Google Shape;692;p56">
            <a:extLst>
              <a:ext uri="{FF2B5EF4-FFF2-40B4-BE49-F238E27FC236}">
                <a16:creationId xmlns:a16="http://schemas.microsoft.com/office/drawing/2014/main" id="{B1908BC4-70CD-67DE-A1D9-DDF283CFC834}"/>
              </a:ext>
            </a:extLst>
          </p:cNvPr>
          <p:cNvSpPr/>
          <p:nvPr/>
        </p:nvSpPr>
        <p:spPr>
          <a:xfrm>
            <a:off x="6091351" y="2874451"/>
            <a:ext cx="2819400" cy="392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solidFill>
                  <a:srgbClr val="000000"/>
                </a:solidFill>
              </a:rPr>
              <a:t>Litchi</a:t>
            </a:r>
            <a:endParaRPr sz="900">
              <a:solidFill>
                <a:srgbClr val="000000"/>
              </a:solidFill>
            </a:endParaRPr>
          </a:p>
        </p:txBody>
      </p:sp>
      <p:pic>
        <p:nvPicPr>
          <p:cNvPr id="9" name="Google Shape;693;p56" descr="Image result for dji gsp">
            <a:extLst>
              <a:ext uri="{FF2B5EF4-FFF2-40B4-BE49-F238E27FC236}">
                <a16:creationId xmlns:a16="http://schemas.microsoft.com/office/drawing/2014/main" id="{8E6ABF18-9118-CCA5-F573-4079D0DAE9FE}"/>
              </a:ext>
            </a:extLst>
          </p:cNvPr>
          <p:cNvPicPr preferRelativeResize="0"/>
          <p:nvPr/>
        </p:nvPicPr>
        <p:blipFill rotWithShape="1">
          <a:blip r:embed="rId5">
            <a:alphaModFix/>
          </a:blip>
          <a:srcRect/>
          <a:stretch/>
        </p:blipFill>
        <p:spPr>
          <a:xfrm>
            <a:off x="448679" y="1574596"/>
            <a:ext cx="959406" cy="959406"/>
          </a:xfrm>
          <a:prstGeom prst="rect">
            <a:avLst/>
          </a:prstGeom>
          <a:noFill/>
          <a:ln>
            <a:noFill/>
          </a:ln>
        </p:spPr>
      </p:pic>
      <p:sp>
        <p:nvSpPr>
          <p:cNvPr id="10" name="Google Shape;694;p56">
            <a:extLst>
              <a:ext uri="{FF2B5EF4-FFF2-40B4-BE49-F238E27FC236}">
                <a16:creationId xmlns:a16="http://schemas.microsoft.com/office/drawing/2014/main" id="{A932C9E5-F97C-B76E-8FE6-5A23F3E62E20}"/>
              </a:ext>
            </a:extLst>
          </p:cNvPr>
          <p:cNvSpPr/>
          <p:nvPr/>
        </p:nvSpPr>
        <p:spPr>
          <a:xfrm>
            <a:off x="1509451" y="1766626"/>
            <a:ext cx="3087900" cy="46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solidFill>
                  <a:srgbClr val="000000"/>
                </a:solidFill>
              </a:rPr>
              <a:t>DJI Ground Station Pro</a:t>
            </a:r>
            <a:endParaRPr sz="900">
              <a:solidFill>
                <a:srgbClr val="000000"/>
              </a:solidFill>
            </a:endParaRPr>
          </a:p>
        </p:txBody>
      </p:sp>
      <p:pic>
        <p:nvPicPr>
          <p:cNvPr id="11" name="Google Shape;695;p56" descr="Image result for drone harmony app">
            <a:extLst>
              <a:ext uri="{FF2B5EF4-FFF2-40B4-BE49-F238E27FC236}">
                <a16:creationId xmlns:a16="http://schemas.microsoft.com/office/drawing/2014/main" id="{484492FF-5762-EA7A-C879-1DBAA40B0A0B}"/>
              </a:ext>
            </a:extLst>
          </p:cNvPr>
          <p:cNvPicPr preferRelativeResize="0"/>
          <p:nvPr/>
        </p:nvPicPr>
        <p:blipFill rotWithShape="1">
          <a:blip r:embed="rId6">
            <a:alphaModFix/>
          </a:blip>
          <a:srcRect/>
          <a:stretch/>
        </p:blipFill>
        <p:spPr>
          <a:xfrm>
            <a:off x="448666" y="2619160"/>
            <a:ext cx="902993" cy="902993"/>
          </a:xfrm>
          <a:prstGeom prst="rect">
            <a:avLst/>
          </a:prstGeom>
          <a:noFill/>
          <a:ln>
            <a:noFill/>
          </a:ln>
        </p:spPr>
      </p:pic>
      <p:sp>
        <p:nvSpPr>
          <p:cNvPr id="12" name="Google Shape;696;p56">
            <a:extLst>
              <a:ext uri="{FF2B5EF4-FFF2-40B4-BE49-F238E27FC236}">
                <a16:creationId xmlns:a16="http://schemas.microsoft.com/office/drawing/2014/main" id="{28AAD270-6EDE-CDF5-AB90-92EFA6A58225}"/>
              </a:ext>
            </a:extLst>
          </p:cNvPr>
          <p:cNvSpPr/>
          <p:nvPr/>
        </p:nvSpPr>
        <p:spPr>
          <a:xfrm>
            <a:off x="1453026" y="2869503"/>
            <a:ext cx="2877900" cy="46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solidFill>
                  <a:srgbClr val="000000"/>
                </a:solidFill>
                <a:uFill>
                  <a:noFill/>
                </a:uFill>
                <a:hlinkClick r:id="rId7"/>
              </a:rPr>
              <a:t>Drone Harmony</a:t>
            </a:r>
            <a:endParaRPr sz="900">
              <a:solidFill>
                <a:srgbClr val="000000"/>
              </a:solidFill>
            </a:endParaRPr>
          </a:p>
        </p:txBody>
      </p:sp>
      <p:pic>
        <p:nvPicPr>
          <p:cNvPr id="13" name="Google Shape;697;p56" descr="QGroundStation">
            <a:extLst>
              <a:ext uri="{FF2B5EF4-FFF2-40B4-BE49-F238E27FC236}">
                <a16:creationId xmlns:a16="http://schemas.microsoft.com/office/drawing/2014/main" id="{C526AF4D-5B8D-9799-C057-3406AA676B76}"/>
              </a:ext>
            </a:extLst>
          </p:cNvPr>
          <p:cNvPicPr preferRelativeResize="0"/>
          <p:nvPr/>
        </p:nvPicPr>
        <p:blipFill>
          <a:blip r:embed="rId8">
            <a:alphaModFix/>
          </a:blip>
          <a:stretch>
            <a:fillRect/>
          </a:stretch>
        </p:blipFill>
        <p:spPr>
          <a:xfrm>
            <a:off x="542102" y="3661751"/>
            <a:ext cx="772549" cy="772549"/>
          </a:xfrm>
          <a:prstGeom prst="rect">
            <a:avLst/>
          </a:prstGeom>
          <a:noFill/>
          <a:ln>
            <a:noFill/>
          </a:ln>
        </p:spPr>
      </p:pic>
      <p:sp>
        <p:nvSpPr>
          <p:cNvPr id="14" name="Google Shape;698;p56">
            <a:extLst>
              <a:ext uri="{FF2B5EF4-FFF2-40B4-BE49-F238E27FC236}">
                <a16:creationId xmlns:a16="http://schemas.microsoft.com/office/drawing/2014/main" id="{9ADA8C49-7C5B-D9E6-6914-33A800383B5E}"/>
              </a:ext>
            </a:extLst>
          </p:cNvPr>
          <p:cNvSpPr/>
          <p:nvPr/>
        </p:nvSpPr>
        <p:spPr>
          <a:xfrm>
            <a:off x="1453026" y="3817628"/>
            <a:ext cx="2877900" cy="46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1900" b="1"/>
              <a:t>QGroundStation</a:t>
            </a:r>
            <a:endParaRPr sz="900">
              <a:solidFill>
                <a:srgbClr val="000000"/>
              </a:solidFill>
            </a:endParaRPr>
          </a:p>
        </p:txBody>
      </p:sp>
    </p:spTree>
    <p:extLst>
      <p:ext uri="{BB962C8B-B14F-4D97-AF65-F5344CB8AC3E}">
        <p14:creationId xmlns:p14="http://schemas.microsoft.com/office/powerpoint/2010/main" val="3769149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7" name="Title 1">
            <a:extLst>
              <a:ext uri="{FF2B5EF4-FFF2-40B4-BE49-F238E27FC236}">
                <a16:creationId xmlns:a16="http://schemas.microsoft.com/office/drawing/2014/main" id="{51E54524-380D-41A6-A353-85CF53C9DCA4}"/>
              </a:ext>
            </a:extLst>
          </p:cNvPr>
          <p:cNvSpPr txBox="1">
            <a:spLocks/>
          </p:cNvSpPr>
          <p:nvPr/>
        </p:nvSpPr>
        <p:spPr>
          <a:xfrm>
            <a:off x="209102" y="17402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Mission Plan</a:t>
            </a:r>
            <a:endParaRPr lang="en-US" sz="2600" dirty="0">
              <a:solidFill>
                <a:srgbClr val="7030A0"/>
              </a:solidFill>
            </a:endParaRPr>
          </a:p>
        </p:txBody>
      </p:sp>
      <p:cxnSp>
        <p:nvCxnSpPr>
          <p:cNvPr id="18" name="Straight Connector 17">
            <a:extLst>
              <a:ext uri="{FF2B5EF4-FFF2-40B4-BE49-F238E27FC236}">
                <a16:creationId xmlns:a16="http://schemas.microsoft.com/office/drawing/2014/main" id="{F2CBF883-8EB0-4C6F-BBFA-0A93216550A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Google Shape;168;p24">
            <a:extLst>
              <a:ext uri="{FF2B5EF4-FFF2-40B4-BE49-F238E27FC236}">
                <a16:creationId xmlns:a16="http://schemas.microsoft.com/office/drawing/2014/main" id="{70AC5C13-9AE7-7057-455E-79CF550BD060}"/>
              </a:ext>
            </a:extLst>
          </p:cNvPr>
          <p:cNvSpPr txBox="1">
            <a:spLocks/>
          </p:cNvSpPr>
          <p:nvPr/>
        </p:nvSpPr>
        <p:spPr>
          <a:xfrm>
            <a:off x="118533" y="1444187"/>
            <a:ext cx="5122938" cy="3478871"/>
          </a:xfrm>
          <a:prstGeom prst="rect">
            <a:avLst/>
          </a:prstGeom>
        </p:spPr>
        <p:txBody>
          <a:bodyPr spcFirstLastPara="1" vert="horz" wrap="square" lIns="91425" tIns="91425" rIns="91425" bIns="91425" rtlCol="0" anchor="t" anchorCtr="0">
            <a:noAutofit/>
          </a:bodyPr>
          <a:lstStyle>
            <a:lvl1pPr marL="308610" indent="-308610" algn="l" defTabSz="411480" rtl="0" eaLnBrk="1" latinLnBrk="0" hangingPunct="1">
              <a:spcBef>
                <a:spcPct val="20000"/>
              </a:spcBef>
              <a:buFont typeface="Arial"/>
              <a:buChar char="•"/>
              <a:defRPr sz="252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16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180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62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62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62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62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62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620" kern="1200">
                <a:solidFill>
                  <a:schemeClr val="tx1"/>
                </a:solidFill>
                <a:latin typeface="+mn-lt"/>
                <a:ea typeface="+mn-ea"/>
                <a:cs typeface="+mn-cs"/>
              </a:defRPr>
            </a:lvl9pPr>
          </a:lstStyle>
          <a:p>
            <a:pPr lvl="0">
              <a:spcBef>
                <a:spcPts val="0"/>
              </a:spcBef>
              <a:spcAft>
                <a:spcPts val="0"/>
              </a:spcAft>
              <a:buSzPts val="1900"/>
              <a:buFont typeface="Courier New" panose="02070309020205020404" pitchFamily="49" charset="0"/>
              <a:buChar char="o"/>
            </a:pPr>
            <a:r>
              <a:rPr lang="en-US" sz="2400" dirty="0"/>
              <a:t>Outputs</a:t>
            </a:r>
          </a:p>
          <a:p>
            <a:pPr marL="411480" lvl="1" indent="0">
              <a:spcBef>
                <a:spcPts val="0"/>
              </a:spcBef>
              <a:buNone/>
            </a:pPr>
            <a:endParaRPr lang="en-US" sz="1240" dirty="0"/>
          </a:p>
        </p:txBody>
      </p:sp>
      <p:sp>
        <p:nvSpPr>
          <p:cNvPr id="6" name="TextBox 5">
            <a:extLst>
              <a:ext uri="{FF2B5EF4-FFF2-40B4-BE49-F238E27FC236}">
                <a16:creationId xmlns:a16="http://schemas.microsoft.com/office/drawing/2014/main" id="{16716A46-0654-BF87-9221-31FFC591EC6E}"/>
              </a:ext>
            </a:extLst>
          </p:cNvPr>
          <p:cNvSpPr txBox="1"/>
          <p:nvPr/>
        </p:nvSpPr>
        <p:spPr>
          <a:xfrm>
            <a:off x="5976256" y="4798400"/>
            <a:ext cx="987879" cy="276999"/>
          </a:xfrm>
          <a:prstGeom prst="rect">
            <a:avLst/>
          </a:prstGeom>
          <a:noFill/>
        </p:spPr>
        <p:txBody>
          <a:bodyPr wrap="square" rtlCol="0">
            <a:spAutoFit/>
          </a:bodyPr>
          <a:lstStyle/>
          <a:p>
            <a:r>
              <a:rPr lang="en-US" sz="1200" dirty="0">
                <a:solidFill>
                  <a:srgbClr val="7030A0"/>
                </a:solidFill>
              </a:rPr>
              <a:t>Drone Camp</a:t>
            </a:r>
          </a:p>
        </p:txBody>
      </p:sp>
      <p:sp>
        <p:nvSpPr>
          <p:cNvPr id="7" name="Slide Number Placeholder 6">
            <a:extLst>
              <a:ext uri="{FF2B5EF4-FFF2-40B4-BE49-F238E27FC236}">
                <a16:creationId xmlns:a16="http://schemas.microsoft.com/office/drawing/2014/main" id="{63988028-9E7D-B047-689F-D53857207D8D}"/>
              </a:ext>
            </a:extLst>
          </p:cNvPr>
          <p:cNvSpPr>
            <a:spLocks noGrp="1"/>
          </p:cNvSpPr>
          <p:nvPr>
            <p:ph type="sldNum" sz="quarter" idx="12"/>
          </p:nvPr>
        </p:nvSpPr>
        <p:spPr/>
        <p:txBody>
          <a:bodyPr/>
          <a:lstStyle/>
          <a:p>
            <a:fld id="{127DDC20-79C9-9647-820E-6D40A3D210C3}" type="slidenum">
              <a:rPr lang="en-US" smtClean="0"/>
              <a:pPr/>
              <a:t>34</a:t>
            </a:fld>
            <a:endParaRPr lang="en-US"/>
          </a:p>
        </p:txBody>
      </p:sp>
      <p:pic>
        <p:nvPicPr>
          <p:cNvPr id="3" name="Google Shape;280;p32" descr="Drone images">
            <a:extLst>
              <a:ext uri="{FF2B5EF4-FFF2-40B4-BE49-F238E27FC236}">
                <a16:creationId xmlns:a16="http://schemas.microsoft.com/office/drawing/2014/main" id="{8E3EC8E7-5595-2E66-49E1-6663D19611AA}"/>
              </a:ext>
            </a:extLst>
          </p:cNvPr>
          <p:cNvPicPr preferRelativeResize="0"/>
          <p:nvPr/>
        </p:nvPicPr>
        <p:blipFill rotWithShape="1">
          <a:blip r:embed="rId3">
            <a:alphaModFix/>
          </a:blip>
          <a:srcRect l="41924" b="13718"/>
          <a:stretch/>
        </p:blipFill>
        <p:spPr>
          <a:xfrm>
            <a:off x="5906522" y="1043730"/>
            <a:ext cx="2116568" cy="1692959"/>
          </a:xfrm>
          <a:prstGeom prst="rect">
            <a:avLst/>
          </a:prstGeom>
          <a:noFill/>
          <a:ln>
            <a:noFill/>
          </a:ln>
        </p:spPr>
      </p:pic>
      <p:sp>
        <p:nvSpPr>
          <p:cNvPr id="8" name="Google Shape;281;p32">
            <a:extLst>
              <a:ext uri="{FF2B5EF4-FFF2-40B4-BE49-F238E27FC236}">
                <a16:creationId xmlns:a16="http://schemas.microsoft.com/office/drawing/2014/main" id="{6E9F9C2E-09FF-9348-9904-034A44846611}"/>
              </a:ext>
            </a:extLst>
          </p:cNvPr>
          <p:cNvSpPr/>
          <p:nvPr/>
        </p:nvSpPr>
        <p:spPr>
          <a:xfrm rot="4694305">
            <a:off x="4404088" y="1645666"/>
            <a:ext cx="104494" cy="2715019"/>
          </a:xfrm>
          <a:prstGeom prst="downArrow">
            <a:avLst>
              <a:gd name="adj1" fmla="val 38751"/>
              <a:gd name="adj2" fmla="val 47728"/>
            </a:avLst>
          </a:prstGeom>
          <a:solidFill>
            <a:srgbClr val="999999"/>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 name="Google Shape;282;p32" descr="orthomosaic image">
            <a:extLst>
              <a:ext uri="{FF2B5EF4-FFF2-40B4-BE49-F238E27FC236}">
                <a16:creationId xmlns:a16="http://schemas.microsoft.com/office/drawing/2014/main" id="{688DF4D7-BE5A-EBE0-BAF2-BF8951B4E6AD}"/>
              </a:ext>
            </a:extLst>
          </p:cNvPr>
          <p:cNvPicPr preferRelativeResize="0"/>
          <p:nvPr/>
        </p:nvPicPr>
        <p:blipFill rotWithShape="1">
          <a:blip r:embed="rId4">
            <a:alphaModFix/>
          </a:blip>
          <a:srcRect/>
          <a:stretch/>
        </p:blipFill>
        <p:spPr>
          <a:xfrm>
            <a:off x="67040" y="3269626"/>
            <a:ext cx="1017448" cy="1017448"/>
          </a:xfrm>
          <a:prstGeom prst="rect">
            <a:avLst/>
          </a:prstGeom>
          <a:noFill/>
          <a:ln w="9525" cap="flat" cmpd="sng">
            <a:solidFill>
              <a:srgbClr val="FFFFFF"/>
            </a:solidFill>
            <a:prstDash val="solid"/>
            <a:round/>
            <a:headEnd type="none" w="sm" len="sm"/>
            <a:tailEnd type="none" w="sm" len="sm"/>
          </a:ln>
          <a:effectLst>
            <a:outerShdw blurRad="50800" dist="38100" dir="2700000" algn="tl" rotWithShape="0">
              <a:srgbClr val="000000">
                <a:alpha val="40000"/>
              </a:srgbClr>
            </a:outerShdw>
          </a:effectLst>
        </p:spPr>
      </p:pic>
      <p:sp>
        <p:nvSpPr>
          <p:cNvPr id="10" name="Google Shape;283;p32">
            <a:extLst>
              <a:ext uri="{FF2B5EF4-FFF2-40B4-BE49-F238E27FC236}">
                <a16:creationId xmlns:a16="http://schemas.microsoft.com/office/drawing/2014/main" id="{F7DD0E4C-B2BB-A5A1-9DF2-04C531858894}"/>
              </a:ext>
            </a:extLst>
          </p:cNvPr>
          <p:cNvSpPr txBox="1"/>
          <p:nvPr/>
        </p:nvSpPr>
        <p:spPr>
          <a:xfrm>
            <a:off x="67037" y="4422793"/>
            <a:ext cx="1058100" cy="234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 b="1">
                <a:solidFill>
                  <a:srgbClr val="000000"/>
                </a:solidFill>
                <a:latin typeface="Calibri"/>
                <a:ea typeface="Calibri"/>
                <a:cs typeface="Calibri"/>
                <a:sym typeface="Calibri"/>
              </a:rPr>
              <a:t>Orthomosaic</a:t>
            </a:r>
            <a:endParaRPr sz="800"/>
          </a:p>
        </p:txBody>
      </p:sp>
      <p:pic>
        <p:nvPicPr>
          <p:cNvPr id="11" name="Google Shape;284;p32" descr="DSM">
            <a:extLst>
              <a:ext uri="{FF2B5EF4-FFF2-40B4-BE49-F238E27FC236}">
                <a16:creationId xmlns:a16="http://schemas.microsoft.com/office/drawing/2014/main" id="{5A3E5968-7360-C4B8-F111-C7E797DCF998}"/>
              </a:ext>
            </a:extLst>
          </p:cNvPr>
          <p:cNvPicPr preferRelativeResize="0"/>
          <p:nvPr/>
        </p:nvPicPr>
        <p:blipFill rotWithShape="1">
          <a:blip r:embed="rId5">
            <a:alphaModFix/>
          </a:blip>
          <a:srcRect/>
          <a:stretch/>
        </p:blipFill>
        <p:spPr>
          <a:xfrm>
            <a:off x="5647581" y="3287260"/>
            <a:ext cx="897629" cy="1017313"/>
          </a:xfrm>
          <a:prstGeom prst="rect">
            <a:avLst/>
          </a:prstGeom>
          <a:noFill/>
          <a:ln w="9525" cap="flat" cmpd="sng">
            <a:solidFill>
              <a:srgbClr val="FFFFFF"/>
            </a:solidFill>
            <a:prstDash val="solid"/>
            <a:round/>
            <a:headEnd type="none" w="sm" len="sm"/>
            <a:tailEnd type="none" w="sm" len="sm"/>
          </a:ln>
          <a:effectLst>
            <a:outerShdw blurRad="50800" dist="38100" dir="2700000" algn="tl" rotWithShape="0">
              <a:srgbClr val="000000">
                <a:alpha val="40000"/>
              </a:srgbClr>
            </a:outerShdw>
          </a:effectLst>
        </p:spPr>
      </p:pic>
      <p:sp>
        <p:nvSpPr>
          <p:cNvPr id="12" name="Google Shape;285;p32">
            <a:extLst>
              <a:ext uri="{FF2B5EF4-FFF2-40B4-BE49-F238E27FC236}">
                <a16:creationId xmlns:a16="http://schemas.microsoft.com/office/drawing/2014/main" id="{F0A437C7-FFD2-9C17-A29A-F43E462EFA7C}"/>
              </a:ext>
            </a:extLst>
          </p:cNvPr>
          <p:cNvSpPr txBox="1"/>
          <p:nvPr/>
        </p:nvSpPr>
        <p:spPr>
          <a:xfrm>
            <a:off x="5647541" y="4422793"/>
            <a:ext cx="897600" cy="3048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 b="1">
                <a:solidFill>
                  <a:srgbClr val="000000"/>
                </a:solidFill>
                <a:latin typeface="Calibri"/>
                <a:ea typeface="Calibri"/>
                <a:cs typeface="Calibri"/>
                <a:sym typeface="Calibri"/>
              </a:rPr>
              <a:t>DSM</a:t>
            </a:r>
            <a:endParaRPr sz="800"/>
          </a:p>
        </p:txBody>
      </p:sp>
      <p:sp>
        <p:nvSpPr>
          <p:cNvPr id="13" name="Google Shape;286;p32">
            <a:extLst>
              <a:ext uri="{FF2B5EF4-FFF2-40B4-BE49-F238E27FC236}">
                <a16:creationId xmlns:a16="http://schemas.microsoft.com/office/drawing/2014/main" id="{06162E5E-CAD5-8EC5-388C-16EC24543CE5}"/>
              </a:ext>
            </a:extLst>
          </p:cNvPr>
          <p:cNvSpPr txBox="1"/>
          <p:nvPr/>
        </p:nvSpPr>
        <p:spPr>
          <a:xfrm>
            <a:off x="1924912" y="4422793"/>
            <a:ext cx="1017000" cy="2343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 b="1">
                <a:latin typeface="Calibri"/>
                <a:ea typeface="Calibri"/>
                <a:cs typeface="Calibri"/>
                <a:sym typeface="Calibri"/>
              </a:rPr>
              <a:t>Veg Indices</a:t>
            </a:r>
            <a:endParaRPr sz="800"/>
          </a:p>
        </p:txBody>
      </p:sp>
      <p:pic>
        <p:nvPicPr>
          <p:cNvPr id="14" name="Google Shape;287;p32" descr="vegetation index">
            <a:extLst>
              <a:ext uri="{FF2B5EF4-FFF2-40B4-BE49-F238E27FC236}">
                <a16:creationId xmlns:a16="http://schemas.microsoft.com/office/drawing/2014/main" id="{33ACEDD7-12DE-79A0-288F-9A4C309CCF6B}"/>
              </a:ext>
            </a:extLst>
          </p:cNvPr>
          <p:cNvPicPr preferRelativeResize="0"/>
          <p:nvPr/>
        </p:nvPicPr>
        <p:blipFill rotWithShape="1">
          <a:blip r:embed="rId6">
            <a:alphaModFix/>
          </a:blip>
          <a:srcRect/>
          <a:stretch/>
        </p:blipFill>
        <p:spPr>
          <a:xfrm>
            <a:off x="1924917" y="3269627"/>
            <a:ext cx="1024493" cy="1024493"/>
          </a:xfrm>
          <a:prstGeom prst="rect">
            <a:avLst/>
          </a:prstGeom>
          <a:noFill/>
          <a:ln w="9525" cap="flat" cmpd="sng">
            <a:solidFill>
              <a:srgbClr val="FFFFFF"/>
            </a:solidFill>
            <a:prstDash val="solid"/>
            <a:round/>
            <a:headEnd type="none" w="sm" len="sm"/>
            <a:tailEnd type="none" w="sm" len="sm"/>
          </a:ln>
          <a:effectLst>
            <a:outerShdw blurRad="50800" dist="38100" dir="2700000" algn="tl" rotWithShape="0">
              <a:srgbClr val="000000">
                <a:alpha val="40000"/>
              </a:srgbClr>
            </a:outerShdw>
          </a:effectLst>
        </p:spPr>
      </p:pic>
      <p:pic>
        <p:nvPicPr>
          <p:cNvPr id="15" name="Google Shape;288;p32" descr="textured mesh">
            <a:extLst>
              <a:ext uri="{FF2B5EF4-FFF2-40B4-BE49-F238E27FC236}">
                <a16:creationId xmlns:a16="http://schemas.microsoft.com/office/drawing/2014/main" id="{85B5446C-63BE-A2C7-40A7-8C0BE41404BA}"/>
              </a:ext>
            </a:extLst>
          </p:cNvPr>
          <p:cNvPicPr preferRelativeResize="0"/>
          <p:nvPr/>
        </p:nvPicPr>
        <p:blipFill rotWithShape="1">
          <a:blip r:embed="rId7">
            <a:alphaModFix/>
          </a:blip>
          <a:srcRect/>
          <a:stretch/>
        </p:blipFill>
        <p:spPr>
          <a:xfrm>
            <a:off x="7136359" y="3260965"/>
            <a:ext cx="1017041" cy="1017041"/>
          </a:xfrm>
          <a:prstGeom prst="rect">
            <a:avLst/>
          </a:prstGeom>
          <a:noFill/>
          <a:ln w="9525" cap="flat" cmpd="sng">
            <a:solidFill>
              <a:srgbClr val="FFFFFF"/>
            </a:solidFill>
            <a:prstDash val="solid"/>
            <a:round/>
            <a:headEnd type="none" w="sm" len="sm"/>
            <a:tailEnd type="none" w="sm" len="sm"/>
          </a:ln>
          <a:effectLst>
            <a:outerShdw blurRad="50800" dist="38100" dir="2700000" algn="tl" rotWithShape="0">
              <a:srgbClr val="000000">
                <a:alpha val="40000"/>
              </a:srgbClr>
            </a:outerShdw>
          </a:effectLst>
        </p:spPr>
      </p:pic>
      <p:sp>
        <p:nvSpPr>
          <p:cNvPr id="16" name="Google Shape;289;p32">
            <a:extLst>
              <a:ext uri="{FF2B5EF4-FFF2-40B4-BE49-F238E27FC236}">
                <a16:creationId xmlns:a16="http://schemas.microsoft.com/office/drawing/2014/main" id="{AB54A869-B6C8-9068-86FC-8C5CDC829145}"/>
              </a:ext>
            </a:extLst>
          </p:cNvPr>
          <p:cNvSpPr txBox="1"/>
          <p:nvPr/>
        </p:nvSpPr>
        <p:spPr>
          <a:xfrm>
            <a:off x="7228113" y="4412379"/>
            <a:ext cx="1017000" cy="3987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 b="1" dirty="0">
                <a:solidFill>
                  <a:srgbClr val="000000"/>
                </a:solidFill>
                <a:latin typeface="Calibri"/>
                <a:ea typeface="Calibri"/>
                <a:cs typeface="Calibri"/>
                <a:sym typeface="Calibri"/>
              </a:rPr>
              <a:t>Textured Mesh</a:t>
            </a:r>
            <a:endParaRPr sz="800" dirty="0"/>
          </a:p>
        </p:txBody>
      </p:sp>
      <p:pic>
        <p:nvPicPr>
          <p:cNvPr id="19" name="Google Shape;290;p32" descr="point cloud">
            <a:extLst>
              <a:ext uri="{FF2B5EF4-FFF2-40B4-BE49-F238E27FC236}">
                <a16:creationId xmlns:a16="http://schemas.microsoft.com/office/drawing/2014/main" id="{83A41A0E-9892-92B9-39DB-534A26B28A3D}"/>
              </a:ext>
            </a:extLst>
          </p:cNvPr>
          <p:cNvPicPr preferRelativeResize="0"/>
          <p:nvPr/>
        </p:nvPicPr>
        <p:blipFill rotWithShape="1">
          <a:blip r:embed="rId8">
            <a:alphaModFix/>
          </a:blip>
          <a:srcRect/>
          <a:stretch/>
        </p:blipFill>
        <p:spPr>
          <a:xfrm>
            <a:off x="3789839" y="3287262"/>
            <a:ext cx="1017313" cy="1017313"/>
          </a:xfrm>
          <a:prstGeom prst="rect">
            <a:avLst/>
          </a:prstGeom>
          <a:noFill/>
          <a:ln w="9525" cap="flat" cmpd="sng">
            <a:solidFill>
              <a:srgbClr val="FFFFFF"/>
            </a:solidFill>
            <a:prstDash val="solid"/>
            <a:round/>
            <a:headEnd type="none" w="sm" len="sm"/>
            <a:tailEnd type="none" w="sm" len="sm"/>
          </a:ln>
          <a:effectLst>
            <a:outerShdw blurRad="50800" dist="38100" dir="2700000" algn="tl" rotWithShape="0">
              <a:srgbClr val="000000">
                <a:alpha val="40000"/>
              </a:srgbClr>
            </a:outerShdw>
          </a:effectLst>
        </p:spPr>
      </p:pic>
      <p:sp>
        <p:nvSpPr>
          <p:cNvPr id="20" name="Google Shape;291;p32">
            <a:extLst>
              <a:ext uri="{FF2B5EF4-FFF2-40B4-BE49-F238E27FC236}">
                <a16:creationId xmlns:a16="http://schemas.microsoft.com/office/drawing/2014/main" id="{82F0B3DB-678E-8B17-2496-EF357C398D39}"/>
              </a:ext>
            </a:extLst>
          </p:cNvPr>
          <p:cNvSpPr txBox="1"/>
          <p:nvPr/>
        </p:nvSpPr>
        <p:spPr>
          <a:xfrm>
            <a:off x="3790262" y="4422793"/>
            <a:ext cx="1017000" cy="2343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 b="1">
                <a:solidFill>
                  <a:srgbClr val="000000"/>
                </a:solidFill>
                <a:latin typeface="Calibri"/>
                <a:ea typeface="Calibri"/>
                <a:cs typeface="Calibri"/>
                <a:sym typeface="Calibri"/>
              </a:rPr>
              <a:t>Point Cloud</a:t>
            </a:r>
            <a:endParaRPr sz="800"/>
          </a:p>
        </p:txBody>
      </p:sp>
      <p:sp>
        <p:nvSpPr>
          <p:cNvPr id="21" name="Google Shape;292;p32">
            <a:extLst>
              <a:ext uri="{FF2B5EF4-FFF2-40B4-BE49-F238E27FC236}">
                <a16:creationId xmlns:a16="http://schemas.microsoft.com/office/drawing/2014/main" id="{F029A070-F341-C885-EC31-725EDF080904}"/>
              </a:ext>
            </a:extLst>
          </p:cNvPr>
          <p:cNvSpPr/>
          <p:nvPr/>
        </p:nvSpPr>
        <p:spPr>
          <a:xfrm rot="4883783">
            <a:off x="3406484" y="627696"/>
            <a:ext cx="128344" cy="4619993"/>
          </a:xfrm>
          <a:prstGeom prst="downArrow">
            <a:avLst>
              <a:gd name="adj1" fmla="val 30518"/>
              <a:gd name="adj2" fmla="val 47728"/>
            </a:avLst>
          </a:prstGeom>
          <a:solidFill>
            <a:srgbClr val="999999"/>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a:solidFill>
                <a:srgbClr val="FFFFFF"/>
              </a:solidFill>
              <a:latin typeface="Calibri"/>
              <a:ea typeface="Calibri"/>
              <a:cs typeface="Calibri"/>
              <a:sym typeface="Calibri"/>
            </a:endParaRPr>
          </a:p>
        </p:txBody>
      </p:sp>
      <p:sp>
        <p:nvSpPr>
          <p:cNvPr id="22" name="Google Shape;293;p32">
            <a:extLst>
              <a:ext uri="{FF2B5EF4-FFF2-40B4-BE49-F238E27FC236}">
                <a16:creationId xmlns:a16="http://schemas.microsoft.com/office/drawing/2014/main" id="{46CE944D-B534-E9C2-BE7E-3EC3D22169B5}"/>
              </a:ext>
            </a:extLst>
          </p:cNvPr>
          <p:cNvSpPr/>
          <p:nvPr/>
        </p:nvSpPr>
        <p:spPr>
          <a:xfrm rot="3905336">
            <a:off x="5396228" y="2507857"/>
            <a:ext cx="88317" cy="1086772"/>
          </a:xfrm>
          <a:prstGeom prst="downArrow">
            <a:avLst>
              <a:gd name="adj1" fmla="val 35310"/>
              <a:gd name="adj2" fmla="val 47728"/>
            </a:avLst>
          </a:prstGeom>
          <a:solidFill>
            <a:srgbClr val="999999"/>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800">
              <a:solidFill>
                <a:srgbClr val="FFFFFF"/>
              </a:solidFill>
              <a:latin typeface="Calibri"/>
              <a:ea typeface="Calibri"/>
              <a:cs typeface="Calibri"/>
              <a:sym typeface="Calibri"/>
            </a:endParaRPr>
          </a:p>
        </p:txBody>
      </p:sp>
      <p:sp>
        <p:nvSpPr>
          <p:cNvPr id="23" name="Google Shape;294;p32">
            <a:extLst>
              <a:ext uri="{FF2B5EF4-FFF2-40B4-BE49-F238E27FC236}">
                <a16:creationId xmlns:a16="http://schemas.microsoft.com/office/drawing/2014/main" id="{7531A816-5AAB-882F-6F43-70DDE374BBCF}"/>
              </a:ext>
            </a:extLst>
          </p:cNvPr>
          <p:cNvSpPr/>
          <p:nvPr/>
        </p:nvSpPr>
        <p:spPr>
          <a:xfrm rot="951234" flipH="1">
            <a:off x="6386953" y="2804206"/>
            <a:ext cx="103227" cy="415543"/>
          </a:xfrm>
          <a:prstGeom prst="downArrow">
            <a:avLst>
              <a:gd name="adj1" fmla="val 38751"/>
              <a:gd name="adj2" fmla="val 47728"/>
            </a:avLst>
          </a:prstGeom>
          <a:solidFill>
            <a:srgbClr val="999999"/>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24" name="Google Shape;295;p32">
            <a:extLst>
              <a:ext uri="{FF2B5EF4-FFF2-40B4-BE49-F238E27FC236}">
                <a16:creationId xmlns:a16="http://schemas.microsoft.com/office/drawing/2014/main" id="{57DF159C-8F3C-94DB-1FF0-1F3643E230C6}"/>
              </a:ext>
            </a:extLst>
          </p:cNvPr>
          <p:cNvSpPr/>
          <p:nvPr/>
        </p:nvSpPr>
        <p:spPr>
          <a:xfrm rot="-5393634" flipH="1">
            <a:off x="5469312" y="1413118"/>
            <a:ext cx="162000" cy="603900"/>
          </a:xfrm>
          <a:prstGeom prst="downArrow">
            <a:avLst>
              <a:gd name="adj1" fmla="val 38751"/>
              <a:gd name="adj2" fmla="val 47728"/>
            </a:avLst>
          </a:prstGeom>
          <a:solidFill>
            <a:srgbClr val="3A383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grpSp>
        <p:nvGrpSpPr>
          <p:cNvPr id="25" name="Google Shape;296;p32" descr="flight path">
            <a:extLst>
              <a:ext uri="{FF2B5EF4-FFF2-40B4-BE49-F238E27FC236}">
                <a16:creationId xmlns:a16="http://schemas.microsoft.com/office/drawing/2014/main" id="{3065B31C-8235-ACAA-7E0F-47EAE886AC75}"/>
              </a:ext>
            </a:extLst>
          </p:cNvPr>
          <p:cNvGrpSpPr/>
          <p:nvPr/>
        </p:nvGrpSpPr>
        <p:grpSpPr>
          <a:xfrm rot="-5400000">
            <a:off x="3979357" y="1033887"/>
            <a:ext cx="1067138" cy="1362351"/>
            <a:chOff x="1562900" y="1496939"/>
            <a:chExt cx="1565407" cy="1998461"/>
          </a:xfrm>
        </p:grpSpPr>
        <p:cxnSp>
          <p:nvCxnSpPr>
            <p:cNvPr id="26" name="Google Shape;297;p32">
              <a:extLst>
                <a:ext uri="{FF2B5EF4-FFF2-40B4-BE49-F238E27FC236}">
                  <a16:creationId xmlns:a16="http://schemas.microsoft.com/office/drawing/2014/main" id="{7C1D6A92-A148-3079-780B-7C1EFFEAE12E}"/>
                </a:ext>
              </a:extLst>
            </p:cNvPr>
            <p:cNvCxnSpPr/>
            <p:nvPr/>
          </p:nvCxnSpPr>
          <p:spPr>
            <a:xfrm rot="10800000">
              <a:off x="1637582" y="1497023"/>
              <a:ext cx="0" cy="1905000"/>
            </a:xfrm>
            <a:prstGeom prst="straightConnector1">
              <a:avLst/>
            </a:prstGeom>
            <a:noFill/>
            <a:ln w="19050" cap="flat" cmpd="sng">
              <a:solidFill>
                <a:srgbClr val="000000"/>
              </a:solidFill>
              <a:prstDash val="solid"/>
              <a:round/>
              <a:headEnd type="none" w="sm" len="sm"/>
              <a:tailEnd type="none" w="sm" len="sm"/>
            </a:ln>
          </p:spPr>
        </p:cxnSp>
        <p:cxnSp>
          <p:nvCxnSpPr>
            <p:cNvPr id="27" name="Google Shape;298;p32">
              <a:extLst>
                <a:ext uri="{FF2B5EF4-FFF2-40B4-BE49-F238E27FC236}">
                  <a16:creationId xmlns:a16="http://schemas.microsoft.com/office/drawing/2014/main" id="{D0C1DA84-0772-717F-8C24-005BC1F83573}"/>
                </a:ext>
              </a:extLst>
            </p:cNvPr>
            <p:cNvCxnSpPr/>
            <p:nvPr/>
          </p:nvCxnSpPr>
          <p:spPr>
            <a:xfrm>
              <a:off x="1637582" y="1496939"/>
              <a:ext cx="475800" cy="0"/>
            </a:xfrm>
            <a:prstGeom prst="straightConnector1">
              <a:avLst/>
            </a:prstGeom>
            <a:noFill/>
            <a:ln w="19050" cap="flat" cmpd="sng">
              <a:solidFill>
                <a:srgbClr val="000000"/>
              </a:solidFill>
              <a:prstDash val="solid"/>
              <a:round/>
              <a:headEnd type="none" w="sm" len="sm"/>
              <a:tailEnd type="none" w="sm" len="sm"/>
            </a:ln>
          </p:spPr>
        </p:cxnSp>
        <p:cxnSp>
          <p:nvCxnSpPr>
            <p:cNvPr id="28" name="Google Shape;299;p32">
              <a:extLst>
                <a:ext uri="{FF2B5EF4-FFF2-40B4-BE49-F238E27FC236}">
                  <a16:creationId xmlns:a16="http://schemas.microsoft.com/office/drawing/2014/main" id="{A47CB07E-5CC0-18B3-56F7-052F5988AB73}"/>
                </a:ext>
              </a:extLst>
            </p:cNvPr>
            <p:cNvCxnSpPr/>
            <p:nvPr/>
          </p:nvCxnSpPr>
          <p:spPr>
            <a:xfrm rot="10800000">
              <a:off x="2113500" y="1497023"/>
              <a:ext cx="0" cy="1905000"/>
            </a:xfrm>
            <a:prstGeom prst="straightConnector1">
              <a:avLst/>
            </a:prstGeom>
            <a:noFill/>
            <a:ln w="19050" cap="flat" cmpd="sng">
              <a:solidFill>
                <a:srgbClr val="000000"/>
              </a:solidFill>
              <a:prstDash val="solid"/>
              <a:round/>
              <a:headEnd type="none" w="sm" len="sm"/>
              <a:tailEnd type="none" w="sm" len="sm"/>
            </a:ln>
          </p:spPr>
        </p:cxnSp>
        <p:cxnSp>
          <p:nvCxnSpPr>
            <p:cNvPr id="29" name="Google Shape;300;p32">
              <a:extLst>
                <a:ext uri="{FF2B5EF4-FFF2-40B4-BE49-F238E27FC236}">
                  <a16:creationId xmlns:a16="http://schemas.microsoft.com/office/drawing/2014/main" id="{155E89DC-1DD7-FBFD-BD30-B4CD9E8ED543}"/>
                </a:ext>
              </a:extLst>
            </p:cNvPr>
            <p:cNvCxnSpPr/>
            <p:nvPr/>
          </p:nvCxnSpPr>
          <p:spPr>
            <a:xfrm>
              <a:off x="2113500" y="3402023"/>
              <a:ext cx="475800" cy="0"/>
            </a:xfrm>
            <a:prstGeom prst="straightConnector1">
              <a:avLst/>
            </a:prstGeom>
            <a:noFill/>
            <a:ln w="19050" cap="flat" cmpd="sng">
              <a:solidFill>
                <a:srgbClr val="000000"/>
              </a:solidFill>
              <a:prstDash val="solid"/>
              <a:round/>
              <a:headEnd type="none" w="sm" len="sm"/>
              <a:tailEnd type="none" w="sm" len="sm"/>
            </a:ln>
          </p:spPr>
        </p:cxnSp>
        <p:cxnSp>
          <p:nvCxnSpPr>
            <p:cNvPr id="30" name="Google Shape;301;p32">
              <a:extLst>
                <a:ext uri="{FF2B5EF4-FFF2-40B4-BE49-F238E27FC236}">
                  <a16:creationId xmlns:a16="http://schemas.microsoft.com/office/drawing/2014/main" id="{D958EF21-8D7B-930E-60D1-8BC305DFC35B}"/>
                </a:ext>
              </a:extLst>
            </p:cNvPr>
            <p:cNvCxnSpPr/>
            <p:nvPr/>
          </p:nvCxnSpPr>
          <p:spPr>
            <a:xfrm rot="10800000">
              <a:off x="2589418" y="1497023"/>
              <a:ext cx="0" cy="1905000"/>
            </a:xfrm>
            <a:prstGeom prst="straightConnector1">
              <a:avLst/>
            </a:prstGeom>
            <a:noFill/>
            <a:ln w="19050" cap="flat" cmpd="sng">
              <a:solidFill>
                <a:srgbClr val="000000"/>
              </a:solidFill>
              <a:prstDash val="solid"/>
              <a:round/>
              <a:headEnd type="none" w="sm" len="sm"/>
              <a:tailEnd type="none" w="sm" len="sm"/>
            </a:ln>
          </p:spPr>
        </p:cxnSp>
        <p:cxnSp>
          <p:nvCxnSpPr>
            <p:cNvPr id="31" name="Google Shape;302;p32">
              <a:extLst>
                <a:ext uri="{FF2B5EF4-FFF2-40B4-BE49-F238E27FC236}">
                  <a16:creationId xmlns:a16="http://schemas.microsoft.com/office/drawing/2014/main" id="{6D15C77B-5CB8-53E6-D314-D098C49E44CA}"/>
                </a:ext>
              </a:extLst>
            </p:cNvPr>
            <p:cNvCxnSpPr/>
            <p:nvPr/>
          </p:nvCxnSpPr>
          <p:spPr>
            <a:xfrm>
              <a:off x="2589418" y="1496939"/>
              <a:ext cx="475800" cy="0"/>
            </a:xfrm>
            <a:prstGeom prst="straightConnector1">
              <a:avLst/>
            </a:prstGeom>
            <a:noFill/>
            <a:ln w="19050" cap="flat" cmpd="sng">
              <a:solidFill>
                <a:srgbClr val="000000"/>
              </a:solidFill>
              <a:prstDash val="solid"/>
              <a:round/>
              <a:headEnd type="none" w="sm" len="sm"/>
              <a:tailEnd type="none" w="sm" len="sm"/>
            </a:ln>
          </p:spPr>
        </p:cxnSp>
        <p:cxnSp>
          <p:nvCxnSpPr>
            <p:cNvPr id="32" name="Google Shape;303;p32">
              <a:extLst>
                <a:ext uri="{FF2B5EF4-FFF2-40B4-BE49-F238E27FC236}">
                  <a16:creationId xmlns:a16="http://schemas.microsoft.com/office/drawing/2014/main" id="{240041BF-018A-5EFC-3B1C-61ECD1A49E09}"/>
                </a:ext>
              </a:extLst>
            </p:cNvPr>
            <p:cNvCxnSpPr/>
            <p:nvPr/>
          </p:nvCxnSpPr>
          <p:spPr>
            <a:xfrm rot="10800000">
              <a:off x="3059039" y="1497023"/>
              <a:ext cx="0" cy="1905000"/>
            </a:xfrm>
            <a:prstGeom prst="straightConnector1">
              <a:avLst/>
            </a:prstGeom>
            <a:noFill/>
            <a:ln w="19050" cap="flat" cmpd="sng">
              <a:solidFill>
                <a:srgbClr val="000000"/>
              </a:solidFill>
              <a:prstDash val="solid"/>
              <a:round/>
              <a:headEnd type="none" w="sm" len="sm"/>
              <a:tailEnd type="none" w="sm" len="sm"/>
            </a:ln>
          </p:spPr>
        </p:cxnSp>
        <p:sp>
          <p:nvSpPr>
            <p:cNvPr id="33" name="Google Shape;304;p32">
              <a:extLst>
                <a:ext uri="{FF2B5EF4-FFF2-40B4-BE49-F238E27FC236}">
                  <a16:creationId xmlns:a16="http://schemas.microsoft.com/office/drawing/2014/main" id="{E691C71D-2874-84C8-AAE1-3C20DF5F2454}"/>
                </a:ext>
              </a:extLst>
            </p:cNvPr>
            <p:cNvSpPr/>
            <p:nvPr/>
          </p:nvSpPr>
          <p:spPr>
            <a:xfrm>
              <a:off x="1562900" y="3390700"/>
              <a:ext cx="142500" cy="104700"/>
            </a:xfrm>
            <a:prstGeom prst="triangle">
              <a:avLst>
                <a:gd name="adj" fmla="val 50000"/>
              </a:avLst>
            </a:prstGeom>
            <a:gradFill>
              <a:gsLst>
                <a:gs pos="0">
                  <a:srgbClr val="70A5DA"/>
                </a:gs>
                <a:gs pos="50000">
                  <a:srgbClr val="539BDB"/>
                </a:gs>
                <a:gs pos="100000">
                  <a:srgbClr val="4288C8"/>
                </a:gs>
              </a:gsLst>
              <a:lin ang="5400012" scaled="0"/>
            </a:gradFill>
            <a:ln w="9525" cap="flat" cmpd="sng">
              <a:solidFill>
                <a:srgbClr val="5B9BD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34" name="Google Shape;305;p32">
              <a:extLst>
                <a:ext uri="{FF2B5EF4-FFF2-40B4-BE49-F238E27FC236}">
                  <a16:creationId xmlns:a16="http://schemas.microsoft.com/office/drawing/2014/main" id="{9FD29F5B-D167-084C-B16D-ECC71D31D5ED}"/>
                </a:ext>
              </a:extLst>
            </p:cNvPr>
            <p:cNvSpPr/>
            <p:nvPr/>
          </p:nvSpPr>
          <p:spPr>
            <a:xfrm>
              <a:off x="1595314" y="1667972"/>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35" name="Google Shape;306;p32">
              <a:extLst>
                <a:ext uri="{FF2B5EF4-FFF2-40B4-BE49-F238E27FC236}">
                  <a16:creationId xmlns:a16="http://schemas.microsoft.com/office/drawing/2014/main" id="{1BB6E0BB-9CFF-803E-E65D-81D45033D968}"/>
                </a:ext>
              </a:extLst>
            </p:cNvPr>
            <p:cNvSpPr/>
            <p:nvPr/>
          </p:nvSpPr>
          <p:spPr>
            <a:xfrm>
              <a:off x="1594177" y="1887539"/>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36" name="Google Shape;307;p32">
              <a:extLst>
                <a:ext uri="{FF2B5EF4-FFF2-40B4-BE49-F238E27FC236}">
                  <a16:creationId xmlns:a16="http://schemas.microsoft.com/office/drawing/2014/main" id="{B5614B5E-D3F6-CEB3-94B3-935247DBDA72}"/>
                </a:ext>
              </a:extLst>
            </p:cNvPr>
            <p:cNvSpPr/>
            <p:nvPr/>
          </p:nvSpPr>
          <p:spPr>
            <a:xfrm>
              <a:off x="1594177" y="2107106"/>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37" name="Google Shape;308;p32">
              <a:extLst>
                <a:ext uri="{FF2B5EF4-FFF2-40B4-BE49-F238E27FC236}">
                  <a16:creationId xmlns:a16="http://schemas.microsoft.com/office/drawing/2014/main" id="{8E848D91-1FFD-4799-C217-B891BC14225C}"/>
                </a:ext>
              </a:extLst>
            </p:cNvPr>
            <p:cNvSpPr/>
            <p:nvPr/>
          </p:nvSpPr>
          <p:spPr>
            <a:xfrm>
              <a:off x="1595314" y="2324690"/>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38" name="Google Shape;309;p32">
              <a:extLst>
                <a:ext uri="{FF2B5EF4-FFF2-40B4-BE49-F238E27FC236}">
                  <a16:creationId xmlns:a16="http://schemas.microsoft.com/office/drawing/2014/main" id="{70C7FE07-D1B7-2B18-1F9E-C39DFDA03F88}"/>
                </a:ext>
              </a:extLst>
            </p:cNvPr>
            <p:cNvSpPr/>
            <p:nvPr/>
          </p:nvSpPr>
          <p:spPr>
            <a:xfrm>
              <a:off x="1594177" y="254425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39" name="Google Shape;310;p32">
              <a:extLst>
                <a:ext uri="{FF2B5EF4-FFF2-40B4-BE49-F238E27FC236}">
                  <a16:creationId xmlns:a16="http://schemas.microsoft.com/office/drawing/2014/main" id="{D5E959E1-10B9-3394-F2EA-697BA62F14CF}"/>
                </a:ext>
              </a:extLst>
            </p:cNvPr>
            <p:cNvSpPr/>
            <p:nvPr/>
          </p:nvSpPr>
          <p:spPr>
            <a:xfrm>
              <a:off x="1594177" y="2763824"/>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0" name="Google Shape;311;p32">
              <a:extLst>
                <a:ext uri="{FF2B5EF4-FFF2-40B4-BE49-F238E27FC236}">
                  <a16:creationId xmlns:a16="http://schemas.microsoft.com/office/drawing/2014/main" id="{FC7D004E-982C-048C-442A-D051A7B5FB07}"/>
                </a:ext>
              </a:extLst>
            </p:cNvPr>
            <p:cNvSpPr/>
            <p:nvPr/>
          </p:nvSpPr>
          <p:spPr>
            <a:xfrm>
              <a:off x="1595314" y="2978001"/>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1" name="Google Shape;312;p32">
              <a:extLst>
                <a:ext uri="{FF2B5EF4-FFF2-40B4-BE49-F238E27FC236}">
                  <a16:creationId xmlns:a16="http://schemas.microsoft.com/office/drawing/2014/main" id="{24F6F5D5-7BD4-FD81-1DB6-11F264CB876E}"/>
                </a:ext>
              </a:extLst>
            </p:cNvPr>
            <p:cNvSpPr/>
            <p:nvPr/>
          </p:nvSpPr>
          <p:spPr>
            <a:xfrm>
              <a:off x="1594177" y="319756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2" name="Google Shape;313;p32">
              <a:extLst>
                <a:ext uri="{FF2B5EF4-FFF2-40B4-BE49-F238E27FC236}">
                  <a16:creationId xmlns:a16="http://schemas.microsoft.com/office/drawing/2014/main" id="{79BC1D7A-45A5-78AD-C465-81E816946663}"/>
                </a:ext>
              </a:extLst>
            </p:cNvPr>
            <p:cNvSpPr/>
            <p:nvPr/>
          </p:nvSpPr>
          <p:spPr>
            <a:xfrm>
              <a:off x="2072370" y="1667972"/>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3" name="Google Shape;314;p32">
              <a:extLst>
                <a:ext uri="{FF2B5EF4-FFF2-40B4-BE49-F238E27FC236}">
                  <a16:creationId xmlns:a16="http://schemas.microsoft.com/office/drawing/2014/main" id="{CC0ED500-38D9-89A0-66A1-FC6DDEE2AD5A}"/>
                </a:ext>
              </a:extLst>
            </p:cNvPr>
            <p:cNvSpPr/>
            <p:nvPr/>
          </p:nvSpPr>
          <p:spPr>
            <a:xfrm>
              <a:off x="2071232" y="1887539"/>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4" name="Google Shape;315;p32">
              <a:extLst>
                <a:ext uri="{FF2B5EF4-FFF2-40B4-BE49-F238E27FC236}">
                  <a16:creationId xmlns:a16="http://schemas.microsoft.com/office/drawing/2014/main" id="{C2C94199-A16F-5A1D-8146-5C48190DC3F1}"/>
                </a:ext>
              </a:extLst>
            </p:cNvPr>
            <p:cNvSpPr/>
            <p:nvPr/>
          </p:nvSpPr>
          <p:spPr>
            <a:xfrm>
              <a:off x="2071232" y="2107106"/>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5" name="Google Shape;316;p32">
              <a:extLst>
                <a:ext uri="{FF2B5EF4-FFF2-40B4-BE49-F238E27FC236}">
                  <a16:creationId xmlns:a16="http://schemas.microsoft.com/office/drawing/2014/main" id="{914C27BF-720E-47C5-E47E-3C91CB9C9E20}"/>
                </a:ext>
              </a:extLst>
            </p:cNvPr>
            <p:cNvSpPr/>
            <p:nvPr/>
          </p:nvSpPr>
          <p:spPr>
            <a:xfrm>
              <a:off x="2072370" y="2324690"/>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6" name="Google Shape;317;p32">
              <a:extLst>
                <a:ext uri="{FF2B5EF4-FFF2-40B4-BE49-F238E27FC236}">
                  <a16:creationId xmlns:a16="http://schemas.microsoft.com/office/drawing/2014/main" id="{2573E515-3230-9A2B-7D62-04F9BCD9450D}"/>
                </a:ext>
              </a:extLst>
            </p:cNvPr>
            <p:cNvSpPr/>
            <p:nvPr/>
          </p:nvSpPr>
          <p:spPr>
            <a:xfrm>
              <a:off x="2071232" y="254425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7" name="Google Shape;318;p32">
              <a:extLst>
                <a:ext uri="{FF2B5EF4-FFF2-40B4-BE49-F238E27FC236}">
                  <a16:creationId xmlns:a16="http://schemas.microsoft.com/office/drawing/2014/main" id="{714494FE-E132-3887-5BFA-5C63A7F2F9FF}"/>
                </a:ext>
              </a:extLst>
            </p:cNvPr>
            <p:cNvSpPr/>
            <p:nvPr/>
          </p:nvSpPr>
          <p:spPr>
            <a:xfrm>
              <a:off x="2071232" y="2763824"/>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8" name="Google Shape;319;p32">
              <a:extLst>
                <a:ext uri="{FF2B5EF4-FFF2-40B4-BE49-F238E27FC236}">
                  <a16:creationId xmlns:a16="http://schemas.microsoft.com/office/drawing/2014/main" id="{C1ABCA35-72F4-C105-98D7-C80A2F8AA26D}"/>
                </a:ext>
              </a:extLst>
            </p:cNvPr>
            <p:cNvSpPr/>
            <p:nvPr/>
          </p:nvSpPr>
          <p:spPr>
            <a:xfrm>
              <a:off x="2072370" y="2978001"/>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49" name="Google Shape;320;p32">
              <a:extLst>
                <a:ext uri="{FF2B5EF4-FFF2-40B4-BE49-F238E27FC236}">
                  <a16:creationId xmlns:a16="http://schemas.microsoft.com/office/drawing/2014/main" id="{00C58D57-6BCB-E682-E7B8-D8A458F97BCF}"/>
                </a:ext>
              </a:extLst>
            </p:cNvPr>
            <p:cNvSpPr/>
            <p:nvPr/>
          </p:nvSpPr>
          <p:spPr>
            <a:xfrm>
              <a:off x="2071232" y="319756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0" name="Google Shape;321;p32">
              <a:extLst>
                <a:ext uri="{FF2B5EF4-FFF2-40B4-BE49-F238E27FC236}">
                  <a16:creationId xmlns:a16="http://schemas.microsoft.com/office/drawing/2014/main" id="{9FF858C1-9B0B-2D39-8E0C-D5B76C04D1C2}"/>
                </a:ext>
              </a:extLst>
            </p:cNvPr>
            <p:cNvSpPr/>
            <p:nvPr/>
          </p:nvSpPr>
          <p:spPr>
            <a:xfrm>
              <a:off x="2544561" y="1667972"/>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1" name="Google Shape;322;p32">
              <a:extLst>
                <a:ext uri="{FF2B5EF4-FFF2-40B4-BE49-F238E27FC236}">
                  <a16:creationId xmlns:a16="http://schemas.microsoft.com/office/drawing/2014/main" id="{4C2016E0-A88F-57C6-6C76-DB53AB13B721}"/>
                </a:ext>
              </a:extLst>
            </p:cNvPr>
            <p:cNvSpPr/>
            <p:nvPr/>
          </p:nvSpPr>
          <p:spPr>
            <a:xfrm>
              <a:off x="2543423" y="1887539"/>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2" name="Google Shape;323;p32">
              <a:extLst>
                <a:ext uri="{FF2B5EF4-FFF2-40B4-BE49-F238E27FC236}">
                  <a16:creationId xmlns:a16="http://schemas.microsoft.com/office/drawing/2014/main" id="{C3F8A61B-8997-7439-95DA-14C8E8FDFA38}"/>
                </a:ext>
              </a:extLst>
            </p:cNvPr>
            <p:cNvSpPr/>
            <p:nvPr/>
          </p:nvSpPr>
          <p:spPr>
            <a:xfrm>
              <a:off x="2543423" y="2107106"/>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3" name="Google Shape;324;p32">
              <a:extLst>
                <a:ext uri="{FF2B5EF4-FFF2-40B4-BE49-F238E27FC236}">
                  <a16:creationId xmlns:a16="http://schemas.microsoft.com/office/drawing/2014/main" id="{E99310FE-3EEB-CF65-D971-063E79D2ECFB}"/>
                </a:ext>
              </a:extLst>
            </p:cNvPr>
            <p:cNvSpPr/>
            <p:nvPr/>
          </p:nvSpPr>
          <p:spPr>
            <a:xfrm>
              <a:off x="2544561" y="2324690"/>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4" name="Google Shape;325;p32">
              <a:extLst>
                <a:ext uri="{FF2B5EF4-FFF2-40B4-BE49-F238E27FC236}">
                  <a16:creationId xmlns:a16="http://schemas.microsoft.com/office/drawing/2014/main" id="{E3377C25-320F-0EBE-0C91-447DD90C7D95}"/>
                </a:ext>
              </a:extLst>
            </p:cNvPr>
            <p:cNvSpPr/>
            <p:nvPr/>
          </p:nvSpPr>
          <p:spPr>
            <a:xfrm>
              <a:off x="2543423" y="254425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5" name="Google Shape;326;p32">
              <a:extLst>
                <a:ext uri="{FF2B5EF4-FFF2-40B4-BE49-F238E27FC236}">
                  <a16:creationId xmlns:a16="http://schemas.microsoft.com/office/drawing/2014/main" id="{62AE04ED-39F1-5B17-EB7A-AD2C8D47C7D2}"/>
                </a:ext>
              </a:extLst>
            </p:cNvPr>
            <p:cNvSpPr/>
            <p:nvPr/>
          </p:nvSpPr>
          <p:spPr>
            <a:xfrm>
              <a:off x="2543423" y="2763824"/>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6" name="Google Shape;327;p32">
              <a:extLst>
                <a:ext uri="{FF2B5EF4-FFF2-40B4-BE49-F238E27FC236}">
                  <a16:creationId xmlns:a16="http://schemas.microsoft.com/office/drawing/2014/main" id="{09BA97A7-9C81-F4A9-B852-420E8A6D5763}"/>
                </a:ext>
              </a:extLst>
            </p:cNvPr>
            <p:cNvSpPr/>
            <p:nvPr/>
          </p:nvSpPr>
          <p:spPr>
            <a:xfrm>
              <a:off x="2544561" y="2978001"/>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7" name="Google Shape;328;p32">
              <a:extLst>
                <a:ext uri="{FF2B5EF4-FFF2-40B4-BE49-F238E27FC236}">
                  <a16:creationId xmlns:a16="http://schemas.microsoft.com/office/drawing/2014/main" id="{1C7401F6-805B-EB5B-6E53-A53FBADB025F}"/>
                </a:ext>
              </a:extLst>
            </p:cNvPr>
            <p:cNvSpPr/>
            <p:nvPr/>
          </p:nvSpPr>
          <p:spPr>
            <a:xfrm>
              <a:off x="2543423" y="319756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8" name="Google Shape;329;p32">
              <a:extLst>
                <a:ext uri="{FF2B5EF4-FFF2-40B4-BE49-F238E27FC236}">
                  <a16:creationId xmlns:a16="http://schemas.microsoft.com/office/drawing/2014/main" id="{54AE6F67-9E0F-433C-5298-A20BA4C6B5B7}"/>
                </a:ext>
              </a:extLst>
            </p:cNvPr>
            <p:cNvSpPr/>
            <p:nvPr/>
          </p:nvSpPr>
          <p:spPr>
            <a:xfrm>
              <a:off x="3016771" y="1667972"/>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59" name="Google Shape;330;p32">
              <a:extLst>
                <a:ext uri="{FF2B5EF4-FFF2-40B4-BE49-F238E27FC236}">
                  <a16:creationId xmlns:a16="http://schemas.microsoft.com/office/drawing/2014/main" id="{614389AE-B5FF-0FF7-F74F-7E02F7DE9C24}"/>
                </a:ext>
              </a:extLst>
            </p:cNvPr>
            <p:cNvSpPr/>
            <p:nvPr/>
          </p:nvSpPr>
          <p:spPr>
            <a:xfrm>
              <a:off x="3015634" y="1887539"/>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60" name="Google Shape;331;p32">
              <a:extLst>
                <a:ext uri="{FF2B5EF4-FFF2-40B4-BE49-F238E27FC236}">
                  <a16:creationId xmlns:a16="http://schemas.microsoft.com/office/drawing/2014/main" id="{95AA2D5C-31C0-0909-5C18-5F126B11E406}"/>
                </a:ext>
              </a:extLst>
            </p:cNvPr>
            <p:cNvSpPr/>
            <p:nvPr/>
          </p:nvSpPr>
          <p:spPr>
            <a:xfrm>
              <a:off x="3015634" y="2107106"/>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61" name="Google Shape;332;p32">
              <a:extLst>
                <a:ext uri="{FF2B5EF4-FFF2-40B4-BE49-F238E27FC236}">
                  <a16:creationId xmlns:a16="http://schemas.microsoft.com/office/drawing/2014/main" id="{EC7F172A-F78A-84FE-E726-DBD3B8DB13BA}"/>
                </a:ext>
              </a:extLst>
            </p:cNvPr>
            <p:cNvSpPr/>
            <p:nvPr/>
          </p:nvSpPr>
          <p:spPr>
            <a:xfrm>
              <a:off x="3016771" y="2324690"/>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62" name="Google Shape;333;p32">
              <a:extLst>
                <a:ext uri="{FF2B5EF4-FFF2-40B4-BE49-F238E27FC236}">
                  <a16:creationId xmlns:a16="http://schemas.microsoft.com/office/drawing/2014/main" id="{7DD162DA-22E7-7076-E750-0E8732CDB7BB}"/>
                </a:ext>
              </a:extLst>
            </p:cNvPr>
            <p:cNvSpPr/>
            <p:nvPr/>
          </p:nvSpPr>
          <p:spPr>
            <a:xfrm>
              <a:off x="3015634" y="254425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63" name="Google Shape;334;p32">
              <a:extLst>
                <a:ext uri="{FF2B5EF4-FFF2-40B4-BE49-F238E27FC236}">
                  <a16:creationId xmlns:a16="http://schemas.microsoft.com/office/drawing/2014/main" id="{0E0F0FA9-0924-1657-ABE5-C47F9D3E483D}"/>
                </a:ext>
              </a:extLst>
            </p:cNvPr>
            <p:cNvSpPr/>
            <p:nvPr/>
          </p:nvSpPr>
          <p:spPr>
            <a:xfrm>
              <a:off x="3015634" y="2763824"/>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64" name="Google Shape;335;p32">
              <a:extLst>
                <a:ext uri="{FF2B5EF4-FFF2-40B4-BE49-F238E27FC236}">
                  <a16:creationId xmlns:a16="http://schemas.microsoft.com/office/drawing/2014/main" id="{7674A0FA-9ABB-1C14-746C-2EDE7192B371}"/>
                </a:ext>
              </a:extLst>
            </p:cNvPr>
            <p:cNvSpPr/>
            <p:nvPr/>
          </p:nvSpPr>
          <p:spPr>
            <a:xfrm>
              <a:off x="3016771" y="2978001"/>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65" name="Google Shape;336;p32">
              <a:extLst>
                <a:ext uri="{FF2B5EF4-FFF2-40B4-BE49-F238E27FC236}">
                  <a16:creationId xmlns:a16="http://schemas.microsoft.com/office/drawing/2014/main" id="{F5E535AD-9615-461D-7255-59DD0B32C6A0}"/>
                </a:ext>
              </a:extLst>
            </p:cNvPr>
            <p:cNvSpPr/>
            <p:nvPr/>
          </p:nvSpPr>
          <p:spPr>
            <a:xfrm>
              <a:off x="3015634" y="3197568"/>
              <a:ext cx="84600" cy="74400"/>
            </a:xfrm>
            <a:prstGeom prst="ellipse">
              <a:avLst/>
            </a:prstGeom>
            <a:solidFill>
              <a:srgbClr val="FF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sp>
          <p:nvSpPr>
            <p:cNvPr id="66" name="Google Shape;337;p32">
              <a:extLst>
                <a:ext uri="{FF2B5EF4-FFF2-40B4-BE49-F238E27FC236}">
                  <a16:creationId xmlns:a16="http://schemas.microsoft.com/office/drawing/2014/main" id="{8E763AC4-967F-F4D2-60F1-30FF5EBED3A4}"/>
                </a:ext>
              </a:extLst>
            </p:cNvPr>
            <p:cNvSpPr/>
            <p:nvPr/>
          </p:nvSpPr>
          <p:spPr>
            <a:xfrm rot="10800000">
              <a:off x="2985807" y="3388539"/>
              <a:ext cx="142500" cy="104700"/>
            </a:xfrm>
            <a:prstGeom prst="triangle">
              <a:avLst>
                <a:gd name="adj" fmla="val 50000"/>
              </a:avLst>
            </a:prstGeom>
            <a:gradFill>
              <a:gsLst>
                <a:gs pos="0">
                  <a:srgbClr val="70A5DA"/>
                </a:gs>
                <a:gs pos="50000">
                  <a:srgbClr val="539BDB"/>
                </a:gs>
                <a:gs pos="100000">
                  <a:srgbClr val="4288C8"/>
                </a:gs>
              </a:gsLst>
              <a:lin ang="5400012" scaled="0"/>
            </a:gradFill>
            <a:ln w="9525" cap="flat" cmpd="sng">
              <a:solidFill>
                <a:srgbClr val="5B9BD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400" b="1">
                <a:solidFill>
                  <a:srgbClr val="000000"/>
                </a:solidFill>
                <a:latin typeface="Arial"/>
                <a:ea typeface="Arial"/>
                <a:cs typeface="Arial"/>
                <a:sym typeface="Arial"/>
              </a:endParaRPr>
            </a:p>
          </p:txBody>
        </p:sp>
      </p:grpSp>
      <p:sp>
        <p:nvSpPr>
          <p:cNvPr id="67" name="Google Shape;338;p32">
            <a:extLst>
              <a:ext uri="{FF2B5EF4-FFF2-40B4-BE49-F238E27FC236}">
                <a16:creationId xmlns:a16="http://schemas.microsoft.com/office/drawing/2014/main" id="{1B752AEA-8FD8-4EC9-9B27-00F3F4500485}"/>
              </a:ext>
            </a:extLst>
          </p:cNvPr>
          <p:cNvSpPr/>
          <p:nvPr/>
        </p:nvSpPr>
        <p:spPr>
          <a:xfrm>
            <a:off x="7580700" y="2803804"/>
            <a:ext cx="104400" cy="398700"/>
          </a:xfrm>
          <a:prstGeom prst="downArrow">
            <a:avLst>
              <a:gd name="adj1" fmla="val 38751"/>
              <a:gd name="adj2" fmla="val 47728"/>
            </a:avLst>
          </a:prstGeom>
          <a:solidFill>
            <a:srgbClr val="999999"/>
          </a:solidFill>
          <a:ln w="9525" cap="flat" cmpd="sng">
            <a:solidFill>
              <a:srgbClr val="99999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Tree>
    <p:extLst>
      <p:ext uri="{BB962C8B-B14F-4D97-AF65-F5344CB8AC3E}">
        <p14:creationId xmlns:p14="http://schemas.microsoft.com/office/powerpoint/2010/main" val="3518710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6CE576C-F94F-F3DB-22FC-5D3AD089387D}"/>
              </a:ext>
            </a:extLst>
          </p:cNvPr>
          <p:cNvPicPr>
            <a:picLocks noGrp="1" noChangeAspect="1"/>
          </p:cNvPicPr>
          <p:nvPr>
            <p:ph sz="half" idx="2"/>
          </p:nvPr>
        </p:nvPicPr>
        <p:blipFill>
          <a:blip r:embed="rId2"/>
          <a:stretch>
            <a:fillRect/>
          </a:stretch>
        </p:blipFill>
        <p:spPr>
          <a:xfrm>
            <a:off x="816965" y="1622708"/>
            <a:ext cx="6522728" cy="3159658"/>
          </a:xfrm>
          <a:prstGeom prst="rect">
            <a:avLst/>
          </a:prstGeom>
        </p:spPr>
      </p:pic>
      <p:sp>
        <p:nvSpPr>
          <p:cNvPr id="5" name="Slide Number Placeholder 4">
            <a:extLst>
              <a:ext uri="{FF2B5EF4-FFF2-40B4-BE49-F238E27FC236}">
                <a16:creationId xmlns:a16="http://schemas.microsoft.com/office/drawing/2014/main" id="{DFC75256-21E9-AF7A-6BCF-31B08E222D00}"/>
              </a:ext>
            </a:extLst>
          </p:cNvPr>
          <p:cNvSpPr>
            <a:spLocks noGrp="1"/>
          </p:cNvSpPr>
          <p:nvPr>
            <p:ph type="sldNum" sz="quarter" idx="12"/>
          </p:nvPr>
        </p:nvSpPr>
        <p:spPr/>
        <p:txBody>
          <a:bodyPr/>
          <a:lstStyle/>
          <a:p>
            <a:fld id="{127DDC20-79C9-9647-820E-6D40A3D210C3}" type="slidenum">
              <a:rPr lang="en-US" smtClean="0"/>
              <a:pPr/>
              <a:t>35</a:t>
            </a:fld>
            <a:endParaRPr lang="en-US"/>
          </a:p>
        </p:txBody>
      </p:sp>
      <p:sp>
        <p:nvSpPr>
          <p:cNvPr id="6" name="Title 1">
            <a:extLst>
              <a:ext uri="{FF2B5EF4-FFF2-40B4-BE49-F238E27FC236}">
                <a16:creationId xmlns:a16="http://schemas.microsoft.com/office/drawing/2014/main" id="{59816109-5144-593A-51FC-8E5791EA0D3A}"/>
              </a:ext>
            </a:extLst>
          </p:cNvPr>
          <p:cNvSpPr txBox="1">
            <a:spLocks/>
          </p:cNvSpPr>
          <p:nvPr/>
        </p:nvSpPr>
        <p:spPr>
          <a:xfrm>
            <a:off x="232833" y="319087"/>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hlinkClick r:id="rId3"/>
              </a:rPr>
              <a:t>Application of Drone</a:t>
            </a:r>
            <a:endParaRPr lang="en-US" sz="2600" dirty="0">
              <a:solidFill>
                <a:srgbClr val="7030A0"/>
              </a:solidFill>
            </a:endParaRPr>
          </a:p>
        </p:txBody>
      </p:sp>
      <p:sp>
        <p:nvSpPr>
          <p:cNvPr id="9" name="TextBox 8">
            <a:extLst>
              <a:ext uri="{FF2B5EF4-FFF2-40B4-BE49-F238E27FC236}">
                <a16:creationId xmlns:a16="http://schemas.microsoft.com/office/drawing/2014/main" id="{CC86ACD9-7D4F-B65F-143F-FE5B85AE6C11}"/>
              </a:ext>
            </a:extLst>
          </p:cNvPr>
          <p:cNvSpPr txBox="1"/>
          <p:nvPr/>
        </p:nvSpPr>
        <p:spPr>
          <a:xfrm>
            <a:off x="547007" y="1058614"/>
            <a:ext cx="3086100" cy="461665"/>
          </a:xfrm>
          <a:prstGeom prst="rect">
            <a:avLst/>
          </a:prstGeom>
          <a:noFill/>
        </p:spPr>
        <p:txBody>
          <a:bodyPr wrap="square" rtlCol="0">
            <a:spAutoFit/>
          </a:bodyPr>
          <a:lstStyle/>
          <a:p>
            <a:r>
              <a:rPr lang="en-US" altLang="zh-CN" sz="2400" dirty="0"/>
              <a:t>Power inspection</a:t>
            </a:r>
          </a:p>
        </p:txBody>
      </p:sp>
    </p:spTree>
    <p:extLst>
      <p:ext uri="{BB962C8B-B14F-4D97-AF65-F5344CB8AC3E}">
        <p14:creationId xmlns:p14="http://schemas.microsoft.com/office/powerpoint/2010/main" val="33645462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36</a:t>
            </a:fld>
            <a:endParaRPr lang="en-US"/>
          </a:p>
        </p:txBody>
      </p:sp>
      <p:pic>
        <p:nvPicPr>
          <p:cNvPr id="6" name="Picture 5">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8.xml><?xml version="1.0" encoding="utf-8"?>
<a:theme xmlns:a="http://schemas.openxmlformats.org/drawingml/2006/main" name="7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9.xml><?xml version="1.0" encoding="utf-8"?>
<a:theme xmlns:a="http://schemas.openxmlformats.org/drawingml/2006/main" name="8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Lecture05_GEOG3319_Receivers</Template>
  <TotalTime>6598</TotalTime>
  <Words>1700</Words>
  <Application>Microsoft Office PowerPoint</Application>
  <PresentationFormat>Custom</PresentationFormat>
  <Paragraphs>278</Paragraphs>
  <Slides>36</Slides>
  <Notes>34</Notes>
  <HiddenSlides>0</HiddenSlides>
  <MMClips>0</MMClips>
  <ScaleCrop>false</ScaleCrop>
  <HeadingPairs>
    <vt:vector size="6" baseType="variant">
      <vt:variant>
        <vt:lpstr>Fonts Used</vt:lpstr>
      </vt:variant>
      <vt:variant>
        <vt:i4>9</vt:i4>
      </vt:variant>
      <vt:variant>
        <vt:lpstr>Theme</vt:lpstr>
      </vt:variant>
      <vt:variant>
        <vt:i4>9</vt:i4>
      </vt:variant>
      <vt:variant>
        <vt:lpstr>Slide Titles</vt:lpstr>
      </vt:variant>
      <vt:variant>
        <vt:i4>36</vt:i4>
      </vt:variant>
    </vt:vector>
  </HeadingPairs>
  <TitlesOfParts>
    <vt:vector size="54" baseType="lpstr">
      <vt:lpstr>FreeSans</vt:lpstr>
      <vt:lpstr>Google Sans</vt:lpstr>
      <vt:lpstr>Arial</vt:lpstr>
      <vt:lpstr>Arial Black</vt:lpstr>
      <vt:lpstr>Calibri</vt:lpstr>
      <vt:lpstr>Courier New</vt:lpstr>
      <vt:lpstr>Lato</vt:lpstr>
      <vt:lpstr>Wingdings</vt:lpstr>
      <vt:lpstr>Wingdings 2</vt:lpstr>
      <vt:lpstr>5_DividendVTI</vt:lpstr>
      <vt:lpstr>3_DividendVTI</vt:lpstr>
      <vt:lpstr>2_DividendVTI</vt:lpstr>
      <vt:lpstr>DividendVTI</vt:lpstr>
      <vt:lpstr>1_DividendVTI</vt:lpstr>
      <vt:lpstr>6_DividendVTI</vt:lpstr>
      <vt:lpstr>Office Theme</vt:lpstr>
      <vt:lpstr>7_DividendVTI</vt:lpstr>
      <vt:lpstr>8_DividendVTI</vt:lpstr>
      <vt:lpstr>WEEK 07 drone  lecture</vt:lpstr>
      <vt:lpstr>7.1  drone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199</cp:revision>
  <dcterms:created xsi:type="dcterms:W3CDTF">2020-07-26T21:20:11Z</dcterms:created>
  <dcterms:modified xsi:type="dcterms:W3CDTF">2025-09-30T15:01:18Z</dcterms:modified>
</cp:coreProperties>
</file>