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  <p:sldMasterId id="2147483672" r:id="rId2"/>
    <p:sldMasterId id="2147483684" r:id="rId3"/>
    <p:sldMasterId id="2147483697" r:id="rId4"/>
  </p:sldMasterIdLst>
  <p:notesMasterIdLst>
    <p:notesMasterId r:id="rId29"/>
  </p:notesMasterIdLst>
  <p:sldIdLst>
    <p:sldId id="914" r:id="rId5"/>
    <p:sldId id="1647" r:id="rId6"/>
    <p:sldId id="1648" r:id="rId7"/>
    <p:sldId id="1650" r:id="rId8"/>
    <p:sldId id="1666" r:id="rId9"/>
    <p:sldId id="1651" r:id="rId10"/>
    <p:sldId id="1656" r:id="rId11"/>
    <p:sldId id="1657" r:id="rId12"/>
    <p:sldId id="1655" r:id="rId13"/>
    <p:sldId id="1649" r:id="rId14"/>
    <p:sldId id="1652" r:id="rId15"/>
    <p:sldId id="1659" r:id="rId16"/>
    <p:sldId id="1660" r:id="rId17"/>
    <p:sldId id="1658" r:id="rId18"/>
    <p:sldId id="1653" r:id="rId19"/>
    <p:sldId id="1662" r:id="rId20"/>
    <p:sldId id="1654" r:id="rId21"/>
    <p:sldId id="1663" r:id="rId22"/>
    <p:sldId id="1664" r:id="rId23"/>
    <p:sldId id="1667" r:id="rId24"/>
    <p:sldId id="1665" r:id="rId25"/>
    <p:sldId id="1668" r:id="rId26"/>
    <p:sldId id="1661" r:id="rId27"/>
    <p:sldId id="270" r:id="rId28"/>
  </p:sldIdLst>
  <p:sldSz cx="8229600" cy="51435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5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3969" autoAdjust="0"/>
  </p:normalViewPr>
  <p:slideViewPr>
    <p:cSldViewPr snapToGrid="0" snapToObjects="1">
      <p:cViewPr varScale="1">
        <p:scale>
          <a:sx n="114" d="100"/>
          <a:sy n="114" d="100"/>
        </p:scale>
        <p:origin x="312" y="102"/>
      </p:cViewPr>
      <p:guideLst>
        <p:guide orient="horz" pos="1620"/>
        <p:guide pos="259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6C520B4-85AA-9542-8CF7-3D2DDCE6041D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696913"/>
            <a:ext cx="5578475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6507943-197E-CE46-82F0-5A323A24AE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73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007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C3EF4-AD61-48A1-B51C-86BBC26A07EE}" type="datetime1">
              <a:rPr lang="en-US" smtClean="0"/>
              <a:t>9/16/2025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265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E9FF5-A3A3-421D-9FE4-C97ACA9B4B66}" type="datetime1">
              <a:rPr lang="en-US" smtClean="0"/>
              <a:t>9/16/2025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127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4F4B-9A6E-4B50-BE3E-090D5038F3B5}" type="datetime1">
              <a:rPr lang="en-US" smtClean="0"/>
              <a:t>9/16/2025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250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9AE4F-ECA9-4391-85A0-0BDC121BC912}" type="datetime1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145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F0038-C403-4E4E-A358-F4B6321C12F5}" type="datetime1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118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52514-E107-4B51-A0E4-6CCBE2731D63}" type="datetime1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692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5C0F4-646D-457B-9990-7D4E2FD4A597}" type="datetime1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477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8E4477A8-A506-4192-A810-B96D85416BE8}" type="datetime1">
              <a:rPr lang="en-US" smtClean="0"/>
              <a:t>9/16/2025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808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01744-7364-4EA9-A9E9-43D8A126DBDD}" type="datetime1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708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992A1-5616-4927-9B49-E60372E9FC72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583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DECA2-35DB-4F3A-8A04-28A5742D3AB4}" type="datetime1">
              <a:rPr lang="en-US" smtClean="0"/>
              <a:t>9/16/2025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6260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C3EF4-AD61-48A1-B51C-86BBC26A07EE}" type="datetime1">
              <a:rPr lang="en-US" smtClean="0"/>
              <a:t>9/16/2025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338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E9FF5-A3A3-421D-9FE4-C97ACA9B4B66}" type="datetime1">
              <a:rPr lang="en-US" smtClean="0"/>
              <a:t>9/16/2025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0545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4F4B-9A6E-4B50-BE3E-090D5038F3B5}" type="datetime1">
              <a:rPr lang="en-US" smtClean="0"/>
              <a:t>9/16/2025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9682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9AE4F-ECA9-4391-85A0-0BDC121BC912}" type="datetime1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3618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F0038-C403-4E4E-A358-F4B6321C12F5}" type="datetime1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2267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52514-E107-4B51-A0E4-6CCBE2731D63}" type="datetime1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3405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5C0F4-646D-457B-9990-7D4E2FD4A597}" type="datetime1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9569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8E4477A8-A506-4192-A810-B96D85416BE8}" type="datetime1">
              <a:rPr lang="en-US" smtClean="0"/>
              <a:t>9/16/2025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6780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01744-7364-4EA9-A9E9-43D8A126DBDD}" type="datetime1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6964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992A1-5616-4927-9B49-E60372E9FC72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61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DECA2-35DB-4F3A-8A04-28A5742D3AB4}" type="datetime1">
              <a:rPr lang="en-US" smtClean="0"/>
              <a:t>9/16/2025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5862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9/16/2025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3141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9/16/2025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9947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9/16/2025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347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8080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621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8263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9317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D82884F1-FFEA-405F-9602-3DCA865EDA4E}" type="datetime1">
              <a:rPr lang="en-US" smtClean="0"/>
              <a:t>9/16/2025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3656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5880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09780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9/16/2025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8568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preserve="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280530" y="597425"/>
            <a:ext cx="766854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876449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9/16/2025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78093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9/16/2025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51410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9/16/2025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35500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57176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080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49807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45019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D82884F1-FFEA-405F-9602-3DCA865EDA4E}" type="datetime1">
              <a:rPr lang="en-US" smtClean="0"/>
              <a:t>9/16/2025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37307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0123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26463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9/16/2025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849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3D9F797-665E-490A-B876-3E21189284AA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13088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3D9F797-665E-490A-B876-3E21189284AA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81538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17543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hf sldNum="0"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76639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sldNum="0"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oc.arcgis.com/en/arcgis-storymaps/gallery/" TargetMode="Externa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storymaps.arcgis.com/stories/cea22a609a1d4cccb8d54c650b595bc4" TargetMode="Externa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oc.arcgis.com/en/dashboards/gallery/" TargetMode="Externa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arcgis.com/apps/dashboards/7edefc1970d44b839ebbfd7b45e51e2d" TargetMode="Externa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esri.com/content/dam/esrisites/en-us/media/pdf/teach-with-gis/introduction-to-ops-dashboard.pdf" TargetMode="Externa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doc.arcgis.com/en/instant-apps/gallery/" TargetMode="Externa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sri.com/arcgis-blog/products/experience-builder/announcements/arcgis-experience-builder-showcased-web-apps-of-2023" TargetMode="External"/><Relationship Id="rId2" Type="http://schemas.openxmlformats.org/officeDocument/2006/relationships/hyperlink" Target="https://www.youtube.com/watch?v=pNrsd5naN7U&amp;list=PLGZUzt4E4O2K7GmDAAQagTlqBWuufDF9F&amp;index=1&amp;t=74s&amp;ab_channel=EsriEvents" TargetMode="Externa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experience.arcgis.com/page/landing" TargetMode="Externa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1.png"/><Relationship Id="rId4" Type="http://schemas.openxmlformats.org/officeDocument/2006/relationships/hyperlink" Target="https://developers.arcgis.com/experience-builder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hyperlink" Target="https://hub-lewisville.opendata.arcgis.com/" TargetMode="External"/><Relationship Id="rId1" Type="http://schemas.openxmlformats.org/officeDocument/2006/relationships/slideLayout" Target="../slideLayouts/slideLayout24.xml"/><Relationship Id="rId6" Type="http://schemas.openxmlformats.org/officeDocument/2006/relationships/hyperlink" Target="https://data-conwayargis.opendata.arcgis.com/" TargetMode="External"/><Relationship Id="rId5" Type="http://schemas.openxmlformats.org/officeDocument/2006/relationships/image" Target="../media/image15.png"/><Relationship Id="rId4" Type="http://schemas.openxmlformats.org/officeDocument/2006/relationships/hyperlink" Target="https://gis.dallascityhall.com/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hyperlink" Target="https://doc.arcgis.com/en/hub/content/add-and-manage-groups.htm#ESRI_SECTION1_DE29451635634F9B9C177FEFA85911C6" TargetMode="External"/><Relationship Id="rId7" Type="http://schemas.openxmlformats.org/officeDocument/2006/relationships/hyperlink" Target="https://doc.arcgis.com/en/hub/gallery/" TargetMode="External"/><Relationship Id="rId2" Type="http://schemas.openxmlformats.org/officeDocument/2006/relationships/hyperlink" Target="https://doc.arcgis.com/en/hub/sites/site-editing-basics.htm#ESRI_SECTION1_95513A20FDB54E359A1059F6DB94DE72" TargetMode="External"/><Relationship Id="rId1" Type="http://schemas.openxmlformats.org/officeDocument/2006/relationships/slideLayout" Target="../slideLayouts/slideLayout24.xml"/><Relationship Id="rId6" Type="http://schemas.openxmlformats.org/officeDocument/2006/relationships/hyperlink" Target="https://doc.arcgis.com/en/hub/content/site-sharing.htm" TargetMode="External"/><Relationship Id="rId5" Type="http://schemas.openxmlformats.org/officeDocument/2006/relationships/hyperlink" Target="https://hub.arcgis.com/pages/template-gallery" TargetMode="External"/><Relationship Id="rId4" Type="http://schemas.openxmlformats.org/officeDocument/2006/relationships/hyperlink" Target="https://doc.arcgis.com/en/hub/team/how-teams-work.htm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rcgis.com/home/webmap/viewer.html?webmap=IDHERE" TargetMode="External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developers.arcgis.com/javascript/latest/sample-code/featurereduction-cluster-filter-slider/" TargetMode="External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developers.arcgis.com/javascript/latest/" TargetMode="External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75485B9-8EE1-447A-9C08-F7D6B532A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57176"/>
            <a:ext cx="8229599" cy="4629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 descr="A colorful background with waves&#10;&#10;Description automatically generated with medium confidence">
            <a:extLst>
              <a:ext uri="{FF2B5EF4-FFF2-40B4-BE49-F238E27FC236}">
                <a16:creationId xmlns:a16="http://schemas.microsoft.com/office/drawing/2014/main" id="{1734BD9E-DDD5-C150-8BA0-0B1B13AE06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111"/>
          <a:stretch/>
        </p:blipFill>
        <p:spPr>
          <a:xfrm>
            <a:off x="13" y="257175"/>
            <a:ext cx="8229587" cy="462914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963707F-B98C-4143-AFCF-D6B56C975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6990" y="565785"/>
            <a:ext cx="3382366" cy="617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D2DFBB-460D-4ECB-BD76-509C99DAD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018" y="662983"/>
            <a:ext cx="3381337" cy="390782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E3439C-E1CA-A039-1552-7B23AB700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990" y="672325"/>
            <a:ext cx="3846545" cy="1997675"/>
          </a:xfrm>
        </p:spPr>
        <p:txBody>
          <a:bodyPr>
            <a:normAutofit fontScale="90000"/>
          </a:bodyPr>
          <a:lstStyle/>
          <a:p>
            <a:r>
              <a:rPr lang="en-US" sz="2700" dirty="0">
                <a:solidFill>
                  <a:srgbClr val="FFFFFF"/>
                </a:solidFill>
              </a:rPr>
              <a:t>WEEK 05</a:t>
            </a:r>
            <a:br>
              <a:rPr lang="en-US" sz="2700" dirty="0">
                <a:solidFill>
                  <a:srgbClr val="FFFFFF"/>
                </a:solidFill>
              </a:rPr>
            </a:br>
            <a:br>
              <a:rPr lang="en-US" sz="2700" dirty="0">
                <a:solidFill>
                  <a:srgbClr val="FFFFFF"/>
                </a:solidFill>
              </a:rPr>
            </a:br>
            <a:r>
              <a:rPr lang="en-US" sz="2700" dirty="0">
                <a:solidFill>
                  <a:srgbClr val="FFFFFF"/>
                </a:solidFill>
              </a:rPr>
              <a:t>response web map</a:t>
            </a:r>
            <a:br>
              <a:rPr lang="en-US" sz="2700" dirty="0">
                <a:solidFill>
                  <a:srgbClr val="FFFFFF"/>
                </a:solidFill>
              </a:rPr>
            </a:br>
            <a:br>
              <a:rPr lang="en-US" sz="2700" dirty="0">
                <a:solidFill>
                  <a:srgbClr val="FFFFFF"/>
                </a:solidFill>
              </a:rPr>
            </a:br>
            <a:r>
              <a:rPr lang="en-US" sz="2700" dirty="0">
                <a:solidFill>
                  <a:srgbClr val="FFFFFF"/>
                </a:solidFill>
              </a:rPr>
              <a:t>lecture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6AEC8-AD7D-2F2A-F638-325ACB8C9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8018" y="3000092"/>
            <a:ext cx="2916154" cy="1537292"/>
          </a:xfrm>
        </p:spPr>
        <p:txBody>
          <a:bodyPr>
            <a:noAutofit/>
          </a:bodyPr>
          <a:lstStyle/>
          <a:p>
            <a:r>
              <a:rPr lang="en-US" sz="189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Instructor: Yanan Wu</a:t>
            </a:r>
          </a:p>
          <a:p>
            <a:r>
              <a:rPr lang="en-US" sz="189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1890" dirty="0" err="1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fALL</a:t>
            </a:r>
            <a:r>
              <a:rPr lang="en-US" sz="189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2025</a:t>
            </a:r>
          </a:p>
          <a:p>
            <a:endParaRPr lang="en-US" sz="1890" dirty="0">
              <a:solidFill>
                <a:srgbClr val="FFFFFF">
                  <a:alpha val="75000"/>
                </a:srgb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9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1301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0" y="565785"/>
            <a:ext cx="2499741" cy="6412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8449" y="563384"/>
            <a:ext cx="2499741" cy="6652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63235" y="565785"/>
            <a:ext cx="2499741" cy="6172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1" y="2340066"/>
            <a:ext cx="7626779" cy="22532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39171204-6A50-40E1-B631-84CEDFC93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7175"/>
            <a:ext cx="8229600" cy="4629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6C973F6-5187-412F-AACC-6E3FF8A6A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3999" y="592623"/>
            <a:ext cx="746661" cy="395532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11AE14F-1B7E-41E6-B579-2F71D1350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178" y="592621"/>
            <a:ext cx="6723707" cy="24826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8BAB5-C1DE-8DAD-E76F-BECA6F24C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258" y="735412"/>
            <a:ext cx="6492542" cy="2247787"/>
          </a:xfrm>
        </p:spPr>
        <p:txBody>
          <a:bodyPr vert="horz" lIns="61722" tIns="30861" rIns="61722" bIns="30861" rtlCol="0" anchor="ctr">
            <a:normAutofit/>
          </a:bodyPr>
          <a:lstStyle/>
          <a:p>
            <a:r>
              <a:rPr lang="en-US" sz="4050" dirty="0">
                <a:solidFill>
                  <a:srgbClr val="FFFFFF"/>
                </a:solidFill>
              </a:rPr>
              <a:t>5.1 </a:t>
            </a:r>
            <a:br>
              <a:rPr lang="en-US" sz="4050" dirty="0">
                <a:solidFill>
                  <a:srgbClr val="FFFFFF"/>
                </a:solidFill>
              </a:rPr>
            </a:br>
            <a:r>
              <a:rPr lang="en-US" sz="4050" dirty="0">
                <a:solidFill>
                  <a:srgbClr val="FFFFFF"/>
                </a:solidFill>
              </a:rPr>
              <a:t>introduction 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52BB805-F7B7-4B80-A1C5-385D4DAF7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133" y="3149018"/>
            <a:ext cx="6723753" cy="1398925"/>
          </a:xfrm>
          <a:prstGeom prst="rect">
            <a:avLst/>
          </a:prstGeom>
          <a:solidFill>
            <a:srgbClr val="6C7781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9517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376BE-052B-BF9B-5F0E-AE0378EDB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459629"/>
          </a:xfrm>
        </p:spPr>
        <p:txBody>
          <a:bodyPr/>
          <a:lstStyle/>
          <a:p>
            <a:r>
              <a:rPr lang="en-US" altLang="zh-CN" dirty="0">
                <a:solidFill>
                  <a:srgbClr val="7030A0"/>
                </a:solidFill>
              </a:rPr>
              <a:t>Response web-map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000E3-4113-4749-7EF7-012E7EEE9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834" y="1026414"/>
            <a:ext cx="6792686" cy="309067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/>
              <a:t>Browser-based web apps generally require an internet connection to function adequately, but when connected with sufficient bandwidth, they can effectively deliver and collect data from the field.</a:t>
            </a:r>
          </a:p>
          <a:p>
            <a:pPr>
              <a:lnSpc>
                <a:spcPct val="150000"/>
              </a:lnSpc>
            </a:pPr>
            <a:r>
              <a:rPr lang="en-US" altLang="zh-CN" sz="1400" dirty="0"/>
              <a:t>Designed to adjust their layouts to accommodate the smaller screen sizes of mobile devices, ensuring a smooth user experience for field operations. </a:t>
            </a:r>
          </a:p>
          <a:p>
            <a:pPr>
              <a:lnSpc>
                <a:spcPct val="150000"/>
              </a:lnSpc>
            </a:pPr>
            <a:r>
              <a:rPr lang="en-US" altLang="zh-CN" sz="1400" dirty="0"/>
              <a:t>They are commonly used for data review in office settings using desktop browsers. </a:t>
            </a:r>
          </a:p>
          <a:p>
            <a:pPr>
              <a:lnSpc>
                <a:spcPct val="150000"/>
              </a:lnSpc>
            </a:pPr>
            <a:r>
              <a:rPr lang="en-US" altLang="zh-CN" sz="1400" dirty="0"/>
              <a:t>This versatility makes web apps a crucial component of the Mobile GIS workflow and an important option for field use.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170833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64029-E2BD-BB11-3609-70158D060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454771"/>
            <a:ext cx="7444991" cy="427976"/>
          </a:xfrm>
        </p:spPr>
        <p:txBody>
          <a:bodyPr/>
          <a:lstStyle/>
          <a:p>
            <a:r>
              <a:rPr lang="en-US" altLang="zh-CN" dirty="0">
                <a:solidFill>
                  <a:srgbClr val="7030A0"/>
                </a:solidFill>
              </a:rPr>
              <a:t>Configurable web app template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858B-D769-1373-9B74-BDD089C3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304" y="961124"/>
            <a:ext cx="7444990" cy="1954203"/>
          </a:xfrm>
        </p:spPr>
        <p:txBody>
          <a:bodyPr>
            <a:normAutofit/>
          </a:bodyPr>
          <a:lstStyle/>
          <a:p>
            <a:r>
              <a:rPr lang="en-US" altLang="zh-CN" sz="1400" dirty="0"/>
              <a:t>ArcGIS </a:t>
            </a:r>
            <a:r>
              <a:rPr lang="en-US" altLang="zh-CN" sz="1400" dirty="0" err="1"/>
              <a:t>StoryMaps</a:t>
            </a:r>
            <a:r>
              <a:rPr lang="en-US" altLang="zh-CN" sz="1400" dirty="0"/>
              <a:t>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400" dirty="0"/>
              <a:t>Allows users to craft interactive stories by combining maps with narrative text, images, and multimedia content.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400" dirty="0"/>
              <a:t>This tool is designed to engage and inspire audiences with geographically enriched storytelling, making it perfect for educational purposes, advocacy, and public engagement.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400" dirty="0"/>
              <a:t>ArcGIS </a:t>
            </a:r>
            <a:r>
              <a:rPr lang="en-US" altLang="zh-CN" sz="1400" dirty="0" err="1"/>
              <a:t>StoryMaps</a:t>
            </a:r>
            <a:r>
              <a:rPr lang="en-US" altLang="zh-CN" sz="1400" dirty="0"/>
              <a:t> provides a user-friendly interface that helps you connect with your audience through compelling geographic narratives.</a:t>
            </a:r>
            <a:endParaRPr lang="en-US" sz="1400" dirty="0"/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6629CCE3-6F1F-EAD6-94C5-D35B7ACC7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514" y="2993704"/>
            <a:ext cx="4696097" cy="171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312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CB1D1-D209-34BD-11E9-4EE91E09C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404561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</a:rPr>
              <a:t>Getting started with Esri </a:t>
            </a:r>
            <a:r>
              <a:rPr lang="en-US" dirty="0" err="1">
                <a:solidFill>
                  <a:srgbClr val="7030A0"/>
                </a:solidFill>
              </a:rPr>
              <a:t>storymap</a:t>
            </a:r>
            <a:endParaRPr lang="en-US" dirty="0">
              <a:solidFill>
                <a:srgbClr val="7030A0"/>
              </a:solidFill>
            </a:endParaRPr>
          </a:p>
        </p:txBody>
      </p:sp>
      <p:pic>
        <p:nvPicPr>
          <p:cNvPr id="5" name="Content Placeholder 4">
            <a:hlinkClick r:id="rId2"/>
            <a:extLst>
              <a:ext uri="{FF2B5EF4-FFF2-40B4-BE49-F238E27FC236}">
                <a16:creationId xmlns:a16="http://schemas.microsoft.com/office/drawing/2014/main" id="{AF55B765-5058-344D-1910-BD5794A6A8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27570" y="1115736"/>
            <a:ext cx="6774459" cy="3273498"/>
          </a:xfrm>
        </p:spPr>
      </p:pic>
    </p:spTree>
    <p:extLst>
      <p:ext uri="{BB962C8B-B14F-4D97-AF65-F5344CB8AC3E}">
        <p14:creationId xmlns:p14="http://schemas.microsoft.com/office/powerpoint/2010/main" val="2070347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1C307-F554-08B8-001B-0DCC08D7C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6" y="467834"/>
            <a:ext cx="7444991" cy="458121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7030A0"/>
                </a:solidFill>
              </a:rPr>
              <a:t>Configurable web app template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8045F-FCCE-5C78-E375-F60A5DA8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307" y="925955"/>
            <a:ext cx="7444990" cy="1568849"/>
          </a:xfrm>
        </p:spPr>
        <p:txBody>
          <a:bodyPr>
            <a:normAutofit/>
          </a:bodyPr>
          <a:lstStyle/>
          <a:p>
            <a:r>
              <a:rPr lang="en-US" altLang="zh-CN" sz="1400" dirty="0">
                <a:solidFill>
                  <a:schemeClr val="tx1"/>
                </a:solidFill>
              </a:rPr>
              <a:t>Dashboards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400" dirty="0">
                <a:solidFill>
                  <a:schemeClr val="tx1"/>
                </a:solidFill>
              </a:rPr>
              <a:t>Displays geographic information as interactive maps, charts, gauges, and more, allowing for real-time data visualization and awareness at a glance.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400" dirty="0">
                <a:solidFill>
                  <a:schemeClr val="tx1"/>
                </a:solidFill>
              </a:rPr>
              <a:t>Dashboards are widely used in emergency management, public services, and business operations to provide insights.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7D64998A-9C64-C698-16B0-AFC26EC72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943" y="2494804"/>
            <a:ext cx="5264331" cy="236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563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09733-DD25-34E2-BD3D-7D3481CA8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6" y="454772"/>
            <a:ext cx="7444991" cy="433503"/>
          </a:xfrm>
        </p:spPr>
        <p:txBody>
          <a:bodyPr/>
          <a:lstStyle/>
          <a:p>
            <a:r>
              <a:rPr lang="en-US" altLang="zh-CN" dirty="0">
                <a:solidFill>
                  <a:srgbClr val="7030A0"/>
                </a:solidFill>
              </a:rPr>
              <a:t>Basic workflow to create dashboards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44C84-6926-AB64-B382-4F84AF4DC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306" y="1063317"/>
            <a:ext cx="7444990" cy="1562317"/>
          </a:xfrm>
        </p:spPr>
        <p:txBody>
          <a:bodyPr>
            <a:normAutofit/>
          </a:bodyPr>
          <a:lstStyle/>
          <a:p>
            <a:r>
              <a:rPr lang="en-US" altLang="zh-CN" sz="1400" dirty="0"/>
              <a:t>Dashboards are composed of configurable widgets, such as maps, lists, charts, gauges, indicators, and tables. these widgets are called elements or components. </a:t>
            </a:r>
          </a:p>
          <a:p>
            <a:r>
              <a:rPr lang="en-US" altLang="zh-CN" sz="1400" dirty="0"/>
              <a:t>Most of these elements are data-driven, representing the information you want to present to your intended audience. </a:t>
            </a:r>
          </a:p>
          <a:p>
            <a:r>
              <a:rPr lang="en-US" altLang="zh-CN" sz="1400" dirty="0"/>
              <a:t>Dashboard apps are commonly designed to display multiple visualizations that work together on a single screen. </a:t>
            </a:r>
            <a:endParaRPr lang="zh-CN" altLang="en-US" sz="1400" dirty="0"/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6A1B5A35-ED0E-53C3-30BE-0ACF0908D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117" y="2625634"/>
            <a:ext cx="5375366" cy="247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091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F5147-CA4F-DB26-B2C9-FB16C024F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6" y="452997"/>
            <a:ext cx="7444991" cy="387783"/>
          </a:xfrm>
        </p:spPr>
        <p:txBody>
          <a:bodyPr/>
          <a:lstStyle/>
          <a:p>
            <a:r>
              <a:rPr lang="en-US" altLang="zh-CN" dirty="0">
                <a:solidFill>
                  <a:srgbClr val="7030A0"/>
                </a:solidFill>
              </a:rPr>
              <a:t>Dashboards configuration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BEC2C-0CBD-837E-C175-8445C61A8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307" y="840780"/>
            <a:ext cx="7444990" cy="471569"/>
          </a:xfrm>
        </p:spPr>
        <p:txBody>
          <a:bodyPr>
            <a:normAutofit/>
          </a:bodyPr>
          <a:lstStyle/>
          <a:p>
            <a:r>
              <a:rPr lang="en-US" altLang="zh-CN" sz="1400" dirty="0"/>
              <a:t>A dashboard can be configured with both desktop and mobile views.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B13F6B-246C-13EF-F5B6-93F03D44D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694" y="1312349"/>
            <a:ext cx="4734449" cy="355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701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6E80F-F31A-A850-C712-1975FC09D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428645"/>
            <a:ext cx="7444991" cy="426972"/>
          </a:xfrm>
        </p:spPr>
        <p:txBody>
          <a:bodyPr/>
          <a:lstStyle/>
          <a:p>
            <a:r>
              <a:rPr lang="en-US" altLang="zh-CN" dirty="0">
                <a:solidFill>
                  <a:srgbClr val="7030A0"/>
                </a:solidFill>
              </a:rPr>
              <a:t>Basic workflow to create dashboards</a:t>
            </a:r>
            <a:endParaRPr lang="zh-CN" alt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CFD781A-5FBD-AD70-3270-7F14CE362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088" y="843863"/>
            <a:ext cx="7444990" cy="1745198"/>
          </a:xfrm>
        </p:spPr>
        <p:txBody>
          <a:bodyPr>
            <a:normAutofit/>
          </a:bodyPr>
          <a:lstStyle/>
          <a:p>
            <a:r>
              <a:rPr lang="en-US" altLang="zh-CN" sz="1400" dirty="0"/>
              <a:t>Prepare data layers and web maps or scenes.</a:t>
            </a:r>
          </a:p>
          <a:p>
            <a:r>
              <a:rPr lang="en-US" altLang="zh-CN" sz="1400" dirty="0"/>
              <a:t>Create a dashboard and add elements.</a:t>
            </a:r>
          </a:p>
          <a:p>
            <a:r>
              <a:rPr lang="en-US" altLang="zh-CN" sz="1400" dirty="0"/>
              <a:t>For each element, configure its data source, style, and layout.</a:t>
            </a:r>
          </a:p>
          <a:p>
            <a:r>
              <a:rPr lang="en-US" altLang="zh-CN" sz="1400" dirty="0"/>
              <a:t>Set up interactivity between the elements by configuring actions and targets.</a:t>
            </a:r>
          </a:p>
          <a:p>
            <a:r>
              <a:rPr lang="en-US" altLang="zh-CN" sz="1400" dirty="0"/>
              <a:t>Refine the layout.</a:t>
            </a: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E913B3DD-FEF8-CA53-B757-6EFCA1B44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0926" y="2589061"/>
            <a:ext cx="3481600" cy="221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583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0DCA2-F853-5F77-468E-98F0E2B16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6" y="458690"/>
            <a:ext cx="7444991" cy="413909"/>
          </a:xfrm>
        </p:spPr>
        <p:txBody>
          <a:bodyPr/>
          <a:lstStyle/>
          <a:p>
            <a:r>
              <a:rPr lang="en-US" altLang="zh-CN" dirty="0">
                <a:solidFill>
                  <a:srgbClr val="7030A0"/>
                </a:solidFill>
              </a:rPr>
              <a:t>Configurable web app template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4BB31-DF73-A2B6-AF60-0D246C5CD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306" y="940526"/>
            <a:ext cx="7444990" cy="1771323"/>
          </a:xfrm>
        </p:spPr>
        <p:txBody>
          <a:bodyPr>
            <a:normAutofit/>
          </a:bodyPr>
          <a:lstStyle/>
          <a:p>
            <a:r>
              <a:rPr lang="en-US" altLang="zh-CN" sz="1400" dirty="0"/>
              <a:t>Instant Apps: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400" dirty="0"/>
              <a:t>Enables users to quickly design and deploy web apps tailored to specific tasks and audiences.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400" dirty="0"/>
              <a:t>The template-driven tools require minimal configuration, making it easier for users to visualize, present, and share geographic information.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400" dirty="0"/>
              <a:t>Instant Apps are ideal for projects requiring simple functions, rapid deployment, and straightforward user interfaces.</a:t>
            </a:r>
            <a:endParaRPr lang="zh-CN" altLang="en-US" sz="1400" dirty="0"/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5B428B6-FE01-999A-4236-E7D59C490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012" y="2847703"/>
            <a:ext cx="5009606" cy="189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100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C6FB7-E627-5EB1-ABBE-717D5C86F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6" y="454771"/>
            <a:ext cx="7444991" cy="434504"/>
          </a:xfrm>
        </p:spPr>
        <p:txBody>
          <a:bodyPr/>
          <a:lstStyle/>
          <a:p>
            <a:r>
              <a:rPr lang="en-US" altLang="zh-CN" dirty="0">
                <a:solidFill>
                  <a:srgbClr val="7030A0"/>
                </a:solidFill>
              </a:rPr>
              <a:t>Configurable web app template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BA07D-E06D-FE80-D065-607CBC4C1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307" y="972193"/>
            <a:ext cx="7444990" cy="1955347"/>
          </a:xfrm>
        </p:spPr>
        <p:txBody>
          <a:bodyPr>
            <a:noAutofit/>
          </a:bodyPr>
          <a:lstStyle/>
          <a:p>
            <a:r>
              <a:rPr lang="en-US" sz="1400" dirty="0">
                <a:hlinkClick r:id="rId2"/>
              </a:rPr>
              <a:t>Experience Builder</a:t>
            </a:r>
            <a:r>
              <a:rPr lang="en-US" sz="1400" dirty="0"/>
              <a:t>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Offers a flexible and advanced approach to creating web apps with rich data and rich user experiences.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With drag-and-drop functionality, users can integrate maps, text, images, and other widgets into fully responsive layouts that work across all devices.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Experience Builder is designed for those who want to customize and extend their web applications beyond standard templates.</a:t>
            </a:r>
          </a:p>
        </p:txBody>
      </p:sp>
      <p:pic>
        <p:nvPicPr>
          <p:cNvPr id="5" name="Picture 4">
            <a:hlinkClick r:id="rId3"/>
            <a:extLst>
              <a:ext uri="{FF2B5EF4-FFF2-40B4-BE49-F238E27FC236}">
                <a16:creationId xmlns:a16="http://schemas.microsoft.com/office/drawing/2014/main" id="{C0078395-6B20-CFA9-17C6-181B5EF7E3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5498" y="3036876"/>
            <a:ext cx="4518604" cy="194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058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76637-FB3C-7E1C-3906-474842DC1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6" y="480897"/>
            <a:ext cx="7444991" cy="426972"/>
          </a:xfrm>
        </p:spPr>
        <p:txBody>
          <a:bodyPr/>
          <a:lstStyle/>
          <a:p>
            <a:r>
              <a:rPr lang="en-US" altLang="zh-CN" dirty="0">
                <a:solidFill>
                  <a:srgbClr val="7030A0"/>
                </a:solidFill>
              </a:rPr>
              <a:t>ArcGIS Experience Builder editions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32980-B992-6AF1-06B5-51A319FC2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726" y="1038498"/>
            <a:ext cx="3422470" cy="1018902"/>
          </a:xfrm>
        </p:spPr>
        <p:txBody>
          <a:bodyPr>
            <a:noAutofit/>
          </a:bodyPr>
          <a:lstStyle/>
          <a:p>
            <a:r>
              <a:rPr lang="en-US" altLang="zh-CN" sz="1400" b="1" dirty="0"/>
              <a:t>ArcGIS Online and ArcGIS Enterprise</a:t>
            </a:r>
            <a:endParaRPr lang="en-US" altLang="zh-CN" sz="1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400" dirty="0"/>
              <a:t>URL: </a:t>
            </a:r>
            <a:r>
              <a:rPr lang="en-US" altLang="zh-CN" sz="1400" dirty="0">
                <a:hlinkClick r:id="rId2"/>
              </a:rPr>
              <a:t>experience.arcgis.com</a:t>
            </a:r>
            <a:endParaRPr lang="en-US" altLang="zh-CN" sz="1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400" dirty="0"/>
              <a:t>ArcGIS Enterprise version 10.8.1 and higher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847F9E-E6CD-2D94-204E-A495A8110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4578" y="2798385"/>
            <a:ext cx="4008986" cy="18500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7701DB-954C-7D13-6974-7C79E073F7AD}"/>
              </a:ext>
            </a:extLst>
          </p:cNvPr>
          <p:cNvSpPr txBox="1"/>
          <p:nvPr/>
        </p:nvSpPr>
        <p:spPr>
          <a:xfrm>
            <a:off x="3964578" y="960121"/>
            <a:ext cx="3893152" cy="1436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06550" indent="-206550" defTabSz="308610"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Developer Edition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400" dirty="0"/>
              <a:t>Download from the </a:t>
            </a:r>
            <a:r>
              <a:rPr lang="en-US" altLang="zh-CN" sz="1400" dirty="0">
                <a:hlinkClick r:id="rId4"/>
              </a:rPr>
              <a:t>Developers website </a:t>
            </a:r>
            <a:r>
              <a:rPr lang="en-US" altLang="zh-CN" sz="1400" dirty="0"/>
              <a:t>and install locally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400" dirty="0"/>
              <a:t>Sign in to ArcGIS Online or ArcGIS Enterprise</a:t>
            </a:r>
          </a:p>
          <a:p>
            <a:endParaRPr lang="zh-CN" alt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091EC1-1DB7-DFA3-B761-6477444BBF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883" y="2758729"/>
            <a:ext cx="2440487" cy="192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165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80E17-F3CB-254D-2E68-A835E8FCC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054" y="540739"/>
            <a:ext cx="7444991" cy="368189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rgbClr val="7030A0"/>
                </a:solidFill>
              </a:rPr>
              <a:t>Default Templates</a:t>
            </a:r>
            <a:endParaRPr lang="zh-CN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AB5804-4D33-DCE5-1F36-C76CE0AA4B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6484" y="2168182"/>
            <a:ext cx="5609264" cy="28588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2F1DB49-4607-53EA-0341-93EAFBC2D38F}"/>
              </a:ext>
            </a:extLst>
          </p:cNvPr>
          <p:cNvSpPr txBox="1"/>
          <p:nvPr/>
        </p:nvSpPr>
        <p:spPr>
          <a:xfrm>
            <a:off x="5388429" y="540739"/>
            <a:ext cx="2841171" cy="1237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06550" defTabSz="308610"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None/>
            </a:pP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Full Screen</a:t>
            </a:r>
          </a:p>
          <a:p>
            <a:pPr marL="79200" indent="-285750" defTabSz="308610"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" panose="05000000000000000000" pitchFamily="2" charset="2"/>
              <a:buChar char="Ø"/>
            </a:pP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Blank</a:t>
            </a:r>
          </a:p>
          <a:p>
            <a:pPr marL="79200" indent="-285750" defTabSz="308610"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" panose="05000000000000000000" pitchFamily="2" charset="2"/>
              <a:buChar char="Ø"/>
            </a:pP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Foldable</a:t>
            </a:r>
          </a:p>
          <a:p>
            <a:pPr marL="79200" indent="-285750" defTabSz="308610"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" panose="05000000000000000000" pitchFamily="2" charset="2"/>
              <a:buChar char="Ø"/>
            </a:pP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Launchpad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364A4C-3E71-B838-5C96-F17CE9B504A8}"/>
              </a:ext>
            </a:extLst>
          </p:cNvPr>
          <p:cNvSpPr txBox="1"/>
          <p:nvPr/>
        </p:nvSpPr>
        <p:spPr>
          <a:xfrm>
            <a:off x="2841172" y="570115"/>
            <a:ext cx="2455818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06550" defTabSz="308610"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None/>
            </a:pPr>
            <a:r>
              <a:rPr lang="en-US" altLang="zh-CN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Scrolling Page</a:t>
            </a:r>
          </a:p>
          <a:p>
            <a:pPr marL="79200" indent="-285750" defTabSz="308610"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" panose="05000000000000000000" pitchFamily="2" charset="2"/>
              <a:buChar char="Ø"/>
            </a:pPr>
            <a:r>
              <a:rPr lang="en-US" altLang="zh-CN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Blank</a:t>
            </a:r>
          </a:p>
          <a:p>
            <a:pPr marL="79200" indent="-285750" defTabSz="308610"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" panose="05000000000000000000" pitchFamily="2" charset="2"/>
              <a:buChar char="Ø"/>
            </a:pPr>
            <a:r>
              <a:rPr lang="en-US" altLang="zh-CN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Monitor (New)</a:t>
            </a:r>
          </a:p>
          <a:p>
            <a:pPr marL="79200" indent="-285750" defTabSz="308610"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" panose="05000000000000000000" pitchFamily="2" charset="2"/>
              <a:buChar char="Ø"/>
            </a:pPr>
            <a:r>
              <a:rPr lang="en-US" altLang="zh-CN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Quick Navigation (New)</a:t>
            </a:r>
          </a:p>
          <a:p>
            <a:pPr marL="79200" indent="-285750" defTabSz="308610"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" panose="05000000000000000000" pitchFamily="2" charset="2"/>
              <a:buChar char="Ø"/>
            </a:pPr>
            <a:r>
              <a:rPr lang="en-US" altLang="zh-CN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Indicator (multi-page) (New)</a:t>
            </a:r>
          </a:p>
          <a:p>
            <a:pPr marL="79200" indent="-285750" defTabSz="308610"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" panose="05000000000000000000" pitchFamily="2" charset="2"/>
              <a:buChar char="Ø"/>
            </a:pPr>
            <a:r>
              <a:rPr lang="en-US" altLang="zh-CN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Exhibition (multi-page)</a:t>
            </a:r>
          </a:p>
          <a:p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200224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213A0-9C7F-A3F6-0BFF-0208033ED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435177"/>
            <a:ext cx="7444991" cy="387783"/>
          </a:xfrm>
        </p:spPr>
        <p:txBody>
          <a:bodyPr/>
          <a:lstStyle/>
          <a:p>
            <a:r>
              <a:rPr lang="en-US" altLang="zh-CN" dirty="0">
                <a:solidFill>
                  <a:srgbClr val="7030A0"/>
                </a:solidFill>
              </a:rPr>
              <a:t>Basic workflow to create web experiences</a:t>
            </a:r>
            <a:endParaRPr lang="zh-CN" altLang="en-US" dirty="0">
              <a:solidFill>
                <a:srgbClr val="7030A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634E13-577D-2C98-3946-C09FAF4AAD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1252" y="1396889"/>
            <a:ext cx="6467096" cy="331143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0126286-F78B-588E-AF1C-791AF543201F}"/>
              </a:ext>
            </a:extLst>
          </p:cNvPr>
          <p:cNvSpPr txBox="1"/>
          <p:nvPr/>
        </p:nvSpPr>
        <p:spPr>
          <a:xfrm>
            <a:off x="392305" y="815723"/>
            <a:ext cx="70927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6550" indent="-206550" defTabSz="308610"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 ArcGIS technology, the web apps created using Experience Builder are called web experiences. Experience Builder has the following workflow to create web experiences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1037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70B0C-667D-E92B-778A-A0097EEF6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420440"/>
          </a:xfrm>
        </p:spPr>
        <p:txBody>
          <a:bodyPr/>
          <a:lstStyle/>
          <a:p>
            <a:r>
              <a:rPr lang="en-US" altLang="zh-CN" dirty="0">
                <a:solidFill>
                  <a:srgbClr val="7030A0"/>
                </a:solidFill>
              </a:rPr>
              <a:t>Configurable web app template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FF743-C5DE-B39B-0EA7-533370F9E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304" y="1017597"/>
            <a:ext cx="7444990" cy="1686415"/>
          </a:xfrm>
        </p:spPr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Hub: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tx1"/>
                </a:solidFill>
              </a:rPr>
              <a:t>An engagement platform that enables organizations to connect with their communities through open data, web apps, and interactive initiatives.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tx1"/>
                </a:solidFill>
              </a:rPr>
              <a:t>It supports collaboration between government, the private sector, and the public to tackle community challenges effectively.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tx1"/>
                </a:solidFill>
              </a:rPr>
              <a:t>By facilitating easier access to data and tools, Hub helps foster a more informed and involved community, advancing public awareness and participation.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DE12C3FE-86AC-296A-4385-2992FBC56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445" y="2965270"/>
            <a:ext cx="4265023" cy="2083908"/>
          </a:xfrm>
          <a:prstGeom prst="rect">
            <a:avLst/>
          </a:prstGeom>
        </p:spPr>
      </p:pic>
      <p:pic>
        <p:nvPicPr>
          <p:cNvPr id="7" name="Picture 6">
            <a:hlinkClick r:id="rId4"/>
            <a:extLst>
              <a:ext uri="{FF2B5EF4-FFF2-40B4-BE49-F238E27FC236}">
                <a16:creationId xmlns:a16="http://schemas.microsoft.com/office/drawing/2014/main" id="{1F00645F-8743-EBDF-18B2-713EAD87B1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4559" y="2965270"/>
            <a:ext cx="2936616" cy="1910018"/>
          </a:xfrm>
          <a:prstGeom prst="rect">
            <a:avLst/>
          </a:prstGeom>
        </p:spPr>
      </p:pic>
      <p:pic>
        <p:nvPicPr>
          <p:cNvPr id="9" name="Picture 8">
            <a:hlinkClick r:id="rId6"/>
            <a:extLst>
              <a:ext uri="{FF2B5EF4-FFF2-40B4-BE49-F238E27FC236}">
                <a16:creationId xmlns:a16="http://schemas.microsoft.com/office/drawing/2014/main" id="{9D256423-C6E6-3A7D-8957-9ABD4D4A39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6335" y="2965270"/>
            <a:ext cx="2783247" cy="209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147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B6FC-AB46-6F02-23E2-A1ADB2EDB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394314"/>
          </a:xfrm>
        </p:spPr>
        <p:txBody>
          <a:bodyPr/>
          <a:lstStyle/>
          <a:p>
            <a:r>
              <a:rPr lang="en-US" altLang="zh-CN" dirty="0" err="1">
                <a:solidFill>
                  <a:srgbClr val="7030A0"/>
                </a:solidFill>
              </a:rPr>
              <a:t>Arcgis</a:t>
            </a:r>
            <a:r>
              <a:rPr lang="en-US" altLang="zh-CN" dirty="0">
                <a:solidFill>
                  <a:srgbClr val="7030A0"/>
                </a:solidFill>
              </a:rPr>
              <a:t> hub basic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54A08-7B82-E653-C90B-06D58D53F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619" y="920931"/>
            <a:ext cx="7444990" cy="1999924"/>
          </a:xfrm>
        </p:spPr>
        <p:txBody>
          <a:bodyPr/>
          <a:lstStyle/>
          <a:p>
            <a:r>
              <a:rPr lang="en-US" altLang="zh-CN" dirty="0"/>
              <a:t>You can do the following with ArcGIS Hub Basic: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/>
              <a:t>Create unlimited websites and pages using the </a:t>
            </a:r>
            <a:r>
              <a:rPr lang="en-US" altLang="zh-CN" dirty="0">
                <a:hlinkClick r:id="rId2"/>
              </a:rPr>
              <a:t>site editor</a:t>
            </a:r>
            <a:r>
              <a:rPr lang="en-US" altLang="zh-CN" dirty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/>
              <a:t>Build a catalog of searchable content for each of your sites using the site's </a:t>
            </a:r>
            <a:r>
              <a:rPr lang="en-US" altLang="zh-CN" dirty="0">
                <a:hlinkClick r:id="rId3"/>
              </a:rPr>
              <a:t>content catalog</a:t>
            </a:r>
            <a:r>
              <a:rPr lang="en-US" altLang="zh-CN" dirty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/>
              <a:t>Work with other collaborators with an ArcGIS Online account by adding them to </a:t>
            </a:r>
            <a:r>
              <a:rPr lang="en-US" altLang="zh-CN" dirty="0">
                <a:hlinkClick r:id="rId4"/>
              </a:rPr>
              <a:t>edit groups</a:t>
            </a:r>
            <a:r>
              <a:rPr lang="en-US" altLang="zh-CN" dirty="0"/>
              <a:t> that are connected to your site, pages, and content.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/>
              <a:t>Access select </a:t>
            </a:r>
            <a:r>
              <a:rPr lang="en-US" altLang="zh-CN" dirty="0">
                <a:hlinkClick r:id="rId5"/>
              </a:rPr>
              <a:t>templates</a:t>
            </a:r>
            <a:r>
              <a:rPr lang="en-US" altLang="zh-CN" dirty="0"/>
              <a:t> to deploy a set of configurable sites and apps focused on specific topics and solutions.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/>
              <a:t>Control who can access your site’s content (including specific items) </a:t>
            </a:r>
            <a:r>
              <a:rPr lang="en-US" altLang="zh-CN" dirty="0">
                <a:hlinkClick r:id="rId6"/>
              </a:rPr>
              <a:t>using sharing controls</a:t>
            </a:r>
            <a:r>
              <a:rPr lang="en-US" altLang="zh-CN" dirty="0"/>
              <a:t>.</a:t>
            </a:r>
          </a:p>
        </p:txBody>
      </p:sp>
      <p:pic>
        <p:nvPicPr>
          <p:cNvPr id="5" name="Picture 4">
            <a:hlinkClick r:id="rId7"/>
            <a:extLst>
              <a:ext uri="{FF2B5EF4-FFF2-40B4-BE49-F238E27FC236}">
                <a16:creationId xmlns:a16="http://schemas.microsoft.com/office/drawing/2014/main" id="{69CEEEDB-477D-15E3-83D7-263EF9AC0C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93669" y="2857798"/>
            <a:ext cx="4056017" cy="2161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482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0E850-505C-AF0A-E950-581E253A0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400730"/>
            <a:ext cx="7444991" cy="407377"/>
          </a:xfrm>
        </p:spPr>
        <p:txBody>
          <a:bodyPr/>
          <a:lstStyle/>
          <a:p>
            <a:r>
              <a:rPr lang="en-US" altLang="zh-CN" dirty="0">
                <a:solidFill>
                  <a:srgbClr val="7030A0"/>
                </a:solidFill>
              </a:rPr>
              <a:t>web app templates</a:t>
            </a:r>
            <a:endParaRPr lang="en-US" dirty="0">
              <a:solidFill>
                <a:srgbClr val="7030A0"/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4D9E1FC-1967-A7D7-0715-1D9249D6B1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999003" y="1124794"/>
            <a:ext cx="6231593" cy="3617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15578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DE552-60AB-2BE5-F449-75C417D3C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467835"/>
            <a:ext cx="7444991" cy="387783"/>
          </a:xfrm>
        </p:spPr>
        <p:txBody>
          <a:bodyPr/>
          <a:lstStyle/>
          <a:p>
            <a:r>
              <a:rPr lang="en-US" altLang="zh-CN" dirty="0">
                <a:solidFill>
                  <a:srgbClr val="7030A0"/>
                </a:solidFill>
              </a:rPr>
              <a:t>Map id in </a:t>
            </a:r>
            <a:r>
              <a:rPr lang="en-US" altLang="zh-CN" dirty="0" err="1">
                <a:solidFill>
                  <a:srgbClr val="7030A0"/>
                </a:solidFill>
              </a:rPr>
              <a:t>esri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E564E58-7E73-8578-FD18-5282CE101D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3914" y="855618"/>
            <a:ext cx="7641772" cy="2019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fontAlgn="base">
              <a:buFontTx/>
              <a:buChar char="•"/>
            </a:pPr>
            <a:r>
              <a:rPr lang="en-US" altLang="zh-CN" sz="1400" dirty="0"/>
              <a:t>Every map, layer, or app in ArcGIS Online / Enterprise has a unique Item ID</a:t>
            </a:r>
          </a:p>
          <a:p>
            <a:pPr marL="0" lvl="0" fontAlgn="base">
              <a:buFontTx/>
              <a:buChar char="•"/>
            </a:pPr>
            <a:r>
              <a:rPr lang="en-US" altLang="zh-CN" sz="1400" dirty="0"/>
              <a:t>The Item ID is a 32-character code (letters &amp; numbers)</a:t>
            </a:r>
          </a:p>
          <a:p>
            <a:pPr marL="0" lvl="0" fontAlgn="base">
              <a:buFontTx/>
              <a:buChar char="•"/>
            </a:pPr>
            <a:r>
              <a:rPr lang="en-US" altLang="zh-CN" sz="1400" dirty="0"/>
              <a:t>Found in the URL of maps, dashboards, apps</a:t>
            </a:r>
          </a:p>
          <a:p>
            <a:pPr marL="400950" lvl="2" fontAlgn="base">
              <a:buFont typeface="Wingdings" panose="05000000000000000000" pitchFamily="2" charset="2"/>
              <a:buChar char="Ø"/>
            </a:pPr>
            <a:r>
              <a:rPr lang="en-US" altLang="zh-CN" sz="1200" dirty="0"/>
              <a:t>Example:</a:t>
            </a:r>
          </a:p>
          <a:p>
            <a:pPr marL="449550" lvl="3" indent="0" fontAlgn="base">
              <a:buNone/>
            </a:pPr>
            <a:r>
              <a:rPr lang="en-US" altLang="zh-CN" sz="1200" dirty="0"/>
              <a:t>URL: https://www.arcgis.com/home/</a:t>
            </a:r>
            <a:r>
              <a:rPr lang="en-US" altLang="zh-CN" sz="1200" dirty="0" err="1"/>
              <a:t>item.html?id</a:t>
            </a:r>
            <a:r>
              <a:rPr lang="en-US" altLang="zh-CN" sz="1200" dirty="0"/>
              <a:t>=abc123xyz456...</a:t>
            </a:r>
          </a:p>
          <a:p>
            <a:pPr marL="449550" lvl="3" indent="0" fontAlgn="base">
              <a:buNone/>
            </a:pPr>
            <a:r>
              <a:rPr lang="en-US" altLang="zh-CN" sz="1200" dirty="0"/>
              <a:t>Map ID = abc123xyz456...</a:t>
            </a:r>
          </a:p>
          <a:p>
            <a:pPr marL="449550" lvl="3" indent="0" fontAlgn="base">
              <a:buNone/>
            </a:pPr>
            <a:r>
              <a:rPr lang="en-US" altLang="zh-CN" sz="1200" dirty="0"/>
              <a:t>Purpose: Identifies and links directly to that specific map or </a:t>
            </a:r>
            <a:r>
              <a:rPr lang="en-US" altLang="zh-CN" sz="1200" dirty="0" err="1"/>
              <a:t>laye</a:t>
            </a:r>
            <a:endParaRPr lang="zh-CN" altLang="zh-CN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0838F3-2DE9-6753-4E9A-F4E9B035D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292" y="2914649"/>
            <a:ext cx="3879669" cy="1999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7916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EA129-D5D0-1A60-1FA2-9A9DD9E47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407377"/>
          </a:xfrm>
        </p:spPr>
        <p:txBody>
          <a:bodyPr/>
          <a:lstStyle/>
          <a:p>
            <a:r>
              <a:rPr lang="en-US" altLang="zh-CN" dirty="0">
                <a:solidFill>
                  <a:srgbClr val="7030A0"/>
                </a:solidFill>
              </a:rPr>
              <a:t>How to use map id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ED8C1-405F-5250-7410-FAFA48827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088" y="1109037"/>
            <a:ext cx="7444990" cy="1072101"/>
          </a:xfrm>
        </p:spPr>
        <p:txBody>
          <a:bodyPr>
            <a:noAutofit/>
          </a:bodyPr>
          <a:lstStyle/>
          <a:p>
            <a:r>
              <a:rPr lang="en-US" altLang="zh-CN" sz="2000" b="1" dirty="0"/>
              <a:t>Open a map by ID</a:t>
            </a:r>
            <a:endParaRPr lang="en-US" altLang="zh-CN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000" dirty="0"/>
              <a:t>Paste the Item ID into ArcGIS Online search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837664-0939-A958-BD9D-20FFDAC22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313" y="2428321"/>
            <a:ext cx="6442153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0858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45559-3190-90CE-0B21-ED080C660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412950"/>
          </a:xfrm>
        </p:spPr>
        <p:txBody>
          <a:bodyPr/>
          <a:lstStyle/>
          <a:p>
            <a:r>
              <a:rPr lang="en-US" altLang="zh-CN" dirty="0">
                <a:solidFill>
                  <a:srgbClr val="7030A0"/>
                </a:solidFill>
              </a:rPr>
              <a:t>How to use map id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1998D-A553-EFCA-BFC9-28AD56C3E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806" y="1030045"/>
            <a:ext cx="7444990" cy="1956435"/>
          </a:xfrm>
        </p:spPr>
        <p:txBody>
          <a:bodyPr>
            <a:normAutofit/>
          </a:bodyPr>
          <a:lstStyle/>
          <a:p>
            <a:r>
              <a:rPr lang="en-US" sz="1800" dirty="0"/>
              <a:t>Take the ID and paste it into the </a:t>
            </a:r>
            <a:r>
              <a:rPr lang="en-US" sz="1800" b="1" dirty="0"/>
              <a:t>Web Map Viewer</a:t>
            </a:r>
            <a:r>
              <a:rPr lang="en-US" sz="1800" dirty="0"/>
              <a:t> URL:</a:t>
            </a:r>
            <a:endParaRPr lang="en-US" altLang="zh-CN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665" dirty="0">
                <a:hlinkClick r:id="rId2"/>
              </a:rPr>
              <a:t>https://www.arcgis.com/home/webmap/viewer.html?webmap=IDHERE</a:t>
            </a:r>
            <a:endParaRPr lang="en-US" altLang="zh-CN" sz="1665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665" dirty="0"/>
              <a:t>ID: f02f90242e3b4eff8c8ac0ea4ffe1cfa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665" dirty="0"/>
              <a:t>Replace IDHERE with ID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854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4D2207-AA67-DAD1-D42E-7A07328CA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2296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2D246379-93E3-8C8F-8891-FAAB2B1B53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240" r="32316" b="-3"/>
          <a:stretch>
            <a:fillRect/>
          </a:stretch>
        </p:blipFill>
        <p:spPr>
          <a:xfrm>
            <a:off x="395020" y="1622658"/>
            <a:ext cx="2302415" cy="31588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35C931-F281-441F-DF03-52330EC49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020" y="528066"/>
            <a:ext cx="2378488" cy="970784"/>
          </a:xfrm>
        </p:spPr>
        <p:txBody>
          <a:bodyPr anchor="t">
            <a:normAutofit/>
          </a:bodyPr>
          <a:lstStyle/>
          <a:p>
            <a:r>
              <a:rPr lang="en-US" altLang="zh-CN"/>
              <a:t>Using Map ID in Web Maps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BE918-5201-18D4-38D4-7936A9386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6313" y="469773"/>
            <a:ext cx="4971707" cy="4615434"/>
          </a:xfrm>
        </p:spPr>
        <p:txBody>
          <a:bodyPr anchor="t">
            <a:noAutofit/>
          </a:bodyPr>
          <a:lstStyle/>
          <a:p>
            <a:r>
              <a:rPr lang="en-US" altLang="zh-CN" sz="1400" b="1" dirty="0"/>
              <a:t>Conceptual flow</a:t>
            </a:r>
            <a:endParaRPr lang="en-US" altLang="zh-CN" sz="1400" dirty="0"/>
          </a:p>
          <a:p>
            <a:pPr lvl="1"/>
            <a:r>
              <a:rPr lang="en-US" altLang="zh-CN" sz="1400" b="1" dirty="0"/>
              <a:t>Create a </a:t>
            </a:r>
            <a:r>
              <a:rPr lang="en-US" altLang="zh-CN" sz="1400" b="1" dirty="0" err="1"/>
              <a:t>WebMap</a:t>
            </a:r>
            <a:r>
              <a:rPr lang="en-US" altLang="zh-CN" sz="1400" b="1" dirty="0"/>
              <a:t> object</a:t>
            </a:r>
            <a:endParaRPr lang="en-US" altLang="zh-CN" sz="1400" dirty="0"/>
          </a:p>
          <a:p>
            <a:pPr lvl="2"/>
            <a:r>
              <a:rPr lang="en-US" altLang="zh-CN" sz="1400" dirty="0"/>
              <a:t>In code, developers create a </a:t>
            </a:r>
            <a:r>
              <a:rPr lang="en-US" altLang="zh-CN" sz="1400" dirty="0" err="1"/>
              <a:t>WebMap</a:t>
            </a:r>
            <a:r>
              <a:rPr lang="en-US" altLang="zh-CN" sz="1400" dirty="0"/>
              <a:t> by specifying the Item ID.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altLang="zh-CN" sz="1265" dirty="0"/>
              <a:t>Example:</a:t>
            </a:r>
          </a:p>
          <a:p>
            <a:pPr marL="680400" lvl="3" indent="0">
              <a:buNone/>
            </a:pPr>
            <a:r>
              <a:rPr lang="en-US" altLang="zh-CN" sz="1265" dirty="0"/>
              <a:t>var </a:t>
            </a:r>
            <a:r>
              <a:rPr lang="en-US" altLang="zh-CN" sz="1265" dirty="0" err="1"/>
              <a:t>webmap</a:t>
            </a:r>
            <a:r>
              <a:rPr lang="en-US" altLang="zh-CN" sz="1265" dirty="0"/>
              <a:t> = new </a:t>
            </a:r>
            <a:r>
              <a:rPr lang="en-US" altLang="zh-CN" sz="1265" dirty="0" err="1"/>
              <a:t>WebMap</a:t>
            </a:r>
            <a:r>
              <a:rPr lang="en-US" altLang="zh-CN" sz="1265" dirty="0"/>
              <a:t>({</a:t>
            </a:r>
          </a:p>
          <a:p>
            <a:pPr marL="680400" lvl="3" indent="0">
              <a:buNone/>
            </a:pPr>
            <a:r>
              <a:rPr lang="en-US" altLang="zh-CN" sz="1265" dirty="0"/>
              <a:t>  </a:t>
            </a:r>
            <a:r>
              <a:rPr lang="en-US" altLang="zh-CN" sz="1265" dirty="0" err="1"/>
              <a:t>portalItem</a:t>
            </a:r>
            <a:r>
              <a:rPr lang="en-US" altLang="zh-CN" sz="1265" dirty="0"/>
              <a:t>: { id: "abc123xyz456..." }</a:t>
            </a:r>
          </a:p>
          <a:p>
            <a:pPr marL="680400" lvl="3" indent="0">
              <a:buNone/>
            </a:pPr>
            <a:r>
              <a:rPr lang="en-US" altLang="zh-CN" sz="1265" dirty="0"/>
              <a:t>});</a:t>
            </a:r>
          </a:p>
          <a:p>
            <a:pPr lvl="1"/>
            <a:r>
              <a:rPr lang="en-US" altLang="zh-CN" sz="1400" b="1" dirty="0"/>
              <a:t>Display the map in a View</a:t>
            </a:r>
            <a:endParaRPr lang="en-US" altLang="zh-CN" sz="1400" dirty="0"/>
          </a:p>
          <a:p>
            <a:pPr lvl="2"/>
            <a:r>
              <a:rPr lang="en-US" altLang="zh-CN" sz="1400" dirty="0"/>
              <a:t>A </a:t>
            </a:r>
            <a:r>
              <a:rPr lang="en-US" altLang="zh-CN" sz="1400" dirty="0" err="1"/>
              <a:t>MapView</a:t>
            </a:r>
            <a:r>
              <a:rPr lang="en-US" altLang="zh-CN" sz="1400" dirty="0"/>
              <a:t> or </a:t>
            </a:r>
            <a:r>
              <a:rPr lang="en-US" altLang="zh-CN" sz="1400" dirty="0" err="1"/>
              <a:t>SceneView</a:t>
            </a:r>
            <a:r>
              <a:rPr lang="en-US" altLang="zh-CN" sz="1400" dirty="0"/>
              <a:t> is created to display the web map in the browser.</a:t>
            </a:r>
          </a:p>
          <a:p>
            <a:pPr lvl="2"/>
            <a:r>
              <a:rPr lang="en-US" altLang="zh-CN" sz="1400" dirty="0"/>
              <a:t>The </a:t>
            </a:r>
            <a:r>
              <a:rPr lang="en-US" altLang="zh-CN" sz="1400" dirty="0" err="1"/>
              <a:t>webmap</a:t>
            </a:r>
            <a:r>
              <a:rPr lang="en-US" altLang="zh-CN" sz="1400" dirty="0"/>
              <a:t> variable (with the ID) is passed into the view.</a:t>
            </a:r>
          </a:p>
          <a:p>
            <a:pPr lvl="1"/>
            <a:r>
              <a:rPr lang="en-US" altLang="zh-CN" sz="1400" b="1" dirty="0"/>
              <a:t>Result</a:t>
            </a:r>
            <a:endParaRPr lang="en-US" altLang="zh-CN" sz="1400" dirty="0"/>
          </a:p>
          <a:p>
            <a:pPr lvl="2"/>
            <a:r>
              <a:rPr lang="en-US" altLang="zh-CN" sz="1400" dirty="0"/>
              <a:t>The map automatically loads, with all its layers, symbology, and settings—because the Item ID links back to ArcGIS Online or Enterprise where everything is stored.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047182-D574-4420-02BD-B15749636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0" y="342900"/>
            <a:ext cx="2499741" cy="7124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F9EDA4-AE82-51D4-9890-D3FD6D2AF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32D855-C8B5-8666-2EF6-1D436A827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8449" y="340232"/>
            <a:ext cx="2499741" cy="7391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1744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3BED7-3729-8FD3-EA68-A77305E21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446506"/>
          </a:xfrm>
        </p:spPr>
        <p:txBody>
          <a:bodyPr/>
          <a:lstStyle/>
          <a:p>
            <a:r>
              <a:rPr lang="en-US" dirty="0"/>
              <a:t>CLASS ERERCISE: </a:t>
            </a:r>
            <a:r>
              <a:rPr lang="en-US" b="0" i="0" dirty="0">
                <a:effectLst/>
                <a:latin typeface="Avenir Next"/>
                <a:hlinkClick r:id="rId2"/>
              </a:rPr>
              <a:t>ArcGIS Maps SDK for JavaScript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1413FB-9171-C0F8-D627-E1F8B2499E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04423" y="1117770"/>
            <a:ext cx="6935931" cy="3121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6104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A8A5E-3AE6-CC85-0AB6-1CE960B68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381252"/>
          </a:xfrm>
        </p:spPr>
        <p:txBody>
          <a:bodyPr/>
          <a:lstStyle/>
          <a:p>
            <a:r>
              <a:rPr lang="en-US" altLang="zh-CN" dirty="0">
                <a:solidFill>
                  <a:srgbClr val="7030A0"/>
                </a:solidFill>
              </a:rPr>
              <a:t>In-class activity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80820-E35E-CD9C-B26F-72A68759D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089" y="882702"/>
            <a:ext cx="7444990" cy="2741406"/>
          </a:xfrm>
        </p:spPr>
        <p:txBody>
          <a:bodyPr>
            <a:noAutofit/>
          </a:bodyPr>
          <a:lstStyle/>
          <a:p>
            <a:r>
              <a:rPr lang="en-US" altLang="zh-CN" sz="1800" dirty="0"/>
              <a:t>On your smartphone or tablet, navigate to the ArcGIS </a:t>
            </a:r>
            <a:r>
              <a:rPr lang="en-US" altLang="zh-CN" sz="1800" dirty="0" err="1"/>
              <a:t>StoryMaps</a:t>
            </a:r>
            <a:r>
              <a:rPr lang="en-US" altLang="zh-CN" sz="1800" dirty="0"/>
              <a:t> Gallery at https://arcg.is/1Lmyq50.</a:t>
            </a:r>
          </a:p>
          <a:p>
            <a:r>
              <a:rPr lang="en-US" altLang="zh-CN" sz="1800" dirty="0"/>
              <a:t>Browse the gallery and test at least three stories.</a:t>
            </a:r>
          </a:p>
          <a:p>
            <a:r>
              <a:rPr lang="en-US" altLang="zh-CN" sz="1800" dirty="0"/>
              <a:t>Change the screen orientation to see how the stories respond.</a:t>
            </a:r>
          </a:p>
          <a:p>
            <a:r>
              <a:rPr lang="en-US" altLang="zh-CN" sz="1800" dirty="0"/>
              <a:t>While reviewing the story maps, reflect on how their elements, capabilities, and interactive features can be incorporated into your Mobile GIS workflows or projects.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4239112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71305" y="1325254"/>
            <a:ext cx="3286989" cy="830997"/>
          </a:xfrm>
          <a:prstGeom prst="rect">
            <a:avLst/>
          </a:prstGeom>
          <a:noFill/>
        </p:spPr>
        <p:txBody>
          <a:bodyPr wrap="none" lIns="82296" tIns="41148" rIns="82296" bIns="41148">
            <a:spAutoFit/>
          </a:bodyPr>
          <a:lstStyle/>
          <a:p>
            <a:pPr algn="ctr"/>
            <a:r>
              <a:rPr lang="en-US" sz="4860" b="1" spc="180" dirty="0">
                <a:ln w="29210">
                  <a:solidFill>
                    <a:schemeClr val="accent3">
                      <a:tint val="10000"/>
                    </a:schemeClr>
                  </a:solidFill>
                </a:ln>
                <a:solidFill>
                  <a:srgbClr val="008000">
                    <a:alpha val="50000"/>
                  </a:srgbClr>
                </a:solidFill>
                <a:effectLst>
                  <a:innerShdw blurRad="50800" dist="50800" dir="8100000">
                    <a:srgbClr val="7D7D7D">
                      <a:alpha val="73000"/>
                    </a:srgbClr>
                  </a:innerShdw>
                </a:effectLst>
              </a:rPr>
              <a:t>Thank you!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3C9EAE-E5B7-4784-94CD-D062E178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6" name="Picture 5" descr="Geography department logo">
            <a:extLst>
              <a:ext uri="{FF2B5EF4-FFF2-40B4-BE49-F238E27FC236}">
                <a16:creationId xmlns:a16="http://schemas.microsoft.com/office/drawing/2014/main" id="{32DE135F-68C6-4911-85BA-92ABB3F9F85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2400" y="4275667"/>
            <a:ext cx="5915025" cy="75819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DF13BC-3A5F-4415-94E6-85FAF42998C9}"/>
              </a:ext>
            </a:extLst>
          </p:cNvPr>
          <p:cNvCxnSpPr/>
          <p:nvPr/>
        </p:nvCxnSpPr>
        <p:spPr>
          <a:xfrm>
            <a:off x="152400" y="4182575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5223018"/>
      </p:ext>
    </p:extLst>
  </p:cSld>
  <p:clrMapOvr>
    <a:masterClrMapping/>
  </p:clrMapOvr>
</p:sld>
</file>

<file path=ppt/theme/theme1.xml><?xml version="1.0" encoding="utf-8"?>
<a:theme xmlns:a="http://schemas.openxmlformats.org/drawingml/2006/main" name="2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1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4.xml><?xml version="1.0" encoding="utf-8"?>
<a:theme xmlns:a="http://schemas.openxmlformats.org/drawingml/2006/main" name="3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Week03_GEOG3319_Suvery123</Template>
  <TotalTime>3724</TotalTime>
  <Words>1242</Words>
  <Application>Microsoft Office PowerPoint</Application>
  <PresentationFormat>Custom</PresentationFormat>
  <Paragraphs>113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Arial Black</vt:lpstr>
      <vt:lpstr>Avenir Next</vt:lpstr>
      <vt:lpstr>Calibri</vt:lpstr>
      <vt:lpstr>Neue Haas Grotesk Text Pro</vt:lpstr>
      <vt:lpstr>Wingdings</vt:lpstr>
      <vt:lpstr>Wingdings 2</vt:lpstr>
      <vt:lpstr>2_DividendVTI</vt:lpstr>
      <vt:lpstr>DividendVTI</vt:lpstr>
      <vt:lpstr>1_DividendVTI</vt:lpstr>
      <vt:lpstr>3_DividendVTI</vt:lpstr>
      <vt:lpstr>WEEK 05  response web map  lecture</vt:lpstr>
      <vt:lpstr>5.1  introduction </vt:lpstr>
      <vt:lpstr>Response web-map</vt:lpstr>
      <vt:lpstr>Configurable web app template</vt:lpstr>
      <vt:lpstr>Getting started with Esri storymap</vt:lpstr>
      <vt:lpstr>Configurable web app template</vt:lpstr>
      <vt:lpstr>Basic workflow to create dashboards</vt:lpstr>
      <vt:lpstr>Dashboards configuration</vt:lpstr>
      <vt:lpstr>Basic workflow to create dashboards</vt:lpstr>
      <vt:lpstr>Configurable web app template</vt:lpstr>
      <vt:lpstr>Configurable web app template</vt:lpstr>
      <vt:lpstr>ArcGIS Experience Builder editions</vt:lpstr>
      <vt:lpstr>Default Templates</vt:lpstr>
      <vt:lpstr>Basic workflow to create web experiences</vt:lpstr>
      <vt:lpstr>Configurable web app template</vt:lpstr>
      <vt:lpstr>Arcgis hub basic</vt:lpstr>
      <vt:lpstr>web app templates</vt:lpstr>
      <vt:lpstr>Map id in esri</vt:lpstr>
      <vt:lpstr>How to use map id</vt:lpstr>
      <vt:lpstr>How to use map id</vt:lpstr>
      <vt:lpstr>Using Map ID in Web Maps</vt:lpstr>
      <vt:lpstr>CLASS ERERCISE: ArcGIS Maps SDK for JavaScript</vt:lpstr>
      <vt:lpstr>In-class activity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Geographic Field Techniques</dc:title>
  <dc:creator>Yaqian He</dc:creator>
  <cp:lastModifiedBy>Yanan Wu</cp:lastModifiedBy>
  <cp:revision>141</cp:revision>
  <dcterms:created xsi:type="dcterms:W3CDTF">2020-07-26T21:20:11Z</dcterms:created>
  <dcterms:modified xsi:type="dcterms:W3CDTF">2025-09-16T18:17:30Z</dcterms:modified>
</cp:coreProperties>
</file>