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677" r:id="rId3"/>
    <p:sldId id="713" r:id="rId4"/>
    <p:sldId id="714" r:id="rId5"/>
    <p:sldId id="715" r:id="rId6"/>
    <p:sldId id="716" r:id="rId7"/>
    <p:sldId id="718" r:id="rId8"/>
    <p:sldId id="654" r:id="rId9"/>
    <p:sldId id="719" r:id="rId10"/>
    <p:sldId id="720" r:id="rId11"/>
    <p:sldId id="756" r:id="rId12"/>
    <p:sldId id="722" r:id="rId13"/>
    <p:sldId id="723" r:id="rId14"/>
    <p:sldId id="730" r:id="rId15"/>
    <p:sldId id="731" r:id="rId16"/>
    <p:sldId id="732" r:id="rId17"/>
    <p:sldId id="733" r:id="rId18"/>
    <p:sldId id="734" r:id="rId19"/>
    <p:sldId id="735" r:id="rId20"/>
    <p:sldId id="724" r:id="rId21"/>
    <p:sldId id="725" r:id="rId22"/>
    <p:sldId id="726" r:id="rId23"/>
    <p:sldId id="728" r:id="rId24"/>
    <p:sldId id="729" r:id="rId25"/>
    <p:sldId id="740" r:id="rId26"/>
    <p:sldId id="741" r:id="rId27"/>
    <p:sldId id="742" r:id="rId28"/>
    <p:sldId id="743" r:id="rId29"/>
    <p:sldId id="744" r:id="rId30"/>
    <p:sldId id="745" r:id="rId31"/>
    <p:sldId id="746" r:id="rId32"/>
    <p:sldId id="747" r:id="rId33"/>
    <p:sldId id="757" r:id="rId34"/>
    <p:sldId id="748" r:id="rId35"/>
    <p:sldId id="750" r:id="rId36"/>
    <p:sldId id="736" r:id="rId37"/>
    <p:sldId id="737" r:id="rId38"/>
    <p:sldId id="739" r:id="rId39"/>
    <p:sldId id="738" r:id="rId40"/>
    <p:sldId id="751" r:id="rId41"/>
    <p:sldId id="752" r:id="rId42"/>
    <p:sldId id="753" r:id="rId43"/>
    <p:sldId id="754" r:id="rId44"/>
    <p:sldId id="760" r:id="rId45"/>
    <p:sldId id="759" r:id="rId46"/>
    <p:sldId id="761" r:id="rId47"/>
    <p:sldId id="762" r:id="rId48"/>
    <p:sldId id="758" r:id="rId49"/>
    <p:sldId id="270" r:id="rId50"/>
  </p:sldIdLst>
  <p:sldSz cx="8229600" cy="51435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 snapToObjects="1">
      <p:cViewPr varScale="1">
        <p:scale>
          <a:sx n="124" d="100"/>
          <a:sy n="124" d="100"/>
        </p:scale>
        <p:origin x="1584" y="102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ip_(CDMA)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lobal_Positioning_System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Galileo_system" TargetMode="External"/><Relationship Id="rId4" Type="http://schemas.openxmlformats.org/officeDocument/2006/relationships/hyperlink" Target="https://en.wikipedia.org/wiki/Carrier_frequency" TargetMode="Externa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clined_geosynchronous_orbit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inary_offset_carrier_modulation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QPSK" TargetMode="External"/><Relationship Id="rId4" Type="http://schemas.openxmlformats.org/officeDocument/2006/relationships/hyperlink" Target="https://en.wikipedia.org/wiki/Indian_Regional_Navigation_Satellite_System#cite_note-54" TargetMode="Externa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5963" y="696913"/>
            <a:ext cx="55784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08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6068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</a:t>
            </a:r>
          </a:p>
          <a:p>
            <a:pPr algn="l"/>
            <a:r>
              <a:rPr lang="en-US" altLang="en-US" dirty="0"/>
              <a:t>Ascending node</a:t>
            </a:r>
          </a:p>
          <a:p>
            <a:pPr algn="l"/>
            <a:r>
              <a:rPr lang="en-US" altLang="en-US" dirty="0"/>
              <a:t>23h56min, solar day is 24 hours</a:t>
            </a:r>
          </a:p>
        </p:txBody>
      </p:sp>
    </p:spTree>
    <p:extLst>
      <p:ext uri="{BB962C8B-B14F-4D97-AF65-F5344CB8AC3E}">
        <p14:creationId xmlns:p14="http://schemas.microsoft.com/office/powerpoint/2010/main" val="3296656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</a:t>
            </a:r>
          </a:p>
        </p:txBody>
      </p:sp>
    </p:spTree>
    <p:extLst>
      <p:ext uri="{BB962C8B-B14F-4D97-AF65-F5344CB8AC3E}">
        <p14:creationId xmlns:p14="http://schemas.microsoft.com/office/powerpoint/2010/main" val="1882603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satellites, last year is 34, now is 31</a:t>
            </a:r>
          </a:p>
        </p:txBody>
      </p:sp>
    </p:spTree>
    <p:extLst>
      <p:ext uri="{BB962C8B-B14F-4D97-AF65-F5344CB8AC3E}">
        <p14:creationId xmlns:p14="http://schemas.microsoft.com/office/powerpoint/2010/main" val="3580988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</a:p>
          <a:p>
            <a:pPr algn="l"/>
            <a:r>
              <a:rPr lang="en-US" altLang="en-US" dirty="0"/>
              <a:t>Reduce error rate, more flexible, less code noise, improve the L1 Civil signal</a:t>
            </a:r>
          </a:p>
        </p:txBody>
      </p:sp>
    </p:spTree>
    <p:extLst>
      <p:ext uri="{BB962C8B-B14F-4D97-AF65-F5344CB8AC3E}">
        <p14:creationId xmlns:p14="http://schemas.microsoft.com/office/powerpoint/2010/main" val="2704302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</a:p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The current active GPS constellation consists of 1 Block IIA, 11 Block IIRs, 7 Block IIR-Ms and 12 Block IIFs for a total of 31 satellites and is under FOC (Full Operational Capability).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8533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Only 7 healthy satellites remained in 2001. After that, a program to rebuild and modernize GLONASS. </a:t>
            </a:r>
          </a:p>
          <a:p>
            <a:pPr algn="l"/>
            <a:r>
              <a:rPr lang="en-US" altLang="en-US" dirty="0"/>
              <a:t>It is higher than GPS</a:t>
            </a:r>
          </a:p>
          <a:p>
            <a:pPr algn="l"/>
            <a:endParaRPr lang="en-US" altLang="en-US" dirty="0"/>
          </a:p>
          <a:p>
            <a:pPr algn="l"/>
            <a:r>
              <a:rPr lang="en-US" altLang="en-US" dirty="0"/>
              <a:t>https://en.wikipedia.org/wiki/GLONASS</a:t>
            </a:r>
          </a:p>
        </p:txBody>
      </p:sp>
    </p:spTree>
    <p:extLst>
      <p:ext uri="{BB962C8B-B14F-4D97-AF65-F5344CB8AC3E}">
        <p14:creationId xmlns:p14="http://schemas.microsoft.com/office/powerpoint/2010/main" val="3724272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3993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Last year 24</a:t>
            </a:r>
          </a:p>
        </p:txBody>
      </p:sp>
    </p:spTree>
    <p:extLst>
      <p:ext uri="{BB962C8B-B14F-4D97-AF65-F5344CB8AC3E}">
        <p14:creationId xmlns:p14="http://schemas.microsoft.com/office/powerpoint/2010/main" val="912657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</a:t>
            </a:r>
          </a:p>
        </p:txBody>
      </p:sp>
    </p:spTree>
    <p:extLst>
      <p:ext uri="{BB962C8B-B14F-4D97-AF65-F5344CB8AC3E}">
        <p14:creationId xmlns:p14="http://schemas.microsoft.com/office/powerpoint/2010/main" val="3445642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GLONASS has only one PRN code, starting for GLONASS-K, it will be more like GPS code.</a:t>
            </a:r>
          </a:p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modulation,</a:t>
            </a:r>
            <a:r>
              <a:rPr lang="zh-CN" alt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b="0" i="0" dirty="0">
                <a:effectLst/>
                <a:latin typeface="arial" panose="020B0604020202020204" pitchFamily="34" charset="0"/>
              </a:rPr>
              <a:t>more</a:t>
            </a:r>
            <a:r>
              <a:rPr lang="zh-CN" alt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b="0" i="0" dirty="0">
                <a:effectLst/>
                <a:latin typeface="arial" panose="020B0604020202020204" pitchFamily="34" charset="0"/>
              </a:rPr>
              <a:t>like GPS code</a:t>
            </a:r>
          </a:p>
          <a:p>
            <a:pPr algn="l"/>
            <a:endParaRPr lang="en-US" altLang="en-US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FDMA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Frequency Division Multiple Access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This approach is known as </a:t>
            </a: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CDMA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Code Division Multiple Access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</a:t>
            </a:r>
          </a:p>
          <a:p>
            <a:pPr algn="l"/>
            <a:endParaRPr lang="en-US" alt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The first is L1 (~1602 MHz), in which the separation between individual carriers is 0.5625 MHz; the range is between ~1598.0625 to ~1607.0625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MHz.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The second is L2 (~1246 MHz), in which the separation between individual carriers is 0.4375 MHz; the range is between ~1242.9375 to ~1249.9375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MHz.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The third is L3. This third civil signal on L3 is available on the K satellites and within a new frequency band (~1201 MHz) that includes 1201.743 to 1208.511 MHz and will overlap Galileo’s E5B signal. </a:t>
            </a:r>
          </a:p>
          <a:p>
            <a:pPr algn="l"/>
            <a:endParaRPr lang="en-US" alt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open signal L3OC is centered at 1202.025 MHz and uses BPSK(10) modulation for both data and pilot channels; the ranging code transmits at 10.23 million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Chip (CDMA)"/>
              </a:rPr>
              <a:t>chips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per second, modulated onto the carrier frequency using QPSK with in-phase data and quadrature pilot.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0843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The Russian Federation designated the “</a:t>
            </a:r>
            <a:r>
              <a:rPr lang="en-US" b="0" i="0" dirty="0" err="1">
                <a:solidFill>
                  <a:srgbClr val="090909"/>
                </a:solidFill>
                <a:effectLst/>
                <a:latin typeface="gotham"/>
              </a:rPr>
              <a:t>Kosmos</a:t>
            </a: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 Number.”</a:t>
            </a:r>
          </a:p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 Channel number “k” indicates L1 and L2 carrier frequencies: L1 = 1,602 + 0.5625 k (MHz); L2 = 1,246 + 0.4375 k (MHz).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5272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satellites, inclination maybe changed</a:t>
            </a:r>
          </a:p>
          <a:p>
            <a:pPr algn="l"/>
            <a:r>
              <a:rPr lang="en-US" altLang="en-US" dirty="0"/>
              <a:t>Two Galileo sent to wrong orbits</a:t>
            </a:r>
          </a:p>
        </p:txBody>
      </p:sp>
    </p:spTree>
    <p:extLst>
      <p:ext uri="{BB962C8B-B14F-4D97-AF65-F5344CB8AC3E}">
        <p14:creationId xmlns:p14="http://schemas.microsoft.com/office/powerpoint/2010/main" val="3155877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66"/>
                </a:solidFill>
                <a:effectLst/>
                <a:latin typeface="Times New Roman" panose="02020603050405020304" pitchFamily="18" charset="0"/>
              </a:rPr>
              <a:t>The figures shows the ground track of Galileo-101 (E11), one of the older Galileo satellites, and Galileo-201, one of the two new Galileo satellites, over a period of 24 hours for August 23, 2014. A couple of interesting features can be seen from the plot. Firstly the difference in inclination, 56 vs 49 degrees, is clearly visible as the maximum latitude of the Galileo-201 satellite is clearly smaller.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1713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79767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</a:t>
            </a:r>
          </a:p>
        </p:txBody>
      </p:sp>
    </p:spTree>
    <p:extLst>
      <p:ext uri="{BB962C8B-B14F-4D97-AF65-F5344CB8AC3E}">
        <p14:creationId xmlns:p14="http://schemas.microsoft.com/office/powerpoint/2010/main" val="761361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modulation, copy GPS system. L1 and L5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Full Operational Capability </a:t>
            </a:r>
          </a:p>
          <a:p>
            <a:pPr algn="l"/>
            <a:endParaRPr lang="en-US" alt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Therefore,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BPSK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-modulated signals such as C/A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Global Positioning System"/>
              </a:rPr>
              <a:t>GPS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codes have most of their spectral energy concentrated around the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 tooltip="Carrier frequency"/>
              </a:rPr>
              <a:t>carrier frequency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while BOC-modulated signals (used in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Galileo system"/>
              </a:rPr>
              <a:t>Galileo system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have low energy around the carrier frequency and two main spectral lobes further away from the carrier (thus, the name of split-spectrum). https://en.wikipedia.org/wiki/Binary_offset_carrier_modulation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5458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Satellites launched into wrong orbits.</a:t>
            </a:r>
          </a:p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Orbit </a:t>
            </a:r>
            <a:r>
              <a:rPr lang="en-US" b="0" i="0" dirty="0" err="1">
                <a:solidFill>
                  <a:srgbClr val="090909"/>
                </a:solidFill>
                <a:effectLst/>
                <a:latin typeface="gotham"/>
              </a:rPr>
              <a:t>perigree</a:t>
            </a: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 raised by about 3500 kilometers in November 2014.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Clock failures in 2017</a:t>
            </a:r>
          </a:p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1193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A1A1A"/>
                </a:solidFill>
                <a:effectLst/>
                <a:latin typeface="Arial" panose="020B0604020202020204" pitchFamily="34" charset="0"/>
              </a:rPr>
              <a:t>Initiated 1994</a:t>
            </a:r>
          </a:p>
          <a:p>
            <a:pPr algn="l"/>
            <a:r>
              <a:rPr lang="en-US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3" tooltip="Inclined geosynchronous orbit"/>
              </a:rPr>
              <a:t>inclined geosynchronous orbits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(IGSO)</a:t>
            </a:r>
          </a:p>
          <a:p>
            <a:pPr algn="l"/>
            <a:r>
              <a:rPr lang="en-US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June, 2020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 The IGS01, IGS02 and IGS03 satellite are at ~120°E. IGS04 and IGS05 are at ~95°E.</a:t>
            </a:r>
          </a:p>
          <a:p>
            <a:pPr algn="l"/>
            <a:endParaRPr lang="en-US" alt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algn="l"/>
            <a:r>
              <a:rPr lang="en-US" altLang="en-US" dirty="0"/>
              <a:t>https://gssc.esa.int/navipedia/index.php/BeiDou_Space_Segment</a:t>
            </a:r>
          </a:p>
        </p:txBody>
      </p:sp>
    </p:spTree>
    <p:extLst>
      <p:ext uri="{BB962C8B-B14F-4D97-AF65-F5344CB8AC3E}">
        <p14:creationId xmlns:p14="http://schemas.microsoft.com/office/powerpoint/2010/main" val="20037643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satellites, sinusoid, symmetric</a:t>
            </a:r>
          </a:p>
        </p:txBody>
      </p:sp>
    </p:spTree>
    <p:extLst>
      <p:ext uri="{BB962C8B-B14F-4D97-AF65-F5344CB8AC3E}">
        <p14:creationId xmlns:p14="http://schemas.microsoft.com/office/powerpoint/2010/main" val="3464439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</a:t>
            </a:r>
          </a:p>
        </p:txBody>
      </p:sp>
    </p:spTree>
    <p:extLst>
      <p:ext uri="{BB962C8B-B14F-4D97-AF65-F5344CB8AC3E}">
        <p14:creationId xmlns:p14="http://schemas.microsoft.com/office/powerpoint/2010/main" val="37595025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BeiDou</a:t>
            </a: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satellites currently transmit signals in three bands; B1 (1561.098 MHz), B1-2 (1589.742 MHz), B2 (1207.14 MHz) and B3 (1268.52).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The modulation scheme 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quadraphase</a:t>
            </a: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shift key (QPSK)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0462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</a:p>
          <a:p>
            <a:pPr algn="l"/>
            <a:r>
              <a:rPr lang="en-US" altLang="en-US" b="0" i="0" dirty="0">
                <a:effectLst/>
                <a:latin typeface="arial" panose="020B0604020202020204" pitchFamily="34" charset="0"/>
              </a:rPr>
              <a:t>1OV test satellite, but in operation</a:t>
            </a:r>
          </a:p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GEO, formerly at 84° E, shifted to 110.5° E between about Nov. 7 and Nov. 23, 2012.</a:t>
            </a:r>
            <a:endParaRPr lang="en-US" b="0" i="0" dirty="0">
              <a:solidFill>
                <a:srgbClr val="090909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Satellite is not currently transmitting standard signals.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39443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10 years design life,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Quasi-Zenith Satellite System (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open sans"/>
              </a:rPr>
              <a:t>QZSS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),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open sans"/>
              </a:rPr>
              <a:t>in the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open sans"/>
              </a:rPr>
              <a:t>sbas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open sans"/>
              </a:rPr>
              <a:t> page</a:t>
            </a: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90513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98867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</a:t>
            </a:r>
          </a:p>
        </p:txBody>
      </p:sp>
    </p:spTree>
    <p:extLst>
      <p:ext uri="{BB962C8B-B14F-4D97-AF65-F5344CB8AC3E}">
        <p14:creationId xmlns:p14="http://schemas.microsoft.com/office/powerpoint/2010/main" val="37063931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</a:t>
            </a:r>
          </a:p>
        </p:txBody>
      </p:sp>
    </p:spTree>
    <p:extLst>
      <p:ext uri="{BB962C8B-B14F-4D97-AF65-F5344CB8AC3E}">
        <p14:creationId xmlns:p14="http://schemas.microsoft.com/office/powerpoint/2010/main" val="10070237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The system transmits 6 signals, </a:t>
            </a:r>
            <a:r>
              <a:rPr lang="pt-BR" b="0" i="0" dirty="0">
                <a:solidFill>
                  <a:srgbClr val="000000"/>
                </a:solidFill>
                <a:effectLst/>
                <a:latin typeface="open sans"/>
              </a:rPr>
              <a:t>L1-C/A, L1C. L2C, L5 are similar with GPS siganal</a:t>
            </a:r>
          </a:p>
          <a:p>
            <a:pPr algn="l"/>
            <a:endParaRPr lang="pt-BR" alt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Navigation and Timing Service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87863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N. On June 2, 2018, QZS-3 suffered a signal amplifier switch failure. During trouble shooting, all test signals from QZS-2, QZS-3 and QZS-4 have been temporally halted since June 4, 2018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85316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2006 planed, Indian Regional Navigation Satellite System, 3 GEO satellite and 4 GSO satellite, 9.5 -11 years , 2 spare are also planed</a:t>
            </a:r>
          </a:p>
          <a:p>
            <a:pPr algn="l"/>
            <a:endParaRPr lang="en-US" alt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Altitude </a:t>
            </a:r>
            <a:r>
              <a:rPr lang="en-US" dirty="0"/>
              <a:t>35,700 </a:t>
            </a:r>
            <a:r>
              <a:rPr lang="en-US" b="0" dirty="0"/>
              <a:t>km (GEO)</a:t>
            </a:r>
          </a:p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1093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62126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1993, 24 satellites</a:t>
            </a:r>
          </a:p>
        </p:txBody>
      </p:sp>
    </p:spTree>
    <p:extLst>
      <p:ext uri="{BB962C8B-B14F-4D97-AF65-F5344CB8AC3E}">
        <p14:creationId xmlns:p14="http://schemas.microsoft.com/office/powerpoint/2010/main" val="30124973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A. Decommissioned.</a:t>
            </a:r>
          </a:p>
          <a:p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26685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/>
              </a:rPr>
              <a:t>Binary offset carrier modulation</a:t>
            </a:r>
            <a:r>
              <a:rPr lang="en-US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/>
              </a:rPr>
              <a:t> </a:t>
            </a:r>
          </a:p>
          <a:p>
            <a:pPr algn="l"/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NavIC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signals will consist of a Standard Positioning Service and a Precision Service. Both will be carried on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L5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(1176.45 MHz) and S band (2492.028 MHz).</a:t>
            </a:r>
            <a:r>
              <a:rPr lang="en-US" b="0" i="0" u="none" strike="noStrike" baseline="30000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/>
              </a:rPr>
              <a:t>[54]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The SPS signal will be modulated by a 1 MHz </a:t>
            </a:r>
            <a:r>
              <a:rPr lang="en-US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QPSK"/>
              </a:rPr>
              <a:t>BPSK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signal. 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264744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74771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72414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11575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20426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36436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327152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9025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13667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42659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565738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90526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7426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BOC: </a:t>
            </a:r>
            <a:r>
              <a:rPr lang="en-US" b="0" i="0" dirty="0">
                <a:effectLst/>
                <a:latin typeface="arial" panose="020B0604020202020204" pitchFamily="34" charset="0"/>
              </a:rPr>
              <a:t>Binary offset carrier modulation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410450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97820"/>
            <a:ext cx="699516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914650"/>
            <a:ext cx="576072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39E1-38D7-48DF-A956-A57ACB624FA8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1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6A0A3-A7E5-45C7-85CD-2F6BC82BC98A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82" y="3305176"/>
            <a:ext cx="699516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082" y="2180035"/>
            <a:ext cx="699516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A3EC-9F31-41E1-AF3E-7D34B089CAC2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33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829D-9E8B-4700-8969-3811831CFEE2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151335"/>
            <a:ext cx="3636169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631156"/>
            <a:ext cx="3636169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0524" y="1151335"/>
            <a:ext cx="3637598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0524" y="1631156"/>
            <a:ext cx="3637598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0CF3-D799-47A8-AEB6-804CF2D64FC7}" type="datetime1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2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7F52-4796-455E-8A46-AEFBDCDD9AF2}" type="datetime1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2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656E3-90E2-4F48-8D22-800D6F1A5BD4}" type="datetime1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3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1" y="204787"/>
            <a:ext cx="2707482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545" y="204789"/>
            <a:ext cx="4600575" cy="438983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1481" y="1076327"/>
            <a:ext cx="2707482" cy="351829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63AE-2F61-442D-90C7-D5B55BD8CFA5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059" y="3600450"/>
            <a:ext cx="493776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3059" y="459581"/>
            <a:ext cx="4937760" cy="30861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059" y="4025504"/>
            <a:ext cx="4937760" cy="60364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3D5B3-A845-4D2D-99CD-3A3938AF651D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D516-F757-4904-896D-D2C967150B54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1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66460" y="205979"/>
            <a:ext cx="185166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480" y="205979"/>
            <a:ext cx="541782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66BA-A2C4-4D98-A45C-D1550405EAD1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9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205979"/>
            <a:ext cx="740664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200151"/>
            <a:ext cx="740664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BE402-D45A-41E8-989B-961D316102E9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1780" y="4767263"/>
            <a:ext cx="26060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978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9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1148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41148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ct val="20000"/>
        </a:spcBef>
        <a:buFont typeface="Arial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ct val="200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091" y="158778"/>
            <a:ext cx="8001000" cy="1549772"/>
          </a:xfrm>
        </p:spPr>
        <p:txBody>
          <a:bodyPr>
            <a:normAutofit/>
          </a:bodyPr>
          <a:lstStyle/>
          <a:p>
            <a:r>
              <a:rPr lang="en-US" sz="3600" dirty="0"/>
              <a:t>GEOG 3319: Geographic Field Techniques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57018" y="2967511"/>
            <a:ext cx="5760720" cy="1171497"/>
          </a:xfrm>
          <a:prstGeom prst="rect">
            <a:avLst/>
          </a:prstGeom>
        </p:spPr>
        <p:txBody>
          <a:bodyPr vert="horz" lIns="82296" tIns="41148" rIns="82296" bIns="41148" rtlCol="0">
            <a:normAutofit fontScale="2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solidFill>
                  <a:schemeClr val="tx1"/>
                </a:solidFill>
              </a:rPr>
              <a:t>Yaqian He, PhD</a:t>
            </a:r>
          </a:p>
          <a:p>
            <a:r>
              <a:rPr lang="en-US" sz="8000" dirty="0">
                <a:solidFill>
                  <a:schemeClr val="tx1"/>
                </a:solidFill>
              </a:rPr>
              <a:t>Assistant Professor</a:t>
            </a:r>
          </a:p>
          <a:p>
            <a:r>
              <a:rPr lang="en-US" sz="8000" dirty="0">
                <a:solidFill>
                  <a:schemeClr val="tx1"/>
                </a:solidFill>
              </a:rPr>
              <a:t>Department of Geography</a:t>
            </a:r>
          </a:p>
          <a:p>
            <a:endParaRPr lang="en-US" sz="288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072922" y="4416072"/>
            <a:ext cx="279753" cy="481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852E4-0F7F-41A7-9B32-F40B4D3A753B}"/>
              </a:ext>
            </a:extLst>
          </p:cNvPr>
          <p:cNvSpPr txBox="1"/>
          <p:nvPr/>
        </p:nvSpPr>
        <p:spPr>
          <a:xfrm>
            <a:off x="-1" y="1708550"/>
            <a:ext cx="8196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Lecture 0</a:t>
            </a:r>
            <a:r>
              <a:rPr lang="en-US" altLang="zh-CN" sz="3600" dirty="0"/>
              <a:t>6</a:t>
            </a:r>
            <a:r>
              <a:rPr lang="en-US" sz="3600" dirty="0"/>
              <a:t> Future and Application of GNSS</a:t>
            </a:r>
          </a:p>
        </p:txBody>
      </p:sp>
      <p:pic>
        <p:nvPicPr>
          <p:cNvPr id="13" name="Picture 12" descr="Logo of Geography Department">
            <a:extLst>
              <a:ext uri="{FF2B5EF4-FFF2-40B4-BE49-F238E27FC236}">
                <a16:creationId xmlns:a16="http://schemas.microsoft.com/office/drawing/2014/main" id="{AE401581-7A56-448D-8256-F61D9515AE3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0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zh-CN" sz="2600" dirty="0"/>
              <a:t>GNSS Family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GPS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GLONASS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Galileo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 err="1"/>
              <a:t>BeiDou</a:t>
            </a:r>
            <a:endParaRPr lang="en-US" altLang="en-US" sz="224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QZSS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IRNSS</a:t>
            </a:r>
          </a:p>
          <a:p>
            <a:pPr marL="0" lvl="2" indent="-342900">
              <a:buFont typeface="Courier New" panose="02070309020205020404" pitchFamily="49" charset="0"/>
              <a:buChar char="o"/>
            </a:pPr>
            <a:r>
              <a:rPr lang="en-US" altLang="zh-CN" sz="2400" dirty="0"/>
              <a:t>Why GNSS?</a:t>
            </a:r>
          </a:p>
          <a:p>
            <a:pPr marL="0" lvl="2" indent="-342900">
              <a:buFont typeface="Courier New" panose="02070309020205020404" pitchFamily="49" charset="0"/>
              <a:buChar char="o"/>
            </a:pPr>
            <a:r>
              <a:rPr lang="en-US" altLang="zh-CN" sz="2400" dirty="0"/>
              <a:t>GNSS Application </a:t>
            </a:r>
          </a:p>
          <a:p>
            <a:pPr marL="360045" lvl="2" indent="0">
              <a:buNone/>
            </a:pPr>
            <a:endParaRPr lang="en-US" altLang="en-US" sz="224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 descr="Flag of Russia">
            <a:extLst>
              <a:ext uri="{FF2B5EF4-FFF2-40B4-BE49-F238E27FC236}">
                <a16:creationId xmlns:a16="http://schemas.microsoft.com/office/drawing/2014/main" id="{22434274-C494-4E78-AE9E-205FA650B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599" y="2008759"/>
            <a:ext cx="304800" cy="238125"/>
          </a:xfrm>
          <a:prstGeom prst="rect">
            <a:avLst/>
          </a:prstGeom>
        </p:spPr>
      </p:pic>
      <p:pic>
        <p:nvPicPr>
          <p:cNvPr id="8" name="Picture 7" descr="Flag of European Union">
            <a:extLst>
              <a:ext uri="{FF2B5EF4-FFF2-40B4-BE49-F238E27FC236}">
                <a16:creationId xmlns:a16="http://schemas.microsoft.com/office/drawing/2014/main" id="{1F5B95C8-1E69-4C63-8668-05808ACA4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2444617"/>
            <a:ext cx="323850" cy="228600"/>
          </a:xfrm>
          <a:prstGeom prst="rect">
            <a:avLst/>
          </a:prstGeom>
        </p:spPr>
      </p:pic>
      <p:pic>
        <p:nvPicPr>
          <p:cNvPr id="10" name="Picture 9" descr="Flag of China">
            <a:extLst>
              <a:ext uri="{FF2B5EF4-FFF2-40B4-BE49-F238E27FC236}">
                <a16:creationId xmlns:a16="http://schemas.microsoft.com/office/drawing/2014/main" id="{8335EBDF-48DE-4028-9535-26208C2BA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474" y="2896616"/>
            <a:ext cx="304800" cy="200025"/>
          </a:xfrm>
          <a:prstGeom prst="rect">
            <a:avLst/>
          </a:prstGeom>
        </p:spPr>
      </p:pic>
      <p:pic>
        <p:nvPicPr>
          <p:cNvPr id="12" name="Picture 11" descr="Flag of Japan">
            <a:extLst>
              <a:ext uri="{FF2B5EF4-FFF2-40B4-BE49-F238E27FC236}">
                <a16:creationId xmlns:a16="http://schemas.microsoft.com/office/drawing/2014/main" id="{E51BA99B-5AE0-4DBD-B3B4-B576F7965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394" y="3259546"/>
            <a:ext cx="295275" cy="228600"/>
          </a:xfrm>
          <a:prstGeom prst="rect">
            <a:avLst/>
          </a:prstGeom>
        </p:spPr>
      </p:pic>
      <p:pic>
        <p:nvPicPr>
          <p:cNvPr id="14" name="Picture 13" descr="Flag of India">
            <a:extLst>
              <a:ext uri="{FF2B5EF4-FFF2-40B4-BE49-F238E27FC236}">
                <a16:creationId xmlns:a16="http://schemas.microsoft.com/office/drawing/2014/main" id="{206C1067-12FF-44B5-A380-E86DE72345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4248" y="3685879"/>
            <a:ext cx="323850" cy="219075"/>
          </a:xfrm>
          <a:prstGeom prst="rect">
            <a:avLst/>
          </a:prstGeom>
        </p:spPr>
      </p:pic>
      <p:pic>
        <p:nvPicPr>
          <p:cNvPr id="16" name="Picture 15" descr="Flag of US">
            <a:extLst>
              <a:ext uri="{FF2B5EF4-FFF2-40B4-BE49-F238E27FC236}">
                <a16:creationId xmlns:a16="http://schemas.microsoft.com/office/drawing/2014/main" id="{471A4B30-BAC0-4F08-B76C-8498051448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519" y="1645510"/>
            <a:ext cx="331139" cy="1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1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CDBEE1-9601-4263-A365-F3F6F0E9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b="0" dirty="0"/>
              <a:t>1978</a:t>
            </a:r>
            <a:endParaRPr lang="en-US" b="0" dirty="0"/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dirty="0"/>
              <a:t>6</a:t>
            </a:r>
            <a:r>
              <a:rPr lang="en-US" b="0" dirty="0"/>
              <a:t> Orbital p</a:t>
            </a:r>
            <a:r>
              <a:rPr lang="en-US" dirty="0"/>
              <a:t>lanes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MEO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b="0" dirty="0"/>
              <a:t>24</a:t>
            </a:r>
            <a:r>
              <a:rPr lang="en-US" b="0" dirty="0"/>
              <a:t> Satellites (currently 31)</a:t>
            </a:r>
            <a:endParaRPr lang="en-US" dirty="0"/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55° Inclination Angle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Altitude 20, 200 km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½ sidereal day period</a:t>
            </a:r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GPS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17DC8-FFB7-487D-9F32-3BD4AE5E062F}"/>
              </a:ext>
            </a:extLst>
          </p:cNvPr>
          <p:cNvSpPr txBox="1"/>
          <p:nvPr/>
        </p:nvSpPr>
        <p:spPr>
          <a:xfrm>
            <a:off x="4152900" y="4718386"/>
            <a:ext cx="4178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https://www.e-education.psu.edu/geog862/node/1860</a:t>
            </a:r>
          </a:p>
        </p:txBody>
      </p:sp>
      <p:pic>
        <p:nvPicPr>
          <p:cNvPr id="8" name="Picture 7" descr="Image showing GPS constellation">
            <a:extLst>
              <a:ext uri="{FF2B5EF4-FFF2-40B4-BE49-F238E27FC236}">
                <a16:creationId xmlns:a16="http://schemas.microsoft.com/office/drawing/2014/main" id="{F74739FB-4C58-4178-9A75-7E40B98F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416804"/>
            <a:ext cx="3256857" cy="303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2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GPS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2050" name="Picture 2" descr="GPS Ground Track">
            <a:extLst>
              <a:ext uri="{FF2B5EF4-FFF2-40B4-BE49-F238E27FC236}">
                <a16:creationId xmlns:a16="http://schemas.microsoft.com/office/drawing/2014/main" id="{5E599E4B-E7E8-401A-BFC7-737F8DB03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922" y="2016348"/>
            <a:ext cx="5369433" cy="275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152400" y="4794886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https://smallsat.files.wordpress.com/2013/01/issgroundtrack_011.png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4D7E1B3-9E42-4FB1-9D55-B7FFB743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7351046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GPS Ground Track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/>
              <a:t>T</a:t>
            </a:r>
            <a:r>
              <a:rPr lang="en-US" sz="2000" b="0" i="0" dirty="0">
                <a:effectLst/>
              </a:rPr>
              <a:t>he </a:t>
            </a:r>
            <a:r>
              <a:rPr lang="en-US" sz="2000" b="0" i="0" u="none" strike="noStrike" dirty="0">
                <a:effectLst/>
              </a:rPr>
              <a:t>vertical</a:t>
            </a:r>
            <a:r>
              <a:rPr lang="en-US" sz="2000" b="0" i="0" dirty="0">
                <a:effectLst/>
              </a:rPr>
              <a:t> </a:t>
            </a:r>
            <a:r>
              <a:rPr lang="en-US" sz="2000" b="0" i="0" u="none" strike="noStrike" dirty="0">
                <a:effectLst/>
              </a:rPr>
              <a:t>projection</a:t>
            </a:r>
            <a:r>
              <a:rPr lang="en-US" sz="2000" b="0" i="0" dirty="0">
                <a:effectLst/>
              </a:rPr>
              <a:t> of the satellite's </a:t>
            </a:r>
            <a:r>
              <a:rPr lang="en-US" sz="2000" b="0" i="0" u="none" strike="noStrike" dirty="0">
                <a:effectLst/>
              </a:rPr>
              <a:t>orbit</a:t>
            </a:r>
            <a:r>
              <a:rPr lang="en-US" sz="2000" b="0" i="0" dirty="0">
                <a:effectLst/>
              </a:rPr>
              <a:t> onto the surface of the Earth 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261925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GPS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3703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https://www.gps.gov/systems/gps/space/#:~:text=The%20satellites%20in%20the%20GPS,any%20point%20on%20the%20planet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D708AC-E5BB-4765-8C46-22E5AA4C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GPS satellite</a:t>
            </a:r>
          </a:p>
        </p:txBody>
      </p:sp>
      <p:pic>
        <p:nvPicPr>
          <p:cNvPr id="5122" name="Picture 2" descr="labeled Illustration of Block I, Block IA, Block II, and Block IIA GPS Satellites">
            <a:extLst>
              <a:ext uri="{FF2B5EF4-FFF2-40B4-BE49-F238E27FC236}">
                <a16:creationId xmlns:a16="http://schemas.microsoft.com/office/drawing/2014/main" id="{9D4C11AC-10D3-47FD-9B92-301435B96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144" y="1603195"/>
            <a:ext cx="2513733" cy="310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23B045-E444-4CEE-A673-E06F9F76C8F1}"/>
              </a:ext>
            </a:extLst>
          </p:cNvPr>
          <p:cNvSpPr txBox="1"/>
          <p:nvPr/>
        </p:nvSpPr>
        <p:spPr>
          <a:xfrm>
            <a:off x="4335233" y="4802934"/>
            <a:ext cx="32330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https://www.e-education.psu.edu/geog862/node/1860</a:t>
            </a:r>
          </a:p>
        </p:txBody>
      </p:sp>
      <p:pic>
        <p:nvPicPr>
          <p:cNvPr id="8" name="Picture 7" descr="GPS satellite status">
            <a:extLst>
              <a:ext uri="{FF2B5EF4-FFF2-40B4-BE49-F238E27FC236}">
                <a16:creationId xmlns:a16="http://schemas.microsoft.com/office/drawing/2014/main" id="{1C2D75D6-259D-4650-3F4A-2FAD48AA7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07348"/>
            <a:ext cx="3185192" cy="307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19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GPS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C21FB5-3262-4AA0-A558-29CB77B9C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7172916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Present and future GPS signal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Block I (1978-1985): L1 (C/A), L1 and L2 (P-code)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Block IIR-M (2005-2009): L2 (L2C), L1 and L2 (M-code), L5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Block IIF (2010-2016): Civil code on L5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Block III (2018-): L1C</a:t>
            </a:r>
          </a:p>
        </p:txBody>
      </p:sp>
    </p:spTree>
    <p:extLst>
      <p:ext uri="{BB962C8B-B14F-4D97-AF65-F5344CB8AC3E}">
        <p14:creationId xmlns:p14="http://schemas.microsoft.com/office/powerpoint/2010/main" val="1055278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GPS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0808" y="485419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https://www.gpsworld.com/the-almanac/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51815-1D25-41E2-BDD9-66227F67C3F1}"/>
              </a:ext>
            </a:extLst>
          </p:cNvPr>
          <p:cNvSpPr txBox="1"/>
          <p:nvPr/>
        </p:nvSpPr>
        <p:spPr>
          <a:xfrm>
            <a:off x="270932" y="1199928"/>
            <a:ext cx="217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GPS Almanac</a:t>
            </a:r>
          </a:p>
        </p:txBody>
      </p:sp>
      <p:pic>
        <p:nvPicPr>
          <p:cNvPr id="8" name="Picture 7" descr="GPS Almanac">
            <a:extLst>
              <a:ext uri="{FF2B5EF4-FFF2-40B4-BE49-F238E27FC236}">
                <a16:creationId xmlns:a16="http://schemas.microsoft.com/office/drawing/2014/main" id="{0B5B5FF5-3B36-43F7-8CBF-10E27C587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130" y="1075310"/>
            <a:ext cx="4053759" cy="4015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BD6327-B1B4-C4F0-C025-65BA60992645}"/>
              </a:ext>
            </a:extLst>
          </p:cNvPr>
          <p:cNvSpPr txBox="1"/>
          <p:nvPr/>
        </p:nvSpPr>
        <p:spPr>
          <a:xfrm>
            <a:off x="270933" y="1604131"/>
            <a:ext cx="29983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en-US" b="0" i="0" dirty="0">
                <a:solidFill>
                  <a:srgbClr val="090909"/>
                </a:solidFill>
                <a:effectLst/>
              </a:rPr>
              <a:t>SV Number: refers to space vehicle number. </a:t>
            </a:r>
          </a:p>
          <a:p>
            <a:pPr marL="342900" indent="-342900" algn="l">
              <a:buAutoNum type="arabicPeriod"/>
            </a:pPr>
            <a:r>
              <a:rPr lang="en-US" b="0" i="0" dirty="0">
                <a:solidFill>
                  <a:srgbClr val="090909"/>
                </a:solidFill>
                <a:effectLst/>
              </a:rPr>
              <a:t>PRN Number: refers to the satellite’s unique pseudorandom noise code.</a:t>
            </a:r>
          </a:p>
          <a:p>
            <a:pPr marL="342900" indent="-342900" algn="l">
              <a:buAutoNum type="arabicPeriod"/>
            </a:pPr>
            <a:r>
              <a:rPr lang="en-US" b="0" i="0" dirty="0">
                <a:solidFill>
                  <a:srgbClr val="090909"/>
                </a:solidFill>
                <a:effectLst/>
              </a:rPr>
              <a:t>Clock: Rb = rubidium; Cs = cesium.</a:t>
            </a:r>
          </a:p>
          <a:p>
            <a:pPr marL="342900" indent="-342900" algn="l">
              <a:buAutoNum type="arabicPeriod"/>
            </a:pPr>
            <a:r>
              <a:rPr lang="en-US" b="0" i="0" dirty="0">
                <a:solidFill>
                  <a:srgbClr val="090909"/>
                </a:solidFill>
                <a:effectLst/>
              </a:rPr>
              <a:t>Launched and Usable dates: are based on Universal Time.</a:t>
            </a:r>
          </a:p>
        </p:txBody>
      </p:sp>
    </p:spTree>
    <p:extLst>
      <p:ext uri="{BB962C8B-B14F-4D97-AF65-F5344CB8AC3E}">
        <p14:creationId xmlns:p14="http://schemas.microsoft.com/office/powerpoint/2010/main" val="188788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CDBEE1-9601-4263-A365-F3F6F0E9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1982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3 Orbital p</a:t>
            </a:r>
            <a:r>
              <a:rPr lang="en-US" dirty="0"/>
              <a:t>lanes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MEO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1996, 21 Satellites + 3 Spares (currently 24)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64.8 ° Inclination Angle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Altitude 19, 100km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8/17 sidereal day period</a:t>
            </a:r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GLONASS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7" name="Picture 6" descr="GLONASS constellation">
            <a:extLst>
              <a:ext uri="{FF2B5EF4-FFF2-40B4-BE49-F238E27FC236}">
                <a16:creationId xmlns:a16="http://schemas.microsoft.com/office/drawing/2014/main" id="{DC4810D4-9A23-4437-A2D1-DA580602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17271"/>
            <a:ext cx="2084832" cy="17788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C17DC8-FFB7-487D-9F32-3BD4AE5E062F}"/>
              </a:ext>
            </a:extLst>
          </p:cNvPr>
          <p:cNvSpPr txBox="1"/>
          <p:nvPr/>
        </p:nvSpPr>
        <p:spPr>
          <a:xfrm>
            <a:off x="4152900" y="4718386"/>
            <a:ext cx="4178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https://www.e-education.psu.edu/geog862/node/1872</a:t>
            </a:r>
          </a:p>
        </p:txBody>
      </p:sp>
      <p:pic>
        <p:nvPicPr>
          <p:cNvPr id="12" name="Picture 11" descr="GLONASS satellite">
            <a:extLst>
              <a:ext uri="{FF2B5EF4-FFF2-40B4-BE49-F238E27FC236}">
                <a16:creationId xmlns:a16="http://schemas.microsoft.com/office/drawing/2014/main" id="{915C17F1-8D44-42C3-A1E7-0A92CF54D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343" y="1101609"/>
            <a:ext cx="1722724" cy="2153405"/>
          </a:xfrm>
          <a:prstGeom prst="rect">
            <a:avLst/>
          </a:prstGeom>
        </p:spPr>
      </p:pic>
      <p:pic>
        <p:nvPicPr>
          <p:cNvPr id="14" name="Picture 13" descr="GLONASS satellite">
            <a:extLst>
              <a:ext uri="{FF2B5EF4-FFF2-40B4-BE49-F238E27FC236}">
                <a16:creationId xmlns:a16="http://schemas.microsoft.com/office/drawing/2014/main" id="{947F206B-7A74-46EC-BB6C-386F60E9C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94" y="3303377"/>
            <a:ext cx="1818038" cy="118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GLONASS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17DC8-FFB7-487D-9F32-3BD4AE5E062F}"/>
              </a:ext>
            </a:extLst>
          </p:cNvPr>
          <p:cNvSpPr txBox="1"/>
          <p:nvPr/>
        </p:nvSpPr>
        <p:spPr>
          <a:xfrm>
            <a:off x="411480" y="4767263"/>
            <a:ext cx="4178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http://ftp.aiub.unibe.ch/BERN42/DOCU/DOCU42_2.pdf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3E49F56-2A3B-4EBA-A835-733E4FE46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7699587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GPS vs </a:t>
            </a:r>
            <a:r>
              <a:rPr lang="en-US" dirty="0"/>
              <a:t>GLONASS </a:t>
            </a:r>
            <a:r>
              <a:rPr lang="en-US" b="0" dirty="0"/>
              <a:t>Ground Track</a:t>
            </a:r>
          </a:p>
        </p:txBody>
      </p:sp>
      <p:pic>
        <p:nvPicPr>
          <p:cNvPr id="15" name="Picture 14" descr="GPS and GLONASS Ground Track">
            <a:extLst>
              <a:ext uri="{FF2B5EF4-FFF2-40B4-BE49-F238E27FC236}">
                <a16:creationId xmlns:a16="http://schemas.microsoft.com/office/drawing/2014/main" id="{1B553905-D861-4B94-9A51-92A9C513C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511741"/>
            <a:ext cx="5068824" cy="3083535"/>
          </a:xfrm>
          <a:prstGeom prst="rect">
            <a:avLst/>
          </a:prstGeom>
        </p:spPr>
      </p:pic>
      <p:cxnSp>
        <p:nvCxnSpPr>
          <p:cNvPr id="17" name="Straight Arrow Connector 16" descr="arrow showing GLONASS track">
            <a:extLst>
              <a:ext uri="{FF2B5EF4-FFF2-40B4-BE49-F238E27FC236}">
                <a16:creationId xmlns:a16="http://schemas.microsoft.com/office/drawing/2014/main" id="{B32FEFF3-E41D-4113-9819-85B4A8281136}"/>
              </a:ext>
            </a:extLst>
          </p:cNvPr>
          <p:cNvCxnSpPr>
            <a:cxnSpLocks/>
          </p:cNvCxnSpPr>
          <p:nvPr/>
        </p:nvCxnSpPr>
        <p:spPr>
          <a:xfrm flipH="1">
            <a:off x="4590288" y="1511741"/>
            <a:ext cx="1549255" cy="5664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FE672AC-A153-4F51-B081-B5324B2F583A}"/>
              </a:ext>
            </a:extLst>
          </p:cNvPr>
          <p:cNvSpPr txBox="1"/>
          <p:nvPr/>
        </p:nvSpPr>
        <p:spPr>
          <a:xfrm>
            <a:off x="6139543" y="1353020"/>
            <a:ext cx="166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GLONASS</a:t>
            </a:r>
          </a:p>
        </p:txBody>
      </p:sp>
      <p:cxnSp>
        <p:nvCxnSpPr>
          <p:cNvPr id="22" name="Straight Arrow Connector 21" descr="Arrow showing GPS track">
            <a:extLst>
              <a:ext uri="{FF2B5EF4-FFF2-40B4-BE49-F238E27FC236}">
                <a16:creationId xmlns:a16="http://schemas.microsoft.com/office/drawing/2014/main" id="{F908F0C3-D178-4953-A26D-C80DA69FDF16}"/>
              </a:ext>
            </a:extLst>
          </p:cNvPr>
          <p:cNvCxnSpPr>
            <a:cxnSpLocks/>
          </p:cNvCxnSpPr>
          <p:nvPr/>
        </p:nvCxnSpPr>
        <p:spPr>
          <a:xfrm flipH="1">
            <a:off x="4695188" y="2409271"/>
            <a:ext cx="1549255" cy="5664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6AC4796-F955-4FF9-8CA0-701FEF4AB41D}"/>
              </a:ext>
            </a:extLst>
          </p:cNvPr>
          <p:cNvSpPr txBox="1"/>
          <p:nvPr/>
        </p:nvSpPr>
        <p:spPr>
          <a:xfrm>
            <a:off x="6234071" y="2218790"/>
            <a:ext cx="166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GPS</a:t>
            </a:r>
          </a:p>
        </p:txBody>
      </p:sp>
    </p:spTree>
    <p:extLst>
      <p:ext uri="{BB962C8B-B14F-4D97-AF65-F5344CB8AC3E}">
        <p14:creationId xmlns:p14="http://schemas.microsoft.com/office/powerpoint/2010/main" val="2193160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LONASS satellite status">
            <a:extLst>
              <a:ext uri="{FF2B5EF4-FFF2-40B4-BE49-F238E27FC236}">
                <a16:creationId xmlns:a16="http://schemas.microsoft.com/office/drawing/2014/main" id="{F2CC5B1D-10D3-4DF3-0861-B769D5C2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13" y="1462197"/>
            <a:ext cx="6315075" cy="28956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GLONASS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https://en.wikipedia.org/wiki/List_of_GLONASS_satellites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D708AC-E5BB-4765-8C46-22E5AA4C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GLONASS satellite</a:t>
            </a:r>
          </a:p>
        </p:txBody>
      </p:sp>
      <p:sp>
        <p:nvSpPr>
          <p:cNvPr id="6" name="Rectangle 5" descr="a rectangle box">
            <a:extLst>
              <a:ext uri="{FF2B5EF4-FFF2-40B4-BE49-F238E27FC236}">
                <a16:creationId xmlns:a16="http://schemas.microsoft.com/office/drawing/2014/main" id="{AF2F9DF5-F3DE-4E61-A6CC-EC84EB5D6CEC}"/>
              </a:ext>
            </a:extLst>
          </p:cNvPr>
          <p:cNvSpPr/>
          <p:nvPr/>
        </p:nvSpPr>
        <p:spPr>
          <a:xfrm>
            <a:off x="539645" y="3721308"/>
            <a:ext cx="6183443" cy="2211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42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GLONASS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https://en.wikipedia.org/wiki/List_of_GLONASS_satellites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8D5E11-4949-4F55-B7FF-249035E7E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GLONASS</a:t>
            </a:r>
            <a:r>
              <a:rPr lang="en-US" b="0" dirty="0"/>
              <a:t> future plan</a:t>
            </a:r>
          </a:p>
        </p:txBody>
      </p:sp>
      <p:pic>
        <p:nvPicPr>
          <p:cNvPr id="7" name="Picture 6" descr="GLONASS satellite future plan">
            <a:extLst>
              <a:ext uri="{FF2B5EF4-FFF2-40B4-BE49-F238E27FC236}">
                <a16:creationId xmlns:a16="http://schemas.microsoft.com/office/drawing/2014/main" id="{4B7C8D4E-2644-DD46-BF5F-8F6134F42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3" y="2015792"/>
            <a:ext cx="7111428" cy="2204798"/>
          </a:xfrm>
          <a:prstGeom prst="rect">
            <a:avLst/>
          </a:prstGeom>
        </p:spPr>
      </p:pic>
      <p:pic>
        <p:nvPicPr>
          <p:cNvPr id="10" name="Picture 9" descr="GLONASS satellite future plan">
            <a:extLst>
              <a:ext uri="{FF2B5EF4-FFF2-40B4-BE49-F238E27FC236}">
                <a16:creationId xmlns:a16="http://schemas.microsoft.com/office/drawing/2014/main" id="{A1D9A761-C598-D1B4-7B5D-9F2C3BE5F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68" y="1700619"/>
            <a:ext cx="7102773" cy="31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97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GLONASS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63980" y="4688291"/>
            <a:ext cx="2391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https://www.e-education.psu.edu/geog862/node/1874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C21FB5-3262-4AA0-A558-29CB77B9C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7172916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Present and future GLONASS signal</a:t>
            </a:r>
          </a:p>
        </p:txBody>
      </p:sp>
      <p:pic>
        <p:nvPicPr>
          <p:cNvPr id="8" name="Picture 7" descr="GLONASS signal">
            <a:extLst>
              <a:ext uri="{FF2B5EF4-FFF2-40B4-BE49-F238E27FC236}">
                <a16:creationId xmlns:a16="http://schemas.microsoft.com/office/drawing/2014/main" id="{9CBF24B8-563D-4B34-8A6A-13D973477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812" y="1501406"/>
            <a:ext cx="4472558" cy="359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93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GLONASS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0808" y="485419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https://www.gpsworld.com/the-almanac/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D8413-D7F6-47BA-BBF0-3D31EC9610DB}"/>
              </a:ext>
            </a:extLst>
          </p:cNvPr>
          <p:cNvSpPr txBox="1"/>
          <p:nvPr/>
        </p:nvSpPr>
        <p:spPr>
          <a:xfrm>
            <a:off x="270933" y="1062686"/>
            <a:ext cx="217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GLONASS Almanac</a:t>
            </a:r>
          </a:p>
        </p:txBody>
      </p:sp>
      <p:pic>
        <p:nvPicPr>
          <p:cNvPr id="9" name="Picture 8" descr="GLONASS Almanac">
            <a:extLst>
              <a:ext uri="{FF2B5EF4-FFF2-40B4-BE49-F238E27FC236}">
                <a16:creationId xmlns:a16="http://schemas.microsoft.com/office/drawing/2014/main" id="{0C87E8F4-E439-4596-97AA-3144F691D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149" y="945489"/>
            <a:ext cx="4448839" cy="41265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5EFD88-8D2A-3FEB-DC2F-3AE25E19A2B6}"/>
              </a:ext>
            </a:extLst>
          </p:cNvPr>
          <p:cNvSpPr txBox="1"/>
          <p:nvPr/>
        </p:nvSpPr>
        <p:spPr>
          <a:xfrm>
            <a:off x="270933" y="1432018"/>
            <a:ext cx="29983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The Russian Federation designated the </a:t>
            </a:r>
            <a:r>
              <a:rPr lang="en-US" b="0" i="0" dirty="0" err="1">
                <a:solidFill>
                  <a:srgbClr val="090909"/>
                </a:solidFill>
                <a:effectLst/>
                <a:latin typeface="gotham"/>
              </a:rPr>
              <a:t>Kosmos</a:t>
            </a: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 Number.</a:t>
            </a:r>
          </a:p>
          <a:p>
            <a:pPr marL="342900" indent="-342900" algn="l">
              <a:buAutoNum type="arabicPeriod"/>
            </a:pP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Channel number k indicates </a:t>
            </a:r>
            <a:r>
              <a:rPr lang="en-US" b="0" i="0" dirty="0" err="1">
                <a:solidFill>
                  <a:srgbClr val="090909"/>
                </a:solidFill>
                <a:effectLst/>
                <a:latin typeface="gotham"/>
              </a:rPr>
              <a:t>L1</a:t>
            </a: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 and </a:t>
            </a:r>
            <a:r>
              <a:rPr lang="en-US" b="0" i="0" dirty="0" err="1">
                <a:solidFill>
                  <a:srgbClr val="090909"/>
                </a:solidFill>
                <a:effectLst/>
                <a:latin typeface="gotham"/>
              </a:rPr>
              <a:t>L2</a:t>
            </a: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 carrier frequencies: </a:t>
            </a:r>
            <a:r>
              <a:rPr lang="en-US" b="0" i="0" dirty="0" err="1">
                <a:solidFill>
                  <a:srgbClr val="090909"/>
                </a:solidFill>
                <a:effectLst/>
                <a:latin typeface="gotham"/>
              </a:rPr>
              <a:t>L1</a:t>
            </a: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 = 1,602 + 0.5625 k (MHz); </a:t>
            </a:r>
            <a:r>
              <a:rPr lang="en-US" b="0" i="0" dirty="0" err="1">
                <a:solidFill>
                  <a:srgbClr val="090909"/>
                </a:solidFill>
                <a:effectLst/>
                <a:latin typeface="gotham"/>
              </a:rPr>
              <a:t>L2</a:t>
            </a: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 = 1,246 + 0.4375 k (MHz)</a:t>
            </a:r>
            <a:r>
              <a:rPr lang="en-US" b="0" i="0" dirty="0">
                <a:solidFill>
                  <a:srgbClr val="090909"/>
                </a:solidFill>
                <a:effectLst/>
              </a:rPr>
              <a:t>. </a:t>
            </a:r>
          </a:p>
          <a:p>
            <a:pPr marL="342900" indent="-342900" algn="l">
              <a:buAutoNum type="arabicPeriod"/>
            </a:pP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All launch and usable dates are based on Moscow Time (Universal Time + 3 hours).</a:t>
            </a:r>
            <a:endParaRPr lang="en-US" b="0" i="0" dirty="0">
              <a:solidFill>
                <a:srgbClr val="09090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881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CDBEE1-9601-4263-A365-F3F6F0E9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b="0" dirty="0"/>
              <a:t>2005</a:t>
            </a:r>
            <a:endParaRPr lang="en-US" b="0" dirty="0"/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3 Orbital p</a:t>
            </a:r>
            <a:r>
              <a:rPr lang="en-US" dirty="0"/>
              <a:t>lanes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MEO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30</a:t>
            </a:r>
            <a:r>
              <a:rPr lang="en-US" b="0" dirty="0"/>
              <a:t> satellite (currently </a:t>
            </a:r>
            <a:r>
              <a:rPr lang="en-US" dirty="0"/>
              <a:t>24</a:t>
            </a:r>
            <a:r>
              <a:rPr lang="zh-CN" altLang="en-US" dirty="0"/>
              <a:t>， </a:t>
            </a:r>
            <a:r>
              <a:rPr lang="en-US" altLang="zh-CN" sz="900" dirty="0">
                <a:solidFill>
                  <a:srgbClr val="7030A0"/>
                </a:solidFill>
              </a:rPr>
              <a:t>as of December 2021</a:t>
            </a:r>
            <a:r>
              <a:rPr lang="en-US" b="0" dirty="0"/>
              <a:t>)</a:t>
            </a:r>
            <a:endParaRPr lang="en-US" dirty="0"/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56° Inclination Angle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Altitude 23, 222 km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10/17 sidereal day period</a:t>
            </a:r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</a:t>
            </a:r>
            <a:r>
              <a:rPr lang="en-US" altLang="zh-CN" sz="3200" dirty="0">
                <a:solidFill>
                  <a:srgbClr val="7030A0"/>
                </a:solidFill>
              </a:rPr>
              <a:t>alileo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17DC8-FFB7-487D-9F32-3BD4AE5E062F}"/>
              </a:ext>
            </a:extLst>
          </p:cNvPr>
          <p:cNvSpPr txBox="1"/>
          <p:nvPr/>
        </p:nvSpPr>
        <p:spPr>
          <a:xfrm>
            <a:off x="4152900" y="4718386"/>
            <a:ext cx="4178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https://www.e-education.psu.edu/geog862/node/1876</a:t>
            </a:r>
          </a:p>
        </p:txBody>
      </p:sp>
      <p:pic>
        <p:nvPicPr>
          <p:cNvPr id="18434" name="Picture 2" descr="Galileo constellation">
            <a:extLst>
              <a:ext uri="{FF2B5EF4-FFF2-40B4-BE49-F238E27FC236}">
                <a16:creationId xmlns:a16="http://schemas.microsoft.com/office/drawing/2014/main" id="{B486A3F3-9D1F-47B7-A1EE-1158009590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489"/>
          <a:stretch/>
        </p:blipFill>
        <p:spPr bwMode="auto">
          <a:xfrm>
            <a:off x="4462272" y="1501918"/>
            <a:ext cx="3163826" cy="271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798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</a:t>
            </a:r>
            <a:r>
              <a:rPr lang="en-US" altLang="zh-CN" sz="3200" dirty="0">
                <a:solidFill>
                  <a:srgbClr val="7030A0"/>
                </a:solidFill>
              </a:rPr>
              <a:t>alileo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152400" y="4794886"/>
            <a:ext cx="515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http://positimgnss.blogspot.com/2014/08/groundtrack-of-galileo-satellites.html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4D7E1B3-9E42-4FB1-9D55-B7FFB743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Galileo</a:t>
            </a:r>
            <a:r>
              <a:rPr lang="en-US" b="0" dirty="0"/>
              <a:t> Ground Track</a:t>
            </a:r>
          </a:p>
        </p:txBody>
      </p:sp>
      <p:pic>
        <p:nvPicPr>
          <p:cNvPr id="23554" name="Picture 2" descr="Galileo Ground Track">
            <a:extLst>
              <a:ext uri="{FF2B5EF4-FFF2-40B4-BE49-F238E27FC236}">
                <a16:creationId xmlns:a16="http://schemas.microsoft.com/office/drawing/2014/main" id="{86D321C6-46EF-4728-8501-C2D1A4858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799" y="1530823"/>
            <a:ext cx="4018879" cy="3215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463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</a:t>
            </a:r>
            <a:r>
              <a:rPr lang="en-US" altLang="zh-CN" sz="3200" dirty="0">
                <a:solidFill>
                  <a:srgbClr val="7030A0"/>
                </a:solidFill>
              </a:rPr>
              <a:t>alileo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https://en.wikipedia.org/wiki/Galileo_(satellite_navigation)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D708AC-E5BB-4765-8C46-22E5AA4C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Galileo</a:t>
            </a:r>
            <a:r>
              <a:rPr lang="en-US" b="0" dirty="0"/>
              <a:t> satellite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23B045-E444-4CEE-A673-E06F9F76C8F1}"/>
              </a:ext>
            </a:extLst>
          </p:cNvPr>
          <p:cNvSpPr txBox="1"/>
          <p:nvPr/>
        </p:nvSpPr>
        <p:spPr>
          <a:xfrm>
            <a:off x="4335233" y="4802934"/>
            <a:ext cx="32330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https://www.e-education.psu.edu/geog862/node/1876</a:t>
            </a:r>
          </a:p>
        </p:txBody>
      </p:sp>
      <p:pic>
        <p:nvPicPr>
          <p:cNvPr id="11" name="Picture 10" descr="Galileo satellite">
            <a:extLst>
              <a:ext uri="{FF2B5EF4-FFF2-40B4-BE49-F238E27FC236}">
                <a16:creationId xmlns:a16="http://schemas.microsoft.com/office/drawing/2014/main" id="{2E08F49E-BA2F-420B-AF64-853926EEC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599" y="1915882"/>
            <a:ext cx="2763207" cy="2086166"/>
          </a:xfrm>
          <a:prstGeom prst="rect">
            <a:avLst/>
          </a:prstGeom>
        </p:spPr>
      </p:pic>
      <p:pic>
        <p:nvPicPr>
          <p:cNvPr id="8" name="Picture 7" descr="Galileo satellite status">
            <a:extLst>
              <a:ext uri="{FF2B5EF4-FFF2-40B4-BE49-F238E27FC236}">
                <a16:creationId xmlns:a16="http://schemas.microsoft.com/office/drawing/2014/main" id="{2728F89E-20B8-1AA5-9A6E-0B9DF2CB0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37" y="1624597"/>
            <a:ext cx="44767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81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Galileo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https://en.wikipedia.org/wiki/List_of_Galileo_satellites</a:t>
            </a:r>
          </a:p>
        </p:txBody>
      </p:sp>
      <p:sp>
        <p:nvSpPr>
          <p:cNvPr id="8" name="Content Placeholder 2" descr="Galileo future plan&#10;">
            <a:extLst>
              <a:ext uri="{FF2B5EF4-FFF2-40B4-BE49-F238E27FC236}">
                <a16:creationId xmlns:a16="http://schemas.microsoft.com/office/drawing/2014/main" id="{1D8D5E11-4949-4F55-B7FF-249035E7E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Galileo</a:t>
            </a:r>
            <a:r>
              <a:rPr lang="en-US" b="0" dirty="0"/>
              <a:t> future plan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617720-FF07-FBDF-3CEE-88D3B98CA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50" y="1679723"/>
            <a:ext cx="6363222" cy="291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39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Galileo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63980" y="4818192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https://en.wikipedia.org/wiki/Galileo_(satellite_navigation)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C21FB5-3262-4AA0-A558-29CB77B9C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7172916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Present and future </a:t>
            </a:r>
            <a:r>
              <a:rPr lang="en-US" dirty="0"/>
              <a:t>Galileo</a:t>
            </a:r>
            <a:r>
              <a:rPr lang="en-US" b="0" dirty="0"/>
              <a:t> signal</a:t>
            </a:r>
          </a:p>
        </p:txBody>
      </p:sp>
      <p:pic>
        <p:nvPicPr>
          <p:cNvPr id="8" name="Picture 7" descr="Galileo signal">
            <a:extLst>
              <a:ext uri="{FF2B5EF4-FFF2-40B4-BE49-F238E27FC236}">
                <a16:creationId xmlns:a16="http://schemas.microsoft.com/office/drawing/2014/main" id="{0D0D739C-E3B2-41D6-98C8-C3C40A110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0" y="2000250"/>
            <a:ext cx="68294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7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Galileo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0808" y="485419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https://www.gpsworld.com/the-almanac/#galileo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505A2-8054-4F5E-9B4F-0BD84D51D0E9}"/>
              </a:ext>
            </a:extLst>
          </p:cNvPr>
          <p:cNvSpPr txBox="1"/>
          <p:nvPr/>
        </p:nvSpPr>
        <p:spPr>
          <a:xfrm>
            <a:off x="104347" y="1079892"/>
            <a:ext cx="217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Galileo Almanac</a:t>
            </a:r>
          </a:p>
        </p:txBody>
      </p:sp>
      <p:pic>
        <p:nvPicPr>
          <p:cNvPr id="9" name="Picture 8" descr="Galileo Almanac">
            <a:extLst>
              <a:ext uri="{FF2B5EF4-FFF2-40B4-BE49-F238E27FC236}">
                <a16:creationId xmlns:a16="http://schemas.microsoft.com/office/drawing/2014/main" id="{F5C400FA-076F-453B-BD03-0796CEE6B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45" y="945489"/>
            <a:ext cx="5172075" cy="3886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DCF0EE-CBF7-4E7C-547F-23D342F3DF41}"/>
              </a:ext>
            </a:extLst>
          </p:cNvPr>
          <p:cNvSpPr txBox="1"/>
          <p:nvPr/>
        </p:nvSpPr>
        <p:spPr>
          <a:xfrm>
            <a:off x="270933" y="1432018"/>
            <a:ext cx="24722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NORAD ID is assigned by </a:t>
            </a:r>
            <a:r>
              <a:rPr lang="en-US" b="0" i="0" dirty="0" err="1">
                <a:solidFill>
                  <a:srgbClr val="090909"/>
                </a:solidFill>
                <a:effectLst/>
                <a:latin typeface="gotham"/>
              </a:rPr>
              <a:t>USSPACECOM</a:t>
            </a:r>
            <a:r>
              <a:rPr lang="en-US" b="0" i="0" dirty="0">
                <a:solidFill>
                  <a:srgbClr val="090909"/>
                </a:solidFill>
                <a:effectLst/>
                <a:latin typeface="gotham"/>
              </a:rPr>
              <a:t> to all Earth orbit satellites in order of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735060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CDBEE1-9601-4263-A365-F3F6F0E9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dirty="0"/>
              <a:t>2000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7</a:t>
            </a:r>
            <a:r>
              <a:rPr lang="en-US" b="0" dirty="0"/>
              <a:t> Orbital p</a:t>
            </a:r>
            <a:r>
              <a:rPr lang="en-US" dirty="0"/>
              <a:t>lanes (3 MEO+1GEO+3IGSO)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44 Satellites (27 MEO, 7 GEO, and 10 IGSO)</a:t>
            </a:r>
            <a:endParaRPr lang="en-US" dirty="0"/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55° Inclination Angle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7/13 sidereal day period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Altitude 21, 500 km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err="1">
                <a:solidFill>
                  <a:srgbClr val="7030A0"/>
                </a:solidFill>
              </a:rPr>
              <a:t>Beidou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17DC8-FFB7-487D-9F32-3BD4AE5E062F}"/>
              </a:ext>
            </a:extLst>
          </p:cNvPr>
          <p:cNvSpPr txBox="1"/>
          <p:nvPr/>
        </p:nvSpPr>
        <p:spPr>
          <a:xfrm>
            <a:off x="4152900" y="4718386"/>
            <a:ext cx="4178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https://www.e-education.psu.edu/geog862/node/1879</a:t>
            </a:r>
          </a:p>
        </p:txBody>
      </p:sp>
      <p:pic>
        <p:nvPicPr>
          <p:cNvPr id="7" name="Picture 6" descr="Beidou constellation">
            <a:extLst>
              <a:ext uri="{FF2B5EF4-FFF2-40B4-BE49-F238E27FC236}">
                <a16:creationId xmlns:a16="http://schemas.microsoft.com/office/drawing/2014/main" id="{A4C24443-13B7-433F-95DA-48DA4D5AB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205132"/>
            <a:ext cx="3444621" cy="332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81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err="1">
                <a:solidFill>
                  <a:srgbClr val="7030A0"/>
                </a:solidFill>
              </a:rPr>
              <a:t>Beidou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152400" y="4794886"/>
            <a:ext cx="7235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https://www.researchgate.net/figure/Ground-tracks-of-Global-Positioning-System-GPS-satellites-Beidou-Satellite-Navigation_fig1_325124152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4D7E1B3-9E42-4FB1-9D55-B7FFB743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 err="1"/>
              <a:t>Beidou</a:t>
            </a:r>
            <a:r>
              <a:rPr lang="en-US" b="0" dirty="0"/>
              <a:t> Ground Track</a:t>
            </a:r>
          </a:p>
        </p:txBody>
      </p:sp>
      <p:pic>
        <p:nvPicPr>
          <p:cNvPr id="10242" name="Picture 2" descr="Beidou ground track">
            <a:extLst>
              <a:ext uri="{FF2B5EF4-FFF2-40B4-BE49-F238E27FC236}">
                <a16:creationId xmlns:a16="http://schemas.microsoft.com/office/drawing/2014/main" id="{BC59291E-78EA-460F-86C4-12A5EB2F60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30399"/>
          <a:stretch/>
        </p:blipFill>
        <p:spPr bwMode="auto">
          <a:xfrm>
            <a:off x="2013830" y="1551338"/>
            <a:ext cx="4409282" cy="306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067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err="1">
                <a:solidFill>
                  <a:srgbClr val="7030A0"/>
                </a:solidFill>
              </a:rPr>
              <a:t>Beidou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https://en.wikipedia.org/wiki/Global_Positioning_System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D708AC-E5BB-4765-8C46-22E5AA4C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 err="1"/>
              <a:t>Beidou</a:t>
            </a:r>
            <a:r>
              <a:rPr lang="en-US" b="0" dirty="0"/>
              <a:t> satellite</a:t>
            </a:r>
          </a:p>
        </p:txBody>
      </p:sp>
      <p:pic>
        <p:nvPicPr>
          <p:cNvPr id="11" name="Picture 10" descr="Beidou satellite">
            <a:extLst>
              <a:ext uri="{FF2B5EF4-FFF2-40B4-BE49-F238E27FC236}">
                <a16:creationId xmlns:a16="http://schemas.microsoft.com/office/drawing/2014/main" id="{776937FA-AD4B-4F97-B2CD-0DB22AF5C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29" y="2327102"/>
            <a:ext cx="2793838" cy="13898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A7D798-947C-4663-80B0-1BC2EA7173F1}"/>
              </a:ext>
            </a:extLst>
          </p:cNvPr>
          <p:cNvSpPr txBox="1"/>
          <p:nvPr/>
        </p:nvSpPr>
        <p:spPr>
          <a:xfrm>
            <a:off x="5242137" y="4339527"/>
            <a:ext cx="27938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https://directory.eoportal.org/web/eoportal/satellite-missions/content/-/article/cnss</a:t>
            </a:r>
          </a:p>
        </p:txBody>
      </p:sp>
      <p:pic>
        <p:nvPicPr>
          <p:cNvPr id="8" name="Picture 7" descr="Beidou satellite status">
            <a:extLst>
              <a:ext uri="{FF2B5EF4-FFF2-40B4-BE49-F238E27FC236}">
                <a16:creationId xmlns:a16="http://schemas.microsoft.com/office/drawing/2014/main" id="{D76DA1D1-8914-6F0C-8414-A0EAE88A6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923372"/>
            <a:ext cx="42291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99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err="1">
                <a:solidFill>
                  <a:srgbClr val="7030A0"/>
                </a:solidFill>
              </a:rPr>
              <a:t>Beidou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63980" y="4818192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https://www.e-education.psu.edu/geog862/node/1879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C21FB5-3262-4AA0-A558-29CB77B9C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7172916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 err="1"/>
              <a:t>Beidou</a:t>
            </a:r>
            <a:r>
              <a:rPr lang="en-US" b="0" dirty="0"/>
              <a:t> signal</a:t>
            </a:r>
          </a:p>
        </p:txBody>
      </p:sp>
      <p:pic>
        <p:nvPicPr>
          <p:cNvPr id="7170" name="Picture 2" descr="Beidou signal">
            <a:extLst>
              <a:ext uri="{FF2B5EF4-FFF2-40B4-BE49-F238E27FC236}">
                <a16:creationId xmlns:a16="http://schemas.microsoft.com/office/drawing/2014/main" id="{DA725F9A-9CC5-4CF8-9DB8-776CEA461A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4"/>
          <a:stretch/>
        </p:blipFill>
        <p:spPr bwMode="auto">
          <a:xfrm>
            <a:off x="2297670" y="1620308"/>
            <a:ext cx="4198854" cy="292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865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err="1">
                <a:solidFill>
                  <a:srgbClr val="7030A0"/>
                </a:solidFill>
              </a:rPr>
              <a:t>Beidou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0808" y="485419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https://www.gpsworld.com/the-almanac/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1A37D-6336-4FC0-BF8A-F691C36CB5E2}"/>
              </a:ext>
            </a:extLst>
          </p:cNvPr>
          <p:cNvSpPr txBox="1"/>
          <p:nvPr/>
        </p:nvSpPr>
        <p:spPr>
          <a:xfrm>
            <a:off x="152400" y="1205132"/>
            <a:ext cx="217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Beidou</a:t>
            </a:r>
            <a:r>
              <a:rPr lang="en-US" dirty="0"/>
              <a:t> Almanac</a:t>
            </a:r>
          </a:p>
        </p:txBody>
      </p:sp>
      <p:pic>
        <p:nvPicPr>
          <p:cNvPr id="8" name="Picture 7" descr="Beidou Almanac">
            <a:extLst>
              <a:ext uri="{FF2B5EF4-FFF2-40B4-BE49-F238E27FC236}">
                <a16:creationId xmlns:a16="http://schemas.microsoft.com/office/drawing/2014/main" id="{E00E9D08-50A1-4351-ACFC-6A02539AD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21" y="972917"/>
            <a:ext cx="3002354" cy="406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55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ZSS constellation">
            <a:extLst>
              <a:ext uri="{FF2B5EF4-FFF2-40B4-BE49-F238E27FC236}">
                <a16:creationId xmlns:a16="http://schemas.microsoft.com/office/drawing/2014/main" id="{8FCDA6F9-8708-4A6C-B468-046ED4F597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60"/>
          <a:stretch/>
        </p:blipFill>
        <p:spPr bwMode="auto">
          <a:xfrm>
            <a:off x="4309533" y="1338075"/>
            <a:ext cx="3389313" cy="291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CDBEE1-9601-4263-A365-F3F6F0E9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928955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2010</a:t>
            </a:r>
            <a:endParaRPr lang="en-US" b="0" dirty="0"/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dirty="0"/>
              <a:t>4</a:t>
            </a:r>
            <a:r>
              <a:rPr lang="en-US" b="0" dirty="0"/>
              <a:t> Orbital p</a:t>
            </a:r>
            <a:r>
              <a:rPr lang="en-US" dirty="0"/>
              <a:t>lanes (3 IGSO and 1 GEO)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GEO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b="0" dirty="0"/>
              <a:t>7</a:t>
            </a:r>
            <a:r>
              <a:rPr lang="en-US" b="0" dirty="0"/>
              <a:t> Satellites (currently 4)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40° Inclination Angle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Altitude </a:t>
            </a:r>
            <a:r>
              <a:rPr lang="en-US" dirty="0"/>
              <a:t>32</a:t>
            </a:r>
            <a:r>
              <a:rPr lang="en-US" b="0" dirty="0"/>
              <a:t>, </a:t>
            </a:r>
            <a:r>
              <a:rPr lang="en-US" dirty="0"/>
              <a:t>0</a:t>
            </a:r>
            <a:r>
              <a:rPr lang="en-US" b="0" dirty="0"/>
              <a:t>00 – 40,000 km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1 sidereal day period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err="1">
                <a:solidFill>
                  <a:srgbClr val="7030A0"/>
                </a:solidFill>
              </a:rPr>
              <a:t>QZSS</a:t>
            </a:r>
            <a:r>
              <a:rPr lang="en-US" sz="3200" dirty="0">
                <a:solidFill>
                  <a:srgbClr val="7030A0"/>
                </a:solidFill>
              </a:rPr>
              <a:t> (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Quasi-Zenith Satellite System</a:t>
            </a:r>
            <a:r>
              <a:rPr lang="en-US" sz="3200" dirty="0">
                <a:solidFill>
                  <a:srgbClr val="7030A0"/>
                </a:solidFill>
              </a:rPr>
              <a:t>)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17DC8-FFB7-487D-9F32-3BD4AE5E062F}"/>
              </a:ext>
            </a:extLst>
          </p:cNvPr>
          <p:cNvSpPr txBox="1"/>
          <p:nvPr/>
        </p:nvSpPr>
        <p:spPr>
          <a:xfrm>
            <a:off x="4152900" y="4718386"/>
            <a:ext cx="4178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https://www.e-education.psu.edu/geog862/node/1880</a:t>
            </a:r>
          </a:p>
        </p:txBody>
      </p:sp>
    </p:spTree>
    <p:extLst>
      <p:ext uri="{BB962C8B-B14F-4D97-AF65-F5344CB8AC3E}">
        <p14:creationId xmlns:p14="http://schemas.microsoft.com/office/powerpoint/2010/main" val="1293488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QZSS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152400" y="4794886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https://www.e-education.psu.edu/geog862/node/1880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4D7E1B3-9E42-4FB1-9D55-B7FFB743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 Ground Track</a:t>
            </a:r>
          </a:p>
        </p:txBody>
      </p:sp>
      <p:pic>
        <p:nvPicPr>
          <p:cNvPr id="6" name="Picture 2" descr="Depiction of QZSS Ground Track">
            <a:extLst>
              <a:ext uri="{FF2B5EF4-FFF2-40B4-BE49-F238E27FC236}">
                <a16:creationId xmlns:a16="http://schemas.microsoft.com/office/drawing/2014/main" id="{D10A0916-C763-46FC-9B5C-8910C6C82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178" y="1240830"/>
            <a:ext cx="4397663" cy="344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516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https://en.wikipedia.org/wiki/Quasi-Zenith_Satellite_System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D708AC-E5BB-4765-8C46-22E5AA4C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QZSS</a:t>
            </a:r>
            <a:r>
              <a:rPr lang="en-US" b="0" dirty="0"/>
              <a:t> satellite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0C765B-F4CB-4BFB-9311-7197AE900E6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QZSS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7" name="Picture 6" descr="QZSS satellite status">
            <a:extLst>
              <a:ext uri="{FF2B5EF4-FFF2-40B4-BE49-F238E27FC236}">
                <a16:creationId xmlns:a16="http://schemas.microsoft.com/office/drawing/2014/main" id="{207E8378-C3EA-EACA-9969-3514CEA83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" y="1984740"/>
            <a:ext cx="759142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82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https://qzss.go.jp/en/overview/services/sv01_what.html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8D5E11-4949-4F55-B7FF-249035E7E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QZSS</a:t>
            </a:r>
            <a:r>
              <a:rPr lang="en-US" b="0" dirty="0"/>
              <a:t> future plan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699083-C5D7-488A-8F19-64BA5D877322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QZSS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3074" name="Picture 2" descr="QZSS future plan">
            <a:extLst>
              <a:ext uri="{FF2B5EF4-FFF2-40B4-BE49-F238E27FC236}">
                <a16:creationId xmlns:a16="http://schemas.microsoft.com/office/drawing/2014/main" id="{0DE55DE7-A259-4CD3-957F-43D2B4307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3" y="2024116"/>
            <a:ext cx="7958667" cy="198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702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63980" y="4818192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https://gssc.esa.int/navipedia/index.php/QZSS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C21FB5-3262-4AA0-A558-29CB77B9C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7172916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Present and future </a:t>
            </a:r>
            <a:r>
              <a:rPr lang="en-US" b="0" dirty="0" err="1"/>
              <a:t>QZSS</a:t>
            </a:r>
            <a:r>
              <a:rPr lang="en-US" b="0" dirty="0"/>
              <a:t> signal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26543D7-EC75-42EC-9F17-3F9247BA9D94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QZSS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7" name="Picture 6" descr="QZSS signal">
            <a:extLst>
              <a:ext uri="{FF2B5EF4-FFF2-40B4-BE49-F238E27FC236}">
                <a16:creationId xmlns:a16="http://schemas.microsoft.com/office/drawing/2014/main" id="{987C2641-47C9-FB99-C1FA-B6DFC7288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88" y="1807567"/>
            <a:ext cx="5386508" cy="287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26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QZSS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0808" y="485419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https://www.gpsworld.com/the-almanac/#SBAS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51815-1D25-41E2-BDD9-66227F67C3F1}"/>
              </a:ext>
            </a:extLst>
          </p:cNvPr>
          <p:cNvSpPr txBox="1"/>
          <p:nvPr/>
        </p:nvSpPr>
        <p:spPr>
          <a:xfrm>
            <a:off x="270932" y="1923803"/>
            <a:ext cx="217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QZSS Almanac</a:t>
            </a:r>
          </a:p>
        </p:txBody>
      </p:sp>
      <p:pic>
        <p:nvPicPr>
          <p:cNvPr id="8" name="Picture 7" descr="QZSS Almanac">
            <a:extLst>
              <a:ext uri="{FF2B5EF4-FFF2-40B4-BE49-F238E27FC236}">
                <a16:creationId xmlns:a16="http://schemas.microsoft.com/office/drawing/2014/main" id="{22E89819-8EB2-41E1-A1E8-3610699F5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97" y="2470114"/>
            <a:ext cx="5495925" cy="1647825"/>
          </a:xfrm>
          <a:prstGeom prst="rect">
            <a:avLst/>
          </a:prstGeom>
        </p:spPr>
      </p:pic>
      <p:pic>
        <p:nvPicPr>
          <p:cNvPr id="9" name="Picture 8" descr="Table name">
            <a:extLst>
              <a:ext uri="{FF2B5EF4-FFF2-40B4-BE49-F238E27FC236}">
                <a16:creationId xmlns:a16="http://schemas.microsoft.com/office/drawing/2014/main" id="{62AED1F1-70F6-38FB-D50F-C31F00542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597" y="1913718"/>
            <a:ext cx="5321346" cy="61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11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CDBEE1-9601-4263-A365-F3F6F0E9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928955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2013</a:t>
            </a:r>
            <a:endParaRPr lang="en-US" b="0" dirty="0"/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dirty="0"/>
              <a:t>3</a:t>
            </a:r>
            <a:r>
              <a:rPr lang="en-US" b="0" dirty="0"/>
              <a:t> Orbital p</a:t>
            </a:r>
            <a:r>
              <a:rPr lang="en-US" dirty="0"/>
              <a:t>lanes (1 IGSO and 2 GEO)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GEO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altLang="zh-CN" b="0" dirty="0"/>
              <a:t>2018, 7</a:t>
            </a:r>
            <a:r>
              <a:rPr lang="en-US" b="0" dirty="0"/>
              <a:t> Satellites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29° Inclination Angle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Altitude </a:t>
            </a:r>
            <a:r>
              <a:rPr lang="en-US" dirty="0"/>
              <a:t>35,700 </a:t>
            </a:r>
            <a:r>
              <a:rPr lang="en-US" b="0" dirty="0"/>
              <a:t>km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1 sidereal day period</a:t>
            </a:r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err="1">
                <a:solidFill>
                  <a:srgbClr val="7030A0"/>
                </a:solidFill>
              </a:rPr>
              <a:t>IRNSS</a:t>
            </a:r>
            <a:r>
              <a:rPr lang="en-US" sz="3200" dirty="0">
                <a:solidFill>
                  <a:srgbClr val="7030A0"/>
                </a:solidFill>
              </a:rPr>
              <a:t> (</a:t>
            </a:r>
            <a:r>
              <a:rPr lang="en-US" sz="3200" b="0" i="0" dirty="0">
                <a:solidFill>
                  <a:srgbClr val="7030A0"/>
                </a:solidFill>
                <a:effectLst/>
              </a:rPr>
              <a:t>Indian Regional Navigation Satellite System</a:t>
            </a:r>
            <a:r>
              <a:rPr lang="en-US" sz="3200" dirty="0">
                <a:solidFill>
                  <a:srgbClr val="7030A0"/>
                </a:solidFill>
              </a:rPr>
              <a:t>)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17DC8-FFB7-487D-9F32-3BD4AE5E062F}"/>
              </a:ext>
            </a:extLst>
          </p:cNvPr>
          <p:cNvSpPr txBox="1"/>
          <p:nvPr/>
        </p:nvSpPr>
        <p:spPr>
          <a:xfrm>
            <a:off x="4152900" y="4718386"/>
            <a:ext cx="4178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https://spaceflight101.com/spacecraft/irnss/</a:t>
            </a:r>
          </a:p>
        </p:txBody>
      </p:sp>
      <p:pic>
        <p:nvPicPr>
          <p:cNvPr id="6146" name="Picture 2" descr="IRNSS satellite">
            <a:extLst>
              <a:ext uri="{FF2B5EF4-FFF2-40B4-BE49-F238E27FC236}">
                <a16:creationId xmlns:a16="http://schemas.microsoft.com/office/drawing/2014/main" id="{505E7B45-D013-458A-BB83-7888E59AB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739" y="1479314"/>
            <a:ext cx="3367661" cy="27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301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IRNSS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152400" y="4794886"/>
            <a:ext cx="50308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https://directory.eoportal.org/web/eoportal/satellite-missions/content/-/article/irnss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4D7E1B3-9E42-4FB1-9D55-B7FFB743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 Ground Track</a:t>
            </a:r>
          </a:p>
        </p:txBody>
      </p:sp>
      <p:pic>
        <p:nvPicPr>
          <p:cNvPr id="5124" name="Picture 4" descr="IRNSS ground track">
            <a:extLst>
              <a:ext uri="{FF2B5EF4-FFF2-40B4-BE49-F238E27FC236}">
                <a16:creationId xmlns:a16="http://schemas.microsoft.com/office/drawing/2014/main" id="{078E6789-2D8C-4BEA-A6F2-25EC8F5C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635" y="1409708"/>
            <a:ext cx="5030882" cy="322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129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https://en.wikipedia.org/wiki/Indian_Regional_Navigation_Satellite_System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D708AC-E5BB-4765-8C46-22E5AA4C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/>
              <a:t>IRNSS</a:t>
            </a:r>
            <a:r>
              <a:rPr lang="en-US" b="0" dirty="0"/>
              <a:t> future plan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0C765B-F4CB-4BFB-9311-7197AE900E6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IRNSS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11" name="Picture 10" descr="IRNSS future plan">
            <a:extLst>
              <a:ext uri="{FF2B5EF4-FFF2-40B4-BE49-F238E27FC236}">
                <a16:creationId xmlns:a16="http://schemas.microsoft.com/office/drawing/2014/main" id="{A525B82E-7C6B-F6DE-ADCF-7B0B3D948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83" y="1904443"/>
            <a:ext cx="7838034" cy="231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78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411480" y="473963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https://www.gpsworld.com/the-almanac/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D708AC-E5BB-4765-8C46-22E5AA4C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/>
              <a:t>IRNSS</a:t>
            </a:r>
            <a:r>
              <a:rPr lang="en-US" b="0" dirty="0"/>
              <a:t> satellite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0C765B-F4CB-4BFB-9311-7197AE900E6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IRNSS 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8" name="Picture 7" descr="IRNSS Almanac">
            <a:extLst>
              <a:ext uri="{FF2B5EF4-FFF2-40B4-BE49-F238E27FC236}">
                <a16:creationId xmlns:a16="http://schemas.microsoft.com/office/drawing/2014/main" id="{EF5967AE-5789-43FC-A027-A46B78D52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011" y="1350879"/>
            <a:ext cx="4687579" cy="32720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D742C9-4DD3-4900-82E2-02D89F980186}"/>
              </a:ext>
            </a:extLst>
          </p:cNvPr>
          <p:cNvSpPr txBox="1"/>
          <p:nvPr/>
        </p:nvSpPr>
        <p:spPr>
          <a:xfrm>
            <a:off x="270932" y="1923803"/>
            <a:ext cx="217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IRNSS Almanac</a:t>
            </a:r>
          </a:p>
        </p:txBody>
      </p:sp>
    </p:spTree>
    <p:extLst>
      <p:ext uri="{BB962C8B-B14F-4D97-AF65-F5344CB8AC3E}">
        <p14:creationId xmlns:p14="http://schemas.microsoft.com/office/powerpoint/2010/main" val="1170272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C21FB5-3262-4AA0-A558-29CB77B9C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7172916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Present and future IRNSS signal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00" b="0" i="0" dirty="0">
                <a:solidFill>
                  <a:srgbClr val="202122"/>
                </a:solidFill>
                <a:effectLst/>
              </a:rPr>
              <a:t>L5 (1176.45 MHz)</a:t>
            </a:r>
            <a:endParaRPr lang="en-US" sz="21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00" b="0" i="0" dirty="0">
                <a:solidFill>
                  <a:srgbClr val="202122"/>
                </a:solidFill>
                <a:effectLst/>
              </a:rPr>
              <a:t>S band (2492.028 MHz)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00" b="0" i="0" dirty="0">
                <a:solidFill>
                  <a:srgbClr val="202122"/>
                </a:solidFill>
                <a:effectLst/>
              </a:rPr>
              <a:t>Standard Positioning Service</a:t>
            </a:r>
            <a:r>
              <a:rPr lang="en-US" sz="2100" dirty="0">
                <a:solidFill>
                  <a:srgbClr val="202122"/>
                </a:solidFill>
              </a:rPr>
              <a:t> and </a:t>
            </a:r>
            <a:r>
              <a:rPr lang="en-US" sz="2100" b="0" i="0" dirty="0">
                <a:effectLst/>
              </a:rPr>
              <a:t>Precision Service</a:t>
            </a:r>
            <a:endParaRPr lang="en-US" sz="2100" dirty="0"/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b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26543D7-EC75-42EC-9F17-3F9247BA9D94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IRNSS </a:t>
            </a:r>
            <a:endParaRPr lang="en-US" sz="26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85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Why GNSS?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0808" y="485419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Stanford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5D80B99-1E1F-4FE3-B3BF-FB7D2F5C2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Availability for Accuracy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9340F7-CFC7-494A-A998-BED1E513D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313" y="4611709"/>
            <a:ext cx="4752975" cy="314325"/>
          </a:xfrm>
          <a:prstGeom prst="rect">
            <a:avLst/>
          </a:prstGeom>
        </p:spPr>
      </p:pic>
      <p:pic>
        <p:nvPicPr>
          <p:cNvPr id="8" name="Picture 7" descr="GNSS signals">
            <a:extLst>
              <a:ext uri="{FF2B5EF4-FFF2-40B4-BE49-F238E27FC236}">
                <a16:creationId xmlns:a16="http://schemas.microsoft.com/office/drawing/2014/main" id="{C136B093-DE19-0F5F-49CE-2BC63D8D3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06" y="1640958"/>
            <a:ext cx="6454588" cy="273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2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Why GNSS?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0808" y="485419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Stanford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5D80B99-1E1F-4FE3-B3BF-FB7D2F5C2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6116012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Availability for Robustness</a:t>
            </a:r>
          </a:p>
        </p:txBody>
      </p:sp>
      <p:pic>
        <p:nvPicPr>
          <p:cNvPr id="8" name="Picture 7" descr="GPS and GLONASS path shifting">
            <a:extLst>
              <a:ext uri="{FF2B5EF4-FFF2-40B4-BE49-F238E27FC236}">
                <a16:creationId xmlns:a16="http://schemas.microsoft.com/office/drawing/2014/main" id="{D131EDA8-A388-4E2C-9A3D-63456EA83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957" y="1680149"/>
            <a:ext cx="6018382" cy="251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3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Why GNSS?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56EB-10D4-4D24-94AB-23959A3DE868}"/>
              </a:ext>
            </a:extLst>
          </p:cNvPr>
          <p:cNvSpPr txBox="1"/>
          <p:nvPr/>
        </p:nvSpPr>
        <p:spPr>
          <a:xfrm>
            <a:off x="30808" y="4854197"/>
            <a:ext cx="4169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Stanford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5D80B99-1E1F-4FE3-B3BF-FB7D2F5C2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6116012" cy="38113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Jamming immunity</a:t>
            </a:r>
            <a:endParaRPr lang="en-US" b="0" dirty="0"/>
          </a:p>
        </p:txBody>
      </p:sp>
      <p:pic>
        <p:nvPicPr>
          <p:cNvPr id="7" name="Picture 6" descr="image showing frequency of GNSS">
            <a:extLst>
              <a:ext uri="{FF2B5EF4-FFF2-40B4-BE49-F238E27FC236}">
                <a16:creationId xmlns:a16="http://schemas.microsoft.com/office/drawing/2014/main" id="{89FCF2D7-9006-4EF7-89A5-487B3354A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743" y="1633537"/>
            <a:ext cx="5397880" cy="300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49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GNSS Application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5D80B99-1E1F-4FE3-B3BF-FB7D2F5C2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30150"/>
            <a:ext cx="4343739" cy="3811347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b="0" dirty="0"/>
              <a:t>Availability for Accuracy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Consumer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Ground Mapping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Transportation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GIS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Machine Control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Port Automation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Precision Agriculture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Timing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Construction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Marine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Unmanned Vehicles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Surveying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Defense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0" dirty="0"/>
              <a:t>Aerial Photogrammetry</a:t>
            </a:r>
          </a:p>
        </p:txBody>
      </p:sp>
    </p:spTree>
    <p:extLst>
      <p:ext uri="{BB962C8B-B14F-4D97-AF65-F5344CB8AC3E}">
        <p14:creationId xmlns:p14="http://schemas.microsoft.com/office/powerpoint/2010/main" val="20699359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High-speed train">
            <a:extLst>
              <a:ext uri="{FF2B5EF4-FFF2-40B4-BE49-F238E27FC236}">
                <a16:creationId xmlns:a16="http://schemas.microsoft.com/office/drawing/2014/main" id="{ED679238-EAE4-4CB0-A945-6932D98EF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005" y="2013270"/>
            <a:ext cx="4229595" cy="220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D759B7-F70F-48BB-84E8-FF2F445C4FFD}"/>
              </a:ext>
            </a:extLst>
          </p:cNvPr>
          <p:cNvSpPr txBox="1"/>
          <p:nvPr/>
        </p:nvSpPr>
        <p:spPr>
          <a:xfrm>
            <a:off x="4173957" y="4367153"/>
            <a:ext cx="4174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https://www.engineering.com/BIM/ArticleID/18792/The-Rest-of-the-Industrialized-World-Has-High-Speed-Rail-Why-Cant-the-US.aspx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GNSS Application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7" name="Picture 6" descr="Air plan">
            <a:extLst>
              <a:ext uri="{FF2B5EF4-FFF2-40B4-BE49-F238E27FC236}">
                <a16:creationId xmlns:a16="http://schemas.microsoft.com/office/drawing/2014/main" id="{6EAED39E-CA17-47F5-9ED9-F25555EEA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30" y="1205132"/>
            <a:ext cx="326707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26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8254BF-EAF3-4D47-A430-C2DACED9D6CE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GNSS Application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8194" name="Picture 2" descr="Shared-bicycle ">
            <a:extLst>
              <a:ext uri="{FF2B5EF4-FFF2-40B4-BE49-F238E27FC236}">
                <a16:creationId xmlns:a16="http://schemas.microsoft.com/office/drawing/2014/main" id="{C683B3FD-D443-416A-BB0B-54A91E6F6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33" y="1348099"/>
            <a:ext cx="3576672" cy="239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BEEBA4B-2A62-4337-8C7F-F56330316A23}"/>
              </a:ext>
            </a:extLst>
          </p:cNvPr>
          <p:cNvSpPr txBox="1"/>
          <p:nvPr/>
        </p:nvSpPr>
        <p:spPr>
          <a:xfrm>
            <a:off x="118533" y="3967043"/>
            <a:ext cx="4174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https://www.sohu.com/a/417142570_188923?spm=smpc.tag-page.fd-news.2.1599713094475OGM13K4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F5CDA45-3175-422E-A434-3608928B3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31" y="1279777"/>
            <a:ext cx="4058969" cy="274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A00D8F-DFE3-4328-84C4-53EC8E5534A0}"/>
              </a:ext>
            </a:extLst>
          </p:cNvPr>
          <p:cNvSpPr txBox="1"/>
          <p:nvPr/>
        </p:nvSpPr>
        <p:spPr>
          <a:xfrm>
            <a:off x="4114800" y="4181753"/>
            <a:ext cx="4174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https://www.intechopen.com/books/new-approach-of-indoor-and-outdoor-localization-systems/gnss-in-precision-agricultural-operations</a:t>
            </a:r>
          </a:p>
        </p:txBody>
      </p:sp>
    </p:spTree>
    <p:extLst>
      <p:ext uri="{BB962C8B-B14F-4D97-AF65-F5344CB8AC3E}">
        <p14:creationId xmlns:p14="http://schemas.microsoft.com/office/powerpoint/2010/main" val="23742255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291A4-330A-41EA-92B6-2174E9F6D14E}"/>
              </a:ext>
            </a:extLst>
          </p:cNvPr>
          <p:cNvSpPr txBox="1"/>
          <p:nvPr/>
        </p:nvSpPr>
        <p:spPr>
          <a:xfrm>
            <a:off x="2038713" y="2198755"/>
            <a:ext cx="4152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</a:t>
            </a:r>
            <a:r>
              <a:rPr lang="en-US" altLang="zh-CN" sz="3600" dirty="0"/>
              <a:t>roject Introduction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35312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86431-B691-4DA6-83A0-7D5D21F2EE43}"/>
              </a:ext>
            </a:extLst>
          </p:cNvPr>
          <p:cNvSpPr txBox="1"/>
          <p:nvPr/>
        </p:nvSpPr>
        <p:spPr>
          <a:xfrm>
            <a:off x="237506" y="990991"/>
            <a:ext cx="357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Tree: Environment Justice</a:t>
            </a:r>
          </a:p>
        </p:txBody>
      </p:sp>
      <p:pic>
        <p:nvPicPr>
          <p:cNvPr id="8" name="Picture 7" descr="Tree density map">
            <a:extLst>
              <a:ext uri="{FF2B5EF4-FFF2-40B4-BE49-F238E27FC236}">
                <a16:creationId xmlns:a16="http://schemas.microsoft.com/office/drawing/2014/main" id="{9FBB3F4E-867D-E312-8F3C-70AC98B79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784" y="1530839"/>
            <a:ext cx="5712031" cy="29530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3FD836-2D4B-0604-F36E-F53E9D3293E5}"/>
              </a:ext>
            </a:extLst>
          </p:cNvPr>
          <p:cNvSpPr txBox="1"/>
          <p:nvPr/>
        </p:nvSpPr>
        <p:spPr>
          <a:xfrm>
            <a:off x="5073960" y="4767264"/>
            <a:ext cx="217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Fang et al., 2022 under review</a:t>
            </a:r>
          </a:p>
        </p:txBody>
      </p:sp>
    </p:spTree>
    <p:extLst>
      <p:ext uri="{BB962C8B-B14F-4D97-AF65-F5344CB8AC3E}">
        <p14:creationId xmlns:p14="http://schemas.microsoft.com/office/powerpoint/2010/main" val="3282510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86431-B691-4DA6-83A0-7D5D21F2EE43}"/>
              </a:ext>
            </a:extLst>
          </p:cNvPr>
          <p:cNvSpPr txBox="1"/>
          <p:nvPr/>
        </p:nvSpPr>
        <p:spPr>
          <a:xfrm>
            <a:off x="237506" y="990991"/>
            <a:ext cx="357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Tree: Environment Justice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AFB8CC-3CA0-B654-C09E-98263202F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439" y="1360323"/>
            <a:ext cx="5607349" cy="35326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142C70-9D33-5B53-0E6E-D6FCD35DC2B5}"/>
              </a:ext>
            </a:extLst>
          </p:cNvPr>
          <p:cNvSpPr txBox="1"/>
          <p:nvPr/>
        </p:nvSpPr>
        <p:spPr>
          <a:xfrm>
            <a:off x="5073960" y="4767264"/>
            <a:ext cx="217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Fang et al., 2022 under review</a:t>
            </a:r>
          </a:p>
        </p:txBody>
      </p:sp>
    </p:spTree>
    <p:extLst>
      <p:ext uri="{BB962C8B-B14F-4D97-AF65-F5344CB8AC3E}">
        <p14:creationId xmlns:p14="http://schemas.microsoft.com/office/powerpoint/2010/main" val="9710551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86431-B691-4DA6-83A0-7D5D21F2EE43}"/>
              </a:ext>
            </a:extLst>
          </p:cNvPr>
          <p:cNvSpPr txBox="1"/>
          <p:nvPr/>
        </p:nvSpPr>
        <p:spPr>
          <a:xfrm>
            <a:off x="237506" y="990991"/>
            <a:ext cx="357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Tree: Environment Justice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5778D-3E1B-34F2-9F8A-B0714A429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39" y="1513907"/>
            <a:ext cx="5716921" cy="3089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20F50C-F1A3-92C8-DE81-B6716DBE571A}"/>
              </a:ext>
            </a:extLst>
          </p:cNvPr>
          <p:cNvSpPr txBox="1"/>
          <p:nvPr/>
        </p:nvSpPr>
        <p:spPr>
          <a:xfrm>
            <a:off x="5073960" y="4767264"/>
            <a:ext cx="217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Fang et al., 2022 under review</a:t>
            </a:r>
          </a:p>
        </p:txBody>
      </p:sp>
    </p:spTree>
    <p:extLst>
      <p:ext uri="{BB962C8B-B14F-4D97-AF65-F5344CB8AC3E}">
        <p14:creationId xmlns:p14="http://schemas.microsoft.com/office/powerpoint/2010/main" val="28707297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86431-B691-4DA6-83A0-7D5D21F2EE43}"/>
              </a:ext>
            </a:extLst>
          </p:cNvPr>
          <p:cNvSpPr txBox="1"/>
          <p:nvPr/>
        </p:nvSpPr>
        <p:spPr>
          <a:xfrm>
            <a:off x="237506" y="990991"/>
            <a:ext cx="357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Tree: Environment Justice</a:t>
            </a:r>
          </a:p>
        </p:txBody>
      </p:sp>
      <p:pic>
        <p:nvPicPr>
          <p:cNvPr id="8" name="Picture 7" descr="City of Conway">
            <a:extLst>
              <a:ext uri="{FF2B5EF4-FFF2-40B4-BE49-F238E27FC236}">
                <a16:creationId xmlns:a16="http://schemas.microsoft.com/office/drawing/2014/main" id="{0DE0FC79-E19F-7212-BD99-AFDD16CF8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748" y="1428403"/>
            <a:ext cx="5450316" cy="3460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AD36F8-D04A-85B6-7A30-39580730767D}"/>
              </a:ext>
            </a:extLst>
          </p:cNvPr>
          <p:cNvSpPr txBox="1"/>
          <p:nvPr/>
        </p:nvSpPr>
        <p:spPr>
          <a:xfrm>
            <a:off x="152400" y="1759145"/>
            <a:ext cx="165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City of Conway</a:t>
            </a:r>
          </a:p>
        </p:txBody>
      </p:sp>
    </p:spTree>
    <p:extLst>
      <p:ext uri="{BB962C8B-B14F-4D97-AF65-F5344CB8AC3E}">
        <p14:creationId xmlns:p14="http://schemas.microsoft.com/office/powerpoint/2010/main" val="34137184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86431-B691-4DA6-83A0-7D5D21F2EE43}"/>
              </a:ext>
            </a:extLst>
          </p:cNvPr>
          <p:cNvSpPr txBox="1"/>
          <p:nvPr/>
        </p:nvSpPr>
        <p:spPr>
          <a:xfrm>
            <a:off x="237506" y="990991"/>
            <a:ext cx="357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Tree: Environment Justice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D36F8-D04A-85B6-7A30-39580730767D}"/>
              </a:ext>
            </a:extLst>
          </p:cNvPr>
          <p:cNvSpPr txBox="1"/>
          <p:nvPr/>
        </p:nvSpPr>
        <p:spPr>
          <a:xfrm>
            <a:off x="152400" y="1759145"/>
            <a:ext cx="165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City of Conway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A54B9F-DC16-4AE8-EA1D-E8F8A17AA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71" y="1759145"/>
            <a:ext cx="6239435" cy="29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933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86431-B691-4DA6-83A0-7D5D21F2EE43}"/>
              </a:ext>
            </a:extLst>
          </p:cNvPr>
          <p:cNvSpPr txBox="1"/>
          <p:nvPr/>
        </p:nvSpPr>
        <p:spPr>
          <a:xfrm>
            <a:off x="237506" y="1071844"/>
            <a:ext cx="228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Conway Tree 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5E9C3-B980-9EBB-94DC-7BA8AB333336}"/>
              </a:ext>
            </a:extLst>
          </p:cNvPr>
          <p:cNvSpPr txBox="1"/>
          <p:nvPr/>
        </p:nvSpPr>
        <p:spPr>
          <a:xfrm>
            <a:off x="353466" y="1635267"/>
            <a:ext cx="74646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222222"/>
                </a:solidFill>
              </a:rPr>
              <a:t>A</a:t>
            </a:r>
            <a:r>
              <a:rPr lang="en-US" b="0" i="0" dirty="0">
                <a:solidFill>
                  <a:srgbClr val="222222"/>
                </a:solidFill>
                <a:effectLst/>
              </a:rPr>
              <a:t>nnual Arbor Day Festival on </a:t>
            </a:r>
            <a:r>
              <a:rPr lang="en-US" b="0" i="0" dirty="0">
                <a:solidFill>
                  <a:srgbClr val="7030A0"/>
                </a:solidFill>
                <a:effectLst/>
              </a:rPr>
              <a:t>November 5th from 11 am-1 pm in Laurel Park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22222"/>
                </a:solidFill>
                <a:effectLst/>
              </a:rPr>
              <a:t>With our Adopt A Tree activity where kids will be invited to pick a tree, measure, and make note of the tree attributes to earn their tree adoption certificate and tree journal. This would be a good activity that allows us to share the data </a:t>
            </a:r>
            <a:r>
              <a:rPr lang="en-US" dirty="0">
                <a:solidFill>
                  <a:srgbClr val="222222"/>
                </a:solidFill>
              </a:rPr>
              <a:t>we</a:t>
            </a:r>
            <a:r>
              <a:rPr lang="en-US" b="0" i="0" dirty="0">
                <a:solidFill>
                  <a:srgbClr val="222222"/>
                </a:solidFill>
                <a:effectLst/>
              </a:rPr>
              <a:t>'ve collected while teaching children to do the same.</a:t>
            </a:r>
          </a:p>
          <a:p>
            <a:pPr algn="l"/>
            <a:endParaRPr lang="en-US" b="0" i="0" dirty="0">
              <a:solidFill>
                <a:srgbClr val="222222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22222"/>
                </a:solidFill>
                <a:effectLst/>
              </a:rPr>
              <a:t>We can host our own table/ exhibit to share our own work to help educate attendees about the  benefits of public trees in Conway. </a:t>
            </a:r>
          </a:p>
        </p:txBody>
      </p:sp>
    </p:spTree>
    <p:extLst>
      <p:ext uri="{BB962C8B-B14F-4D97-AF65-F5344CB8AC3E}">
        <p14:creationId xmlns:p14="http://schemas.microsoft.com/office/powerpoint/2010/main" val="26693485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12606</TotalTime>
  <Words>2403</Words>
  <Application>Microsoft Office PowerPoint</Application>
  <PresentationFormat>Custom</PresentationFormat>
  <Paragraphs>390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gotham</vt:lpstr>
      <vt:lpstr>Arial</vt:lpstr>
      <vt:lpstr>Arial</vt:lpstr>
      <vt:lpstr>Calibri</vt:lpstr>
      <vt:lpstr>Courier New</vt:lpstr>
      <vt:lpstr>open sans</vt:lpstr>
      <vt:lpstr>Tahoma</vt:lpstr>
      <vt:lpstr>Times New Roman</vt:lpstr>
      <vt:lpstr>Wingdings</vt:lpstr>
      <vt:lpstr>Office Theme</vt:lpstr>
      <vt:lpstr>GEOG 3319: Geographic Field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567</cp:revision>
  <dcterms:created xsi:type="dcterms:W3CDTF">2020-07-26T21:20:11Z</dcterms:created>
  <dcterms:modified xsi:type="dcterms:W3CDTF">2025-09-19T16:26:50Z</dcterms:modified>
</cp:coreProperties>
</file>