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4" r:id="rId3"/>
    <p:sldMasterId id="2147483696" r:id="rId4"/>
    <p:sldMasterId id="2147483709" r:id="rId5"/>
    <p:sldMasterId id="2147483721" r:id="rId6"/>
    <p:sldMasterId id="2147483734" r:id="rId7"/>
  </p:sldMasterIdLst>
  <p:notesMasterIdLst>
    <p:notesMasterId r:id="rId33"/>
  </p:notesMasterIdLst>
  <p:sldIdLst>
    <p:sldId id="914" r:id="rId8"/>
    <p:sldId id="1647" r:id="rId9"/>
    <p:sldId id="677" r:id="rId10"/>
    <p:sldId id="1667" r:id="rId11"/>
    <p:sldId id="1665" r:id="rId12"/>
    <p:sldId id="1648" r:id="rId13"/>
    <p:sldId id="1649" r:id="rId14"/>
    <p:sldId id="1650" r:id="rId15"/>
    <p:sldId id="1651" r:id="rId16"/>
    <p:sldId id="1666" r:id="rId17"/>
    <p:sldId id="654" r:id="rId18"/>
    <p:sldId id="655" r:id="rId19"/>
    <p:sldId id="678" r:id="rId20"/>
    <p:sldId id="687" r:id="rId21"/>
    <p:sldId id="1653" r:id="rId22"/>
    <p:sldId id="1654" r:id="rId23"/>
    <p:sldId id="1655" r:id="rId24"/>
    <p:sldId id="277" r:id="rId25"/>
    <p:sldId id="1664" r:id="rId26"/>
    <p:sldId id="1660" r:id="rId27"/>
    <p:sldId id="1661" r:id="rId28"/>
    <p:sldId id="1662" r:id="rId29"/>
    <p:sldId id="1663" r:id="rId30"/>
    <p:sldId id="1656" r:id="rId31"/>
    <p:sldId id="270" r:id="rId32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5603" autoAdjust="0"/>
  </p:normalViewPr>
  <p:slideViewPr>
    <p:cSldViewPr snapToGrid="0" snapToObjects="1">
      <p:cViewPr varScale="1">
        <p:scale>
          <a:sx n="125" d="100"/>
          <a:sy n="125" d="100"/>
        </p:scale>
        <p:origin x="1584" y="96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GNSS_augmentation#Satellite-based_augmentation_system" TargetMode="External"/><Relationship Id="rId13" Type="http://schemas.openxmlformats.org/officeDocument/2006/relationships/hyperlink" Target="https://en.wikipedia.org/wiki/Quasi-Zenith_Satellite_System#cite_note-1" TargetMode="External"/><Relationship Id="rId3" Type="http://schemas.openxmlformats.org/officeDocument/2006/relationships/hyperlink" Target="https://en.wikipedia.org/wiki/GPS" TargetMode="External"/><Relationship Id="rId7" Type="http://schemas.openxmlformats.org/officeDocument/2006/relationships/hyperlink" Target="https://en.wikipedia.org/wiki/Time_transfer" TargetMode="External"/><Relationship Id="rId12" Type="http://schemas.openxmlformats.org/officeDocument/2006/relationships/hyperlink" Target="https://en.wikipedia.org/wiki/Japan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ssc.esa.int/navipedia/index.php/MSAS_General_Introduction#cite_note-MSAS_STATUS_2007-1" TargetMode="External"/><Relationship Id="rId11" Type="http://schemas.openxmlformats.org/officeDocument/2006/relationships/hyperlink" Target="https://en.wikipedia.org/wiki/Asia-Pacific" TargetMode="External"/><Relationship Id="rId5" Type="http://schemas.openxmlformats.org/officeDocument/2006/relationships/hyperlink" Target="https://gssc.esa.int/navipedia/index.php/SBAS_General_Introduction" TargetMode="External"/><Relationship Id="rId15" Type="http://schemas.openxmlformats.org/officeDocument/2006/relationships/hyperlink" Target="https://gssc.esa.int/navipedia/index.php/SDCM#cite_note-SDCM_INGNSS-2" TargetMode="External"/><Relationship Id="rId10" Type="http://schemas.openxmlformats.org/officeDocument/2006/relationships/hyperlink" Target="https://en.wikipedia.org/wiki/Global_Positioning_System" TargetMode="External"/><Relationship Id="rId4" Type="http://schemas.openxmlformats.org/officeDocument/2006/relationships/hyperlink" Target="https://en.wikipedia.org/wiki/Galileo_(satellite_navigation)" TargetMode="External"/><Relationship Id="rId9" Type="http://schemas.openxmlformats.org/officeDocument/2006/relationships/hyperlink" Target="https://en.wikipedia.org/wiki/Japanese_government" TargetMode="External"/><Relationship Id="rId14" Type="http://schemas.openxmlformats.org/officeDocument/2006/relationships/hyperlink" Target="https://gssc.esa.int/navipedia/index.php/SDCM#cite_note-SDCM_WEB-1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6068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R="61770"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24272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6834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/>
              <a:t>Trimble TDC100 and Trimble TSC3</a:t>
            </a:r>
          </a:p>
        </p:txBody>
      </p:sp>
    </p:spTree>
    <p:extLst>
      <p:ext uri="{BB962C8B-B14F-4D97-AF65-F5344CB8AC3E}">
        <p14:creationId xmlns:p14="http://schemas.microsoft.com/office/powerpoint/2010/main" val="2596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4886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WAAS,</a:t>
            </a:r>
            <a:r>
              <a:rPr lang="en-US" baseline="0" dirty="0"/>
              <a:t> or the Wide Area Augmentation System, is a type of SBAS, or Satellite-Based Augmentation System. </a:t>
            </a:r>
          </a:p>
          <a:p>
            <a:endParaRPr lang="en-US" baseline="0" dirty="0"/>
          </a:p>
          <a:p>
            <a:r>
              <a:rPr lang="en-US" baseline="0" dirty="0"/>
              <a:t>It was originally developed by the US Federal Aviation Administration for aviation and air traffic control purposes and provides real-time corrections, which is very important for air traffic control.</a:t>
            </a:r>
          </a:p>
          <a:p>
            <a:endParaRPr lang="en-US" baseline="0" dirty="0"/>
          </a:p>
          <a:p>
            <a:r>
              <a:rPr lang="en-US" baseline="0" dirty="0"/>
              <a:t>Precision can be increased to 4 to 7 meters using this method. Note that some sources will suggest less than 4 meters. </a:t>
            </a:r>
          </a:p>
          <a:p>
            <a:endParaRPr lang="en-US" baseline="0" dirty="0"/>
          </a:p>
          <a:p>
            <a:r>
              <a:rPr lang="en-US" baseline="0" dirty="0"/>
              <a:t>It works by collecting error information at ground control stations. This error information is then transmitted to satellites that then re-broadcast the correction information. </a:t>
            </a:r>
          </a:p>
          <a:p>
            <a:endParaRPr lang="en-US" baseline="0" dirty="0"/>
          </a:p>
          <a:p>
            <a:r>
              <a:rPr lang="en-US" baseline="0" dirty="0"/>
              <a:t>WAAS-enable receivers can collect this information and use it to correct GNSS measurements in real time. </a:t>
            </a:r>
          </a:p>
          <a:p>
            <a:endParaRPr lang="en-US" baseline="0" dirty="0"/>
          </a:p>
          <a:p>
            <a:r>
              <a:rPr lang="en-US" baseline="0" dirty="0"/>
              <a:t>Currently, WAAS is only designed to work with the NAVSTAR system. However, other SBAS systems are available. </a:t>
            </a:r>
          </a:p>
          <a:p>
            <a:endParaRPr lang="en-US" baseline="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Most handheld units, especially those designed for use with NAVSTAR, are WAAS-enabled, </a:t>
            </a:r>
            <a:r>
              <a:rPr lang="en-US" dirty="0"/>
              <a:t>Satellite-Based Augmentation System (SBAS)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WAAS is generally used if there is a need for real-time correction; however, post-processing can provide better results. </a:t>
            </a:r>
          </a:p>
          <a:p>
            <a:endParaRPr lang="en-US" baseline="0" dirty="0"/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Measurements from the reference stations are routed to master stations, which queue the received Deviation Correction (DC) and send the correction messages to geostationary WAAS satellites in a timely manner (every 5 seconds or better). Those satellites broadcast the correction messages back to Earth, where WAAS-enabled GPS receivers use the corrections while computing their positions to improve accuracy.</a:t>
            </a:r>
          </a:p>
          <a:p>
            <a:endParaRPr lang="en-US" b="0" i="0" baseline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200" dirty="0"/>
              <a:t>European Geostationary Navigation Overlay Service (EGNOS).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Currently, </a:t>
            </a:r>
            <a:r>
              <a:rPr lang="en-US" sz="1200" dirty="0"/>
              <a:t>EGNOS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supplements the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GPS"/>
              </a:rPr>
              <a:t>GPS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by reporting on the reliability and accuracy of their positioning data and sending out corrections. The system will supplement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4" tooltip="Galileo (satellite navigation)"/>
              </a:rPr>
              <a:t>Galileo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 a future version.</a:t>
            </a:r>
          </a:p>
          <a:p>
            <a:endParaRPr lang="en-US" b="0" i="0" baseline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MTSAT (Multi-functional Transport Satellites) Satellite Augmentation System (MSAS) is the Japanese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SBAS General Introduction"/>
              </a:rPr>
              <a:t>Satellite Based Augmentation System (SBAS)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System:</a:t>
            </a:r>
            <a:r>
              <a:rPr lang="en-US" b="0" i="0" u="none" strike="noStrike" baseline="30000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6"/>
              </a:rPr>
              <a:t>[1]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a GPS Augmentation system with the goal of improving its accuracy, integrity, and availability.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Quasi-Zenith Satellite System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QZSS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), also known as </a:t>
            </a:r>
            <a:r>
              <a:rPr lang="en-US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Michibiki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ja-JP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みちびき</a:t>
            </a:r>
            <a:r>
              <a:rPr lang="en-US" altLang="ja-JP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),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is a four-satellite regional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7" tooltip="Time transfer"/>
              </a:rPr>
              <a:t>time transfer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system and a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8" tooltip="GNSS augmentation"/>
              </a:rPr>
              <a:t>satellite-based augmentation system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development by the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9" tooltip="Japanese government"/>
              </a:rPr>
              <a:t>Japanese government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to enhance the United States-operated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10" tooltip="Global Positioning System"/>
              </a:rPr>
              <a:t>Global Positioning System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(GPS) in the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11" tooltip="Asia-Pacific"/>
              </a:rPr>
              <a:t>Asia-Oceania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regions, with a focus on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12" tooltip="Japan"/>
              </a:rPr>
              <a:t>Japan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b="0" i="0" u="none" strike="noStrike" baseline="30000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13"/>
              </a:rPr>
              <a:t>[1]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en-US" b="0" i="0" baseline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System for Differential Corrections and Monitoring (SDCM) is the SBAS currently being developed in the Russian Federation</a:t>
            </a:r>
            <a:r>
              <a:rPr lang="en-US" b="0" i="0" u="none" strike="noStrike" baseline="30000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14"/>
              </a:rPr>
              <a:t>[1]</a:t>
            </a:r>
            <a:r>
              <a:rPr lang="en-US" b="0" i="0" u="none" strike="noStrike" baseline="30000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15"/>
              </a:rPr>
              <a:t>[2]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as a component of GLONASS</a:t>
            </a:r>
          </a:p>
          <a:p>
            <a:endParaRPr lang="en-US" b="0" i="0" baseline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484848"/>
                </a:solidFill>
                <a:effectLst/>
                <a:latin typeface="Lucida Grande"/>
              </a:rPr>
              <a:t>GAGAN is an acronym for </a:t>
            </a:r>
            <a:r>
              <a:rPr lang="en-US" b="0" i="0" dirty="0">
                <a:solidFill>
                  <a:srgbClr val="FF4800"/>
                </a:solidFill>
                <a:effectLst/>
                <a:latin typeface="Lucida Grande"/>
              </a:rPr>
              <a:t>G</a:t>
            </a:r>
            <a:r>
              <a:rPr lang="en-US" b="0" i="0" dirty="0">
                <a:solidFill>
                  <a:srgbClr val="484848"/>
                </a:solidFill>
                <a:effectLst/>
                <a:latin typeface="Lucida Grande"/>
              </a:rPr>
              <a:t>PS </a:t>
            </a:r>
            <a:r>
              <a:rPr lang="en-US" b="0" i="0" dirty="0">
                <a:solidFill>
                  <a:srgbClr val="FF4800"/>
                </a:solidFill>
                <a:effectLst/>
                <a:latin typeface="Lucida Grande"/>
              </a:rPr>
              <a:t>A</a:t>
            </a:r>
            <a:r>
              <a:rPr lang="en-US" b="0" i="0" dirty="0">
                <a:solidFill>
                  <a:srgbClr val="484848"/>
                </a:solidFill>
                <a:effectLst/>
                <a:latin typeface="Lucida Grande"/>
              </a:rPr>
              <a:t>ided </a:t>
            </a:r>
            <a:r>
              <a:rPr lang="en-US" b="0" i="0" dirty="0">
                <a:solidFill>
                  <a:srgbClr val="FF4800"/>
                </a:solidFill>
                <a:effectLst/>
                <a:latin typeface="Lucida Grande"/>
              </a:rPr>
              <a:t>G</a:t>
            </a:r>
            <a:r>
              <a:rPr lang="en-US" b="0" i="0" dirty="0">
                <a:solidFill>
                  <a:srgbClr val="484848"/>
                </a:solidFill>
                <a:effectLst/>
                <a:latin typeface="Lucida Grande"/>
              </a:rPr>
              <a:t>EO </a:t>
            </a:r>
            <a:r>
              <a:rPr lang="en-US" b="0" i="0" dirty="0">
                <a:solidFill>
                  <a:srgbClr val="FF4800"/>
                </a:solidFill>
                <a:effectLst/>
                <a:latin typeface="Lucida Grande"/>
              </a:rPr>
              <a:t>A</a:t>
            </a:r>
            <a:r>
              <a:rPr lang="en-US" b="0" i="0" dirty="0">
                <a:solidFill>
                  <a:srgbClr val="484848"/>
                </a:solidFill>
                <a:effectLst/>
                <a:latin typeface="Lucida Grande"/>
              </a:rPr>
              <a:t>ugmented </a:t>
            </a:r>
            <a:r>
              <a:rPr lang="en-US" b="0" i="0" dirty="0">
                <a:solidFill>
                  <a:srgbClr val="FF4800"/>
                </a:solidFill>
                <a:effectLst/>
                <a:latin typeface="Lucida Grande"/>
              </a:rPr>
              <a:t>N</a:t>
            </a:r>
            <a:r>
              <a:rPr lang="en-US" b="0" i="0" dirty="0">
                <a:solidFill>
                  <a:srgbClr val="484848"/>
                </a:solidFill>
                <a:effectLst/>
                <a:latin typeface="Lucida Grande"/>
              </a:rPr>
              <a:t>avigation. It is a Space Based Augmentation  System (</a:t>
            </a:r>
            <a:r>
              <a:rPr lang="en-US" b="0" i="0" dirty="0">
                <a:solidFill>
                  <a:srgbClr val="0066FF"/>
                </a:solidFill>
                <a:effectLst/>
                <a:latin typeface="Lucida Grande"/>
              </a:rPr>
              <a:t>SBAS</a:t>
            </a:r>
            <a:r>
              <a:rPr lang="en-US" b="0" i="0" dirty="0">
                <a:solidFill>
                  <a:srgbClr val="484848"/>
                </a:solidFill>
                <a:effectLst/>
                <a:latin typeface="Lucida Grande"/>
              </a:rPr>
              <a:t>) jointly developed by </a:t>
            </a:r>
            <a:r>
              <a:rPr lang="en-US" b="0" i="0" dirty="0">
                <a:solidFill>
                  <a:srgbClr val="0066FF"/>
                </a:solidFill>
                <a:effectLst/>
                <a:latin typeface="Lucida Grande"/>
              </a:rPr>
              <a:t>ISRO </a:t>
            </a:r>
            <a:r>
              <a:rPr lang="en-US" b="0" i="0" dirty="0">
                <a:solidFill>
                  <a:srgbClr val="484848"/>
                </a:solidFill>
                <a:effectLst/>
                <a:latin typeface="Lucida Grande"/>
              </a:rPr>
              <a:t>and </a:t>
            </a:r>
            <a:r>
              <a:rPr lang="en-US" b="0" i="0" dirty="0">
                <a:solidFill>
                  <a:srgbClr val="0066FF"/>
                </a:solidFill>
                <a:effectLst/>
                <a:latin typeface="Lucida Grande"/>
              </a:rPr>
              <a:t>AAI </a:t>
            </a:r>
            <a:r>
              <a:rPr lang="en-US" b="0" i="0" dirty="0">
                <a:solidFill>
                  <a:srgbClr val="484848"/>
                </a:solidFill>
                <a:effectLst/>
                <a:latin typeface="Lucida Grande"/>
              </a:rPr>
              <a:t>to provide the best possible navigational services over Indian FIR (Flight Information Region) with the capability of expanding to </a:t>
            </a:r>
            <a:r>
              <a:rPr lang="en-US" b="0" i="0" dirty="0" err="1">
                <a:solidFill>
                  <a:srgbClr val="484848"/>
                </a:solidFill>
                <a:effectLst/>
                <a:latin typeface="Lucida Grande"/>
              </a:rPr>
              <a:t>neighbouring</a:t>
            </a:r>
            <a:r>
              <a:rPr lang="en-US" b="0" i="0" dirty="0">
                <a:solidFill>
                  <a:srgbClr val="484848"/>
                </a:solidFill>
                <a:effectLst/>
                <a:latin typeface="Lucida Grande"/>
              </a:rPr>
              <a:t> FIRs.</a:t>
            </a:r>
            <a:br>
              <a:rPr lang="en-US" baseline="0" dirty="0"/>
            </a:b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2A70B-78F2-4DCF-B53B-C990D2FAFB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1058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F9BB-97E2-4F5E-A9A6-FAC40A4E9E52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10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6EE0-F357-46ED-94FA-906C52536BC8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0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55F4-0623-4308-89A4-2EF3C67F970E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62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25ED-83A1-4E27-9E45-CB4ECD4F0BBC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5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4F89-8A4A-4667-ACA3-D44E384795DF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81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13FE4-A8B1-43D2-900A-0789A75D843A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57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B1E2-CA70-4E33-B1AB-E13FFAB976F0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6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3E20A27F-A940-4DB1-BFA3-6B00386BFBB8}" type="datetime1">
              <a:rPr lang="en-US" smtClean="0"/>
              <a:t>9/23/2025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5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B4FF-525C-4739-8620-1BBEF31D3000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02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B1A4-BA96-45DD-B69E-04FB88AA18D4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5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499E-7FB9-4175-B5CC-46A07FADF573}" type="datetime1">
              <a:rPr lang="en-US" smtClean="0"/>
              <a:t>9/23/2025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55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3EF4-AD61-48A1-B51C-86BBC26A07EE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90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9FF5-A3A3-421D-9FE4-C97ACA9B4B66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9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4F4B-9A6E-4B50-BE3E-090D5038F3B5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76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9AE4F-ECA9-4391-85A0-0BDC121BC912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19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0038-C403-4E4E-A358-F4B6321C12F5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40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2514-E107-4B51-A0E4-6CCBE2731D63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297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5C0F4-646D-457B-9990-7D4E2FD4A597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89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8E4477A8-A506-4192-A810-B96D85416BE8}" type="datetime1">
              <a:rPr lang="en-US" smtClean="0"/>
              <a:t>9/23/2025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73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1744-7364-4EA9-A9E9-43D8A126DBDD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23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92A1-5616-4927-9B49-E60372E9FC72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95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ECA2-35DB-4F3A-8A04-28A5742D3AB4}" type="datetime1">
              <a:rPr lang="en-US" smtClean="0"/>
              <a:t>9/23/2025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224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3EF4-AD61-48A1-B51C-86BBC26A07EE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46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9FF5-A3A3-421D-9FE4-C97ACA9B4B66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505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4F4B-9A6E-4B50-BE3E-090D5038F3B5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66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9AE4F-ECA9-4391-85A0-0BDC121BC912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89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0038-C403-4E4E-A358-F4B6321C12F5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310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2514-E107-4B51-A0E4-6CCBE2731D63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222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5C0F4-646D-457B-9990-7D4E2FD4A597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436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8E4477A8-A506-4192-A810-B96D85416BE8}" type="datetime1">
              <a:rPr lang="en-US" smtClean="0"/>
              <a:t>9/23/2025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64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1744-7364-4EA9-A9E9-43D8A126DBDD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930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92A1-5616-4927-9B49-E60372E9FC72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78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ECA2-35DB-4F3A-8A04-28A5742D3AB4}" type="datetime1">
              <a:rPr lang="en-US" smtClean="0"/>
              <a:t>9/23/2025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384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4757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926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58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303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061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2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3412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2124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402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69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9017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9814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6311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4273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3802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0192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00981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8421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99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706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5970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1571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8360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3298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272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1111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538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388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711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3888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38659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6977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88941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50270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811659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597820"/>
            <a:ext cx="699516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40" y="2914650"/>
            <a:ext cx="576072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F9BB-97E2-4F5E-A9A6-FAC40A4E9E52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4473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6EE0-F357-46ED-94FA-906C52536BC8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377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082" y="3305176"/>
            <a:ext cx="6995160" cy="102155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082" y="2180035"/>
            <a:ext cx="6995160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55F4-0623-4308-89A4-2EF3C67F970E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669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33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25ED-83A1-4E27-9E45-CB4ECD4F0BBC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9231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151335"/>
            <a:ext cx="3636169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480" y="1631156"/>
            <a:ext cx="3636169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80524" y="1151335"/>
            <a:ext cx="3637598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80524" y="1631156"/>
            <a:ext cx="3637598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4F89-8A4A-4667-ACA3-D44E384795DF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9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13FE4-A8B1-43D2-900A-0789A75D843A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8899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B1E2-CA70-4E33-B1AB-E13FFAB976F0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8353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1" y="204787"/>
            <a:ext cx="2707482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545" y="204789"/>
            <a:ext cx="4600575" cy="438983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1481" y="1076327"/>
            <a:ext cx="2707482" cy="351829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A27F-A940-4DB1-BFA3-6B00386BFBB8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8703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059" y="3600450"/>
            <a:ext cx="4937760" cy="42505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13059" y="459581"/>
            <a:ext cx="4937760" cy="30861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3059" y="4025504"/>
            <a:ext cx="4937760" cy="60364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B4FF-525C-4739-8620-1BBEF31D3000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80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B1A4-BA96-45DD-B69E-04FB88AA18D4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7645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66460" y="205979"/>
            <a:ext cx="185166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480" y="205979"/>
            <a:ext cx="541782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499E-7FB9-4175-B5CC-46A07FADF573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08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E1391E-2A44-4376-9A8A-15039D79744E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15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D9F797-665E-490A-B876-3E21189284AA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83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D9F797-665E-490A-B876-3E21189284AA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31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78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51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88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205979"/>
            <a:ext cx="740664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200151"/>
            <a:ext cx="740664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14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1391E-2A44-4376-9A8A-15039D79744E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1780" y="4767263"/>
            <a:ext cx="26060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978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3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ftr="0" dt="0"/>
  <p:txStyles>
    <p:titleStyle>
      <a:lvl1pPr algn="ctr" defTabSz="41148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41148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5" indent="-257175" algn="l" defTabSz="411480" rtl="0" eaLnBrk="1" latinLnBrk="0" hangingPunct="1">
        <a:spcBef>
          <a:spcPct val="20000"/>
        </a:spcBef>
        <a:buFont typeface="Arial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411480" rtl="0" eaLnBrk="1" latinLnBrk="0" hangingPunct="1">
        <a:spcBef>
          <a:spcPct val="200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41148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stj4_118B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0.xml"/><Relationship Id="rId5" Type="http://schemas.openxmlformats.org/officeDocument/2006/relationships/hyperlink" Target="https://www.faa.gov/about/office_org/headquarters_offices/ato/service_units/techops/navservices/gnss/waas/howitworks/" TargetMode="External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060" y="785709"/>
            <a:ext cx="3871767" cy="1831185"/>
          </a:xfrm>
        </p:spPr>
        <p:txBody>
          <a:bodyPr>
            <a:normAutofit/>
          </a:bodyPr>
          <a:lstStyle/>
          <a:p>
            <a:r>
              <a:rPr lang="en-US" sz="2700" dirty="0">
                <a:solidFill>
                  <a:srgbClr val="FFFFFF"/>
                </a:solidFill>
              </a:rPr>
              <a:t>WEEK 06</a:t>
            </a:r>
            <a:br>
              <a:rPr lang="en-US" sz="2700" dirty="0">
                <a:solidFill>
                  <a:srgbClr val="FFFFFF"/>
                </a:solidFill>
              </a:rPr>
            </a:br>
            <a:r>
              <a:rPr lang="en-US" altLang="zh-CN" sz="2800" dirty="0"/>
              <a:t>GPS Receiver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060" y="2798352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6.1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GPS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67850" y="913841"/>
            <a:ext cx="5685550" cy="401114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zh-CN" sz="2600" dirty="0"/>
              <a:t>GNSS Systems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zh-CN" sz="2600" dirty="0"/>
              <a:t>GPS receiver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600" dirty="0"/>
              <a:t>Antenna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600" dirty="0"/>
              <a:t>Controller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600" dirty="0"/>
              <a:t>Receiver Hardware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How GPS Work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Explore function of TDC 100</a:t>
            </a:r>
            <a:endParaRPr lang="en-US" altLang="en-US" sz="224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302741" y="172711"/>
            <a:ext cx="5221759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Overview</a:t>
            </a:r>
            <a:endParaRPr lang="en-US" sz="26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01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6F85B-3409-DC0C-1B45-3BA9AC89E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741" y="1141476"/>
            <a:ext cx="7444990" cy="3258312"/>
          </a:xfrm>
        </p:spPr>
        <p:txBody>
          <a:bodyPr>
            <a:noAutofit/>
          </a:bodyPr>
          <a:lstStyle/>
          <a:p>
            <a:r>
              <a:rPr lang="en-US" sz="2000" dirty="0"/>
              <a:t>How to know my location precisely ?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At anytime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In any condition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Anywhere</a:t>
            </a:r>
          </a:p>
          <a:p>
            <a:r>
              <a:rPr lang="en-US" sz="2000" dirty="0"/>
              <a:t>How to navigate to the destination?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Guidance or Navigation </a:t>
            </a:r>
          </a:p>
          <a:p>
            <a:r>
              <a:rPr lang="en-US" sz="2000" dirty="0"/>
              <a:t> How to synchronize time globally?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Mobile phones  Financial Institutes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F9AAB-3FE5-F74C-9559-21372B0C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708FD1-507D-438A-826D-12A341013189}"/>
              </a:ext>
            </a:extLst>
          </p:cNvPr>
          <p:cNvSpPr txBox="1">
            <a:spLocks/>
          </p:cNvSpPr>
          <p:nvPr/>
        </p:nvSpPr>
        <p:spPr>
          <a:xfrm>
            <a:off x="302741" y="426719"/>
            <a:ext cx="5221759" cy="6032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Overview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C86FDF-7E6C-AC77-462B-0A66255E9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147" y="976560"/>
            <a:ext cx="3324712" cy="1991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1FADB-9A14-5373-D6A9-5E88F32F2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249" y="1391821"/>
            <a:ext cx="547572" cy="1272052"/>
          </a:xfrm>
          <a:prstGeom prst="rect">
            <a:avLst/>
          </a:prstGeom>
        </p:spPr>
      </p:pic>
      <p:sp>
        <p:nvSpPr>
          <p:cNvPr id="12" name="Cloud 11">
            <a:extLst>
              <a:ext uri="{FF2B5EF4-FFF2-40B4-BE49-F238E27FC236}">
                <a16:creationId xmlns:a16="http://schemas.microsoft.com/office/drawing/2014/main" id="{B2C86F54-E04A-983F-9C9E-36D3F3956183}"/>
              </a:ext>
            </a:extLst>
          </p:cNvPr>
          <p:cNvSpPr/>
          <p:nvPr/>
        </p:nvSpPr>
        <p:spPr>
          <a:xfrm>
            <a:off x="4740175" y="827173"/>
            <a:ext cx="1668780" cy="112776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Where am I?</a:t>
            </a:r>
          </a:p>
        </p:txBody>
      </p:sp>
    </p:spTree>
    <p:extLst>
      <p:ext uri="{BB962C8B-B14F-4D97-AF65-F5344CB8AC3E}">
        <p14:creationId xmlns:p14="http://schemas.microsoft.com/office/powerpoint/2010/main" val="98476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E0EDA-0324-BD55-C0DB-EC52BC3B5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5" y="1041390"/>
            <a:ext cx="7444990" cy="2067570"/>
          </a:xfrm>
        </p:spPr>
        <p:txBody>
          <a:bodyPr>
            <a:normAutofit/>
          </a:bodyPr>
          <a:lstStyle/>
          <a:p>
            <a:r>
              <a:rPr lang="en-US" sz="2000" dirty="0"/>
              <a:t>W</a:t>
            </a:r>
            <a:r>
              <a:rPr lang="en-US" altLang="zh-CN" sz="2000" dirty="0"/>
              <a:t>hat is Global Positioning System (GPS)?</a:t>
            </a:r>
          </a:p>
          <a:p>
            <a:pPr fontAlgn="base"/>
            <a:r>
              <a:rPr lang="en-US" sz="1400" dirty="0"/>
              <a:t>GPS is a system. It’s made up of three parts: satellites, ground stations, and receivers.</a:t>
            </a:r>
          </a:p>
          <a:p>
            <a:pPr marL="561600" lvl="1" indent="-342900" fontAlgn="base">
              <a:buFont typeface="+mj-lt"/>
              <a:buAutoNum type="arabicPeriod"/>
            </a:pPr>
            <a:r>
              <a:rPr lang="en-US" sz="1265" dirty="0"/>
              <a:t>Satellites act like the stars in constellations—we know where they are supposed to be at any given time.</a:t>
            </a:r>
          </a:p>
          <a:p>
            <a:pPr marL="561600" lvl="1" indent="-342900" fontAlgn="base">
              <a:buFont typeface="+mj-lt"/>
              <a:buAutoNum type="arabicPeriod"/>
            </a:pPr>
            <a:r>
              <a:rPr lang="en-US" sz="1265" dirty="0"/>
              <a:t>The ground stations use radar to make sure they are actually where we think they are.</a:t>
            </a:r>
          </a:p>
          <a:p>
            <a:pPr marL="561600" lvl="1" indent="-342900" fontAlgn="base">
              <a:buFont typeface="+mj-lt"/>
              <a:buAutoNum type="arabicPeriod"/>
            </a:pPr>
            <a:r>
              <a:rPr lang="en-US" sz="1265" dirty="0"/>
              <a:t>A receiver, like you might find in your phone or in your parents car, is constantly listening for a signal from these satellites. The receiver figures out how far away they are from some of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F5B1E-5A8D-1512-B50A-9CB83593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EC3E898-F980-25D9-E1AB-CBABAA3E4F94}"/>
              </a:ext>
            </a:extLst>
          </p:cNvPr>
          <p:cNvSpPr txBox="1">
            <a:spLocks/>
          </p:cNvSpPr>
          <p:nvPr/>
        </p:nvSpPr>
        <p:spPr>
          <a:xfrm>
            <a:off x="302741" y="426719"/>
            <a:ext cx="5221759" cy="6032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Overview</a:t>
            </a:r>
            <a:endParaRPr lang="en-US" sz="2600" i="1" dirty="0">
              <a:solidFill>
                <a:srgbClr val="7030A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2EC421-09FC-CF90-482E-FE1E5A519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789" y="3108960"/>
            <a:ext cx="1851451" cy="179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1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8314-1248-76B0-E165-A81F86747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33503"/>
          </a:xfrm>
        </p:spPr>
        <p:txBody>
          <a:bodyPr/>
          <a:lstStyle/>
          <a:p>
            <a:r>
              <a:rPr lang="en-US" altLang="zh-CN" dirty="0"/>
              <a:t>Global Navigation Satellite Systems (GNSS)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6A0FA-AEF6-D8D7-5E5A-4B3C26449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25" y="1116616"/>
            <a:ext cx="7444990" cy="1772411"/>
          </a:xfrm>
        </p:spPr>
        <p:txBody>
          <a:bodyPr>
            <a:normAutofit/>
          </a:bodyPr>
          <a:lstStyle/>
          <a:p>
            <a:r>
              <a:rPr lang="en-US" altLang="zh-CN" sz="1600" b="1" dirty="0"/>
              <a:t>GPS (Global Positioning System – USA)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Developed and operated by the </a:t>
            </a:r>
            <a:r>
              <a:rPr lang="en-US" altLang="zh-CN" sz="1600" b="1" dirty="0"/>
              <a:t>United States Department of Defense</a:t>
            </a:r>
            <a:r>
              <a:rPr lang="en-US" altLang="zh-CN" sz="16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First fully operational GNSS (since the 1990s).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Constellation: about </a:t>
            </a:r>
            <a:r>
              <a:rPr lang="en-US" altLang="zh-CN" sz="1600" b="1" dirty="0"/>
              <a:t>24 active satellites</a:t>
            </a:r>
            <a:r>
              <a:rPr lang="en-US" altLang="zh-CN" sz="16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Provides global coverage with ~</a:t>
            </a:r>
            <a:r>
              <a:rPr lang="en-US" altLang="zh-CN" sz="1600" b="1" dirty="0"/>
              <a:t>5–10 m accuracy</a:t>
            </a:r>
            <a:r>
              <a:rPr lang="en-US" altLang="zh-CN" sz="1600" dirty="0"/>
              <a:t> (better with augmentation).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33F64-4619-A181-0F99-76F11898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91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A9BBE-D280-FA06-1337-786007CB8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8" y="899161"/>
            <a:ext cx="7444990" cy="2887979"/>
          </a:xfrm>
        </p:spPr>
        <p:txBody>
          <a:bodyPr>
            <a:normAutofit/>
          </a:bodyPr>
          <a:lstStyle/>
          <a:p>
            <a:r>
              <a:rPr lang="en-US" altLang="zh-CN" sz="1800" b="1" dirty="0"/>
              <a:t>GLONASS (</a:t>
            </a:r>
            <a:r>
              <a:rPr lang="en-US" altLang="zh-CN" sz="1800" b="1" dirty="0" err="1"/>
              <a:t>Globalnaya</a:t>
            </a:r>
            <a:r>
              <a:rPr lang="en-US" altLang="zh-CN" sz="1800" b="1" dirty="0"/>
              <a:t> </a:t>
            </a:r>
            <a:r>
              <a:rPr lang="en-US" altLang="zh-CN" sz="1800" b="1" dirty="0" err="1"/>
              <a:t>Navigatsionnaya</a:t>
            </a:r>
            <a:r>
              <a:rPr lang="en-US" altLang="zh-CN" sz="1800" b="1" dirty="0"/>
              <a:t> </a:t>
            </a:r>
            <a:r>
              <a:rPr lang="en-US" altLang="zh-CN" sz="1800" b="1" dirty="0" err="1"/>
              <a:t>Sputnikovaya</a:t>
            </a:r>
            <a:r>
              <a:rPr lang="en-US" altLang="zh-CN" sz="1800" b="1" dirty="0"/>
              <a:t> Sistema – Russia)</a:t>
            </a:r>
          </a:p>
          <a:p>
            <a:endParaRPr lang="en-US" altLang="zh-CN" sz="18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800" dirty="0"/>
              <a:t>Operated by the </a:t>
            </a:r>
            <a:r>
              <a:rPr lang="en-US" altLang="zh-CN" sz="1800" b="1" dirty="0"/>
              <a:t>Russian Federation</a:t>
            </a:r>
            <a:r>
              <a:rPr lang="en-US" altLang="zh-CN" sz="18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800" dirty="0"/>
              <a:t>Constellation: about </a:t>
            </a:r>
            <a:r>
              <a:rPr lang="en-US" altLang="zh-CN" sz="1800" b="1" dirty="0"/>
              <a:t>21 satellites</a:t>
            </a:r>
            <a:r>
              <a:rPr lang="en-US" altLang="zh-CN" sz="18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800" dirty="0"/>
              <a:t>Provides global coverage similar to GPS.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800" dirty="0"/>
              <a:t>Often used together with GPS for better accuracy and reliability, especially in northern latitudes.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C0D52-B66F-F131-1F25-95C0798C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BA1496-7889-0985-C1E9-9A5086FF7277}"/>
              </a:ext>
            </a:extLst>
          </p:cNvPr>
          <p:cNvSpPr txBox="1">
            <a:spLocks/>
          </p:cNvSpPr>
          <p:nvPr/>
        </p:nvSpPr>
        <p:spPr>
          <a:xfrm>
            <a:off x="392307" y="465657"/>
            <a:ext cx="7444991" cy="4335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30861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9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Global Navigation Satellite Systems (GNSS)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3045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425BD-28A4-0225-30A9-05E3A7E3E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885" y="1115569"/>
            <a:ext cx="7444990" cy="2602991"/>
          </a:xfrm>
        </p:spPr>
        <p:txBody>
          <a:bodyPr>
            <a:noAutofit/>
          </a:bodyPr>
          <a:lstStyle/>
          <a:p>
            <a:r>
              <a:rPr lang="en-US" altLang="zh-CN" sz="1800" b="1" dirty="0"/>
              <a:t>Galileo (European Union)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800" dirty="0"/>
              <a:t>Developed by the </a:t>
            </a:r>
            <a:r>
              <a:rPr lang="en-US" altLang="zh-CN" sz="1800" b="1" dirty="0"/>
              <a:t>European Union &amp; European Space Agency</a:t>
            </a:r>
            <a:r>
              <a:rPr lang="en-US" altLang="zh-CN" sz="18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800" dirty="0"/>
              <a:t>Fully operational since </a:t>
            </a:r>
            <a:r>
              <a:rPr lang="en-US" altLang="zh-CN" sz="1800" b="1" dirty="0"/>
              <a:t>2016</a:t>
            </a:r>
            <a:r>
              <a:rPr lang="en-US" altLang="zh-CN" sz="18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800" dirty="0"/>
              <a:t>Constellation: about </a:t>
            </a:r>
            <a:r>
              <a:rPr lang="en-US" altLang="zh-CN" sz="1800" b="1" dirty="0"/>
              <a:t>27 satellites</a:t>
            </a:r>
            <a:r>
              <a:rPr lang="en-US" altLang="zh-CN" sz="18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800" dirty="0"/>
              <a:t>Known for </a:t>
            </a:r>
            <a:r>
              <a:rPr lang="en-US" altLang="zh-CN" sz="1800" b="1" dirty="0"/>
              <a:t>high accuracy</a:t>
            </a:r>
            <a:r>
              <a:rPr lang="en-US" altLang="zh-CN" sz="1800" dirty="0"/>
              <a:t> — open service aims for 1 meter, with encrypted services for safety-critical use.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00E45-D173-1213-EE27-7E5009E30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6D09E3-9AC0-1DFA-4E31-581929804776}"/>
              </a:ext>
            </a:extLst>
          </p:cNvPr>
          <p:cNvSpPr txBox="1">
            <a:spLocks/>
          </p:cNvSpPr>
          <p:nvPr/>
        </p:nvSpPr>
        <p:spPr>
          <a:xfrm>
            <a:off x="392307" y="465657"/>
            <a:ext cx="7444991" cy="4335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30861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9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Global Navigation Satellite Systems (GNSS)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636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30C5E-FC4D-B68E-A0AF-54B48F17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FB296-FBE3-7D03-E0B4-025F0189D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885" y="986029"/>
            <a:ext cx="7444990" cy="2724911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BeiDou ( China)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Built and operated by </a:t>
            </a:r>
            <a:r>
              <a:rPr lang="en-US" altLang="zh-CN" sz="2000" b="1" dirty="0"/>
              <a:t>China</a:t>
            </a:r>
            <a:r>
              <a:rPr lang="en-US" altLang="zh-CN" sz="20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Third generation (BeiDou-3) became fully global in </a:t>
            </a:r>
            <a:r>
              <a:rPr lang="en-US" altLang="zh-CN" sz="2000" b="1" dirty="0"/>
              <a:t>2020</a:t>
            </a:r>
            <a:r>
              <a:rPr lang="en-US" altLang="zh-CN" sz="20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Constellation: about </a:t>
            </a:r>
            <a:r>
              <a:rPr lang="en-US" altLang="zh-CN" sz="2000" b="1" dirty="0"/>
              <a:t>35 satellites</a:t>
            </a:r>
            <a:r>
              <a:rPr lang="en-US" altLang="zh-CN" sz="20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Provides regional and global services, with navigation, timing, and even short message communication.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FC1EC-3C6C-1974-CC06-9F92BE256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231512-2828-99A9-22AF-EDA355A7FA5D}"/>
              </a:ext>
            </a:extLst>
          </p:cNvPr>
          <p:cNvSpPr txBox="1">
            <a:spLocks/>
          </p:cNvSpPr>
          <p:nvPr/>
        </p:nvSpPr>
        <p:spPr>
          <a:xfrm>
            <a:off x="392307" y="465657"/>
            <a:ext cx="7444991" cy="4335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30861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9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Global Navigation Satellite Systems (GNSS)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11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157F-F15A-E3ED-68A9-83184E216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593523"/>
          </a:xfrm>
        </p:spPr>
        <p:txBody>
          <a:bodyPr/>
          <a:lstStyle/>
          <a:p>
            <a:pPr defTabSz="411480"/>
            <a:r>
              <a:rPr lang="en-US" sz="3200" dirty="0">
                <a:solidFill>
                  <a:srgbClr val="7030A0"/>
                </a:solidFill>
              </a:rPr>
              <a:t>4 GNSS Constellations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C80158-C0B2-A182-EE88-062254416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526" y="1287780"/>
            <a:ext cx="7477107" cy="32461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6B516-46D0-00F3-8BD3-A21AE76A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97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CDBEE1-9601-4263-A365-F3F6F0E9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00332"/>
            <a:ext cx="7825317" cy="114434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GPS receiver</a:t>
            </a:r>
            <a:endParaRPr lang="en-US" sz="1600" b="0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600" dirty="0"/>
              <a:t>An electronic instrument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600" dirty="0"/>
              <a:t>Consists: an antenna, a hardware receiver, and a controller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99F066-7780-4AAB-B6A5-821267D0F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436" y="2067253"/>
            <a:ext cx="5055281" cy="28690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D297AC-838D-456B-92C5-131C84C4273B}"/>
              </a:ext>
            </a:extLst>
          </p:cNvPr>
          <p:cNvSpPr txBox="1"/>
          <p:nvPr/>
        </p:nvSpPr>
        <p:spPr>
          <a:xfrm>
            <a:off x="5233686" y="4850571"/>
            <a:ext cx="15872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Kaplan &amp; Hegarty, 2006</a:t>
            </a:r>
          </a:p>
        </p:txBody>
      </p:sp>
    </p:spTree>
    <p:extLst>
      <p:ext uri="{BB962C8B-B14F-4D97-AF65-F5344CB8AC3E}">
        <p14:creationId xmlns:p14="http://schemas.microsoft.com/office/powerpoint/2010/main" val="496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285750" y="17290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Antenna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9E6661-3EBE-4587-AE2F-09CE39F6F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083" y="1030150"/>
            <a:ext cx="7825317" cy="242171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Gathers GNSS/GPS signals from satellite and transform into guided wave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b="0" dirty="0"/>
              <a:t>Quality of GNSS/GPS observation primarily depends on the antenna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b="0" dirty="0"/>
              <a:t>A</a:t>
            </a:r>
            <a:r>
              <a:rPr lang="en-US" sz="2000" dirty="0"/>
              <a:t>ntenna remains integrated with the receiver electronics and all are kept in a single rugged case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b="0" dirty="0"/>
              <a:t>Antenna can also present as an independent unit.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22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217394" y="16166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Antenna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30" name="Picture 6" descr="Trimble TDC100 - 4G Android">
            <a:extLst>
              <a:ext uri="{FF2B5EF4-FFF2-40B4-BE49-F238E27FC236}">
                <a16:creationId xmlns:a16="http://schemas.microsoft.com/office/drawing/2014/main" id="{BBD35913-48CE-4E73-8016-4ADF3E933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16" y="1162785"/>
            <a:ext cx="2023634" cy="275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9BE342-C4C5-42CC-9A80-BAEA046A0314}"/>
              </a:ext>
            </a:extLst>
          </p:cNvPr>
          <p:cNvSpPr txBox="1"/>
          <p:nvPr/>
        </p:nvSpPr>
        <p:spPr>
          <a:xfrm>
            <a:off x="442913" y="4767263"/>
            <a:ext cx="32265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Trimble website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8D52D-EA63-4A13-BF07-D1DDFFEB8BA4}"/>
              </a:ext>
            </a:extLst>
          </p:cNvPr>
          <p:cNvSpPr txBox="1"/>
          <p:nvPr/>
        </p:nvSpPr>
        <p:spPr>
          <a:xfrm>
            <a:off x="1050325" y="4206706"/>
            <a:ext cx="1334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TDC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72F9F4-3D8D-DB41-DF2E-4CB9472FF4ED}"/>
              </a:ext>
            </a:extLst>
          </p:cNvPr>
          <p:cNvSpPr txBox="1"/>
          <p:nvPr/>
        </p:nvSpPr>
        <p:spPr>
          <a:xfrm>
            <a:off x="2880360" y="1131901"/>
            <a:ext cx="5189220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6550" indent="-206550" defTabSz="308610">
              <a:spcAft>
                <a:spcPts val="405"/>
              </a:spcAft>
              <a:buClr>
                <a:schemeClr val="accent1"/>
              </a:buClr>
              <a:buSzPct val="92000"/>
              <a:buFont typeface="Courier New" panose="02070309020205020404" pitchFamily="49" charset="0"/>
              <a:buChar char="o"/>
            </a:pPr>
            <a:r>
              <a:rPr lang="en-US" altLang="zh-CN" sz="2000" dirty="0"/>
              <a:t>The TDC100 has a built-in GNSS antenna inside the rugged handheld body (at the top left of the device, near the speaker).</a:t>
            </a:r>
          </a:p>
          <a:p>
            <a:pPr marL="206550" indent="-206550" defTabSz="308610">
              <a:spcAft>
                <a:spcPts val="405"/>
              </a:spcAft>
              <a:buClr>
                <a:schemeClr val="accent1"/>
              </a:buClr>
              <a:buSzPct val="92000"/>
              <a:buFont typeface="Courier New" panose="02070309020205020404" pitchFamily="49" charset="0"/>
              <a:buChar char="o"/>
            </a:pPr>
            <a:endParaRPr lang="en-US" altLang="zh-CN" sz="2000" dirty="0"/>
          </a:p>
          <a:p>
            <a:pPr marL="206550" indent="-206550" defTabSz="308610">
              <a:spcAft>
                <a:spcPts val="405"/>
              </a:spcAft>
              <a:buClr>
                <a:schemeClr val="accent1"/>
              </a:buClr>
              <a:buSzPct val="92000"/>
              <a:buFont typeface="Courier New" panose="02070309020205020404" pitchFamily="49" charset="0"/>
              <a:buChar char="o"/>
            </a:pPr>
            <a:r>
              <a:rPr lang="en-US" altLang="zh-CN" sz="2000" dirty="0"/>
              <a:t>It receives satellite signals (GPS, GLONASS, Galileo, BeiDou) directly without needing an external antenna.</a:t>
            </a:r>
          </a:p>
          <a:p>
            <a:pPr marL="206550" indent="-206550" defTabSz="308610">
              <a:spcAft>
                <a:spcPts val="405"/>
              </a:spcAft>
              <a:buClr>
                <a:schemeClr val="accent1"/>
              </a:buClr>
              <a:buSzPct val="92000"/>
              <a:buFont typeface="Courier New" panose="02070309020205020404" pitchFamily="49" charset="0"/>
              <a:buChar char="o"/>
            </a:pPr>
            <a:endParaRPr lang="en-US" altLang="zh-CN" sz="2000" dirty="0"/>
          </a:p>
          <a:p>
            <a:pPr marL="206550" indent="-206550" defTabSz="308610">
              <a:spcAft>
                <a:spcPts val="405"/>
              </a:spcAft>
              <a:buClr>
                <a:schemeClr val="accent1"/>
              </a:buClr>
              <a:buSzPct val="92000"/>
              <a:buFont typeface="Courier New" panose="02070309020205020404" pitchFamily="49" charset="0"/>
              <a:buChar char="o"/>
            </a:pPr>
            <a:r>
              <a:rPr lang="en-US" altLang="zh-CN" sz="2000" dirty="0"/>
              <a:t>Designed to work outdoors, it minimizes multipath errors and interference.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51131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356658" y="224057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R</a:t>
            </a:r>
            <a:r>
              <a:rPr lang="en-US" altLang="zh-CN" sz="3200" dirty="0">
                <a:solidFill>
                  <a:srgbClr val="7030A0"/>
                </a:solidFill>
              </a:rPr>
              <a:t>eceiver hardware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A1195C-3FDF-4141-B2EC-66A6DA293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847" y="1480185"/>
            <a:ext cx="1695450" cy="1638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6E71A2-48AB-2BC6-0A36-B702E24775D8}"/>
              </a:ext>
            </a:extLst>
          </p:cNvPr>
          <p:cNvSpPr txBox="1"/>
          <p:nvPr/>
        </p:nvSpPr>
        <p:spPr>
          <a:xfrm>
            <a:off x="255022" y="1173480"/>
            <a:ext cx="5623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is the electronic hardware that takes the very weak satellite radio signals captured by the antenna.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amplifies those signals (since GPS signals are extremely weak by the time they reach Earth).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filters them (so only the GPS frequencies are kept, ignoring other noise).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converts the signals into a form that the Processor can understand and use to calculate position.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411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3FD1-95A0-39FC-A147-93954586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7" y="663358"/>
            <a:ext cx="7444991" cy="471603"/>
          </a:xfrm>
        </p:spPr>
        <p:txBody>
          <a:bodyPr>
            <a:noAutofit/>
          </a:bodyPr>
          <a:lstStyle/>
          <a:p>
            <a:r>
              <a:rPr lang="en-US" altLang="zh-CN" sz="2800" dirty="0">
                <a:solidFill>
                  <a:srgbClr val="7030A0"/>
                </a:solidFill>
              </a:rPr>
              <a:t>Processor</a:t>
            </a:r>
            <a:endParaRPr lang="zh-CN" alt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D3E9A-CC8A-9CE3-1208-6A359EC6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1112520"/>
            <a:ext cx="7444990" cy="2491740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The device runs on </a:t>
            </a:r>
            <a:r>
              <a:rPr lang="en-US" altLang="zh-CN" sz="2000" b="1" dirty="0"/>
              <a:t>Android OS</a:t>
            </a:r>
            <a:r>
              <a:rPr lang="en-US" altLang="zh-CN" sz="2000" dirty="0"/>
              <a:t>.</a:t>
            </a:r>
          </a:p>
          <a:p>
            <a:r>
              <a:rPr lang="en-US" altLang="zh-CN" sz="2000" dirty="0"/>
              <a:t>This processor not only handles GNSS signal processing but also runs field apps like </a:t>
            </a:r>
            <a:r>
              <a:rPr lang="en-US" altLang="zh-CN" sz="2000" b="1" dirty="0"/>
              <a:t>Trimble </a:t>
            </a:r>
            <a:r>
              <a:rPr lang="en-US" altLang="zh-CN" sz="2000" b="1" dirty="0" err="1"/>
              <a:t>TerraFlex</a:t>
            </a:r>
            <a:r>
              <a:rPr lang="en-US" altLang="zh-CN" sz="2000" b="1" dirty="0"/>
              <a:t>, Esri Field Maps, or Collector</a:t>
            </a:r>
            <a:r>
              <a:rPr lang="en-US" altLang="zh-CN" sz="2000" dirty="0"/>
              <a:t>.</a:t>
            </a:r>
          </a:p>
          <a:p>
            <a:r>
              <a:rPr lang="en-US" altLang="zh-CN" sz="2000" dirty="0"/>
              <a:t>It integrates GNSS calculations with mapping, data entry, and communication functions.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24E8C-EF49-FAE4-772E-55CD9780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1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6737-9DB4-869C-3499-8C4F2106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10643"/>
          </a:xfrm>
        </p:spPr>
        <p:txBody>
          <a:bodyPr/>
          <a:lstStyle/>
          <a:p>
            <a:r>
              <a:rPr lang="en-US" altLang="zh-CN" sz="2000" dirty="0">
                <a:solidFill>
                  <a:srgbClr val="7030A0"/>
                </a:solidFill>
              </a:rPr>
              <a:t>I/O (Input/Output)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10925-C680-2D2C-1C73-C1C5FC747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937260"/>
            <a:ext cx="7444990" cy="2351532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On the TDC100, I/O is through:</a:t>
            </a:r>
          </a:p>
          <a:p>
            <a:pPr lvl="1"/>
            <a:r>
              <a:rPr lang="en-US" altLang="zh-CN" sz="1600" b="1" dirty="0"/>
              <a:t>Touchscreen</a:t>
            </a:r>
            <a:r>
              <a:rPr lang="en-US" altLang="zh-CN" sz="1600" dirty="0"/>
              <a:t> (main user input/output).</a:t>
            </a:r>
          </a:p>
          <a:p>
            <a:pPr lvl="1"/>
            <a:r>
              <a:rPr lang="en-US" altLang="zh-CN" sz="1600" b="1" dirty="0"/>
              <a:t>USB-C and Bluetooth/Wi-Fi</a:t>
            </a:r>
            <a:r>
              <a:rPr lang="en-US" altLang="zh-CN" sz="1600" dirty="0"/>
              <a:t> (data transfer, connectivity with PCs, sensors, or cloud).</a:t>
            </a:r>
          </a:p>
          <a:p>
            <a:pPr lvl="1"/>
            <a:r>
              <a:rPr lang="en-US" altLang="zh-CN" sz="1600" b="1" dirty="0"/>
              <a:t>Cellular 4G LTE</a:t>
            </a:r>
            <a:r>
              <a:rPr lang="en-US" altLang="zh-CN" sz="1600" dirty="0"/>
              <a:t> (real-time sync to ArcGIS Online, Trimble Connect, etc.).</a:t>
            </a:r>
          </a:p>
          <a:p>
            <a:r>
              <a:rPr lang="en-US" altLang="zh-CN" sz="1600" dirty="0"/>
              <a:t>These allow data collected in the field to move seamlessly into enterprise GIS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FC28B-FBEA-4C1E-095F-F02EA7C88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97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4B37B-BB15-7777-C701-EFCB8D250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7" y="442797"/>
            <a:ext cx="7444991" cy="463983"/>
          </a:xfrm>
        </p:spPr>
        <p:txBody>
          <a:bodyPr/>
          <a:lstStyle/>
          <a:p>
            <a:r>
              <a:rPr lang="en-US" altLang="zh-CN" sz="2000" dirty="0">
                <a:solidFill>
                  <a:srgbClr val="7030A0"/>
                </a:solidFill>
              </a:rPr>
              <a:t>Control Display Unit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10841-AF2C-9B04-36CF-2F8A9C07B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1046988"/>
            <a:ext cx="7444990" cy="2100071"/>
          </a:xfrm>
        </p:spPr>
        <p:txBody>
          <a:bodyPr>
            <a:noAutofit/>
          </a:bodyPr>
          <a:lstStyle/>
          <a:p>
            <a:r>
              <a:rPr lang="en-US" altLang="zh-CN" sz="1600" dirty="0"/>
              <a:t>The </a:t>
            </a:r>
            <a:r>
              <a:rPr lang="en-US" altLang="zh-CN" sz="1600" b="1" dirty="0"/>
              <a:t>rugged touchscreen display</a:t>
            </a:r>
            <a:r>
              <a:rPr lang="en-US" altLang="zh-CN" sz="1600" dirty="0"/>
              <a:t> is the control and display unit.</a:t>
            </a:r>
          </a:p>
          <a:p>
            <a:r>
              <a:rPr lang="en-US" altLang="zh-CN" sz="1600" dirty="0"/>
              <a:t>Users can: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View GNSS status (satellite strength, accuracy, corrections).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Interact with GIS apps, maps, forms, and data layers.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Control system settings and monitor battery/power.</a:t>
            </a:r>
          </a:p>
          <a:p>
            <a:r>
              <a:rPr lang="en-US" altLang="zh-CN" sz="1600" dirty="0"/>
              <a:t>Brightness and ruggedness are optimized for </a:t>
            </a:r>
            <a:r>
              <a:rPr lang="en-US" altLang="zh-CN" sz="1600" b="1" dirty="0"/>
              <a:t>field visibility and durability</a:t>
            </a:r>
            <a:r>
              <a:rPr lang="en-US" altLang="zh-CN" sz="16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513E6-444D-14B7-B5DD-752A4D33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0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052732"/>
            <a:ext cx="4470556" cy="4090768"/>
          </a:xfrm>
        </p:spPr>
        <p:txBody>
          <a:bodyPr>
            <a:normAutofit fontScale="550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4200" b="1" dirty="0">
                <a:solidFill>
                  <a:srgbClr val="E3874F"/>
                </a:solidFill>
                <a:hlinkClick r:id="rId3"/>
              </a:rPr>
              <a:t>W</a:t>
            </a:r>
            <a:r>
              <a:rPr lang="en-US" altLang="zh-CN" sz="4200" b="1" dirty="0">
                <a:solidFill>
                  <a:srgbClr val="E3874F"/>
                </a:solidFill>
                <a:hlinkClick r:id="rId3"/>
              </a:rPr>
              <a:t>ide Area Augmentation System (WAAS)</a:t>
            </a:r>
            <a:endParaRPr lang="en-US" sz="4200" b="1" dirty="0">
              <a:solidFill>
                <a:srgbClr val="E3874F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940" dirty="0"/>
              <a:t>Satellite-Based Augmentation System (SBAS)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940" dirty="0"/>
              <a:t>U.S. Federal Aviation Administration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940" dirty="0"/>
              <a:t>Real-time accuracies for single fixes within 4-7 meters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940" dirty="0"/>
              <a:t>Can average multiple fixes for increased accuracy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940" dirty="0"/>
              <a:t>Broadcasted correction data from ground stations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940" dirty="0"/>
              <a:t>Only for NAVSTAR GPS (US System)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940" dirty="0"/>
              <a:t>Most handheld units are WAAS enabled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940" dirty="0"/>
              <a:t>For real-time needs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940" dirty="0"/>
              <a:t>Others: European: EGNOS , Japan: MSAS and QZSS, India: GAGAN, Russia: SDCM </a:t>
            </a:r>
          </a:p>
        </p:txBody>
      </p:sp>
      <p:pic>
        <p:nvPicPr>
          <p:cNvPr id="5122" name="Picture 2" descr="WAAS - Step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555" y="1388437"/>
            <a:ext cx="3495129" cy="270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361733" y="4343744"/>
            <a:ext cx="3867867" cy="587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/>
              </a:rPr>
              <a:t>https://www.faa.gov/about/office_org/headquarters_offices/ato/service_units/techops/navservices/gnss/waas/howitworks/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465FAB-3351-4BE0-96E0-4690D497366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5C674F2-25AB-4539-BD1D-8B93BAB89E13}"/>
              </a:ext>
            </a:extLst>
          </p:cNvPr>
          <p:cNvSpPr txBox="1">
            <a:spLocks/>
          </p:cNvSpPr>
          <p:nvPr/>
        </p:nvSpPr>
        <p:spPr>
          <a:xfrm>
            <a:off x="270933" y="19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114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Wide Area Augmentation System</a:t>
            </a:r>
          </a:p>
        </p:txBody>
      </p:sp>
    </p:spTree>
    <p:extLst>
      <p:ext uri="{BB962C8B-B14F-4D97-AF65-F5344CB8AC3E}">
        <p14:creationId xmlns:p14="http://schemas.microsoft.com/office/powerpoint/2010/main" val="305776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FC72-7A82-0650-B29F-648E094C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03023"/>
          </a:xfrm>
        </p:spPr>
        <p:txBody>
          <a:bodyPr/>
          <a:lstStyle/>
          <a:p>
            <a:r>
              <a:rPr lang="en-US" altLang="zh-CN" dirty="0"/>
              <a:t>Trimble </a:t>
            </a:r>
            <a:r>
              <a:rPr lang="en-US" altLang="zh-CN" dirty="0" err="1"/>
              <a:t>tdc</a:t>
            </a:r>
            <a:r>
              <a:rPr lang="en-US" altLang="zh-CN" dirty="0"/>
              <a:t> 100 series handheld overview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A0C13-FAE7-8733-9A05-C4962EFD4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4" y="1118617"/>
            <a:ext cx="7444990" cy="637032"/>
          </a:xfrm>
        </p:spPr>
        <p:txBody>
          <a:bodyPr/>
          <a:lstStyle/>
          <a:p>
            <a:r>
              <a:rPr lang="en-US" altLang="zh-CN" dirty="0"/>
              <a:t>https://www.youtube.com/watch?v=fimWxYMRiF8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A36AD-947B-43ED-804C-08693D83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80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46BF-B5CD-D6E7-49F8-2846B90E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71603"/>
          </a:xfrm>
        </p:spPr>
        <p:txBody>
          <a:bodyPr/>
          <a:lstStyle/>
          <a:p>
            <a:r>
              <a:rPr lang="en-US" altLang="zh-CN" sz="2000" dirty="0">
                <a:solidFill>
                  <a:srgbClr val="7030A0"/>
                </a:solidFill>
              </a:rPr>
              <a:t>In-Class Activity: Exploring GNSS with </a:t>
            </a:r>
            <a:r>
              <a:rPr lang="en-US" altLang="zh-CN" sz="2000" dirty="0" err="1">
                <a:solidFill>
                  <a:srgbClr val="7030A0"/>
                </a:solidFill>
              </a:rPr>
              <a:t>SatLook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E38D9-98D2-F45D-B01B-0A676B492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1060700"/>
            <a:ext cx="7444990" cy="621792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What do you think affects GPS accuracy?</a:t>
            </a:r>
            <a:endParaRPr lang="zh-CN" alt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FF3DF-1D5B-444D-13A9-F9F72ADF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6EE18-841C-473C-E877-255939906159}"/>
              </a:ext>
            </a:extLst>
          </p:cNvPr>
          <p:cNvSpPr txBox="1"/>
          <p:nvPr/>
        </p:nvSpPr>
        <p:spPr>
          <a:xfrm>
            <a:off x="1085977" y="1752601"/>
            <a:ext cx="6751320" cy="231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SatLook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on your TDC100.</a:t>
            </a:r>
          </a:p>
          <a:p>
            <a:pPr marL="342900" indent="-34290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 the 3 tabs:</a:t>
            </a:r>
          </a:p>
          <a:p>
            <a:pPr marL="663750" lvl="1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Sky Plot → Satellites in the sky (constellation + geometry).</a:t>
            </a:r>
          </a:p>
          <a:p>
            <a:pPr marL="663750" lvl="1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NMEA → Raw GNSS data (for advanced logging).</a:t>
            </a:r>
          </a:p>
          <a:p>
            <a:pPr marL="663750" lvl="1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SNR → Signal strength for each satellite.</a:t>
            </a:r>
          </a:p>
          <a:p>
            <a:pPr marL="663750" lvl="1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Highlight: “Tracked vs Used satellites”, SNR levels, and constellations (GPS, GLONASS, BeiDou, Galileo).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144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E80989D-19AC-0207-776D-DEB9DFADF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3540" y="1072549"/>
            <a:ext cx="2148075" cy="381880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1821D-148B-55FE-43BD-159608F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80DDB9-68EA-5F81-A54A-F26E46511FD9}"/>
              </a:ext>
            </a:extLst>
          </p:cNvPr>
          <p:cNvSpPr txBox="1">
            <a:spLocks/>
          </p:cNvSpPr>
          <p:nvPr/>
        </p:nvSpPr>
        <p:spPr>
          <a:xfrm>
            <a:off x="392305" y="526617"/>
            <a:ext cx="7444991" cy="4716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30861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9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2000" dirty="0">
                <a:solidFill>
                  <a:srgbClr val="7030A0"/>
                </a:solidFill>
              </a:rPr>
              <a:t>In-Class Activity: Exploring GNSS with </a:t>
            </a:r>
            <a:r>
              <a:rPr lang="en-US" altLang="zh-CN" sz="2000" dirty="0" err="1">
                <a:solidFill>
                  <a:srgbClr val="7030A0"/>
                </a:solidFill>
              </a:rPr>
              <a:t>SatLook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95BA1E-57E6-0652-1E2F-3AEED7AF1557}"/>
              </a:ext>
            </a:extLst>
          </p:cNvPr>
          <p:cNvSpPr txBox="1"/>
          <p:nvPr/>
        </p:nvSpPr>
        <p:spPr>
          <a:xfrm>
            <a:off x="287336" y="1367877"/>
            <a:ext cx="4937760" cy="2556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6550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polar plot shows the sky overhead, with your device in the center.</a:t>
            </a:r>
          </a:p>
          <a:p>
            <a:pPr marL="206550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dot = a satellite being tracked.</a:t>
            </a:r>
          </a:p>
          <a:p>
            <a:pPr marL="206550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Numbers inside the circles = satellite PRN numbers (identifiers).</a:t>
            </a:r>
          </a:p>
          <a:p>
            <a:pPr marL="206550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Position of the dot = where the satellite is in the sky (azimuth &amp; elevation).</a:t>
            </a:r>
          </a:p>
          <a:p>
            <a:pPr marL="206550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“Tracked: 9 Used: 5” at the bottom means:</a:t>
            </a:r>
          </a:p>
          <a:p>
            <a:pPr marL="663750" lvl="1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 satellites are visible</a:t>
            </a:r>
          </a:p>
          <a:p>
            <a:pPr marL="663750" lvl="1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 are actually being used in your position calculation</a:t>
            </a:r>
          </a:p>
          <a:p>
            <a:pPr marL="206550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👉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tells you how well the antenna is seeing the sky. If many satellites are visible and used, your accuracy improves.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545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2A89E-24C8-CA12-845C-727631E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589" y="1255014"/>
            <a:ext cx="5124575" cy="2633472"/>
          </a:xfrm>
        </p:spPr>
        <p:txBody>
          <a:bodyPr>
            <a:normAutofit/>
          </a:bodyPr>
          <a:lstStyle/>
          <a:p>
            <a:r>
              <a:rPr lang="en-US" altLang="zh-CN" sz="1200" dirty="0"/>
              <a:t>NMEA Data (NMEA tab)</a:t>
            </a:r>
          </a:p>
          <a:p>
            <a:r>
              <a:rPr lang="en-US" altLang="zh-CN" sz="1200" dirty="0"/>
              <a:t>NMEA = a standard GPS message format.</a:t>
            </a:r>
          </a:p>
          <a:p>
            <a:r>
              <a:rPr lang="en-US" altLang="zh-CN" sz="1200" dirty="0"/>
              <a:t>Each line starts with $ and a code that tells you what the sentence means. For example: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200" dirty="0"/>
              <a:t>$GNGSA → GNSS DOP and active satellites (Dilution of Precision info).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200" dirty="0"/>
              <a:t>$GNGGA → Fix data (time, latitude, longitude, altitude, fix quality).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200" dirty="0"/>
              <a:t>$GNRMC → Recommended Minimum GPS Data (time, date, position, speed).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200" dirty="0"/>
              <a:t>$GLGSV → Satellites in view (from GLONASS).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1335" dirty="0"/>
              <a:t>Explore Start Recording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5436-4BDB-3531-4F4E-F2E0E3FD1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A8B8D2-DFB2-A2E9-CCBB-F56433DDBC24}"/>
              </a:ext>
            </a:extLst>
          </p:cNvPr>
          <p:cNvSpPr txBox="1">
            <a:spLocks/>
          </p:cNvSpPr>
          <p:nvPr/>
        </p:nvSpPr>
        <p:spPr>
          <a:xfrm>
            <a:off x="392306" y="358977"/>
            <a:ext cx="7444991" cy="4716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30861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9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2000" dirty="0">
                <a:solidFill>
                  <a:srgbClr val="7030A0"/>
                </a:solidFill>
              </a:rPr>
              <a:t>In-Class Activity: Exploring GNSS with </a:t>
            </a:r>
            <a:r>
              <a:rPr lang="en-US" altLang="zh-CN" sz="2000" dirty="0" err="1">
                <a:solidFill>
                  <a:srgbClr val="7030A0"/>
                </a:solidFill>
              </a:rPr>
              <a:t>SatLook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7DE8F6-AB1D-657E-F8F7-2D12BFFD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596" y="830580"/>
            <a:ext cx="2181701" cy="387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82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5868A7F6-FCAF-81CB-C867-C47B4EA20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6067" y="855890"/>
            <a:ext cx="2214413" cy="39367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B1224-F71C-FD78-343D-4929AEBD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FC29C91-691F-5292-D901-30A0BCAF2169}"/>
              </a:ext>
            </a:extLst>
          </p:cNvPr>
          <p:cNvSpPr txBox="1">
            <a:spLocks/>
          </p:cNvSpPr>
          <p:nvPr/>
        </p:nvSpPr>
        <p:spPr>
          <a:xfrm>
            <a:off x="392306" y="358977"/>
            <a:ext cx="7444991" cy="4716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30861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9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2000" dirty="0">
                <a:solidFill>
                  <a:srgbClr val="7030A0"/>
                </a:solidFill>
              </a:rPr>
              <a:t>In-Class Activity: Exploring GNSS with </a:t>
            </a:r>
            <a:r>
              <a:rPr lang="en-US" altLang="zh-CN" sz="2000" dirty="0" err="1">
                <a:solidFill>
                  <a:srgbClr val="7030A0"/>
                </a:solidFill>
              </a:rPr>
              <a:t>SatLook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3B75D5-2D02-4B4E-3DED-303579A9F17E}"/>
              </a:ext>
            </a:extLst>
          </p:cNvPr>
          <p:cNvSpPr txBox="1"/>
          <p:nvPr/>
        </p:nvSpPr>
        <p:spPr>
          <a:xfrm>
            <a:off x="502920" y="1663809"/>
            <a:ext cx="42976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SNR = Signal-to-Noise Ratio</a:t>
            </a:r>
          </a:p>
          <a:p>
            <a:endParaRPr lang="en-US" altLang="zh-CN" sz="1400" dirty="0"/>
          </a:p>
          <a:p>
            <a:r>
              <a:rPr lang="en-US" altLang="zh-CN" sz="1400" dirty="0"/>
              <a:t>SNR measures how strong and clean the satellite’s signal is compared to background noise.</a:t>
            </a:r>
          </a:p>
          <a:p>
            <a:endParaRPr lang="en-US" altLang="zh-CN" sz="1400" dirty="0"/>
          </a:p>
          <a:p>
            <a:r>
              <a:rPr lang="en-US" altLang="zh-CN" sz="1400" dirty="0"/>
              <a:t>Units: dB-Hz (decibels relative to 1 Hz).</a:t>
            </a:r>
          </a:p>
          <a:p>
            <a:endParaRPr lang="en-US" altLang="zh-CN" sz="1400" dirty="0"/>
          </a:p>
          <a:p>
            <a:r>
              <a:rPr lang="en-US" altLang="zh-CN" sz="1400" dirty="0"/>
              <a:t>Higher = better (stronger, clearer signal).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94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717D-A1F0-36D1-D8F2-6EB46B16B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18263"/>
          </a:xfrm>
        </p:spPr>
        <p:txBody>
          <a:bodyPr/>
          <a:lstStyle/>
          <a:p>
            <a:r>
              <a:rPr lang="en-US" altLang="zh-CN" sz="2000" dirty="0">
                <a:solidFill>
                  <a:srgbClr val="7030A0"/>
                </a:solidFill>
              </a:rPr>
              <a:t>GNSS receiver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51E6C-5FB6-5D71-31AA-01A3A2F00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982980"/>
            <a:ext cx="7444990" cy="3040380"/>
          </a:xfrm>
        </p:spPr>
        <p:txBody>
          <a:bodyPr>
            <a:noAutofit/>
          </a:bodyPr>
          <a:lstStyle/>
          <a:p>
            <a:r>
              <a:rPr lang="en-US" altLang="zh-CN" sz="1600" dirty="0"/>
              <a:t>1. In the Apps screen, tap Settings, then tap Location. </a:t>
            </a:r>
          </a:p>
          <a:p>
            <a:r>
              <a:rPr lang="en-US" altLang="zh-CN" sz="1600" dirty="0"/>
              <a:t>2. Slide the Location slider to On. </a:t>
            </a:r>
          </a:p>
          <a:p>
            <a:r>
              <a:rPr lang="en-US" altLang="zh-CN" sz="1600" dirty="0"/>
              <a:t>3. Tap Mode and</a:t>
            </a:r>
            <a:r>
              <a:rPr lang="zh-CN" altLang="en-US" sz="1600" dirty="0"/>
              <a:t> </a:t>
            </a:r>
            <a:r>
              <a:rPr lang="en-US" altLang="zh-CN" sz="1600" dirty="0"/>
              <a:t>select the mode you want the device to use to determine your location: </a:t>
            </a:r>
          </a:p>
          <a:p>
            <a:r>
              <a:rPr lang="en-US" altLang="zh-CN" sz="1600" dirty="0"/>
              <a:t>4.  Tap Location mode, then select the Location mode you want the device to use (GPS + BDS; GPS + GLONASS; GPS only). </a:t>
            </a:r>
          </a:p>
          <a:p>
            <a:r>
              <a:rPr lang="en-US" altLang="zh-CN" sz="1600" dirty="0"/>
              <a:t>7. Tap Update rate to modify the update rate of the GNSS solution. Two settings are available: 1s and 2s. By default, the receiver is set to 2s, but it is recommended that you use 1s to maximize the reactivity of any GNSS applications.</a:t>
            </a:r>
            <a:endParaRPr lang="zh-CN" alt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62200-57D0-1127-987C-99A7C1BC7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3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305" y="1325254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Week04_GEOG3319_FieldMap</Template>
  <TotalTime>9512</TotalTime>
  <Words>1877</Words>
  <Application>Microsoft Office PowerPoint</Application>
  <PresentationFormat>Custom</PresentationFormat>
  <Paragraphs>210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Lucida Grande</vt:lpstr>
      <vt:lpstr>Arial</vt:lpstr>
      <vt:lpstr>Arial Black</vt:lpstr>
      <vt:lpstr>Calibri</vt:lpstr>
      <vt:lpstr>Courier New</vt:lpstr>
      <vt:lpstr>Wingdings</vt:lpstr>
      <vt:lpstr>Wingdings 2</vt:lpstr>
      <vt:lpstr>3_DividendVTI</vt:lpstr>
      <vt:lpstr>2_DividendVTI</vt:lpstr>
      <vt:lpstr>DividendVTI</vt:lpstr>
      <vt:lpstr>1_DividendVTI</vt:lpstr>
      <vt:lpstr>5_DividendVTI</vt:lpstr>
      <vt:lpstr>6_DividendVTI</vt:lpstr>
      <vt:lpstr>Office Theme</vt:lpstr>
      <vt:lpstr>WEEK 06 GPS Receiver  lecture</vt:lpstr>
      <vt:lpstr>6.1  GPS</vt:lpstr>
      <vt:lpstr>PowerPoint Presentation</vt:lpstr>
      <vt:lpstr>PowerPoint Presentation</vt:lpstr>
      <vt:lpstr>PowerPoint Presentation</vt:lpstr>
      <vt:lpstr>Global Navigation Satellite Systems (GNSS)</vt:lpstr>
      <vt:lpstr>PowerPoint Presentation</vt:lpstr>
      <vt:lpstr>PowerPoint Presentation</vt:lpstr>
      <vt:lpstr>PowerPoint Presentation</vt:lpstr>
      <vt:lpstr>4 GNSS Constellations</vt:lpstr>
      <vt:lpstr>PowerPoint Presentation</vt:lpstr>
      <vt:lpstr>PowerPoint Presentation</vt:lpstr>
      <vt:lpstr>PowerPoint Presentation</vt:lpstr>
      <vt:lpstr>PowerPoint Presentation</vt:lpstr>
      <vt:lpstr>Processor</vt:lpstr>
      <vt:lpstr>I/O (Input/Output)</vt:lpstr>
      <vt:lpstr>Control Display Unit</vt:lpstr>
      <vt:lpstr>PowerPoint Presentation</vt:lpstr>
      <vt:lpstr>Trimble tdc 100 series handheld overview</vt:lpstr>
      <vt:lpstr>In-Class Activity: Exploring GNSS with SatLook</vt:lpstr>
      <vt:lpstr>PowerPoint Presentation</vt:lpstr>
      <vt:lpstr>PowerPoint Presentation</vt:lpstr>
      <vt:lpstr>PowerPoint Presentation</vt:lpstr>
      <vt:lpstr>GNSS receiver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Yanan Wu</cp:lastModifiedBy>
  <cp:revision>431</cp:revision>
  <dcterms:created xsi:type="dcterms:W3CDTF">2020-07-26T21:20:11Z</dcterms:created>
  <dcterms:modified xsi:type="dcterms:W3CDTF">2025-09-23T13:32:02Z</dcterms:modified>
</cp:coreProperties>
</file>