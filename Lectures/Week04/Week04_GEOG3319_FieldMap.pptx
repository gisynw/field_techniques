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Lst>
  <p:notesMasterIdLst>
    <p:notesMasterId r:id="rId20"/>
  </p:notesMasterIdLst>
  <p:sldIdLst>
    <p:sldId id="914" r:id="rId5"/>
    <p:sldId id="1647" r:id="rId6"/>
    <p:sldId id="591" r:id="rId7"/>
    <p:sldId id="1650" r:id="rId8"/>
    <p:sldId id="1651" r:id="rId9"/>
    <p:sldId id="1649" r:id="rId10"/>
    <p:sldId id="1652" r:id="rId11"/>
    <p:sldId id="1658" r:id="rId12"/>
    <p:sldId id="1653" r:id="rId13"/>
    <p:sldId id="1654" r:id="rId14"/>
    <p:sldId id="1655" r:id="rId15"/>
    <p:sldId id="1656" r:id="rId16"/>
    <p:sldId id="1657" r:id="rId17"/>
    <p:sldId id="1648" r:id="rId18"/>
    <p:sldId id="270" r:id="rId19"/>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snapToObjects="1">
      <p:cViewPr varScale="1">
        <p:scale>
          <a:sx n="91" d="100"/>
          <a:sy n="91" d="100"/>
        </p:scale>
        <p:origin x="1044" y="7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a:t>
            </a:r>
            <a:r>
              <a:rPr lang="en-US" dirty="0"/>
              <a:t>: Highlight that this integrates directly with ArcGIS Online.</a:t>
            </a:r>
          </a:p>
        </p:txBody>
      </p:sp>
      <p:sp>
        <p:nvSpPr>
          <p:cNvPr id="4" name="Slide Number Placeholder 3"/>
          <p:cNvSpPr>
            <a:spLocks noGrp="1"/>
          </p:cNvSpPr>
          <p:nvPr>
            <p:ph type="sldNum" sz="quarter" idx="5"/>
          </p:nvPr>
        </p:nvSpPr>
        <p:spPr/>
        <p:txBody>
          <a:bodyPr/>
          <a:lstStyle/>
          <a:p>
            <a:fld id="{56507943-197E-CE46-82F0-5A323A24AE7A}" type="slidenum">
              <a:rPr lang="en-US" smtClean="0"/>
              <a:pPr/>
              <a:t>5</a:t>
            </a:fld>
            <a:endParaRPr lang="en-US"/>
          </a:p>
        </p:txBody>
      </p:sp>
    </p:spTree>
    <p:extLst>
      <p:ext uri="{BB962C8B-B14F-4D97-AF65-F5344CB8AC3E}">
        <p14:creationId xmlns:p14="http://schemas.microsoft.com/office/powerpoint/2010/main" val="2318577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E519-8BCF-F7C4-FA36-62D25586D0BA}"/>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177D0C31-F4AA-E42D-D53F-9F5FB09A49F3}"/>
              </a:ext>
            </a:extLst>
          </p:cNvPr>
          <p:cNvSpPr>
            <a:spLocks noGrp="1" noChangeArrowheads="1"/>
          </p:cNvSpPr>
          <p:nvPr>
            <p:ph type="sldNum" sz="quarter" idx="5"/>
          </p:nvPr>
        </p:nvSpPr>
        <p:spPr>
          <a:ln/>
        </p:spPr>
        <p:txBody>
          <a:bodyPr/>
          <a:lstStyle/>
          <a:p>
            <a:fld id="{0CE062E2-CA43-4035-9E13-AD9908C25B62}" type="slidenum">
              <a:rPr lang="en-US" altLang="en-US"/>
              <a:pPr/>
              <a:t>14</a:t>
            </a:fld>
            <a:endParaRPr lang="en-US" altLang="en-US"/>
          </a:p>
        </p:txBody>
      </p:sp>
      <p:sp>
        <p:nvSpPr>
          <p:cNvPr id="124930" name="Rectangle 2">
            <a:extLst>
              <a:ext uri="{FF2B5EF4-FFF2-40B4-BE49-F238E27FC236}">
                <a16:creationId xmlns:a16="http://schemas.microsoft.com/office/drawing/2014/main" id="{A2E4383D-A025-D16B-CDD3-A19146D9D66E}"/>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ACFED89D-B3CB-14E4-4CE6-26B62893701E}"/>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0871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726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112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8825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7145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118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8369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49477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0880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270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6558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08626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2733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99054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2396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1361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122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39340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40956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03678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38696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196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6586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0314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94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6234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80808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2621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768263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79317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533656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5880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0978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48568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8876449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97809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5141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9355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65717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4080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934980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64501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103730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96012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92646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9884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13088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815386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175435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7663980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arcgis.com/en/paths/get-started-with-field-maps-designer/"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672325"/>
            <a:ext cx="3846545" cy="1997675"/>
          </a:xfrm>
        </p:spPr>
        <p:txBody>
          <a:bodyPr>
            <a:normAutofit fontScale="90000"/>
          </a:bodyPr>
          <a:lstStyle/>
          <a:p>
            <a:r>
              <a:rPr lang="en-US" sz="2700" dirty="0">
                <a:solidFill>
                  <a:srgbClr val="FFFFFF"/>
                </a:solidFill>
              </a:rPr>
              <a:t>WEEK 04 </a:t>
            </a:r>
            <a:br>
              <a:rPr lang="en-US" sz="2700" dirty="0">
                <a:solidFill>
                  <a:srgbClr val="FFFFFF"/>
                </a:solidFill>
              </a:rPr>
            </a:br>
            <a:br>
              <a:rPr lang="en-US" sz="2700" dirty="0">
                <a:solidFill>
                  <a:srgbClr val="FFFFFF"/>
                </a:solidFill>
              </a:rPr>
            </a:br>
            <a:r>
              <a:rPr lang="en-US" sz="2700" dirty="0" err="1">
                <a:solidFill>
                  <a:srgbClr val="FFFFFF"/>
                </a:solidFill>
              </a:rPr>
              <a:t>arcgis</a:t>
            </a:r>
            <a:r>
              <a:rPr lang="en-US" sz="2700" dirty="0">
                <a:solidFill>
                  <a:srgbClr val="FFFFFF"/>
                </a:solidFill>
              </a:rPr>
              <a:t> field map</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300009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197227"/>
            <a:ext cx="7679724" cy="2731592"/>
          </a:xfrm>
        </p:spPr>
        <p:txBody>
          <a:bodyPr>
            <a:normAutofit/>
          </a:bodyPr>
          <a:lstStyle/>
          <a:p>
            <a:pPr>
              <a:buFont typeface="Arial" panose="020B0604020202020204" pitchFamily="34" charset="0"/>
              <a:buChar char="•"/>
            </a:pPr>
            <a:r>
              <a:rPr lang="en-US" altLang="en-US" sz="2400" dirty="0"/>
              <a:t>Field Maps is an all-in-one app that is widely used for </a:t>
            </a:r>
            <a:r>
              <a:rPr lang="en-US" altLang="en-US" sz="2400" dirty="0" err="1"/>
              <a:t>mapcentric</a:t>
            </a:r>
            <a:r>
              <a:rPr lang="en-US" altLang="en-US" sz="2400" dirty="0"/>
              <a:t> data collection</a:t>
            </a:r>
          </a:p>
          <a:p>
            <a:pPr>
              <a:buFont typeface="Arial" panose="020B0604020202020204" pitchFamily="34" charset="0"/>
              <a:buChar char="•"/>
            </a:pPr>
            <a:r>
              <a:rPr lang="en-US" altLang="en-US" sz="2400" dirty="0"/>
              <a:t>functioning with or without network connectivity. </a:t>
            </a:r>
          </a:p>
          <a:p>
            <a:pPr>
              <a:buFont typeface="Arial" panose="020B0604020202020204" pitchFamily="34" charset="0"/>
              <a:buChar char="•"/>
            </a:pPr>
            <a:r>
              <a:rPr lang="en-US" altLang="en-US" sz="2400" dirty="0"/>
              <a:t>It also supports utility network editing and tracing, location sharing, Geofences, task assignments, workforce coordination, webhook automation, and more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37640" y="202819"/>
            <a:ext cx="2087105"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9208-AC8F-DAC9-89D2-617CA62D1D2B}"/>
              </a:ext>
            </a:extLst>
          </p:cNvPr>
          <p:cNvSpPr>
            <a:spLocks noGrp="1"/>
          </p:cNvSpPr>
          <p:nvPr>
            <p:ph type="title"/>
          </p:nvPr>
        </p:nvSpPr>
        <p:spPr>
          <a:xfrm>
            <a:off x="392305" y="526617"/>
            <a:ext cx="7444991" cy="527483"/>
          </a:xfrm>
        </p:spPr>
        <p:txBody>
          <a:bodyPr/>
          <a:lstStyle/>
          <a:p>
            <a:r>
              <a:rPr lang="en-US" sz="2600" dirty="0">
                <a:solidFill>
                  <a:srgbClr val="7030A0"/>
                </a:solidFill>
              </a:rPr>
              <a:t>Why Field Data Collection Matters</a:t>
            </a:r>
            <a:endParaRPr lang="en-US" dirty="0"/>
          </a:p>
        </p:txBody>
      </p:sp>
      <p:sp>
        <p:nvSpPr>
          <p:cNvPr id="3" name="Content Placeholder 2">
            <a:extLst>
              <a:ext uri="{FF2B5EF4-FFF2-40B4-BE49-F238E27FC236}">
                <a16:creationId xmlns:a16="http://schemas.microsoft.com/office/drawing/2014/main" id="{6608C841-946F-AB28-9F23-C5D4D31D07E1}"/>
              </a:ext>
            </a:extLst>
          </p:cNvPr>
          <p:cNvSpPr>
            <a:spLocks noGrp="1"/>
          </p:cNvSpPr>
          <p:nvPr>
            <p:ph idx="1"/>
          </p:nvPr>
        </p:nvSpPr>
        <p:spPr>
          <a:xfrm>
            <a:off x="392305" y="1146048"/>
            <a:ext cx="7444990" cy="3235452"/>
          </a:xfrm>
        </p:spPr>
        <p:txBody>
          <a:bodyPr>
            <a:noAutofit/>
          </a:bodyPr>
          <a:lstStyle/>
          <a:p>
            <a:pPr>
              <a:buFont typeface="Arial" panose="020B0604020202020204" pitchFamily="34" charset="0"/>
              <a:buChar char="•"/>
            </a:pPr>
            <a:r>
              <a:rPr lang="en-US" sz="2000" b="1" dirty="0"/>
              <a:t>Field data = foundation of GIS projects</a:t>
            </a:r>
            <a:r>
              <a:rPr lang="en-US" sz="2000" dirty="0"/>
              <a:t>: roads, trees, utility poles, signs, benches, trails.</a:t>
            </a:r>
          </a:p>
          <a:p>
            <a:pPr>
              <a:buFont typeface="Arial" panose="020B0604020202020204" pitchFamily="34" charset="0"/>
              <a:buChar char="•"/>
            </a:pPr>
            <a:r>
              <a:rPr lang="en-US" sz="2000" b="1" dirty="0"/>
              <a:t>Traditional methods</a:t>
            </a:r>
            <a:r>
              <a:rPr lang="en-US" sz="2000" dirty="0"/>
              <a:t>: Paper maps and manual entry → error-prone, time-consuming.</a:t>
            </a:r>
          </a:p>
          <a:p>
            <a:pPr>
              <a:buFont typeface="Arial" panose="020B0604020202020204" pitchFamily="34" charset="0"/>
              <a:buChar char="•"/>
            </a:pPr>
            <a:r>
              <a:rPr lang="en-US" sz="2000" b="1" dirty="0"/>
              <a:t>Digital GIS workflows</a:t>
            </a:r>
            <a:r>
              <a:rPr lang="en-US" sz="2000" dirty="0"/>
              <a:t>: Real-time updates, GPS integration, attachments like photos.</a:t>
            </a:r>
          </a:p>
          <a:p>
            <a:pPr>
              <a:buFont typeface="Arial" panose="020B0604020202020204" pitchFamily="34" charset="0"/>
              <a:buChar char="•"/>
            </a:pPr>
            <a:r>
              <a:rPr lang="en-US" sz="2000" b="1" dirty="0"/>
              <a:t>Benefit</a:t>
            </a:r>
            <a:r>
              <a:rPr lang="en-US" sz="2000" dirty="0"/>
              <a:t>: Faster, more accurate, supports decision-making in city planning, campus management, and environmental monitoring.</a:t>
            </a:r>
          </a:p>
          <a:p>
            <a:endParaRPr lang="en-US" sz="2000" dirty="0"/>
          </a:p>
        </p:txBody>
      </p:sp>
      <p:sp>
        <p:nvSpPr>
          <p:cNvPr id="4" name="Slide Number Placeholder 3">
            <a:extLst>
              <a:ext uri="{FF2B5EF4-FFF2-40B4-BE49-F238E27FC236}">
                <a16:creationId xmlns:a16="http://schemas.microsoft.com/office/drawing/2014/main" id="{51484D15-7CEC-FECE-1162-FFA1ACCD9876}"/>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75193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3782-3336-9664-1B95-D172A46A842F}"/>
              </a:ext>
            </a:extLst>
          </p:cNvPr>
          <p:cNvSpPr>
            <a:spLocks noGrp="1"/>
          </p:cNvSpPr>
          <p:nvPr>
            <p:ph type="title"/>
          </p:nvPr>
        </p:nvSpPr>
        <p:spPr/>
        <p:txBody>
          <a:bodyPr/>
          <a:lstStyle/>
          <a:p>
            <a:pPr defTabSz="411480"/>
            <a:r>
              <a:rPr lang="en-US" sz="2600" dirty="0">
                <a:solidFill>
                  <a:srgbClr val="7030A0"/>
                </a:solidFill>
              </a:rPr>
              <a:t>What is ArcGIS Field Maps?</a:t>
            </a:r>
            <a:br>
              <a:rPr lang="en-US" sz="2600" dirty="0">
                <a:solidFill>
                  <a:srgbClr val="7030A0"/>
                </a:solidFill>
              </a:rPr>
            </a:br>
            <a:endParaRPr lang="en-US" sz="2600" dirty="0">
              <a:solidFill>
                <a:srgbClr val="7030A0"/>
              </a:solidFill>
            </a:endParaRPr>
          </a:p>
        </p:txBody>
      </p:sp>
      <p:sp>
        <p:nvSpPr>
          <p:cNvPr id="3" name="Content Placeholder 2">
            <a:extLst>
              <a:ext uri="{FF2B5EF4-FFF2-40B4-BE49-F238E27FC236}">
                <a16:creationId xmlns:a16="http://schemas.microsoft.com/office/drawing/2014/main" id="{E8C88111-D446-4B30-E1CE-2DCC2B27222B}"/>
              </a:ext>
            </a:extLst>
          </p:cNvPr>
          <p:cNvSpPr>
            <a:spLocks noGrp="1"/>
          </p:cNvSpPr>
          <p:nvPr>
            <p:ph idx="1"/>
          </p:nvPr>
        </p:nvSpPr>
        <p:spPr>
          <a:xfrm>
            <a:off x="392307" y="1054100"/>
            <a:ext cx="7444990" cy="4050380"/>
          </a:xfrm>
        </p:spPr>
        <p:txBody>
          <a:bodyPr>
            <a:noAutofit/>
          </a:bodyPr>
          <a:lstStyle/>
          <a:p>
            <a:pPr>
              <a:buFont typeface="Arial" panose="020B0604020202020204" pitchFamily="34" charset="0"/>
              <a:buChar char="•"/>
            </a:pPr>
            <a:r>
              <a:rPr lang="en-US" sz="1900" b="1" dirty="0"/>
              <a:t>Mobile application</a:t>
            </a:r>
            <a:r>
              <a:rPr lang="en-US" sz="1900" dirty="0"/>
              <a:t>: Used on phones and tablets to collect data in the field.</a:t>
            </a:r>
          </a:p>
          <a:p>
            <a:pPr>
              <a:buFont typeface="Arial" panose="020B0604020202020204" pitchFamily="34" charset="0"/>
              <a:buChar char="•"/>
            </a:pPr>
            <a:r>
              <a:rPr lang="en-US" sz="1900" b="1" dirty="0"/>
              <a:t>Designer tool</a:t>
            </a:r>
            <a:r>
              <a:rPr lang="en-US" sz="1900" dirty="0"/>
              <a:t>: Web-based builder to set up maps, layers, and smart forms before fieldwork.</a:t>
            </a:r>
          </a:p>
          <a:p>
            <a:pPr>
              <a:buFont typeface="Arial" panose="020B0604020202020204" pitchFamily="34" charset="0"/>
              <a:buChar char="•"/>
            </a:pPr>
            <a:r>
              <a:rPr lang="en-US" sz="1900" b="1" dirty="0"/>
              <a:t>Key capabilities</a:t>
            </a:r>
            <a:r>
              <a:rPr lang="en-US" sz="1900" dirty="0"/>
              <a:t>:</a:t>
            </a:r>
          </a:p>
          <a:p>
            <a:pPr marL="742950" lvl="1" indent="-285750">
              <a:buFont typeface="Arial" panose="020B0604020202020204" pitchFamily="34" charset="0"/>
              <a:buChar char="•"/>
            </a:pPr>
            <a:r>
              <a:rPr lang="en-US" sz="1900" dirty="0"/>
              <a:t>Collect </a:t>
            </a:r>
            <a:r>
              <a:rPr lang="en-US" sz="1900" b="1" dirty="0"/>
              <a:t>points</a:t>
            </a:r>
            <a:r>
              <a:rPr lang="en-US" sz="1900" dirty="0"/>
              <a:t> (like benches), </a:t>
            </a:r>
            <a:r>
              <a:rPr lang="en-US" sz="1900" b="1" dirty="0"/>
              <a:t>lines</a:t>
            </a:r>
            <a:r>
              <a:rPr lang="en-US" sz="1900" dirty="0"/>
              <a:t> (like fences), </a:t>
            </a:r>
            <a:r>
              <a:rPr lang="en-US" sz="1900" b="1" dirty="0"/>
              <a:t>polygons</a:t>
            </a:r>
            <a:r>
              <a:rPr lang="en-US" sz="1900" dirty="0"/>
              <a:t> (like lawns).</a:t>
            </a:r>
          </a:p>
          <a:p>
            <a:pPr marL="742950" lvl="1" indent="-285750">
              <a:buFont typeface="Arial" panose="020B0604020202020204" pitchFamily="34" charset="0"/>
              <a:buChar char="•"/>
            </a:pPr>
            <a:r>
              <a:rPr lang="en-US" sz="1900" dirty="0"/>
              <a:t>Attach photos or documents to features.</a:t>
            </a:r>
          </a:p>
          <a:p>
            <a:pPr marL="742950" lvl="1" indent="-285750">
              <a:buFont typeface="Arial" panose="020B0604020202020204" pitchFamily="34" charset="0"/>
              <a:buChar char="•"/>
            </a:pPr>
            <a:r>
              <a:rPr lang="en-US" sz="1900" dirty="0"/>
              <a:t>Download </a:t>
            </a:r>
            <a:r>
              <a:rPr lang="en-US" sz="1900" b="1" dirty="0"/>
              <a:t>offline basemaps</a:t>
            </a:r>
            <a:r>
              <a:rPr lang="en-US" sz="1900" dirty="0"/>
              <a:t> when internet is unavailable.</a:t>
            </a:r>
          </a:p>
          <a:p>
            <a:pPr marL="742950" lvl="1" indent="-285750">
              <a:buFont typeface="Arial" panose="020B0604020202020204" pitchFamily="34" charset="0"/>
              <a:buChar char="•"/>
            </a:pPr>
            <a:r>
              <a:rPr lang="en-US" sz="1900" dirty="0"/>
              <a:t>Automate rules with </a:t>
            </a:r>
            <a:r>
              <a:rPr lang="en-US" sz="1900" b="1" dirty="0"/>
              <a:t>Arcade expressions</a:t>
            </a:r>
            <a:r>
              <a:rPr lang="en-US" sz="1900" dirty="0"/>
              <a:t>.</a:t>
            </a:r>
          </a:p>
          <a:p>
            <a:endParaRPr lang="en-US" sz="1900" dirty="0"/>
          </a:p>
        </p:txBody>
      </p:sp>
      <p:sp>
        <p:nvSpPr>
          <p:cNvPr id="4" name="Slide Number Placeholder 3">
            <a:extLst>
              <a:ext uri="{FF2B5EF4-FFF2-40B4-BE49-F238E27FC236}">
                <a16:creationId xmlns:a16="http://schemas.microsoft.com/office/drawing/2014/main" id="{2162681C-347F-8BBA-D682-40643FBD8CE9}"/>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3871060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5046A-F5C4-33F0-EB79-A3724D17E8D8}"/>
              </a:ext>
            </a:extLst>
          </p:cNvPr>
          <p:cNvSpPr>
            <a:spLocks noGrp="1"/>
          </p:cNvSpPr>
          <p:nvPr>
            <p:ph idx="1"/>
          </p:nvPr>
        </p:nvSpPr>
        <p:spPr>
          <a:xfrm>
            <a:off x="392307" y="914400"/>
            <a:ext cx="7444990" cy="1560989"/>
          </a:xfrm>
        </p:spPr>
        <p:txBody>
          <a:bodyPr>
            <a:normAutofit/>
          </a:bodyPr>
          <a:lstStyle/>
          <a:p>
            <a:r>
              <a:rPr lang="en-US" sz="1600" dirty="0"/>
              <a:t>Field Maps Designer: This component is for solution creators or map authors to use.</a:t>
            </a:r>
          </a:p>
          <a:p>
            <a:r>
              <a:rPr lang="en-US" sz="1600" dirty="0"/>
              <a:t>Field Maps mobile app: This component is for mobile workers to use. Using this app, mobile workers can open the maps, forms, data, and tools necessary to complete their field tasks. Field Maps is designed to function online and offline, as well as in outdoor and indoor environments.</a:t>
            </a:r>
          </a:p>
        </p:txBody>
      </p:sp>
      <p:sp>
        <p:nvSpPr>
          <p:cNvPr id="4" name="Slide Number Placeholder 3">
            <a:extLst>
              <a:ext uri="{FF2B5EF4-FFF2-40B4-BE49-F238E27FC236}">
                <a16:creationId xmlns:a16="http://schemas.microsoft.com/office/drawing/2014/main" id="{9C8A7BA2-4501-4F7E-97AB-EF86901ED23C}"/>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itle 1">
            <a:extLst>
              <a:ext uri="{FF2B5EF4-FFF2-40B4-BE49-F238E27FC236}">
                <a16:creationId xmlns:a16="http://schemas.microsoft.com/office/drawing/2014/main" id="{356E5FA1-9CF4-D41A-9DA6-4060B69791E7}"/>
              </a:ext>
            </a:extLst>
          </p:cNvPr>
          <p:cNvSpPr txBox="1">
            <a:spLocks/>
          </p:cNvSpPr>
          <p:nvPr/>
        </p:nvSpPr>
        <p:spPr>
          <a:xfrm>
            <a:off x="237640" y="350053"/>
            <a:ext cx="3636936" cy="603093"/>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TWO</a:t>
            </a:r>
            <a:r>
              <a:rPr lang="zh-CN" altLang="en-US" sz="2600" dirty="0">
                <a:solidFill>
                  <a:srgbClr val="7030A0"/>
                </a:solidFill>
              </a:rPr>
              <a:t> </a:t>
            </a:r>
            <a:r>
              <a:rPr lang="en-US" altLang="zh-CN" sz="2600" dirty="0">
                <a:solidFill>
                  <a:srgbClr val="7030A0"/>
                </a:solidFill>
              </a:rPr>
              <a:t>COMPONENTS</a:t>
            </a:r>
            <a:endParaRPr lang="en-US" sz="2600" dirty="0">
              <a:solidFill>
                <a:srgbClr val="7030A0"/>
              </a:solidFill>
            </a:endParaRPr>
          </a:p>
        </p:txBody>
      </p:sp>
      <p:pic>
        <p:nvPicPr>
          <p:cNvPr id="7" name="Picture 6">
            <a:extLst>
              <a:ext uri="{FF2B5EF4-FFF2-40B4-BE49-F238E27FC236}">
                <a16:creationId xmlns:a16="http://schemas.microsoft.com/office/drawing/2014/main" id="{3DFC7217-2BEF-34A2-F9C7-CA2911E7ECA4}"/>
              </a:ext>
            </a:extLst>
          </p:cNvPr>
          <p:cNvPicPr>
            <a:picLocks noChangeAspect="1"/>
          </p:cNvPicPr>
          <p:nvPr/>
        </p:nvPicPr>
        <p:blipFill>
          <a:blip r:embed="rId2"/>
          <a:stretch>
            <a:fillRect/>
          </a:stretch>
        </p:blipFill>
        <p:spPr>
          <a:xfrm>
            <a:off x="1395492" y="2358971"/>
            <a:ext cx="5868907" cy="2732809"/>
          </a:xfrm>
          <a:prstGeom prst="rect">
            <a:avLst/>
          </a:prstGeom>
        </p:spPr>
      </p:pic>
    </p:spTree>
    <p:extLst>
      <p:ext uri="{BB962C8B-B14F-4D97-AF65-F5344CB8AC3E}">
        <p14:creationId xmlns:p14="http://schemas.microsoft.com/office/powerpoint/2010/main" val="2417424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202B5-DFE8-3533-5280-B8112DB2DF5F}"/>
              </a:ext>
            </a:extLst>
          </p:cNvPr>
          <p:cNvSpPr>
            <a:spLocks noGrp="1"/>
          </p:cNvSpPr>
          <p:nvPr>
            <p:ph type="title"/>
          </p:nvPr>
        </p:nvSpPr>
        <p:spPr>
          <a:xfrm>
            <a:off x="392306" y="510414"/>
            <a:ext cx="7444991" cy="476683"/>
          </a:xfrm>
        </p:spPr>
        <p:txBody>
          <a:bodyPr>
            <a:normAutofit fontScale="90000"/>
          </a:bodyPr>
          <a:lstStyle/>
          <a:p>
            <a:pPr defTabSz="411480"/>
            <a:r>
              <a:rPr lang="en-US" sz="2600" dirty="0">
                <a:solidFill>
                  <a:srgbClr val="7030A0"/>
                </a:solidFill>
              </a:rPr>
              <a:t>Field Maps Designer Overview</a:t>
            </a:r>
          </a:p>
        </p:txBody>
      </p:sp>
      <p:sp>
        <p:nvSpPr>
          <p:cNvPr id="3" name="Content Placeholder 2">
            <a:extLst>
              <a:ext uri="{FF2B5EF4-FFF2-40B4-BE49-F238E27FC236}">
                <a16:creationId xmlns:a16="http://schemas.microsoft.com/office/drawing/2014/main" id="{EB1D1B74-A882-5C13-B71F-8299AAFAB67E}"/>
              </a:ext>
            </a:extLst>
          </p:cNvPr>
          <p:cNvSpPr>
            <a:spLocks noGrp="1"/>
          </p:cNvSpPr>
          <p:nvPr>
            <p:ph idx="1"/>
          </p:nvPr>
        </p:nvSpPr>
        <p:spPr>
          <a:xfrm>
            <a:off x="392307" y="981404"/>
            <a:ext cx="7444990" cy="920968"/>
          </a:xfrm>
        </p:spPr>
        <p:txBody>
          <a:bodyPr>
            <a:noAutofit/>
          </a:bodyPr>
          <a:lstStyle/>
          <a:p>
            <a:pPr>
              <a:buFont typeface="Arial" panose="020B0604020202020204" pitchFamily="34" charset="0"/>
              <a:buChar char="•"/>
            </a:pPr>
            <a:r>
              <a:rPr lang="en-US" sz="2000" b="1" dirty="0"/>
              <a:t>Where it lives</a:t>
            </a:r>
            <a:r>
              <a:rPr lang="en-US" sz="2000" dirty="0"/>
              <a:t>: Inside ArcGIS Online → App launcher → Field Maps Designer.</a:t>
            </a:r>
          </a:p>
        </p:txBody>
      </p:sp>
      <p:sp>
        <p:nvSpPr>
          <p:cNvPr id="4" name="Slide Number Placeholder 3">
            <a:extLst>
              <a:ext uri="{FF2B5EF4-FFF2-40B4-BE49-F238E27FC236}">
                <a16:creationId xmlns:a16="http://schemas.microsoft.com/office/drawing/2014/main" id="{A7678992-81B0-DF6E-D8E8-CA741AD6D11E}"/>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6" name="Picture 5">
            <a:extLst>
              <a:ext uri="{FF2B5EF4-FFF2-40B4-BE49-F238E27FC236}">
                <a16:creationId xmlns:a16="http://schemas.microsoft.com/office/drawing/2014/main" id="{A5538CD2-7F01-8B1D-9CBE-D9942AA58718}"/>
              </a:ext>
            </a:extLst>
          </p:cNvPr>
          <p:cNvPicPr>
            <a:picLocks noChangeAspect="1"/>
          </p:cNvPicPr>
          <p:nvPr/>
        </p:nvPicPr>
        <p:blipFill>
          <a:blip r:embed="rId2">
            <a:alphaModFix/>
          </a:blip>
          <a:stretch>
            <a:fillRect/>
          </a:stretch>
        </p:blipFill>
        <p:spPr>
          <a:xfrm>
            <a:off x="2838914" y="1644740"/>
            <a:ext cx="2857694" cy="3192777"/>
          </a:xfrm>
          <a:prstGeom prst="rect">
            <a:avLst/>
          </a:prstGeom>
        </p:spPr>
      </p:pic>
    </p:spTree>
    <p:extLst>
      <p:ext uri="{BB962C8B-B14F-4D97-AF65-F5344CB8AC3E}">
        <p14:creationId xmlns:p14="http://schemas.microsoft.com/office/powerpoint/2010/main" val="75320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CC40-E3F6-FACE-3A6E-680D9B04762E}"/>
              </a:ext>
            </a:extLst>
          </p:cNvPr>
          <p:cNvSpPr>
            <a:spLocks noGrp="1"/>
          </p:cNvSpPr>
          <p:nvPr>
            <p:ph type="title"/>
          </p:nvPr>
        </p:nvSpPr>
        <p:spPr>
          <a:xfrm>
            <a:off x="392305" y="526617"/>
            <a:ext cx="7444991" cy="503397"/>
          </a:xfrm>
        </p:spPr>
        <p:txBody>
          <a:bodyPr/>
          <a:lstStyle/>
          <a:p>
            <a:r>
              <a:rPr lang="en-US" sz="2000" dirty="0">
                <a:solidFill>
                  <a:srgbClr val="7030A0"/>
                </a:solidFill>
              </a:rPr>
              <a:t>Field Maps Designer Overview</a:t>
            </a:r>
            <a:endParaRPr lang="en-US" dirty="0"/>
          </a:p>
        </p:txBody>
      </p:sp>
      <p:sp>
        <p:nvSpPr>
          <p:cNvPr id="3" name="Content Placeholder 2">
            <a:extLst>
              <a:ext uri="{FF2B5EF4-FFF2-40B4-BE49-F238E27FC236}">
                <a16:creationId xmlns:a16="http://schemas.microsoft.com/office/drawing/2014/main" id="{27786768-825D-91EF-67BC-1BE6C61562A2}"/>
              </a:ext>
            </a:extLst>
          </p:cNvPr>
          <p:cNvSpPr>
            <a:spLocks noGrp="1"/>
          </p:cNvSpPr>
          <p:nvPr>
            <p:ph idx="1"/>
          </p:nvPr>
        </p:nvSpPr>
        <p:spPr>
          <a:xfrm>
            <a:off x="392307" y="1208817"/>
            <a:ext cx="7444990" cy="2725865"/>
          </a:xfrm>
        </p:spPr>
        <p:txBody>
          <a:bodyPr>
            <a:normAutofit lnSpcReduction="10000"/>
          </a:bodyPr>
          <a:lstStyle/>
          <a:p>
            <a:pPr>
              <a:buFont typeface="Arial" panose="020B0604020202020204" pitchFamily="34" charset="0"/>
              <a:buChar char="•"/>
            </a:pPr>
            <a:r>
              <a:rPr lang="en-US" sz="2000" b="1" dirty="0"/>
              <a:t>Main functions</a:t>
            </a:r>
            <a:r>
              <a:rPr lang="en-US" sz="2000" dirty="0"/>
              <a:t>:</a:t>
            </a:r>
          </a:p>
          <a:p>
            <a:pPr marL="742950" lvl="1" indent="-285750">
              <a:buFont typeface="Arial" panose="020B0604020202020204" pitchFamily="34" charset="0"/>
              <a:buChar char="•"/>
            </a:pPr>
            <a:r>
              <a:rPr lang="en-US" sz="2000" dirty="0"/>
              <a:t>Create new </a:t>
            </a:r>
            <a:r>
              <a:rPr lang="en-US" sz="2000" b="1" dirty="0"/>
              <a:t>feature layers</a:t>
            </a:r>
            <a:r>
              <a:rPr lang="en-US" sz="2000" dirty="0"/>
              <a:t> for points/lines/polygons.</a:t>
            </a:r>
          </a:p>
          <a:p>
            <a:pPr marL="742950" lvl="1" indent="-285750">
              <a:buFont typeface="Arial" panose="020B0604020202020204" pitchFamily="34" charset="0"/>
              <a:buChar char="•"/>
            </a:pPr>
            <a:r>
              <a:rPr lang="en-US" sz="2000" dirty="0"/>
              <a:t>Build </a:t>
            </a:r>
            <a:r>
              <a:rPr lang="en-US" sz="2000" b="1" dirty="0"/>
              <a:t>forms</a:t>
            </a:r>
            <a:r>
              <a:rPr lang="en-US" sz="2000" dirty="0"/>
              <a:t> with widgets like combo boxes and switches.</a:t>
            </a:r>
          </a:p>
          <a:p>
            <a:pPr marL="742950" lvl="1" indent="-285750">
              <a:buFont typeface="Arial" panose="020B0604020202020204" pitchFamily="34" charset="0"/>
              <a:buChar char="•"/>
            </a:pPr>
            <a:r>
              <a:rPr lang="en-US" sz="2000" dirty="0"/>
              <a:t>Configure </a:t>
            </a:r>
            <a:r>
              <a:rPr lang="en-US" sz="2000" b="1" dirty="0"/>
              <a:t>security settings</a:t>
            </a:r>
            <a:r>
              <a:rPr lang="en-US" sz="2000" dirty="0"/>
              <a:t> (e.g., only see your own data).</a:t>
            </a:r>
          </a:p>
          <a:p>
            <a:pPr marL="742950" lvl="1" indent="-285750">
              <a:buFont typeface="Arial" panose="020B0604020202020204" pitchFamily="34" charset="0"/>
              <a:buChar char="•"/>
            </a:pPr>
            <a:r>
              <a:rPr lang="en-US" sz="2000" dirty="0"/>
              <a:t>Manage </a:t>
            </a:r>
            <a:r>
              <a:rPr lang="en-US" sz="2000" b="1" dirty="0"/>
              <a:t>templates and styles</a:t>
            </a:r>
            <a:r>
              <a:rPr lang="en-US" sz="2000" dirty="0"/>
              <a:t>.</a:t>
            </a:r>
          </a:p>
          <a:p>
            <a:pPr>
              <a:buFont typeface="Arial" panose="020B0604020202020204" pitchFamily="34" charset="0"/>
              <a:buChar char="•"/>
            </a:pPr>
            <a:r>
              <a:rPr lang="en-US" sz="2000" b="1" dirty="0"/>
              <a:t>Why it matters</a:t>
            </a:r>
            <a:r>
              <a:rPr lang="en-US" sz="2000" dirty="0"/>
              <a:t>: This is the “blueprint” mobile workers use in the field.</a:t>
            </a:r>
          </a:p>
          <a:p>
            <a:endParaRPr lang="en-US" dirty="0"/>
          </a:p>
        </p:txBody>
      </p:sp>
      <p:sp>
        <p:nvSpPr>
          <p:cNvPr id="4" name="Slide Number Placeholder 3">
            <a:extLst>
              <a:ext uri="{FF2B5EF4-FFF2-40B4-BE49-F238E27FC236}">
                <a16:creationId xmlns:a16="http://schemas.microsoft.com/office/drawing/2014/main" id="{3EA5E861-3711-02A8-7B2B-E1B7D2008EA5}"/>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3360142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30564-6E8E-022D-5B79-70631F881EB4}"/>
              </a:ext>
            </a:extLst>
          </p:cNvPr>
          <p:cNvSpPr>
            <a:spLocks noGrp="1"/>
          </p:cNvSpPr>
          <p:nvPr>
            <p:ph type="title"/>
          </p:nvPr>
        </p:nvSpPr>
        <p:spPr>
          <a:xfrm>
            <a:off x="392305" y="526617"/>
            <a:ext cx="7444991" cy="527483"/>
          </a:xfrm>
        </p:spPr>
        <p:txBody>
          <a:bodyPr/>
          <a:lstStyle/>
          <a:p>
            <a:r>
              <a:rPr lang="en-US" sz="2300" dirty="0">
                <a:solidFill>
                  <a:srgbClr val="7030A0"/>
                </a:solidFill>
              </a:rPr>
              <a:t>Feature Layers &amp; Web Maps</a:t>
            </a:r>
            <a:endParaRPr lang="en-US" dirty="0"/>
          </a:p>
        </p:txBody>
      </p:sp>
      <p:sp>
        <p:nvSpPr>
          <p:cNvPr id="3" name="Content Placeholder 2">
            <a:extLst>
              <a:ext uri="{FF2B5EF4-FFF2-40B4-BE49-F238E27FC236}">
                <a16:creationId xmlns:a16="http://schemas.microsoft.com/office/drawing/2014/main" id="{0A80812D-AF26-9365-80F7-06462BF9F41D}"/>
              </a:ext>
            </a:extLst>
          </p:cNvPr>
          <p:cNvSpPr>
            <a:spLocks noGrp="1"/>
          </p:cNvSpPr>
          <p:nvPr>
            <p:ph idx="1"/>
          </p:nvPr>
        </p:nvSpPr>
        <p:spPr>
          <a:xfrm>
            <a:off x="392305" y="1253204"/>
            <a:ext cx="7444990" cy="3336132"/>
          </a:xfrm>
        </p:spPr>
        <p:txBody>
          <a:bodyPr>
            <a:normAutofit/>
          </a:bodyPr>
          <a:lstStyle/>
          <a:p>
            <a:pPr>
              <a:buFont typeface="Arial" panose="020B0604020202020204" pitchFamily="34" charset="0"/>
              <a:buChar char="•"/>
            </a:pPr>
            <a:r>
              <a:rPr lang="en-US" sz="2000" b="1" dirty="0"/>
              <a:t>Feature layers</a:t>
            </a:r>
            <a:r>
              <a:rPr lang="en-US" sz="2000" dirty="0"/>
              <a:t> = digital storage for field assets (trees, signs, fences).</a:t>
            </a:r>
          </a:p>
          <a:p>
            <a:pPr>
              <a:buFont typeface="Arial" panose="020B0604020202020204" pitchFamily="34" charset="0"/>
              <a:buChar char="•"/>
            </a:pPr>
            <a:r>
              <a:rPr lang="en-US" sz="2000" dirty="0"/>
              <a:t>Each feature layer = data table + geometry (point/line/polygon).</a:t>
            </a:r>
          </a:p>
          <a:p>
            <a:pPr>
              <a:buFont typeface="Arial" panose="020B0604020202020204" pitchFamily="34" charset="0"/>
              <a:buChar char="•"/>
            </a:pPr>
            <a:r>
              <a:rPr lang="en-US" sz="2000" dirty="0"/>
              <a:t>Coordinate system: Use </a:t>
            </a:r>
            <a:r>
              <a:rPr lang="en-US" sz="2000" b="1" dirty="0"/>
              <a:t>WGS 1984 Web Mercator</a:t>
            </a:r>
            <a:r>
              <a:rPr lang="en-US" sz="2000" dirty="0"/>
              <a:t> for web mapping.</a:t>
            </a:r>
          </a:p>
          <a:p>
            <a:pPr>
              <a:buFont typeface="Arial" panose="020B0604020202020204" pitchFamily="34" charset="0"/>
              <a:buChar char="•"/>
            </a:pPr>
            <a:r>
              <a:rPr lang="en-US" sz="2000" b="1" dirty="0"/>
              <a:t>Web Map</a:t>
            </a:r>
            <a:r>
              <a:rPr lang="en-US" sz="2000" dirty="0"/>
              <a:t>: Container where all layers are combined, styled, and shared.</a:t>
            </a:r>
          </a:p>
          <a:p>
            <a:pPr>
              <a:buFont typeface="Arial" panose="020B0604020202020204" pitchFamily="34" charset="0"/>
              <a:buChar char="•"/>
            </a:pPr>
            <a:r>
              <a:rPr lang="en-US" sz="2000" b="1" dirty="0"/>
              <a:t>Instructor note</a:t>
            </a:r>
            <a:r>
              <a:rPr lang="en-US" sz="2000" dirty="0"/>
              <a:t>: Explain the hierarchy: Layers → Web Map → Field Maps app.</a:t>
            </a:r>
          </a:p>
          <a:p>
            <a:endParaRPr lang="en-US" sz="2000" dirty="0"/>
          </a:p>
        </p:txBody>
      </p:sp>
      <p:sp>
        <p:nvSpPr>
          <p:cNvPr id="4" name="Slide Number Placeholder 3">
            <a:extLst>
              <a:ext uri="{FF2B5EF4-FFF2-40B4-BE49-F238E27FC236}">
                <a16:creationId xmlns:a16="http://schemas.microsoft.com/office/drawing/2014/main" id="{E485B480-4387-EB66-8B17-85B63E889993}"/>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1345871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5DA8-ECF7-9DAC-B8B9-85E5D715BBBE}"/>
              </a:ext>
            </a:extLst>
          </p:cNvPr>
          <p:cNvSpPr>
            <a:spLocks noGrp="1"/>
          </p:cNvSpPr>
          <p:nvPr>
            <p:ph type="title"/>
          </p:nvPr>
        </p:nvSpPr>
        <p:spPr>
          <a:xfrm>
            <a:off x="392305" y="526617"/>
            <a:ext cx="7444991" cy="540183"/>
          </a:xfrm>
        </p:spPr>
        <p:txBody>
          <a:bodyPr/>
          <a:lstStyle/>
          <a:p>
            <a:r>
              <a:rPr lang="en-US" sz="2300" dirty="0">
                <a:solidFill>
                  <a:srgbClr val="7030A0"/>
                </a:solidFill>
              </a:rPr>
              <a:t>Form Design Basics</a:t>
            </a:r>
          </a:p>
        </p:txBody>
      </p:sp>
      <p:sp>
        <p:nvSpPr>
          <p:cNvPr id="4" name="Slide Number Placeholder 3">
            <a:extLst>
              <a:ext uri="{FF2B5EF4-FFF2-40B4-BE49-F238E27FC236}">
                <a16:creationId xmlns:a16="http://schemas.microsoft.com/office/drawing/2014/main" id="{9FC7C765-112E-E6BE-2EE1-9E7E6444988D}"/>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5" name="Rectangle 1">
            <a:extLst>
              <a:ext uri="{FF2B5EF4-FFF2-40B4-BE49-F238E27FC236}">
                <a16:creationId xmlns:a16="http://schemas.microsoft.com/office/drawing/2014/main" id="{66856647-F295-9025-5996-71E5F9C7EFAF}"/>
              </a:ext>
            </a:extLst>
          </p:cNvPr>
          <p:cNvSpPr>
            <a:spLocks noGrp="1" noChangeArrowheads="1"/>
          </p:cNvSpPr>
          <p:nvPr>
            <p:ph idx="1"/>
          </p:nvPr>
        </p:nvSpPr>
        <p:spPr bwMode="auto">
          <a:xfrm>
            <a:off x="392305" y="1224842"/>
            <a:ext cx="7762253"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fontAlgn="base">
              <a:buFont typeface="Arial" panose="020B0604020202020204" pitchFamily="34" charset="0"/>
              <a:buChar char="•"/>
              <a:tabLst/>
            </a:pPr>
            <a:r>
              <a:rPr lang="en-US" altLang="en-US" sz="2000" dirty="0"/>
              <a:t>Forms = the digital “survey sheet” field workers fill out.</a:t>
            </a:r>
          </a:p>
          <a:p>
            <a:pPr marR="0" lvl="0" fontAlgn="base">
              <a:buFont typeface="Arial" panose="020B0604020202020204" pitchFamily="34" charset="0"/>
              <a:buChar char="•"/>
              <a:tabLst/>
            </a:pPr>
            <a:r>
              <a:rPr lang="en-US" altLang="en-US" sz="2000" dirty="0"/>
              <a:t>Widgets:</a:t>
            </a:r>
          </a:p>
          <a:p>
            <a:pPr marR="0" lvl="0" fontAlgn="base">
              <a:buFont typeface="Arial" panose="020B0604020202020204" pitchFamily="34" charset="0"/>
              <a:buChar char="•"/>
              <a:tabLst/>
            </a:pPr>
            <a:r>
              <a:rPr lang="en-US" altLang="en-US" sz="2000" dirty="0"/>
              <a:t>Combo box: dropdown menu for categories (Bench, Fence).</a:t>
            </a:r>
          </a:p>
          <a:p>
            <a:pPr marR="0" lvl="0" fontAlgn="base">
              <a:buFont typeface="Arial" panose="020B0604020202020204" pitchFamily="34" charset="0"/>
              <a:buChar char="•"/>
              <a:tabLst/>
            </a:pPr>
            <a:r>
              <a:rPr lang="en-US" altLang="en-US" sz="2000" dirty="0"/>
              <a:t>Radio buttons: single-choice conditions (Excellent/Fair/Poor).</a:t>
            </a:r>
          </a:p>
          <a:p>
            <a:pPr marR="0" lvl="0" fontAlgn="base">
              <a:buFont typeface="Arial" panose="020B0604020202020204" pitchFamily="34" charset="0"/>
              <a:buChar char="•"/>
              <a:tabLst/>
            </a:pPr>
            <a:r>
              <a:rPr lang="en-US" altLang="en-US" sz="2000" dirty="0"/>
              <a:t>Switches: yes/no fields (Need Maintenance: Yes/No).</a:t>
            </a:r>
          </a:p>
          <a:p>
            <a:pPr marR="0" lvl="0" fontAlgn="base">
              <a:buFont typeface="Arial" panose="020B0604020202020204" pitchFamily="34" charset="0"/>
              <a:buChar char="•"/>
              <a:tabLst/>
            </a:pPr>
            <a:r>
              <a:rPr lang="en-US" altLang="en-US" sz="2000" dirty="0"/>
              <a:t>Text fields: for notes, city names, inspector names.</a:t>
            </a:r>
          </a:p>
          <a:p>
            <a:pPr marR="0" lvl="0" fontAlgn="base">
              <a:buFont typeface="Arial" panose="020B0604020202020204" pitchFamily="34" charset="0"/>
              <a:buChar char="•"/>
              <a:tabLst/>
            </a:pPr>
            <a:r>
              <a:rPr lang="en-US" altLang="en-US" sz="2000" dirty="0"/>
              <a:t>Smart forms improve data consistency: fewer typos, fewer blank fields</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7576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BB468-3762-7B2F-C209-369AEB9ED7D0}"/>
              </a:ext>
            </a:extLst>
          </p:cNvPr>
          <p:cNvSpPr>
            <a:spLocks noGrp="1"/>
          </p:cNvSpPr>
          <p:nvPr>
            <p:ph type="title"/>
          </p:nvPr>
        </p:nvSpPr>
        <p:spPr>
          <a:xfrm>
            <a:off x="392305" y="526617"/>
            <a:ext cx="7444991" cy="489383"/>
          </a:xfrm>
        </p:spPr>
        <p:txBody>
          <a:bodyPr/>
          <a:lstStyle/>
          <a:p>
            <a:r>
              <a:rPr lang="en-US" altLang="en-US" sz="2300" dirty="0">
                <a:solidFill>
                  <a:srgbClr val="7030A0"/>
                </a:solidFill>
              </a:rPr>
              <a:t>Arcade Expressions in Field Maps</a:t>
            </a:r>
            <a:endParaRPr lang="en-US" dirty="0"/>
          </a:p>
        </p:txBody>
      </p:sp>
      <p:sp>
        <p:nvSpPr>
          <p:cNvPr id="4" name="Slide Number Placeholder 3">
            <a:extLst>
              <a:ext uri="{FF2B5EF4-FFF2-40B4-BE49-F238E27FC236}">
                <a16:creationId xmlns:a16="http://schemas.microsoft.com/office/drawing/2014/main" id="{4036C047-1DEF-6067-2BAE-1DEB12B861FB}"/>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5" name="Rectangle 1">
            <a:extLst>
              <a:ext uri="{FF2B5EF4-FFF2-40B4-BE49-F238E27FC236}">
                <a16:creationId xmlns:a16="http://schemas.microsoft.com/office/drawing/2014/main" id="{E69DB634-95EE-DA13-4A1C-351BADAD03A7}"/>
              </a:ext>
            </a:extLst>
          </p:cNvPr>
          <p:cNvSpPr>
            <a:spLocks noGrp="1" noChangeArrowheads="1"/>
          </p:cNvSpPr>
          <p:nvPr>
            <p:ph idx="1"/>
          </p:nvPr>
        </p:nvSpPr>
        <p:spPr bwMode="auto">
          <a:xfrm>
            <a:off x="392305" y="1133965"/>
            <a:ext cx="7444991" cy="3553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buFont typeface="Arial" panose="020B0604020202020204" pitchFamily="34" charset="0"/>
              <a:buChar char="•"/>
            </a:pPr>
            <a:r>
              <a:rPr lang="en-US" altLang="en-US" sz="1800" dirty="0"/>
              <a:t>Arcade = scripting language in ArcGIS for rules and calculations.</a:t>
            </a:r>
          </a:p>
          <a:p>
            <a:pPr fontAlgn="base">
              <a:buFont typeface="Arial" panose="020B0604020202020204" pitchFamily="34" charset="0"/>
              <a:buChar char="•"/>
            </a:pPr>
            <a:r>
              <a:rPr lang="en-US" altLang="en-US" sz="1800" dirty="0"/>
              <a:t>Examples:</a:t>
            </a:r>
          </a:p>
          <a:p>
            <a:pPr fontAlgn="base">
              <a:buFont typeface="Arial" panose="020B0604020202020204" pitchFamily="34" charset="0"/>
              <a:buChar char="•"/>
            </a:pPr>
            <a:r>
              <a:rPr lang="en-US" altLang="en-US" sz="1800" dirty="0"/>
              <a:t>Conditional visibility: Show “Need Maintenance” switch only if Condition = Fair or Poor.</a:t>
            </a:r>
          </a:p>
          <a:p>
            <a:pPr fontAlgn="base">
              <a:buFont typeface="Arial" panose="020B0604020202020204" pitchFamily="34" charset="0"/>
              <a:buChar char="•"/>
            </a:pPr>
            <a:r>
              <a:rPr lang="en-US" altLang="en-US" sz="1800" dirty="0"/>
              <a:t>Conditional requirement: Require maintenance notes only if Condition = Poor.</a:t>
            </a:r>
          </a:p>
          <a:p>
            <a:pPr fontAlgn="base">
              <a:buFont typeface="Arial" panose="020B0604020202020204" pitchFamily="34" charset="0"/>
              <a:buChar char="•"/>
            </a:pPr>
            <a:r>
              <a:rPr lang="en-US" altLang="en-US" sz="1800" dirty="0"/>
              <a:t>Calculated expression: Autofill inspector name with </a:t>
            </a:r>
            <a:r>
              <a:rPr lang="en-US" altLang="en-US" sz="1800" dirty="0" err="1"/>
              <a:t>GetUser</a:t>
            </a:r>
            <a:r>
              <a:rPr lang="en-US" altLang="en-US" sz="1800" dirty="0"/>
              <a:t>().</a:t>
            </a:r>
          </a:p>
          <a:p>
            <a:pPr fontAlgn="base">
              <a:buFont typeface="Arial" panose="020B0604020202020204" pitchFamily="34" charset="0"/>
              <a:buChar char="•"/>
            </a:pPr>
            <a:r>
              <a:rPr lang="en-US" altLang="en-US" sz="1800" dirty="0"/>
              <a:t>Spatial calculation: Autofill city name by intersecting with USA Cities layer.</a:t>
            </a:r>
          </a:p>
          <a:p>
            <a:pPr fontAlgn="base">
              <a:buFont typeface="Arial" panose="020B0604020202020204" pitchFamily="34" charset="0"/>
              <a:buChar char="•"/>
            </a:pPr>
            <a:r>
              <a:rPr lang="en-US" altLang="en-US" sz="1800" dirty="0"/>
              <a:t>Benefit: Saves time, prevents mistakes, makes forms “smart.”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7329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33DB-34AF-0469-0164-2F83CC32A936}"/>
              </a:ext>
            </a:extLst>
          </p:cNvPr>
          <p:cNvSpPr>
            <a:spLocks noGrp="1"/>
          </p:cNvSpPr>
          <p:nvPr>
            <p:ph type="title"/>
          </p:nvPr>
        </p:nvSpPr>
        <p:spPr>
          <a:xfrm>
            <a:off x="392305" y="526617"/>
            <a:ext cx="7444991" cy="527483"/>
          </a:xfrm>
        </p:spPr>
        <p:txBody>
          <a:bodyPr>
            <a:normAutofit/>
          </a:bodyPr>
          <a:lstStyle/>
          <a:p>
            <a:r>
              <a:rPr lang="en-US" sz="2300" dirty="0">
                <a:solidFill>
                  <a:srgbClr val="7030A0"/>
                </a:solidFill>
              </a:rPr>
              <a:t>Styling &amp; Feature Templates</a:t>
            </a:r>
            <a:endParaRPr lang="en-US" dirty="0"/>
          </a:p>
        </p:txBody>
      </p:sp>
      <p:sp>
        <p:nvSpPr>
          <p:cNvPr id="3" name="Content Placeholder 2">
            <a:extLst>
              <a:ext uri="{FF2B5EF4-FFF2-40B4-BE49-F238E27FC236}">
                <a16:creationId xmlns:a16="http://schemas.microsoft.com/office/drawing/2014/main" id="{8E7A84F2-33DA-7A15-D2CD-787D6324E158}"/>
              </a:ext>
            </a:extLst>
          </p:cNvPr>
          <p:cNvSpPr>
            <a:spLocks noGrp="1"/>
          </p:cNvSpPr>
          <p:nvPr>
            <p:ph idx="1"/>
          </p:nvPr>
        </p:nvSpPr>
        <p:spPr>
          <a:xfrm>
            <a:off x="392307" y="1184148"/>
            <a:ext cx="7444990" cy="3336132"/>
          </a:xfrm>
        </p:spPr>
        <p:txBody>
          <a:bodyPr>
            <a:noAutofit/>
          </a:bodyPr>
          <a:lstStyle/>
          <a:p>
            <a:pPr>
              <a:buFont typeface="Arial" panose="020B0604020202020204" pitchFamily="34" charset="0"/>
              <a:buChar char="•"/>
            </a:pPr>
            <a:r>
              <a:rPr lang="en-US" sz="2400" b="1" dirty="0"/>
              <a:t>Styling layers</a:t>
            </a:r>
            <a:r>
              <a:rPr lang="en-US" sz="2400" dirty="0"/>
              <a:t>: Assign colors, icons, transparency so different categories are easy to see.</a:t>
            </a:r>
          </a:p>
          <a:p>
            <a:pPr>
              <a:buFont typeface="Arial" panose="020B0604020202020204" pitchFamily="34" charset="0"/>
              <a:buChar char="•"/>
            </a:pPr>
            <a:r>
              <a:rPr lang="en-US" sz="2400" b="1" dirty="0"/>
              <a:t>Templates</a:t>
            </a:r>
            <a:r>
              <a:rPr lang="en-US" sz="2400" dirty="0"/>
              <a:t>: Preconfigured entries — e.g., choosing “Bench” automatically sets Category = Bench and symbol.</a:t>
            </a:r>
          </a:p>
          <a:p>
            <a:pPr>
              <a:buFont typeface="Arial" panose="020B0604020202020204" pitchFamily="34" charset="0"/>
              <a:buChar char="•"/>
            </a:pPr>
            <a:r>
              <a:rPr lang="en-US" sz="2400" b="1" dirty="0"/>
              <a:t>Why important</a:t>
            </a:r>
            <a:r>
              <a:rPr lang="en-US" sz="2400" dirty="0"/>
              <a:t>: Makes field collection faster and ensures uniform data entry.</a:t>
            </a:r>
          </a:p>
          <a:p>
            <a:endParaRPr lang="en-US" sz="2400" dirty="0"/>
          </a:p>
        </p:txBody>
      </p:sp>
      <p:sp>
        <p:nvSpPr>
          <p:cNvPr id="4" name="Slide Number Placeholder 3">
            <a:extLst>
              <a:ext uri="{FF2B5EF4-FFF2-40B4-BE49-F238E27FC236}">
                <a16:creationId xmlns:a16="http://schemas.microsoft.com/office/drawing/2014/main" id="{8268C747-F029-1F09-32ED-EBBFC9836886}"/>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025838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23B4-3530-62E4-2954-2643707EB794}"/>
              </a:ext>
            </a:extLst>
          </p:cNvPr>
          <p:cNvSpPr>
            <a:spLocks noGrp="1"/>
          </p:cNvSpPr>
          <p:nvPr>
            <p:ph type="title"/>
          </p:nvPr>
        </p:nvSpPr>
        <p:spPr>
          <a:xfrm>
            <a:off x="392305" y="526617"/>
            <a:ext cx="7444991" cy="502083"/>
          </a:xfrm>
        </p:spPr>
        <p:txBody>
          <a:bodyPr/>
          <a:lstStyle/>
          <a:p>
            <a:r>
              <a:rPr lang="en-US" sz="2300" dirty="0">
                <a:solidFill>
                  <a:srgbClr val="7030A0"/>
                </a:solidFill>
              </a:rPr>
              <a:t>Security &amp; Access Settings</a:t>
            </a:r>
            <a:endParaRPr lang="en-US" dirty="0"/>
          </a:p>
        </p:txBody>
      </p:sp>
      <p:sp>
        <p:nvSpPr>
          <p:cNvPr id="3" name="Content Placeholder 2">
            <a:extLst>
              <a:ext uri="{FF2B5EF4-FFF2-40B4-BE49-F238E27FC236}">
                <a16:creationId xmlns:a16="http://schemas.microsoft.com/office/drawing/2014/main" id="{DA6367D4-2040-BAC7-6957-B1108E72C63C}"/>
              </a:ext>
            </a:extLst>
          </p:cNvPr>
          <p:cNvSpPr>
            <a:spLocks noGrp="1"/>
          </p:cNvSpPr>
          <p:nvPr>
            <p:ph idx="1"/>
          </p:nvPr>
        </p:nvSpPr>
        <p:spPr>
          <a:xfrm>
            <a:off x="392307" y="1028700"/>
            <a:ext cx="7444990" cy="3701257"/>
          </a:xfrm>
        </p:spPr>
        <p:txBody>
          <a:bodyPr>
            <a:noAutofit/>
          </a:bodyPr>
          <a:lstStyle/>
          <a:p>
            <a:pPr>
              <a:buFont typeface="Arial" panose="020B0604020202020204" pitchFamily="34" charset="0"/>
              <a:buChar char="•"/>
            </a:pPr>
            <a:r>
              <a:rPr lang="en-US" sz="2000" b="1" dirty="0"/>
              <a:t>Editor tracking</a:t>
            </a:r>
            <a:r>
              <a:rPr lang="en-US" sz="2000" dirty="0"/>
              <a:t>: Tracks who created/edited features and when.</a:t>
            </a:r>
          </a:p>
          <a:p>
            <a:pPr>
              <a:buFont typeface="Arial" panose="020B0604020202020204" pitchFamily="34" charset="0"/>
              <a:buChar char="•"/>
            </a:pPr>
            <a:r>
              <a:rPr lang="en-US" sz="2000" b="1" dirty="0"/>
              <a:t>Attachments enabled</a:t>
            </a:r>
            <a:r>
              <a:rPr lang="en-US" sz="2000" dirty="0"/>
              <a:t>: Allow photos, videos, PDFs linked to features.</a:t>
            </a:r>
          </a:p>
          <a:p>
            <a:pPr>
              <a:buFont typeface="Arial" panose="020B0604020202020204" pitchFamily="34" charset="0"/>
              <a:buChar char="•"/>
            </a:pPr>
            <a:r>
              <a:rPr lang="en-US" sz="2000" b="1" dirty="0"/>
              <a:t>Restrict editing</a:t>
            </a:r>
            <a:r>
              <a:rPr lang="en-US" sz="2000" dirty="0"/>
              <a:t>: Workers can only view/edit their own features.</a:t>
            </a:r>
          </a:p>
          <a:p>
            <a:pPr>
              <a:buFont typeface="Arial" panose="020B0604020202020204" pitchFamily="34" charset="0"/>
              <a:buChar char="•"/>
            </a:pPr>
            <a:r>
              <a:rPr lang="en-US" sz="2000" b="1" dirty="0"/>
              <a:t>Offline support</a:t>
            </a:r>
            <a:r>
              <a:rPr lang="en-US" sz="2000" dirty="0"/>
              <a:t>: Enable sync &amp; </a:t>
            </a:r>
            <a:r>
              <a:rPr lang="en-US" sz="2000" dirty="0" err="1"/>
              <a:t>GlobalIDs</a:t>
            </a:r>
            <a:r>
              <a:rPr lang="en-US" sz="2000" dirty="0"/>
              <a:t> → allows data collection without internet.</a:t>
            </a:r>
          </a:p>
          <a:p>
            <a:pPr>
              <a:buFont typeface="Arial" panose="020B0604020202020204" pitchFamily="34" charset="0"/>
              <a:buChar char="•"/>
            </a:pPr>
            <a:r>
              <a:rPr lang="en-US" sz="2000" b="1" dirty="0"/>
              <a:t>Instructor note</a:t>
            </a:r>
            <a:r>
              <a:rPr lang="en-US" sz="2000" dirty="0"/>
              <a:t>: Stress that </a:t>
            </a:r>
            <a:r>
              <a:rPr lang="en-US" sz="2000" b="1" dirty="0"/>
              <a:t>data integrity and security</a:t>
            </a:r>
            <a:r>
              <a:rPr lang="en-US" sz="2000" dirty="0"/>
              <a:t> are just as important as data collection.</a:t>
            </a:r>
          </a:p>
          <a:p>
            <a:endParaRPr lang="en-US" sz="2000" dirty="0"/>
          </a:p>
        </p:txBody>
      </p:sp>
      <p:sp>
        <p:nvSpPr>
          <p:cNvPr id="4" name="Slide Number Placeholder 3">
            <a:extLst>
              <a:ext uri="{FF2B5EF4-FFF2-40B4-BE49-F238E27FC236}">
                <a16:creationId xmlns:a16="http://schemas.microsoft.com/office/drawing/2014/main" id="{9382C41B-FA8A-92F2-1F5E-009E7A1B50BD}"/>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859018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FA9-FD96-3049-26FA-D4806529C6FA}"/>
            </a:ext>
          </a:extLst>
        </p:cNvPr>
        <p:cNvGrpSpPr/>
        <p:nvPr/>
      </p:nvGrpSpPr>
      <p:grpSpPr>
        <a:xfrm>
          <a:off x="0" y="0"/>
          <a:ext cx="0" cy="0"/>
          <a:chOff x="0" y="0"/>
          <a:chExt cx="0" cy="0"/>
        </a:xfrm>
      </p:grpSpPr>
      <p:sp>
        <p:nvSpPr>
          <p:cNvPr id="56323" name="Rectangle 1027">
            <a:extLst>
              <a:ext uri="{FF2B5EF4-FFF2-40B4-BE49-F238E27FC236}">
                <a16:creationId xmlns:a16="http://schemas.microsoft.com/office/drawing/2014/main" id="{AFAE66CB-D868-EABA-CF7F-AA1A6E3F215D}"/>
              </a:ext>
            </a:extLst>
          </p:cNvPr>
          <p:cNvSpPr>
            <a:spLocks noGrp="1" noChangeArrowheads="1"/>
          </p:cNvSpPr>
          <p:nvPr>
            <p:ph idx="1"/>
          </p:nvPr>
        </p:nvSpPr>
        <p:spPr>
          <a:xfrm>
            <a:off x="302741" y="1197227"/>
            <a:ext cx="7679724" cy="1199132"/>
          </a:xfrm>
        </p:spPr>
        <p:txBody>
          <a:bodyPr>
            <a:normAutofit/>
          </a:bodyPr>
          <a:lstStyle/>
          <a:p>
            <a:pPr>
              <a:buFont typeface="Arial" panose="020B0604020202020204" pitchFamily="34" charset="0"/>
              <a:buChar char="•"/>
            </a:pPr>
            <a:r>
              <a:rPr lang="en-US" altLang="en-US" sz="2000" b="1" dirty="0">
                <a:hlinkClick r:id="rId3">
                  <a:extLst>
                    <a:ext uri="{A12FA001-AC4F-418D-AE19-62706E023703}">
                      <ahyp:hlinkClr xmlns:ahyp="http://schemas.microsoft.com/office/drawing/2018/hyperlinkcolor" val="tx"/>
                    </a:ext>
                  </a:extLst>
                </a:hlinkClick>
              </a:rPr>
              <a:t>ArcGIS Field Map Documentation</a:t>
            </a:r>
            <a:endParaRPr lang="en-US" altLang="en-US" sz="2000" b="1" dirty="0"/>
          </a:p>
        </p:txBody>
      </p:sp>
      <p:sp>
        <p:nvSpPr>
          <p:cNvPr id="2" name="Slide Number Placeholder 1">
            <a:extLst>
              <a:ext uri="{FF2B5EF4-FFF2-40B4-BE49-F238E27FC236}">
                <a16:creationId xmlns:a16="http://schemas.microsoft.com/office/drawing/2014/main" id="{EF994069-D0B0-13EE-5456-F5E81C82E260}"/>
              </a:ext>
            </a:extLst>
          </p:cNvPr>
          <p:cNvSpPr>
            <a:spLocks noGrp="1"/>
          </p:cNvSpPr>
          <p:nvPr>
            <p:ph type="sldNum" sz="quarter" idx="12"/>
          </p:nvPr>
        </p:nvSpPr>
        <p:spPr/>
        <p:txBody>
          <a:bodyPr/>
          <a:lstStyle/>
          <a:p>
            <a:fld id="{127DDC20-79C9-9647-820E-6D40A3D210C3}" type="slidenum">
              <a:rPr lang="en-US" smtClean="0"/>
              <a:pPr/>
              <a:t>14</a:t>
            </a:fld>
            <a:endParaRPr lang="en-US"/>
          </a:p>
        </p:txBody>
      </p:sp>
      <p:cxnSp>
        <p:nvCxnSpPr>
          <p:cNvPr id="4" name="Straight Connector 3">
            <a:extLst>
              <a:ext uri="{FF2B5EF4-FFF2-40B4-BE49-F238E27FC236}">
                <a16:creationId xmlns:a16="http://schemas.microsoft.com/office/drawing/2014/main" id="{6F556A6A-63CD-862A-E6BB-5BF5EB85C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8DB0C76B-BD87-ED30-B7DA-6BBB0A468889}"/>
              </a:ext>
            </a:extLst>
          </p:cNvPr>
          <p:cNvSpPr txBox="1">
            <a:spLocks/>
          </p:cNvSpPr>
          <p:nvPr/>
        </p:nvSpPr>
        <p:spPr>
          <a:xfrm>
            <a:off x="237640" y="202819"/>
            <a:ext cx="2726277"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300" cap="all" dirty="0">
                <a:solidFill>
                  <a:srgbClr val="7030A0"/>
                </a:solidFill>
              </a:rPr>
              <a:t>Learning source</a:t>
            </a:r>
          </a:p>
        </p:txBody>
      </p:sp>
    </p:spTree>
    <p:extLst>
      <p:ext uri="{BB962C8B-B14F-4D97-AF65-F5344CB8AC3E}">
        <p14:creationId xmlns:p14="http://schemas.microsoft.com/office/powerpoint/2010/main" val="603722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6" name="Picture 5" descr="Geography 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Week03_GEOG3319_Suvery123</Template>
  <TotalTime>3398</TotalTime>
  <Words>785</Words>
  <Application>Microsoft Office PowerPoint</Application>
  <PresentationFormat>Custom</PresentationFormat>
  <Paragraphs>87</Paragraphs>
  <Slides>15</Slides>
  <Notes>4</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15</vt:i4>
      </vt:variant>
    </vt:vector>
  </HeadingPairs>
  <TitlesOfParts>
    <vt:vector size="23" baseType="lpstr">
      <vt:lpstr>Arial</vt:lpstr>
      <vt:lpstr>Arial Black</vt:lpstr>
      <vt:lpstr>Calibri</vt:lpstr>
      <vt:lpstr>Wingdings 2</vt:lpstr>
      <vt:lpstr>2_DividendVTI</vt:lpstr>
      <vt:lpstr>DividendVTI</vt:lpstr>
      <vt:lpstr>1_DividendVTI</vt:lpstr>
      <vt:lpstr>3_DividendVTI</vt:lpstr>
      <vt:lpstr>WEEK 04   arcgis field map  lecture</vt:lpstr>
      <vt:lpstr>4.1  introduction </vt:lpstr>
      <vt:lpstr>PowerPoint Presentation</vt:lpstr>
      <vt:lpstr>Why Field Data Collection Matters</vt:lpstr>
      <vt:lpstr>What is ArcGIS Field Maps? </vt:lpstr>
      <vt:lpstr>PowerPoint Presentation</vt:lpstr>
      <vt:lpstr>Field Maps Designer Overview</vt:lpstr>
      <vt:lpstr>Field Maps Designer Overview</vt:lpstr>
      <vt:lpstr>Feature Layers &amp; Web Maps</vt:lpstr>
      <vt:lpstr>Form Design Basics</vt:lpstr>
      <vt:lpstr>Arcade Expressions in Field Maps</vt:lpstr>
      <vt:lpstr>Styling &amp; Feature Templates</vt:lpstr>
      <vt:lpstr>Security &amp; Access Settings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98</cp:revision>
  <dcterms:created xsi:type="dcterms:W3CDTF">2020-07-26T21:20:11Z</dcterms:created>
  <dcterms:modified xsi:type="dcterms:W3CDTF">2025-09-11T15:30:57Z</dcterms:modified>
</cp:coreProperties>
</file>