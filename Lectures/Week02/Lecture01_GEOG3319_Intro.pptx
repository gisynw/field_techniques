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83" r:id="rId3"/>
    <p:sldId id="602" r:id="rId4"/>
    <p:sldId id="565" r:id="rId5"/>
    <p:sldId id="623" r:id="rId6"/>
    <p:sldId id="624" r:id="rId7"/>
    <p:sldId id="622" r:id="rId8"/>
    <p:sldId id="656" r:id="rId9"/>
    <p:sldId id="657" r:id="rId10"/>
    <p:sldId id="655" r:id="rId11"/>
    <p:sldId id="625" r:id="rId12"/>
    <p:sldId id="638" r:id="rId13"/>
    <p:sldId id="574" r:id="rId14"/>
    <p:sldId id="575" r:id="rId15"/>
    <p:sldId id="577" r:id="rId16"/>
    <p:sldId id="578" r:id="rId17"/>
    <p:sldId id="579" r:id="rId18"/>
    <p:sldId id="640" r:id="rId19"/>
    <p:sldId id="580" r:id="rId20"/>
    <p:sldId id="581" r:id="rId21"/>
    <p:sldId id="582" r:id="rId22"/>
    <p:sldId id="639" r:id="rId23"/>
    <p:sldId id="599" r:id="rId24"/>
    <p:sldId id="583" r:id="rId25"/>
    <p:sldId id="584" r:id="rId26"/>
    <p:sldId id="601" r:id="rId27"/>
    <p:sldId id="593" r:id="rId28"/>
    <p:sldId id="626" r:id="rId29"/>
    <p:sldId id="627" r:id="rId30"/>
    <p:sldId id="617" r:id="rId31"/>
    <p:sldId id="619" r:id="rId32"/>
    <p:sldId id="654" r:id="rId33"/>
    <p:sldId id="630" r:id="rId34"/>
    <p:sldId id="591" r:id="rId35"/>
    <p:sldId id="592" r:id="rId36"/>
    <p:sldId id="658" r:id="rId37"/>
    <p:sldId id="641" r:id="rId38"/>
    <p:sldId id="257" r:id="rId39"/>
    <p:sldId id="260" r:id="rId40"/>
    <p:sldId id="642" r:id="rId41"/>
    <p:sldId id="643" r:id="rId42"/>
    <p:sldId id="644" r:id="rId43"/>
    <p:sldId id="585" r:id="rId44"/>
    <p:sldId id="586" r:id="rId45"/>
    <p:sldId id="566" r:id="rId46"/>
    <p:sldId id="567" r:id="rId47"/>
    <p:sldId id="587" r:id="rId48"/>
    <p:sldId id="588" r:id="rId49"/>
    <p:sldId id="589" r:id="rId50"/>
    <p:sldId id="645" r:id="rId51"/>
    <p:sldId id="590" r:id="rId52"/>
    <p:sldId id="646" r:id="rId53"/>
    <p:sldId id="647" r:id="rId54"/>
    <p:sldId id="648" r:id="rId55"/>
    <p:sldId id="649" r:id="rId56"/>
    <p:sldId id="650" r:id="rId57"/>
    <p:sldId id="270" r:id="rId58"/>
  </p:sldIdLst>
  <p:sldSz cx="8229600" cy="51435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89" autoAdjust="0"/>
  </p:normalViewPr>
  <p:slideViewPr>
    <p:cSldViewPr snapToGrid="0" snapToObjects="1">
      <p:cViewPr varScale="1">
        <p:scale>
          <a:sx n="74" d="100"/>
          <a:sy n="74" d="100"/>
        </p:scale>
        <p:origin x="1476" y="72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5963" y="696913"/>
            <a:ext cx="55784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08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3825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23348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12404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Advancement of undergraduate research in the Science (AURS)</a:t>
            </a:r>
          </a:p>
        </p:txBody>
      </p:sp>
    </p:spTree>
    <p:extLst>
      <p:ext uri="{BB962C8B-B14F-4D97-AF65-F5344CB8AC3E}">
        <p14:creationId xmlns:p14="http://schemas.microsoft.com/office/powerpoint/2010/main" val="2174536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Southwestern Energy Research Fellow</a:t>
            </a:r>
          </a:p>
        </p:txBody>
      </p:sp>
    </p:spTree>
    <p:extLst>
      <p:ext uri="{BB962C8B-B14F-4D97-AF65-F5344CB8AC3E}">
        <p14:creationId xmlns:p14="http://schemas.microsoft.com/office/powerpoint/2010/main" val="786263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3681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39202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57024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8459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24207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73591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20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95707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01881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0109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23069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0784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492208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812380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713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944181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988349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92571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08922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56893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83239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20727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43842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70960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921750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122747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078540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672098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42105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some examples of geospatial</a:t>
            </a:r>
            <a:r>
              <a:rPr lang="en-US" baseline="0" dirty="0"/>
              <a:t> job titles. </a:t>
            </a:r>
          </a:p>
          <a:p>
            <a:endParaRPr lang="en-US" baseline="0" dirty="0"/>
          </a:p>
          <a:p>
            <a:r>
              <a:rPr lang="en-US" baseline="0" dirty="0"/>
              <a:t>I would recommend the GIS Jobs Clearinghouse, </a:t>
            </a:r>
            <a:r>
              <a:rPr lang="en-US" baseline="0" dirty="0" err="1"/>
              <a:t>MyGISJobs</a:t>
            </a:r>
            <a:r>
              <a:rPr lang="en-US" baseline="0" dirty="0"/>
              <a:t>, or GISJobs.com if you are job hunting.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2A70B-78F2-4DCF-B53B-C990D2FAFB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2392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a list</a:t>
            </a:r>
            <a:r>
              <a:rPr lang="en-US" baseline="0" dirty="0"/>
              <a:t> of some key, marketable job skills in the geospatial sciences. </a:t>
            </a:r>
          </a:p>
          <a:p>
            <a:endParaRPr lang="en-US" baseline="0" dirty="0"/>
          </a:p>
          <a:p>
            <a:r>
              <a:rPr lang="en-US" baseline="0" dirty="0"/>
              <a:t>No one can do all of these things. If you are hoping to work in this field, I would recommend focusing on some key skills to develop and market. </a:t>
            </a:r>
          </a:p>
          <a:p>
            <a:endParaRPr lang="en-US" baseline="0" dirty="0"/>
          </a:p>
          <a:p>
            <a:r>
              <a:rPr lang="en-US" baseline="0" dirty="0"/>
              <a:t>Specifically, if you are interested in data analysis, it would be worth learning Python scripting. </a:t>
            </a:r>
          </a:p>
          <a:p>
            <a:endParaRPr lang="en-US" baseline="0" dirty="0"/>
          </a:p>
          <a:p>
            <a:r>
              <a:rPr lang="en-US" baseline="0" dirty="0"/>
              <a:t>If you are interested in data management, I would try to learn some Structured Query Language or SQL. </a:t>
            </a:r>
          </a:p>
          <a:p>
            <a:endParaRPr lang="en-US" baseline="0" dirty="0"/>
          </a:p>
          <a:p>
            <a:r>
              <a:rPr lang="en-US" baseline="0" dirty="0"/>
              <a:t>If you are interested in web development and web mapping, learn some HTML, CSS, and JavaScript. </a:t>
            </a:r>
          </a:p>
          <a:p>
            <a:endParaRPr lang="en-US" baseline="0" dirty="0"/>
          </a:p>
          <a:p>
            <a:r>
              <a:rPr lang="en-US" baseline="0" dirty="0"/>
              <a:t>As you advance through your career you will continue to develop skills. Also, new technologies and methods will require you to learn new skillsets. </a:t>
            </a:r>
          </a:p>
          <a:p>
            <a:endParaRPr lang="en-US" baseline="0" dirty="0"/>
          </a:p>
          <a:p>
            <a:r>
              <a:rPr lang="en-US" baseline="0" dirty="0"/>
              <a:t>Although this can be frustrating, it is exciting to be involved in a rapidly growing and developing discipline.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633776-40C1-4F8D-B884-B278BD814FB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789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05332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221002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58044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278257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1964 transit become operational and 1967 transit release for commercial use </a:t>
            </a:r>
          </a:p>
          <a:p>
            <a:r>
              <a:rPr lang="en-US" altLang="en-US" dirty="0"/>
              <a:t>GPS (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NAVSTAR GPS</a:t>
            </a:r>
            <a:r>
              <a:rPr lang="en-US" altLang="en-US" dirty="0"/>
              <a:t>) launched in 1978,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full constellation of 24 satellites operational in 1993. Now total is 31 satellites in operation (</a:t>
            </a:r>
            <a:r>
              <a:rPr lang="en-US" dirty="0"/>
              <a:t>https://www.gps.gov/systems/gps/space/#:~:text=The%20satellites%20in%20the%20GPS,any%20point%20on%20the%20planet.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endParaRPr lang="en-US" alt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ransit position fix rate range from every 30 minutes to 110 minutes. Low-dynamic platform,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first satellite-based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geopositioning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system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00707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1989, Magellan navigation Inc. Magellan NAV 1000</a:t>
            </a:r>
          </a:p>
          <a:p>
            <a:r>
              <a:rPr lang="en-US" altLang="en-US" dirty="0"/>
              <a:t>1990, Mazda introduced the first ever GPS system for automotive navigational use. 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1999 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Mobile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phone manufacturer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Benefon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launched the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commercially-available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GPS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phone, a safety phone called the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Benefon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Esc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629256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73795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Each plane contains four "slots" occupied by baseline satellites. This 24-slot arrangement ensures users can view at least four satellites from virtually any point on the planet (https://www.gps.gov/systems/gps/space/#:~:text=The%20satellites%20in%20the%20GPS,any%20point%20on%20the%20planet)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227723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43824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200" dirty="0"/>
              <a:t>Alternate master control station in California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156725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https://www.vectornav.com/resources/inertial-navigation-primer/theory-of-operation/theory-gnss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56758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2382383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10121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8625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A drone controller works by sending a radio signal from the remote control to the drone, which tells the drone what to do.</a:t>
            </a:r>
          </a:p>
          <a:p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Radio signals are sent from the radio transmitter in the drone controller and received by the drone’s receiver. </a:t>
            </a:r>
          </a:p>
          <a:p>
            <a:r>
              <a:rPr lang="en-US" b="0" i="0">
                <a:solidFill>
                  <a:srgbClr val="000000"/>
                </a:solidFill>
                <a:effectLst/>
                <a:latin typeface="-apple-system"/>
              </a:rPr>
              <a:t>High-end drones like DJI drones use an advanced communication system known as OcuSync that allows them to fly up to 10 KM (6.2) Miles.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18522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An anemometer measures wind speed by sending sound pulses back and forth between its sensors and measuring the speed of sound as it is changed slightly by the wind.</a:t>
            </a:r>
          </a:p>
          <a:p>
            <a:endParaRPr lang="en-US" alt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Radiosonde can measure altitude, pressure, temperature, relative humidity, wind (both speed and direction), and cosmic ray readings at high altitudes.</a:t>
            </a: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637750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3297147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597820"/>
            <a:ext cx="699516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40" y="2914650"/>
            <a:ext cx="576072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86240-05F1-4EC8-A754-1D272676D924}" type="datetime1">
              <a:rPr lang="en-US" smtClean="0"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16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24AF-16BE-4D2F-A1F5-2E05EBE51A7C}" type="datetime1">
              <a:rPr lang="en-US" smtClean="0"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082" y="3305176"/>
            <a:ext cx="6995160" cy="102155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082" y="2180035"/>
            <a:ext cx="6995160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D6EA-01C3-4242-9D3B-AFA5FA3CB1B4}" type="datetime1">
              <a:rPr lang="en-US" smtClean="0"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33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D1CE-3286-4A15-9C1F-FA0803BB8044}" type="datetime1">
              <a:rPr lang="en-US" smtClean="0"/>
              <a:t>8/28/2022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4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151335"/>
            <a:ext cx="3636169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480" y="1631156"/>
            <a:ext cx="3636169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80524" y="1151335"/>
            <a:ext cx="3637598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80524" y="1631156"/>
            <a:ext cx="3637598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0252-61FD-41A0-871B-16E48ECD36CE}" type="datetime1">
              <a:rPr lang="en-US" smtClean="0"/>
              <a:t>8/28/2022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2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7B09C-AE5A-4E7E-B39B-F064BE259AEC}" type="datetime1">
              <a:rPr lang="en-US" smtClean="0"/>
              <a:t>8/28/2022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2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C1A92-6480-421C-939B-D39749C8D0F0}" type="datetime1">
              <a:rPr lang="en-US" smtClean="0"/>
              <a:t>8/28/2022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3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1" y="204787"/>
            <a:ext cx="2707482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545" y="204789"/>
            <a:ext cx="4600575" cy="438983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1481" y="1076327"/>
            <a:ext cx="2707482" cy="351829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287B-5CA9-4DEA-8911-F9FD36FE6581}" type="datetime1">
              <a:rPr lang="en-US" smtClean="0"/>
              <a:t>8/28/2022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059" y="3600450"/>
            <a:ext cx="4937760" cy="42505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13059" y="459581"/>
            <a:ext cx="4937760" cy="30861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3059" y="4025504"/>
            <a:ext cx="4937760" cy="60364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22F9-FE8D-4180-91F7-A161DE9EDBE5}" type="datetime1">
              <a:rPr lang="en-US" smtClean="0"/>
              <a:t>8/28/2022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AC1-C4EF-46CE-B558-7D35C4708FAD}" type="datetime1">
              <a:rPr lang="en-US" smtClean="0"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1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66460" y="205979"/>
            <a:ext cx="185166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480" y="205979"/>
            <a:ext cx="541782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47DB-71A3-4BA8-B256-6A4D48850518}" type="datetime1">
              <a:rPr lang="en-US" smtClean="0"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9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205979"/>
            <a:ext cx="740664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200151"/>
            <a:ext cx="740664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14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38025-F4A2-4DEE-A5CE-7BE678A2A5D1}" type="datetime1">
              <a:rPr lang="en-US" smtClean="0"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1780" y="4767263"/>
            <a:ext cx="26060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978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9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1148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41148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5" indent="-257175" algn="l" defTabSz="411480" rtl="0" eaLnBrk="1" latinLnBrk="0" hangingPunct="1">
        <a:spcBef>
          <a:spcPct val="20000"/>
        </a:spcBef>
        <a:buFont typeface="Arial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411480" rtl="0" eaLnBrk="1" latinLnBrk="0" hangingPunct="1">
        <a:spcBef>
          <a:spcPct val="200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41148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ca.edu/cnsm/research-award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1.amobbs.com/bbs_upload782111/files_33/ourdev_584835O21W59.pdf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.arcgis.com/en/pro-app/latest/get-started/arcgis-pro-system-requirements.htm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s.harvard.edu/faq/how-installing-arcgis-desktop-or-pro-mac-computer" TargetMode="External"/><Relationship Id="rId2" Type="http://schemas.openxmlformats.org/officeDocument/2006/relationships/hyperlink" Target="https://pro.arcgis.com/en/pro-app/latest/get-started/run-pro-on-a-mac.htm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yaqianhe.github.io/research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ygisjobs.com/" TargetMode="External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isjobs.com/" TargetMode="External"/><Relationship Id="rId5" Type="http://schemas.openxmlformats.org/officeDocument/2006/relationships/image" Target="../media/image32.png"/><Relationship Id="rId4" Type="http://schemas.openxmlformats.org/officeDocument/2006/relationships/hyperlink" Target="http://www.gjc.org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elebrating200years.noaa.gov/transformations/gps/Figure_1.html" TargetMode="Externa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GPS_satellite_blocks" TargetMode="External"/><Relationship Id="rId3" Type="http://schemas.openxmlformats.org/officeDocument/2006/relationships/image" Target="../media/image41.png"/><Relationship Id="rId7" Type="http://schemas.openxmlformats.org/officeDocument/2006/relationships/hyperlink" Target="https://en.wikipedia.org/wiki/Transit_(satellite)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istory.nasa.gov/sputnik/gallerysput.html" TargetMode="Externa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dhonline.com/courses/l116/l116content.htm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GPS_satellite_blocks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stats.un.org/unsd/geoinfo/UNGEGN/docs/_data_ICAcourses/_HtmlModules/_Selfstudy/S06/S06_05a.html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unstats.un.org/unsd/geoinfo/UNGEGN/docs/_data_ICAcourses/_HtmlModules/_Selfstudy/S06/S06_05a.html" TargetMode="External"/><Relationship Id="rId4" Type="http://schemas.openxmlformats.org/officeDocument/2006/relationships/image" Target="../media/image50.jp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091" y="158778"/>
            <a:ext cx="8001000" cy="1549772"/>
          </a:xfrm>
        </p:spPr>
        <p:txBody>
          <a:bodyPr>
            <a:normAutofit/>
          </a:bodyPr>
          <a:lstStyle/>
          <a:p>
            <a:r>
              <a:rPr lang="en-US" sz="3600" dirty="0"/>
              <a:t>GEOG 3319: Geographic Field Techniques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257018" y="2967511"/>
            <a:ext cx="5760720" cy="1171497"/>
          </a:xfrm>
          <a:prstGeom prst="rect">
            <a:avLst/>
          </a:prstGeom>
        </p:spPr>
        <p:txBody>
          <a:bodyPr vert="horz" lIns="82296" tIns="41148" rIns="82296" bIns="41148" rtlCol="0">
            <a:normAutofit fontScale="2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dirty="0">
                <a:solidFill>
                  <a:schemeClr val="tx1"/>
                </a:solidFill>
              </a:rPr>
              <a:t>Yaqian He, PhD</a:t>
            </a:r>
          </a:p>
          <a:p>
            <a:r>
              <a:rPr lang="en-US" sz="8000" dirty="0">
                <a:solidFill>
                  <a:schemeClr val="tx1"/>
                </a:solidFill>
              </a:rPr>
              <a:t>Assistant Professor</a:t>
            </a:r>
          </a:p>
          <a:p>
            <a:r>
              <a:rPr lang="en-US" sz="8000" dirty="0">
                <a:solidFill>
                  <a:schemeClr val="tx1"/>
                </a:solidFill>
              </a:rPr>
              <a:t>Department of Geography</a:t>
            </a:r>
          </a:p>
          <a:p>
            <a:endParaRPr lang="en-US" sz="288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072922" y="4416072"/>
            <a:ext cx="279753" cy="481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852E4-0F7F-41A7-9B32-F40B4D3A753B}"/>
              </a:ext>
            </a:extLst>
          </p:cNvPr>
          <p:cNvSpPr txBox="1"/>
          <p:nvPr/>
        </p:nvSpPr>
        <p:spPr>
          <a:xfrm>
            <a:off x="-1" y="1708550"/>
            <a:ext cx="8196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Lecture 01 Introduction</a:t>
            </a:r>
          </a:p>
        </p:txBody>
      </p:sp>
      <p:pic>
        <p:nvPicPr>
          <p:cNvPr id="13" name="Picture 12" descr="geography logo">
            <a:extLst>
              <a:ext uri="{FF2B5EF4-FFF2-40B4-BE49-F238E27FC236}">
                <a16:creationId xmlns:a16="http://schemas.microsoft.com/office/drawing/2014/main" id="{AE401581-7A56-448D-8256-F61D9515AE3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06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Introduction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Who am I?</a:t>
            </a:r>
            <a:endParaRPr lang="en-US" altLang="en-US" sz="216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Who you are?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Course overview and Expectations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Syllabus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Software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Survey Tools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What is GNSS?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What is UAV?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Overview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11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95B907E3-1B33-4F85-BB93-C0E19921A92D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Yaqian He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Assistant Professor, Geography Department @ UCA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rgbClr val="7030A0"/>
                </a:solidFill>
              </a:rPr>
              <a:t>E</a:t>
            </a:r>
            <a:r>
              <a:rPr lang="en-US" altLang="zh-CN" sz="2400" dirty="0">
                <a:solidFill>
                  <a:srgbClr val="7030A0"/>
                </a:solidFill>
              </a:rPr>
              <a:t>ducation</a:t>
            </a:r>
            <a:endParaRPr lang="en-US" altLang="en-US" sz="2400" dirty="0">
              <a:solidFill>
                <a:srgbClr val="7030A0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Postdoc, Climate Modeling &amp; Impacts @Dartmouth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PhD, Department of Geology and Geography @West Virginia University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M.S. Cartography and GIS </a:t>
            </a:r>
            <a:r>
              <a:rPr lang="en-US" altLang="zh-CN" sz="2400" dirty="0"/>
              <a:t>@</a:t>
            </a:r>
            <a:r>
              <a:rPr lang="en-US" altLang="en-US" sz="2400" dirty="0"/>
              <a:t> Beijing Normal University, China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B.S. Surveying Engineering @ China University of Mining and Technology </a:t>
            </a:r>
          </a:p>
        </p:txBody>
      </p:sp>
    </p:spTree>
    <p:extLst>
      <p:ext uri="{BB962C8B-B14F-4D97-AF65-F5344CB8AC3E}">
        <p14:creationId xmlns:p14="http://schemas.microsoft.com/office/powerpoint/2010/main" val="417522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 descr="global map showing cities of Conway and Jiangshan">
            <a:extLst>
              <a:ext uri="{FF2B5EF4-FFF2-40B4-BE49-F238E27FC236}">
                <a16:creationId xmlns:a16="http://schemas.microsoft.com/office/drawing/2014/main" id="{293CD444-715C-4E6A-A166-B4E61FF0F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8352"/>
            <a:ext cx="8153400" cy="3731749"/>
          </a:xfrm>
          <a:prstGeom prst="rect">
            <a:avLst/>
          </a:prstGeom>
        </p:spPr>
      </p:pic>
      <p:pic>
        <p:nvPicPr>
          <p:cNvPr id="1026" name="Picture 2" descr="hot summer sweating character cartoon ">
            <a:extLst>
              <a:ext uri="{FF2B5EF4-FFF2-40B4-BE49-F238E27FC236}">
                <a16:creationId xmlns:a16="http://schemas.microsoft.com/office/drawing/2014/main" id="{8A960B67-C806-C9DF-B8A2-86FDBB933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238" y="150018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60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463A92E3-4BED-4C3C-ADD3-9836AC2A02C8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Climate and socioeconomic impacts on Covid-19 spread in Arkansas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B3F86E-D5E5-433B-921C-FC190932379F}"/>
              </a:ext>
            </a:extLst>
          </p:cNvPr>
          <p:cNvSpPr txBox="1"/>
          <p:nvPr/>
        </p:nvSpPr>
        <p:spPr>
          <a:xfrm>
            <a:off x="6368461" y="4598027"/>
            <a:ext cx="1449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 </a:t>
            </a:r>
          </a:p>
        </p:txBody>
      </p:sp>
      <p:pic>
        <p:nvPicPr>
          <p:cNvPr id="6" name="Picture 5" descr="COVID-19 data in Arkansas">
            <a:extLst>
              <a:ext uri="{FF2B5EF4-FFF2-40B4-BE49-F238E27FC236}">
                <a16:creationId xmlns:a16="http://schemas.microsoft.com/office/drawing/2014/main" id="{234568F7-FEF2-40AB-BBF9-C3B3C4B7E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020" y="1848186"/>
            <a:ext cx="4688304" cy="32953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AE353E-8A43-A14F-B837-C38B230593B3}"/>
              </a:ext>
            </a:extLst>
          </p:cNvPr>
          <p:cNvSpPr txBox="1"/>
          <p:nvPr/>
        </p:nvSpPr>
        <p:spPr>
          <a:xfrm>
            <a:off x="6268881" y="3916291"/>
            <a:ext cx="18641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Paul </a:t>
            </a:r>
            <a:r>
              <a:rPr lang="en-US" sz="1200" dirty="0" err="1">
                <a:solidFill>
                  <a:srgbClr val="7030A0"/>
                </a:solidFill>
              </a:rPr>
              <a:t>Seminara</a:t>
            </a:r>
            <a:r>
              <a:rPr lang="en-US" sz="1200" dirty="0">
                <a:solidFill>
                  <a:srgbClr val="7030A0"/>
                </a:solidFill>
              </a:rPr>
              <a:t>, funded by UCA AURS,</a:t>
            </a:r>
            <a:r>
              <a:rPr lang="zh-CN" altLang="en-US" sz="1200" dirty="0">
                <a:solidFill>
                  <a:srgbClr val="7030A0"/>
                </a:solidFill>
              </a:rPr>
              <a:t> </a:t>
            </a:r>
            <a:r>
              <a:rPr lang="en-US" altLang="zh-CN" sz="1200" dirty="0">
                <a:solidFill>
                  <a:srgbClr val="7030A0"/>
                </a:solidFill>
              </a:rPr>
              <a:t>UCA and </a:t>
            </a:r>
            <a:r>
              <a:rPr lang="en-US" altLang="zh-CN" sz="1200" dirty="0" err="1">
                <a:solidFill>
                  <a:srgbClr val="7030A0"/>
                </a:solidFill>
              </a:rPr>
              <a:t>INBRE</a:t>
            </a:r>
            <a:r>
              <a:rPr lang="en-US" altLang="zh-CN" sz="1200" dirty="0">
                <a:solidFill>
                  <a:srgbClr val="7030A0"/>
                </a:solidFill>
              </a:rPr>
              <a:t>. </a:t>
            </a:r>
            <a:r>
              <a:rPr lang="en-US" altLang="zh-CN" sz="1200" dirty="0">
                <a:solidFill>
                  <a:srgbClr val="FF0000"/>
                </a:solidFill>
              </a:rPr>
              <a:t>Got first prize in student paper competition at SWAAG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49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463A92E3-4BED-4C3C-ADD3-9836AC2A02C8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Land cove</a:t>
            </a:r>
            <a:r>
              <a:rPr lang="en-US" altLang="zh-CN" sz="2400" dirty="0"/>
              <a:t>r/ land use change-carbon emission in Arkansas</a:t>
            </a: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B3F86E-D5E5-433B-921C-FC190932379F}"/>
              </a:ext>
            </a:extLst>
          </p:cNvPr>
          <p:cNvSpPr txBox="1"/>
          <p:nvPr/>
        </p:nvSpPr>
        <p:spPr>
          <a:xfrm>
            <a:off x="1382751" y="4760743"/>
            <a:ext cx="5800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Wei Tay, funded by SERF</a:t>
            </a:r>
          </a:p>
        </p:txBody>
      </p:sp>
      <p:pic>
        <p:nvPicPr>
          <p:cNvPr id="3" name="image9.jpg" descr="Land cover and land use change in Arkansas">
            <a:extLst>
              <a:ext uri="{FF2B5EF4-FFF2-40B4-BE49-F238E27FC236}">
                <a16:creationId xmlns:a16="http://schemas.microsoft.com/office/drawing/2014/main" id="{12387F30-7F20-1960-0A91-0E0EFEA61D1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661374" y="1685555"/>
            <a:ext cx="4893971" cy="291540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69143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463A92E3-4BED-4C3C-ADD3-9836AC2A02C8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Climate-irrigation-Crop yields interaction in Arkansas using UAV and statistical model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911795-23DA-4FE8-9573-C04E4B81EA37}"/>
              </a:ext>
            </a:extLst>
          </p:cNvPr>
          <p:cNvSpPr txBox="1"/>
          <p:nvPr/>
        </p:nvSpPr>
        <p:spPr>
          <a:xfrm>
            <a:off x="4743422" y="4833386"/>
            <a:ext cx="3145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Funded by NASA </a:t>
            </a:r>
            <a:r>
              <a:rPr lang="en-US" sz="1000" dirty="0" err="1">
                <a:solidFill>
                  <a:srgbClr val="7030A0"/>
                </a:solidFill>
              </a:rPr>
              <a:t>EPSCoR</a:t>
            </a:r>
            <a:endParaRPr lang="en-US" sz="1000" dirty="0">
              <a:solidFill>
                <a:srgbClr val="7030A0"/>
              </a:solidFill>
            </a:endParaRPr>
          </a:p>
        </p:txBody>
      </p:sp>
      <p:pic>
        <p:nvPicPr>
          <p:cNvPr id="9" name="Picture 8" descr="A picture containing outdoor, ground, sky, grass, and Marisol holding UAV">
            <a:extLst>
              <a:ext uri="{FF2B5EF4-FFF2-40B4-BE49-F238E27FC236}">
                <a16:creationId xmlns:a16="http://schemas.microsoft.com/office/drawing/2014/main" id="{741A420D-EF10-4F95-806F-B870E9F07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540" y="1892688"/>
            <a:ext cx="2058709" cy="2744945"/>
          </a:xfrm>
          <a:prstGeom prst="rect">
            <a:avLst/>
          </a:prstGeom>
        </p:spPr>
      </p:pic>
      <p:pic>
        <p:nvPicPr>
          <p:cNvPr id="6" name="Picture 5" descr="A group of people in a field&#10;">
            <a:extLst>
              <a:ext uri="{FF2B5EF4-FFF2-40B4-BE49-F238E27FC236}">
                <a16:creationId xmlns:a16="http://schemas.microsoft.com/office/drawing/2014/main" id="{8D56BA23-A7D6-44B3-85D1-948905A62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16" y="1892688"/>
            <a:ext cx="3767485" cy="28256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4AF0EF-928F-44BD-92E9-1A9805F724D0}"/>
              </a:ext>
            </a:extLst>
          </p:cNvPr>
          <p:cNvSpPr txBox="1"/>
          <p:nvPr/>
        </p:nvSpPr>
        <p:spPr>
          <a:xfrm>
            <a:off x="701616" y="4812345"/>
            <a:ext cx="38774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Caden Rhodes</a:t>
            </a:r>
            <a:r>
              <a:rPr lang="en-US" altLang="zh-CN" sz="1000" dirty="0">
                <a:solidFill>
                  <a:srgbClr val="7030A0"/>
                </a:solidFill>
              </a:rPr>
              <a:t> , </a:t>
            </a:r>
            <a:r>
              <a:rPr lang="en-US" sz="1000" dirty="0">
                <a:solidFill>
                  <a:srgbClr val="7030A0"/>
                </a:solidFill>
              </a:rPr>
              <a:t>Marisol </a:t>
            </a:r>
            <a:r>
              <a:rPr lang="en-US" sz="1000" dirty="0" err="1">
                <a:solidFill>
                  <a:srgbClr val="7030A0"/>
                </a:solidFill>
              </a:rPr>
              <a:t>Filares</a:t>
            </a:r>
            <a:r>
              <a:rPr lang="en-US" sz="1000" dirty="0">
                <a:solidFill>
                  <a:srgbClr val="7030A0"/>
                </a:solidFill>
              </a:rPr>
              <a:t> </a:t>
            </a:r>
            <a:r>
              <a:rPr lang="en-US" sz="1000" dirty="0" err="1">
                <a:solidFill>
                  <a:srgbClr val="7030A0"/>
                </a:solidFill>
              </a:rPr>
              <a:t>Arreguin</a:t>
            </a:r>
            <a:r>
              <a:rPr lang="en-US" sz="1000" dirty="0">
                <a:solidFill>
                  <a:srgbClr val="7030A0"/>
                </a:solidFill>
              </a:rPr>
              <a:t>, Dr. Connolly, Matthew Davis</a:t>
            </a:r>
          </a:p>
        </p:txBody>
      </p:sp>
    </p:spTree>
    <p:extLst>
      <p:ext uri="{BB962C8B-B14F-4D97-AF65-F5344CB8AC3E}">
        <p14:creationId xmlns:p14="http://schemas.microsoft.com/office/powerpoint/2010/main" val="2473099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911795-23DA-4FE8-9573-C04E4B81EA37}"/>
              </a:ext>
            </a:extLst>
          </p:cNvPr>
          <p:cNvSpPr txBox="1"/>
          <p:nvPr/>
        </p:nvSpPr>
        <p:spPr>
          <a:xfrm>
            <a:off x="5448822" y="4220590"/>
            <a:ext cx="27045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https://uca.edu/news/nasa-irrigation/</a:t>
            </a:r>
          </a:p>
        </p:txBody>
      </p:sp>
      <p:pic>
        <p:nvPicPr>
          <p:cNvPr id="11" name="Picture 10" descr="Media coverage for our NASA grant">
            <a:extLst>
              <a:ext uri="{FF2B5EF4-FFF2-40B4-BE49-F238E27FC236}">
                <a16:creationId xmlns:a16="http://schemas.microsoft.com/office/drawing/2014/main" id="{2763C8C0-A7D7-4C94-AC42-0397639EE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8" y="997409"/>
            <a:ext cx="4735034" cy="405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1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911795-23DA-4FE8-9573-C04E4B81EA37}"/>
              </a:ext>
            </a:extLst>
          </p:cNvPr>
          <p:cNvSpPr txBox="1"/>
          <p:nvPr/>
        </p:nvSpPr>
        <p:spPr>
          <a:xfrm>
            <a:off x="5237807" y="4437578"/>
            <a:ext cx="2255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Willow Hoper, funded by ASGC with Dr. William Flatley</a:t>
            </a:r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57AAF2BE-A0B7-4F0B-85C2-A3E4439D9C4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Tree species identification using remote sensing data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</p:txBody>
      </p:sp>
      <p:pic>
        <p:nvPicPr>
          <p:cNvPr id="6" name="Picture 5" descr="google earth engine">
            <a:extLst>
              <a:ext uri="{FF2B5EF4-FFF2-40B4-BE49-F238E27FC236}">
                <a16:creationId xmlns:a16="http://schemas.microsoft.com/office/drawing/2014/main" id="{B03050DD-7DBF-4D55-9927-602B373CB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221" y="1547184"/>
            <a:ext cx="3838179" cy="334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463A92E3-4BED-4C3C-ADD3-9836AC2A02C8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/>
              <a:t>Machine learning in predicting climate extremes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4AF0EF-928F-44BD-92E9-1A9805F724D0}"/>
              </a:ext>
            </a:extLst>
          </p:cNvPr>
          <p:cNvSpPr txBox="1"/>
          <p:nvPr/>
        </p:nvSpPr>
        <p:spPr>
          <a:xfrm>
            <a:off x="610262" y="4831188"/>
            <a:ext cx="4361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Chattopadhyay et al., 2020</a:t>
            </a:r>
          </a:p>
        </p:txBody>
      </p:sp>
      <p:pic>
        <p:nvPicPr>
          <p:cNvPr id="8" name="Picture 7" descr="marching learning flowchart">
            <a:extLst>
              <a:ext uri="{FF2B5EF4-FFF2-40B4-BE49-F238E27FC236}">
                <a16:creationId xmlns:a16="http://schemas.microsoft.com/office/drawing/2014/main" id="{75E90703-A6D9-76F5-24BC-38E3F1C39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62" y="1503376"/>
            <a:ext cx="67913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82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01F90-50BF-458A-BDBD-3239F1FC892C}"/>
              </a:ext>
            </a:extLst>
          </p:cNvPr>
          <p:cNvSpPr txBox="1"/>
          <p:nvPr/>
        </p:nvSpPr>
        <p:spPr>
          <a:xfrm>
            <a:off x="855783" y="2190375"/>
            <a:ext cx="713935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G</a:t>
            </a:r>
            <a:r>
              <a:rPr lang="en-US" altLang="zh-CN" sz="2800" dirty="0"/>
              <a:t>eospatial and Climate Modeling Group @UCA</a:t>
            </a:r>
            <a:endParaRPr lang="en-US" sz="2800" dirty="0">
              <a:hlinkClick r:id="" action="ppaction://noaction"/>
            </a:endParaRPr>
          </a:p>
          <a:p>
            <a:r>
              <a:rPr lang="en-US" sz="2800" dirty="0">
                <a:hlinkClick r:id="" action="ppaction://noaction"/>
              </a:rPr>
              <a:t>https://yaqianhe.github.io/research/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63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Who am 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01F90-50BF-458A-BDBD-3239F1FC892C}"/>
              </a:ext>
            </a:extLst>
          </p:cNvPr>
          <p:cNvSpPr txBox="1"/>
          <p:nvPr/>
        </p:nvSpPr>
        <p:spPr>
          <a:xfrm>
            <a:off x="193162" y="1125394"/>
            <a:ext cx="6006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https://uca.edu/cnsm/research-awards/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URS introduction">
            <a:extLst>
              <a:ext uri="{FF2B5EF4-FFF2-40B4-BE49-F238E27FC236}">
                <a16:creationId xmlns:a16="http://schemas.microsoft.com/office/drawing/2014/main" id="{25596576-AC7F-4210-A80C-9FFA15991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90" y="1723529"/>
            <a:ext cx="4074535" cy="2165425"/>
          </a:xfrm>
          <a:prstGeom prst="rect">
            <a:avLst/>
          </a:prstGeom>
        </p:spPr>
      </p:pic>
      <p:pic>
        <p:nvPicPr>
          <p:cNvPr id="11" name="Picture 10" descr="SERF introduction">
            <a:extLst>
              <a:ext uri="{FF2B5EF4-FFF2-40B4-BE49-F238E27FC236}">
                <a16:creationId xmlns:a16="http://schemas.microsoft.com/office/drawing/2014/main" id="{BE117536-AB22-4EA7-A367-45F087A8B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725" y="2806241"/>
            <a:ext cx="3784587" cy="168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45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About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A7A860E1-7EF7-42D9-969A-5DD5BFC52179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Your name and degree program</a:t>
            </a:r>
            <a:endParaRPr lang="en-US" altLang="en-US" sz="2400" dirty="0">
              <a:solidFill>
                <a:srgbClr val="7030A0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Your study interests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Which year you are?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GNSS/GPS knowledge?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GIS mapping knowledge?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D</a:t>
            </a:r>
            <a:r>
              <a:rPr lang="en-US" altLang="zh-CN" sz="2400" dirty="0"/>
              <a:t>rone flying knowledge?</a:t>
            </a:r>
            <a:endParaRPr lang="en-US" alt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/>
              <a:t>What do you expect from this class?</a:t>
            </a:r>
          </a:p>
        </p:txBody>
      </p:sp>
    </p:spTree>
    <p:extLst>
      <p:ext uri="{BB962C8B-B14F-4D97-AF65-F5344CB8AC3E}">
        <p14:creationId xmlns:p14="http://schemas.microsoft.com/office/powerpoint/2010/main" val="396725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 fontScale="850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Course Structure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Lecture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Interactive and inclusive environment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Feel free at any time during lecture to ask a question and make a comment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Lecture will be recorded and delivered on Blackboard if necessary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In-class lab exercise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Work individually on the in-class exercise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Guidance will be provided; demonstration will be provided if necessary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When submit exercise, </a:t>
            </a:r>
            <a:r>
              <a:rPr lang="en-US" altLang="en-US" sz="1800" dirty="0">
                <a:solidFill>
                  <a:srgbClr val="FF0000"/>
                </a:solidFill>
              </a:rPr>
              <a:t>copy questions in the guidance and provide answers in a word file</a:t>
            </a:r>
            <a:endParaRPr lang="en-US" altLang="en-US" sz="18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Feel free at any time to ask a question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Field work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On campus data collection and off-campus your group data collection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Drone flying practice on campus, may fly off-campus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90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 fontScale="92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Final Group Project (based on GNSS/GPS)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Design research question (guidance will be introduced in lecture time)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Collection you own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Map and analyze your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Present your project on the final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Submit your report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Quiz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00" dirty="0"/>
              <a:t>Quiz based on lecture note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00" dirty="0"/>
              <a:t>Multiple choice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00" dirty="0"/>
              <a:t>Quiz will be delivered on Blackboard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00" dirty="0">
                <a:solidFill>
                  <a:srgbClr val="FF0000"/>
                </a:solidFill>
              </a:rPr>
              <a:t>One page and one side of A4 cheat sheet is allowed</a:t>
            </a:r>
          </a:p>
          <a:p>
            <a:pPr marL="411480" lvl="1" indent="0">
              <a:buNone/>
            </a:pPr>
            <a:endParaRPr lang="en-US" altLang="en-US" sz="21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83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Book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160" b="0" i="1" u="none" strike="noStrike" baseline="0" dirty="0">
                <a:solidFill>
                  <a:srgbClr val="000000"/>
                </a:solidFill>
              </a:rPr>
              <a:t>Understanding GPS: Principles and Applications </a:t>
            </a:r>
            <a:r>
              <a:rPr lang="en-US" sz="2160" b="0" i="0" u="none" strike="noStrike" baseline="0" dirty="0">
                <a:solidFill>
                  <a:srgbClr val="000000"/>
                </a:solidFill>
              </a:rPr>
              <a:t>edited by Elliott D. Kaplan and Christopher J. Hegarty (ISBN-10: 1580538940; ISBN-13: 9781580538947) (</a:t>
            </a:r>
            <a:r>
              <a:rPr lang="en-US" sz="2160" dirty="0">
                <a:hlinkClick r:id="rId3"/>
              </a:rPr>
              <a:t>https://d1.amobbs.com/bbs_upload782111/files_33/ourdev_584835O21W59.pdf</a:t>
            </a:r>
            <a:r>
              <a:rPr lang="en-US" sz="2160" b="0" i="0" u="none" strike="noStrike" baseline="0" dirty="0">
                <a:solidFill>
                  <a:srgbClr val="000000"/>
                </a:solidFill>
              </a:rPr>
              <a:t>)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160" b="0" i="1" u="none" strike="noStrike" baseline="0" dirty="0">
                <a:solidFill>
                  <a:srgbClr val="000000"/>
                </a:solidFill>
              </a:rPr>
              <a:t>Fundamentals of Capturing and Processing Drone Imagery and Data </a:t>
            </a:r>
            <a:r>
              <a:rPr lang="en-US" sz="2160" b="0" i="0" u="none" strike="noStrike" baseline="0" dirty="0">
                <a:solidFill>
                  <a:srgbClr val="000000"/>
                </a:solidFill>
              </a:rPr>
              <a:t>edited by Amy E. Frazier and Kunwar K. Singh (ISBN 9780367245726)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160" b="0" i="0" u="none" strike="noStrike" baseline="0" dirty="0">
              <a:solidFill>
                <a:srgbClr val="0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42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ding policy">
            <a:extLst>
              <a:ext uri="{FF2B5EF4-FFF2-40B4-BE49-F238E27FC236}">
                <a16:creationId xmlns:a16="http://schemas.microsoft.com/office/drawing/2014/main" id="{64595699-A21D-50E0-0D6F-6FC07EEE9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794" y="1104075"/>
            <a:ext cx="6161065" cy="3874560"/>
          </a:xfrm>
          <a:prstGeom prst="rect">
            <a:avLst/>
          </a:prstGeom>
        </p:spPr>
      </p:pic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Grading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7030A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93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Grading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7030A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 descr="Final report component">
            <a:extLst>
              <a:ext uri="{FF2B5EF4-FFF2-40B4-BE49-F238E27FC236}">
                <a16:creationId xmlns:a16="http://schemas.microsoft.com/office/drawing/2014/main" id="{7CE43B62-5D88-AB89-5197-3C2C801D0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875" y="1126411"/>
            <a:ext cx="4937125" cy="389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57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b="0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</a:rPr>
              <a:t>Schedule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Picture 5" descr="class schedule">
            <a:extLst>
              <a:ext uri="{FF2B5EF4-FFF2-40B4-BE49-F238E27FC236}">
                <a16:creationId xmlns:a16="http://schemas.microsoft.com/office/drawing/2014/main" id="{9FA30F36-99F2-3F3B-685F-E43F3EB5E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" y="1686940"/>
            <a:ext cx="7679724" cy="2705704"/>
          </a:xfrm>
          <a:prstGeom prst="rect">
            <a:avLst/>
          </a:prstGeom>
        </p:spPr>
      </p:pic>
      <p:sp>
        <p:nvSpPr>
          <p:cNvPr id="8" name="Rectangle 7" descr="red box">
            <a:extLst>
              <a:ext uri="{FF2B5EF4-FFF2-40B4-BE49-F238E27FC236}">
                <a16:creationId xmlns:a16="http://schemas.microsoft.com/office/drawing/2014/main" id="{B840803F-88C0-AB9B-3014-3E5274AF5A80}"/>
              </a:ext>
            </a:extLst>
          </p:cNvPr>
          <p:cNvSpPr/>
          <p:nvPr/>
        </p:nvSpPr>
        <p:spPr>
          <a:xfrm>
            <a:off x="5422006" y="1686940"/>
            <a:ext cx="1429555" cy="2705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 descr="red box">
            <a:extLst>
              <a:ext uri="{FF2B5EF4-FFF2-40B4-BE49-F238E27FC236}">
                <a16:creationId xmlns:a16="http://schemas.microsoft.com/office/drawing/2014/main" id="{B85DF5B4-C978-0CD5-C4E3-8DBB9A101AF0}"/>
              </a:ext>
            </a:extLst>
          </p:cNvPr>
          <p:cNvSpPr/>
          <p:nvPr/>
        </p:nvSpPr>
        <p:spPr>
          <a:xfrm>
            <a:off x="1473406" y="3654949"/>
            <a:ext cx="3804980" cy="258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24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b="0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</a:rPr>
              <a:t>Schedule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4B5EB9-FB35-78D6-B17C-4687EE7BC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" y="1923491"/>
            <a:ext cx="7983850" cy="2463890"/>
          </a:xfrm>
          <a:prstGeom prst="rect">
            <a:avLst/>
          </a:prstGeom>
        </p:spPr>
      </p:pic>
      <p:sp>
        <p:nvSpPr>
          <p:cNvPr id="8" name="Rectangle 7" descr="red box">
            <a:extLst>
              <a:ext uri="{FF2B5EF4-FFF2-40B4-BE49-F238E27FC236}">
                <a16:creationId xmlns:a16="http://schemas.microsoft.com/office/drawing/2014/main" id="{120EFDA9-463F-330A-2FE5-1A3A48A89A3B}"/>
              </a:ext>
            </a:extLst>
          </p:cNvPr>
          <p:cNvSpPr/>
          <p:nvPr/>
        </p:nvSpPr>
        <p:spPr>
          <a:xfrm>
            <a:off x="1473405" y="2323075"/>
            <a:ext cx="4090267" cy="4973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 descr="red box">
            <a:extLst>
              <a:ext uri="{FF2B5EF4-FFF2-40B4-BE49-F238E27FC236}">
                <a16:creationId xmlns:a16="http://schemas.microsoft.com/office/drawing/2014/main" id="{FC19A788-ED2F-F3E7-4867-710D32DE5AB3}"/>
              </a:ext>
            </a:extLst>
          </p:cNvPr>
          <p:cNvSpPr/>
          <p:nvPr/>
        </p:nvSpPr>
        <p:spPr>
          <a:xfrm>
            <a:off x="1473406" y="2028057"/>
            <a:ext cx="1527372" cy="190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 descr="red box">
            <a:extLst>
              <a:ext uri="{FF2B5EF4-FFF2-40B4-BE49-F238E27FC236}">
                <a16:creationId xmlns:a16="http://schemas.microsoft.com/office/drawing/2014/main" id="{288F79C5-10DB-F72D-41DA-4B4EECC6F163}"/>
              </a:ext>
            </a:extLst>
          </p:cNvPr>
          <p:cNvSpPr/>
          <p:nvPr/>
        </p:nvSpPr>
        <p:spPr>
          <a:xfrm>
            <a:off x="5624306" y="1900912"/>
            <a:ext cx="1527372" cy="2440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777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Place for slides, video, and submitting lab exercise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Picture 5" descr="blackboard website">
            <a:extLst>
              <a:ext uri="{FF2B5EF4-FFF2-40B4-BE49-F238E27FC236}">
                <a16:creationId xmlns:a16="http://schemas.microsoft.com/office/drawing/2014/main" id="{34D79816-DE12-DBF3-FC62-2BF83683D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4020"/>
            <a:ext cx="8229600" cy="229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67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lackboard website">
            <a:extLst>
              <a:ext uri="{FF2B5EF4-FFF2-40B4-BE49-F238E27FC236}">
                <a16:creationId xmlns:a16="http://schemas.microsoft.com/office/drawing/2014/main" id="{12D3AFF6-2061-0555-7607-35584B088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847609"/>
            <a:ext cx="7495503" cy="3028486"/>
          </a:xfrm>
          <a:prstGeom prst="rect">
            <a:avLst/>
          </a:prstGeom>
        </p:spPr>
      </p:pic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Place for slides, video, and submitting lab exercise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4FF8D7-D348-4711-9A99-391B6C6D57D8}"/>
              </a:ext>
            </a:extLst>
          </p:cNvPr>
          <p:cNvSpPr/>
          <p:nvPr/>
        </p:nvSpPr>
        <p:spPr>
          <a:xfrm>
            <a:off x="302741" y="3245796"/>
            <a:ext cx="804003" cy="232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 descr="red box">
            <a:extLst>
              <a:ext uri="{FF2B5EF4-FFF2-40B4-BE49-F238E27FC236}">
                <a16:creationId xmlns:a16="http://schemas.microsoft.com/office/drawing/2014/main" id="{F50BCFE0-368A-473A-BC7C-ED5B5E7504EF}"/>
              </a:ext>
            </a:extLst>
          </p:cNvPr>
          <p:cNvSpPr/>
          <p:nvPr/>
        </p:nvSpPr>
        <p:spPr>
          <a:xfrm>
            <a:off x="1742720" y="4391006"/>
            <a:ext cx="1108802" cy="273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92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Attendance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b="0" i="0" u="none" strike="noStrike" baseline="0" dirty="0"/>
              <a:t>Prolonged absence from class will inhibit your understanding of the lecture material and prevent you from receiving help on </a:t>
            </a:r>
            <a:r>
              <a:rPr lang="en-US" sz="1800" dirty="0"/>
              <a:t>assignments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FF0000"/>
                </a:solidFill>
              </a:rPr>
              <a:t>Up to 3 times of absence may result in moving out from this class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b="0" i="0" u="none" strike="noStrike" baseline="0" dirty="0">
                <a:solidFill>
                  <a:srgbClr val="FF0000"/>
                </a:solidFill>
              </a:rPr>
              <a:t>If you cannot attend class, please contact me before </a:t>
            </a:r>
            <a:r>
              <a:rPr lang="en-US" sz="1800" dirty="0">
                <a:solidFill>
                  <a:srgbClr val="FF0000"/>
                </a:solidFill>
              </a:rPr>
              <a:t>class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Covid-19 related absences are acceptable, please contact me for re-arranging lab exercise </a:t>
            </a:r>
            <a:r>
              <a:rPr lang="en-US" sz="1800" dirty="0" err="1"/>
              <a:t>etc</a:t>
            </a:r>
            <a:endParaRPr lang="en-US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12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b="0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</a:rPr>
              <a:t>After this course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Explain GNSS principles and concepts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000000"/>
                </a:solidFill>
              </a:rPr>
              <a:t>C</a:t>
            </a:r>
            <a:r>
              <a:rPr lang="en-US" sz="1800" b="0" i="0" u="none" strike="noStrike" baseline="0" dirty="0">
                <a:solidFill>
                  <a:srgbClr val="000000"/>
                </a:solidFill>
              </a:rPr>
              <a:t>ollect spatial data using GPS and cell phone through Esri Collector and </a:t>
            </a:r>
            <a:r>
              <a:rPr lang="en-US" sz="1800" b="0" i="0" u="none" strike="noStrike" baseline="0" dirty="0" err="1">
                <a:solidFill>
                  <a:srgbClr val="000000"/>
                </a:solidFill>
              </a:rPr>
              <a:t>Suvey123</a:t>
            </a:r>
            <a:r>
              <a:rPr lang="en-US" sz="1800" b="0" i="0" u="none" strike="noStrike" baseline="0" dirty="0">
                <a:solidFill>
                  <a:srgbClr val="000000"/>
                </a:solidFill>
              </a:rPr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000000"/>
                </a:solidFill>
              </a:rPr>
              <a:t>I</a:t>
            </a:r>
            <a:r>
              <a:rPr lang="en-US" sz="1800" b="0" i="0" u="none" strike="noStrike" baseline="0" dirty="0">
                <a:solidFill>
                  <a:srgbClr val="000000"/>
                </a:solidFill>
              </a:rPr>
              <a:t>mplement field data into GIS software (Esri ArcGIS)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000000"/>
                </a:solidFill>
              </a:rPr>
              <a:t>P</a:t>
            </a:r>
            <a:r>
              <a:rPr lang="en-US" sz="1800" b="0" i="0" u="none" strike="noStrike" baseline="0" dirty="0">
                <a:solidFill>
                  <a:srgbClr val="000000"/>
                </a:solidFill>
              </a:rPr>
              <a:t>roduce maps using ArcGIS online mapping technique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xplain UAV concepts and regulations</a:t>
            </a:r>
            <a:endParaRPr lang="en-US" sz="18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ly UAV</a:t>
            </a:r>
            <a:endParaRPr lang="en-US" sz="18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rocess UAV images using GIS software (Esri ArcGIS)</a:t>
            </a:r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000000"/>
                </a:solidFill>
              </a:rPr>
              <a:t>A</a:t>
            </a:r>
            <a:r>
              <a:rPr lang="en-US" sz="1800" b="0" i="0" u="none" strike="noStrike" baseline="0" dirty="0">
                <a:solidFill>
                  <a:srgbClr val="000000"/>
                </a:solidFill>
              </a:rPr>
              <a:t>ddress a spatial problem using collected data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39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 fontScale="850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Structure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In-person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Lecture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Lab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Field work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Online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FF0000"/>
                </a:solidFill>
              </a:rPr>
              <a:t>Office hour through Zoom (TR 10:00 am to 11:50 am)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Zoom link has been posted on Blackboard and emailed to you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Please email me to make an appointment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00" dirty="0"/>
              <a:t>Record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40" dirty="0"/>
              <a:t>Lecture if necessary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40" dirty="0">
                <a:solidFill>
                  <a:srgbClr val="FF0000"/>
                </a:solidFill>
              </a:rPr>
              <a:t>The recorded video will only send the student who requested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>
                <a:solidFill>
                  <a:srgbClr val="FF0000"/>
                </a:solidFill>
              </a:rPr>
              <a:t>May Change!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Please regularly check your Blackboard or email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4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7030A0"/>
                </a:solidFill>
              </a:rPr>
              <a:t>Contact Info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60" dirty="0"/>
              <a:t>Lewis 036</a:t>
            </a:r>
            <a:endParaRPr lang="en-US" altLang="en-US" sz="216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Office Hour: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TR 10:00-11:50 am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Through Zoom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Email: yhe@uca.edu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Course overview and expectations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42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7679724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Mapping Techniques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ArcGIS online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Mapping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Analyze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Dashboard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ArcGIS Pro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M</a:t>
            </a:r>
            <a:r>
              <a:rPr lang="en-US" altLang="zh-CN" sz="3200" dirty="0">
                <a:solidFill>
                  <a:srgbClr val="7030A0"/>
                </a:solidFill>
              </a:rPr>
              <a:t>apping software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6" name="Picture 5" descr="ArcGIS online ">
            <a:extLst>
              <a:ext uri="{FF2B5EF4-FFF2-40B4-BE49-F238E27FC236}">
                <a16:creationId xmlns:a16="http://schemas.microsoft.com/office/drawing/2014/main" id="{9DA98060-F0D1-4CC4-A628-8CC201FB0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076" y="962643"/>
            <a:ext cx="4500658" cy="1996632"/>
          </a:xfrm>
          <a:prstGeom prst="rect">
            <a:avLst/>
          </a:prstGeom>
        </p:spPr>
      </p:pic>
      <p:pic>
        <p:nvPicPr>
          <p:cNvPr id="8" name="Picture 7" descr="Dashboards">
            <a:extLst>
              <a:ext uri="{FF2B5EF4-FFF2-40B4-BE49-F238E27FC236}">
                <a16:creationId xmlns:a16="http://schemas.microsoft.com/office/drawing/2014/main" id="{D0D4EE38-F2C9-4028-AC84-21ACA764F4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351" r="10009" b="6624"/>
          <a:stretch/>
        </p:blipFill>
        <p:spPr>
          <a:xfrm>
            <a:off x="3695075" y="3089841"/>
            <a:ext cx="1138541" cy="996132"/>
          </a:xfrm>
          <a:prstGeom prst="rect">
            <a:avLst/>
          </a:prstGeom>
        </p:spPr>
      </p:pic>
      <p:pic>
        <p:nvPicPr>
          <p:cNvPr id="10" name="Picture 9" descr="ArcGIS pro">
            <a:extLst>
              <a:ext uri="{FF2B5EF4-FFF2-40B4-BE49-F238E27FC236}">
                <a16:creationId xmlns:a16="http://schemas.microsoft.com/office/drawing/2014/main" id="{535315F3-EE1D-4A89-9A80-47B18890D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551" y="3050958"/>
            <a:ext cx="3148849" cy="168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8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Mapping software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Pro installed in your own PC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>
                <a:solidFill>
                  <a:srgbClr val="FF0000"/>
                </a:solidFill>
              </a:rPr>
              <a:t>Please check your email, an invitation to set up your ArcGIS online account has been sent to you!</a:t>
            </a:r>
          </a:p>
        </p:txBody>
      </p:sp>
      <p:pic>
        <p:nvPicPr>
          <p:cNvPr id="8" name="Picture 7" descr="ArcGIS online log in">
            <a:extLst>
              <a:ext uri="{FF2B5EF4-FFF2-40B4-BE49-F238E27FC236}">
                <a16:creationId xmlns:a16="http://schemas.microsoft.com/office/drawing/2014/main" id="{4573FB29-2340-4841-A3FE-B7E5286F2B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312" r="30577"/>
          <a:stretch/>
        </p:blipFill>
        <p:spPr>
          <a:xfrm>
            <a:off x="2944328" y="2381181"/>
            <a:ext cx="2065663" cy="253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46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rcGIS online website">
            <a:extLst>
              <a:ext uri="{FF2B5EF4-FFF2-40B4-BE49-F238E27FC236}">
                <a16:creationId xmlns:a16="http://schemas.microsoft.com/office/drawing/2014/main" id="{81D90975-A000-48FB-A203-5D8ED9EBF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67" y="1454268"/>
            <a:ext cx="7397262" cy="339742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Mapping software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Pro installed in your own PC </a:t>
            </a:r>
          </a:p>
        </p:txBody>
      </p:sp>
      <p:sp>
        <p:nvSpPr>
          <p:cNvPr id="9" name="Rectangle 8" descr="red box">
            <a:extLst>
              <a:ext uri="{FF2B5EF4-FFF2-40B4-BE49-F238E27FC236}">
                <a16:creationId xmlns:a16="http://schemas.microsoft.com/office/drawing/2014/main" id="{185F94B4-2F72-47BF-9FAA-D84683A8426A}"/>
              </a:ext>
            </a:extLst>
          </p:cNvPr>
          <p:cNvSpPr/>
          <p:nvPr/>
        </p:nvSpPr>
        <p:spPr>
          <a:xfrm>
            <a:off x="6332749" y="2130407"/>
            <a:ext cx="635619" cy="182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28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rcGIS online website">
            <a:extLst>
              <a:ext uri="{FF2B5EF4-FFF2-40B4-BE49-F238E27FC236}">
                <a16:creationId xmlns:a16="http://schemas.microsoft.com/office/drawing/2014/main" id="{3D8C5A7D-A1CB-47DD-8557-AF2F1CAF3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1" y="1496681"/>
            <a:ext cx="7172441" cy="341948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Mapping software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Pro installed in your own PC</a:t>
            </a:r>
          </a:p>
        </p:txBody>
      </p:sp>
      <p:sp>
        <p:nvSpPr>
          <p:cNvPr id="8" name="Rectangle 7" descr="red box">
            <a:extLst>
              <a:ext uri="{FF2B5EF4-FFF2-40B4-BE49-F238E27FC236}">
                <a16:creationId xmlns:a16="http://schemas.microsoft.com/office/drawing/2014/main" id="{E3E001B6-80B8-4CA2-A8FD-270CDF8C31DB}"/>
              </a:ext>
            </a:extLst>
          </p:cNvPr>
          <p:cNvSpPr/>
          <p:nvPr/>
        </p:nvSpPr>
        <p:spPr>
          <a:xfrm>
            <a:off x="525537" y="2773508"/>
            <a:ext cx="646771" cy="2118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00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rcGIS online website">
            <a:extLst>
              <a:ext uri="{FF2B5EF4-FFF2-40B4-BE49-F238E27FC236}">
                <a16:creationId xmlns:a16="http://schemas.microsoft.com/office/drawing/2014/main" id="{4E1B8593-B5CA-4BCC-8DEC-72CAD8E5E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45" y="1523682"/>
            <a:ext cx="7106298" cy="339248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Mapping software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Pro installed in your own PC</a:t>
            </a:r>
          </a:p>
        </p:txBody>
      </p:sp>
      <p:sp>
        <p:nvSpPr>
          <p:cNvPr id="6" name="Rectangle 5" descr="red box">
            <a:extLst>
              <a:ext uri="{FF2B5EF4-FFF2-40B4-BE49-F238E27FC236}">
                <a16:creationId xmlns:a16="http://schemas.microsoft.com/office/drawing/2014/main" id="{79844E2D-9994-4AE6-AF8D-CC66607003A7}"/>
              </a:ext>
            </a:extLst>
          </p:cNvPr>
          <p:cNvSpPr/>
          <p:nvPr/>
        </p:nvSpPr>
        <p:spPr>
          <a:xfrm>
            <a:off x="2219093" y="3681328"/>
            <a:ext cx="1449658" cy="295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36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Software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Windows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>
                <a:latin typeface="Avenir Next W01"/>
              </a:rPr>
              <a:t>Software requirement: </a:t>
            </a:r>
            <a:r>
              <a:rPr lang="en-US" sz="2240" i="0" dirty="0">
                <a:effectLst/>
                <a:latin typeface="Avenir Next W01"/>
              </a:rPr>
              <a:t>Microsoft .NET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Hardware requirement: </a:t>
            </a:r>
            <a:r>
              <a:rPr lang="en-US" altLang="en-US" sz="2240" dirty="0">
                <a:hlinkClick r:id="rId3"/>
              </a:rPr>
              <a:t>https://pro.arcgis.com/en/pro-app/latest/get-started/arcgis-pro-system-requirements.htm</a:t>
            </a:r>
            <a:r>
              <a:rPr lang="en-US" altLang="en-US" sz="2240" dirty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022913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291FF39-F880-40B7-B53F-ED193CB12C5D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E6D08C77-A0BB-4C7C-A739-9DC074C9805B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Mapping software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1FC749D7-5F19-41FF-9A92-F64FBCE89A9C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ArcGIS Pro installed on Mac/other computer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0066438C-C931-4F64-892C-2BDEBC269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87031"/>
            <a:ext cx="7406640" cy="2372061"/>
          </a:xfrm>
        </p:spPr>
        <p:txBody>
          <a:bodyPr>
            <a:normAutofit/>
          </a:bodyPr>
          <a:lstStyle/>
          <a:p>
            <a:pPr algn="l"/>
            <a:r>
              <a:rPr lang="sv-SE" sz="2200" dirty="0"/>
              <a:t>ESRI </a:t>
            </a:r>
            <a:r>
              <a:rPr lang="sv-SE" sz="2200" dirty="0">
                <a:hlinkClick r:id="rId2"/>
              </a:rPr>
              <a:t>https://pro.arcgis.com/en/pro-app/latest/get-started/run-pro-on-a-mac.htm</a:t>
            </a:r>
            <a:r>
              <a:rPr lang="sv-SE" sz="2200" dirty="0"/>
              <a:t> </a:t>
            </a:r>
            <a:br>
              <a:rPr lang="sv-SE" sz="2200" dirty="0"/>
            </a:br>
            <a:br>
              <a:rPr lang="sv-SE" sz="2200" dirty="0"/>
            </a:br>
            <a:r>
              <a:rPr lang="it-IT" sz="2200" dirty="0"/>
              <a:t>Harvard</a:t>
            </a:r>
            <a:br>
              <a:rPr lang="it-IT" sz="2200" dirty="0"/>
            </a:br>
            <a:r>
              <a:rPr lang="it-IT" sz="2200" dirty="0">
                <a:hlinkClick r:id="rId3"/>
              </a:rPr>
              <a:t>https://gis.harvard.edu/faq/how-installing-arcgis-desktop-or-pro-mac-computer</a:t>
            </a:r>
            <a:r>
              <a:rPr lang="it-IT" sz="2200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921C5-92AA-414D-B087-ABA3DC3FD5E2}"/>
              </a:ext>
            </a:extLst>
          </p:cNvPr>
          <p:cNvSpPr txBox="1"/>
          <p:nvPr/>
        </p:nvSpPr>
        <p:spPr>
          <a:xfrm>
            <a:off x="411480" y="1526963"/>
            <a:ext cx="579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084AC3-3029-40BA-9643-8DDC47CCE215}"/>
              </a:ext>
            </a:extLst>
          </p:cNvPr>
          <p:cNvSpPr txBox="1"/>
          <p:nvPr/>
        </p:nvSpPr>
        <p:spPr>
          <a:xfrm>
            <a:off x="411480" y="4437931"/>
            <a:ext cx="5795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PCs (e.g., Chromebook, Microsoft surface)</a:t>
            </a:r>
          </a:p>
          <a:p>
            <a:r>
              <a:rPr lang="en-US" dirty="0"/>
              <a:t>Please talk with/email to 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43DDA2-F949-4DD4-9259-8AC6FAA3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64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Survey tools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8" name="Picture 7" descr="Survey123">
            <a:extLst>
              <a:ext uri="{FF2B5EF4-FFF2-40B4-BE49-F238E27FC236}">
                <a16:creationId xmlns:a16="http://schemas.microsoft.com/office/drawing/2014/main" id="{569D27EE-D8CB-4468-99B0-082041FF6CF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682" y="1022636"/>
            <a:ext cx="2108177" cy="3722042"/>
          </a:xfrm>
          <a:prstGeom prst="rect">
            <a:avLst/>
          </a:prstGeom>
        </p:spPr>
      </p:pic>
      <p:sp>
        <p:nvSpPr>
          <p:cNvPr id="7" name="Rectangle 1027">
            <a:extLst>
              <a:ext uri="{FF2B5EF4-FFF2-40B4-BE49-F238E27FC236}">
                <a16:creationId xmlns:a16="http://schemas.microsoft.com/office/drawing/2014/main" id="{512740DB-CB65-4AFE-AC07-4905CBFCEFE0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525986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Survey123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Survey app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Create smart forms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Collect anytime, anywhere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Analyze &amp; share results</a:t>
            </a:r>
          </a:p>
          <a:p>
            <a:pPr marL="411480" lvl="1" indent="0">
              <a:buNone/>
            </a:pPr>
            <a:endParaRPr lang="en-US" altLang="en-US" sz="2160" dirty="0"/>
          </a:p>
        </p:txBody>
      </p:sp>
    </p:spTree>
    <p:extLst>
      <p:ext uri="{BB962C8B-B14F-4D97-AF65-F5344CB8AC3E}">
        <p14:creationId xmlns:p14="http://schemas.microsoft.com/office/powerpoint/2010/main" val="898730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Survey tools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512740DB-CB65-4AFE-AC07-4905CBFCEFE0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525986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Collector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Survey app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Create a smart feature layer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Collect anytime, anywhere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Analyze &amp; share results</a:t>
            </a:r>
          </a:p>
          <a:p>
            <a:pPr marL="411480" lvl="1" indent="0">
              <a:buNone/>
            </a:pPr>
            <a:endParaRPr lang="en-US" altLang="en-US" sz="2160" dirty="0"/>
          </a:p>
        </p:txBody>
      </p:sp>
      <p:pic>
        <p:nvPicPr>
          <p:cNvPr id="9" name="Picture 8" descr="ArcGIS Collector">
            <a:extLst>
              <a:ext uri="{FF2B5EF4-FFF2-40B4-BE49-F238E27FC236}">
                <a16:creationId xmlns:a16="http://schemas.microsoft.com/office/drawing/2014/main" id="{9191BE41-66C0-453C-8EDF-5747447CFB0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439" y="1048083"/>
            <a:ext cx="2160681" cy="369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5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Survey tools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97880" y="4733467"/>
            <a:ext cx="1920240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512740DB-CB65-4AFE-AC07-4905CBFCEFE0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525986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DJF </a:t>
            </a:r>
            <a:r>
              <a:rPr lang="en-US" sz="2600" dirty="0"/>
              <a:t>Phantom IV</a:t>
            </a:r>
            <a:r>
              <a:rPr lang="en-US" altLang="en-US" sz="2600" dirty="0"/>
              <a:t> </a:t>
            </a:r>
          </a:p>
          <a:p>
            <a:pPr marL="411480" lvl="1" indent="0">
              <a:buNone/>
            </a:pPr>
            <a:endParaRPr lang="en-US" altLang="en-US" sz="2160" dirty="0"/>
          </a:p>
          <a:p>
            <a:pPr marL="411480" lvl="1" indent="0">
              <a:buNone/>
            </a:pPr>
            <a:endParaRPr lang="en-US" altLang="en-US" sz="216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5F64A319-4AFF-FF0C-F722-E3D583CA4D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DJI">
            <a:extLst>
              <a:ext uri="{FF2B5EF4-FFF2-40B4-BE49-F238E27FC236}">
                <a16:creationId xmlns:a16="http://schemas.microsoft.com/office/drawing/2014/main" id="{6B033E9B-2A3C-033A-3EA8-47A6D1BA6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3440" y="1965429"/>
            <a:ext cx="3132894" cy="23496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BD6AD7-6A85-5882-042B-80C9AA1C146B}"/>
              </a:ext>
            </a:extLst>
          </p:cNvPr>
          <p:cNvSpPr txBox="1"/>
          <p:nvPr/>
        </p:nvSpPr>
        <p:spPr>
          <a:xfrm>
            <a:off x="1364086" y="4760236"/>
            <a:ext cx="740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John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EC510-BA6B-124C-699E-D994E8B8CA8C}"/>
              </a:ext>
            </a:extLst>
          </p:cNvPr>
          <p:cNvSpPr txBox="1"/>
          <p:nvPr/>
        </p:nvSpPr>
        <p:spPr>
          <a:xfrm>
            <a:off x="3212422" y="1040338"/>
            <a:ext cx="50171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1800" dirty="0"/>
              <a:t> </a:t>
            </a:r>
            <a:r>
              <a:rPr lang="en-US" altLang="en-US" sz="2600" dirty="0"/>
              <a:t>DJF Ground Station Pro (only iPad) </a:t>
            </a:r>
          </a:p>
        </p:txBody>
      </p:sp>
      <p:pic>
        <p:nvPicPr>
          <p:cNvPr id="14" name="Picture 13" descr="GSP logo">
            <a:extLst>
              <a:ext uri="{FF2B5EF4-FFF2-40B4-BE49-F238E27FC236}">
                <a16:creationId xmlns:a16="http://schemas.microsoft.com/office/drawing/2014/main" id="{C816D00B-E947-38A7-70B0-0366FED46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759" y="1532781"/>
            <a:ext cx="943991" cy="9979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710BA00-E6E1-0422-3B8D-2ABF6ED81AF1}"/>
              </a:ext>
            </a:extLst>
          </p:cNvPr>
          <p:cNvSpPr txBox="1"/>
          <p:nvPr/>
        </p:nvSpPr>
        <p:spPr>
          <a:xfrm>
            <a:off x="3212422" y="3697392"/>
            <a:ext cx="413411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1800" dirty="0"/>
              <a:t> </a:t>
            </a:r>
            <a:r>
              <a:rPr lang="en-US" altLang="en-US" sz="2600" dirty="0"/>
              <a:t>DJF GO 4 </a:t>
            </a:r>
          </a:p>
        </p:txBody>
      </p:sp>
      <p:pic>
        <p:nvPicPr>
          <p:cNvPr id="17" name="Picture 16" descr="DJI GO 4 logo">
            <a:extLst>
              <a:ext uri="{FF2B5EF4-FFF2-40B4-BE49-F238E27FC236}">
                <a16:creationId xmlns:a16="http://schemas.microsoft.com/office/drawing/2014/main" id="{F7EABB71-37A4-2622-81AE-CD21B2EB2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561" y="3453075"/>
            <a:ext cx="942975" cy="9810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CFE468A-CFA5-AEF4-DA7A-C38B393E9082}"/>
              </a:ext>
            </a:extLst>
          </p:cNvPr>
          <p:cNvSpPr txBox="1"/>
          <p:nvPr/>
        </p:nvSpPr>
        <p:spPr>
          <a:xfrm>
            <a:off x="3089691" y="4841730"/>
            <a:ext cx="413411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https://www.dji.com/downloads/djiapp/dji-go-4</a:t>
            </a:r>
          </a:p>
        </p:txBody>
      </p:sp>
    </p:spTree>
    <p:extLst>
      <p:ext uri="{BB962C8B-B14F-4D97-AF65-F5344CB8AC3E}">
        <p14:creationId xmlns:p14="http://schemas.microsoft.com/office/powerpoint/2010/main" val="3897734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A6C39-1357-48E7-B112-44F3E9946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6ABCD1-E385-4C20-8ED7-784A47BC8B39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BD16B9E-758F-41A8-8DF1-136A68F13A36}"/>
              </a:ext>
            </a:extLst>
          </p:cNvPr>
          <p:cNvSpPr txBox="1"/>
          <p:nvPr/>
        </p:nvSpPr>
        <p:spPr>
          <a:xfrm>
            <a:off x="1594339" y="2566753"/>
            <a:ext cx="54277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</a:t>
            </a:r>
            <a:r>
              <a:rPr lang="en-US" altLang="zh-CN" sz="3200" dirty="0"/>
              <a:t>heck ArcGIS Online Account</a:t>
            </a:r>
            <a:endParaRPr lang="en-US" sz="3200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4660061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 txBox="1">
            <a:spLocks/>
          </p:cNvSpPr>
          <p:nvPr/>
        </p:nvSpPr>
        <p:spPr>
          <a:xfrm>
            <a:off x="3909061" y="1547726"/>
            <a:ext cx="2983229" cy="2880360"/>
          </a:xfrm>
          <a:prstGeom prst="rect">
            <a:avLst/>
          </a:prstGeom>
        </p:spPr>
        <p:txBody>
          <a:bodyPr vert="horz" lIns="61722" tIns="30861" rIns="61722" bIns="30861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20" dirty="0">
              <a:solidFill>
                <a:prstClr val="white"/>
              </a:solidFill>
              <a:latin typeface="Corbe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4306" y="1547727"/>
            <a:ext cx="3754755" cy="3058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Job titles include: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dirty="0"/>
              <a:t>GIS Technician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dirty="0"/>
              <a:t>GIS Analyst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dirty="0"/>
              <a:t>Remote Sensing Analyst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dirty="0"/>
              <a:t>GIS Programmer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dirty="0"/>
              <a:t>GIS Web Developer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dirty="0"/>
              <a:t>Aerial Survey Technician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dirty="0"/>
              <a:t>Survey Technician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dirty="0"/>
              <a:t>Image Analyst</a:t>
            </a:r>
          </a:p>
          <a:p>
            <a:pPr>
              <a:lnSpc>
                <a:spcPct val="90000"/>
              </a:lnSpc>
            </a:pPr>
            <a:r>
              <a:rPr lang="en-US" dirty="0"/>
              <a:t>Etc.</a:t>
            </a:r>
          </a:p>
          <a:p>
            <a:pPr>
              <a:lnSpc>
                <a:spcPct val="90000"/>
              </a:lnSpc>
            </a:pPr>
            <a:endParaRPr lang="en-GB" sz="1620" dirty="0">
              <a:solidFill>
                <a:prstClr val="white"/>
              </a:solidFill>
              <a:latin typeface="Corbel"/>
            </a:endParaRPr>
          </a:p>
        </p:txBody>
      </p:sp>
      <p:pic>
        <p:nvPicPr>
          <p:cNvPr id="3" name="Picture 2" descr="gic 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660604"/>
            <a:ext cx="2457536" cy="25289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14987" y="4290708"/>
            <a:ext cx="1452449" cy="466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15" dirty="0">
                <a:solidFill>
                  <a:prstClr val="white"/>
                </a:solidFill>
                <a:latin typeface="Corbel"/>
                <a:hlinkClick r:id="rId4"/>
              </a:rPr>
              <a:t>http://www.gjc.org/</a:t>
            </a:r>
            <a:endParaRPr lang="en-US" sz="1215" dirty="0">
              <a:solidFill>
                <a:prstClr val="white"/>
              </a:solidFill>
              <a:latin typeface="Corbel"/>
            </a:endParaRPr>
          </a:p>
          <a:p>
            <a:endParaRPr lang="en-US" sz="1215" dirty="0">
              <a:solidFill>
                <a:prstClr val="white"/>
              </a:solidFill>
              <a:latin typeface="Corbel"/>
            </a:endParaRPr>
          </a:p>
        </p:txBody>
      </p:sp>
      <p:pic>
        <p:nvPicPr>
          <p:cNvPr id="5" name="Picture 4" descr="gisjob websi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545" y="1800225"/>
            <a:ext cx="2507456" cy="5358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31971" y="2417446"/>
            <a:ext cx="1836015" cy="466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15" dirty="0">
                <a:solidFill>
                  <a:prstClr val="white"/>
                </a:solidFill>
                <a:latin typeface="Corbel"/>
                <a:hlinkClick r:id="rId6"/>
              </a:rPr>
              <a:t>https://www.gisjobs.com/</a:t>
            </a:r>
            <a:endParaRPr lang="en-US" sz="1215" dirty="0">
              <a:solidFill>
                <a:prstClr val="white"/>
              </a:solidFill>
              <a:latin typeface="Corbel"/>
            </a:endParaRPr>
          </a:p>
          <a:p>
            <a:endParaRPr lang="en-US" sz="1215" dirty="0">
              <a:solidFill>
                <a:prstClr val="white"/>
              </a:solidFill>
              <a:latin typeface="Corbel"/>
            </a:endParaRPr>
          </a:p>
        </p:txBody>
      </p:sp>
      <p:pic>
        <p:nvPicPr>
          <p:cNvPr id="8" name="Picture 7" descr="mygisjob websi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0902" y="2931796"/>
            <a:ext cx="2360088" cy="71364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53055" y="3776227"/>
            <a:ext cx="2041200" cy="466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15" dirty="0">
                <a:solidFill>
                  <a:prstClr val="white"/>
                </a:solidFill>
                <a:latin typeface="Corbel"/>
                <a:hlinkClick r:id="rId8"/>
              </a:rPr>
              <a:t>https://www.mygisjobs.com/</a:t>
            </a:r>
            <a:endParaRPr lang="en-US" sz="1215" dirty="0">
              <a:solidFill>
                <a:prstClr val="white"/>
              </a:solidFill>
              <a:latin typeface="Corbel"/>
            </a:endParaRPr>
          </a:p>
          <a:p>
            <a:endParaRPr lang="en-US" sz="1215" dirty="0">
              <a:solidFill>
                <a:prstClr val="white"/>
              </a:solidFill>
              <a:latin typeface="Corbel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C90C59-6C54-424C-A511-F0EE7372F920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DD1AB134-2CD2-4F4D-9482-5015A5663988}"/>
              </a:ext>
            </a:extLst>
          </p:cNvPr>
          <p:cNvSpPr txBox="1">
            <a:spLocks/>
          </p:cNvSpPr>
          <p:nvPr/>
        </p:nvSpPr>
        <p:spPr>
          <a:xfrm>
            <a:off x="3882683" y="1006464"/>
            <a:ext cx="4270717" cy="641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/>
              <a:t>Geospatial Job Market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101343-D2CE-4B12-8485-E9FB399A765F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Professional development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12170E-FC5D-4C16-A1BF-31D923A2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1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3" y="963899"/>
            <a:ext cx="4786130" cy="607989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Important Geospatial Skillsets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4" y="1594485"/>
            <a:ext cx="5527578" cy="2880360"/>
          </a:xfrm>
        </p:spPr>
        <p:txBody>
          <a:bodyPr numCol="2">
            <a:normAutofit fontScale="77500" lnSpcReduction="20000"/>
          </a:bodyPr>
          <a:lstStyle/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/>
              <a:t>Spatial problem solving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rgbClr val="FF0000"/>
                </a:solidFill>
              </a:rPr>
              <a:t>Spatial analysis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/>
              <a:t>Software troubleshooting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rgbClr val="FF0000"/>
                </a:solidFill>
              </a:rPr>
              <a:t>Statistics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/>
              <a:t>Spatial predictive modeling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/>
              <a:t>Database management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/>
              <a:t>Web GIS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/>
              <a:t>Python scripting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/>
              <a:t>Cartography/Map design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/>
              <a:t>Graphic design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rgbClr val="FF0000"/>
                </a:solidFill>
              </a:rPr>
              <a:t>Remote sensing/Image interpretation</a:t>
            </a:r>
          </a:p>
          <a:p>
            <a:pPr marL="642366" lvl="1" indent="-457200"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rgbClr val="FF0000"/>
                </a:solidFill>
              </a:rPr>
              <a:t>GPS technology</a:t>
            </a:r>
          </a:p>
          <a:p>
            <a:pPr marL="493776" lvl="1" indent="-30861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descr="DEM"/>
          <p:cNvPicPr>
            <a:picLocks noChangeAspect="1"/>
          </p:cNvPicPr>
          <p:nvPr/>
        </p:nvPicPr>
        <p:blipFill>
          <a:blip r:embed="rId3">
            <a:clrChange>
              <a:clrFrom>
                <a:srgbClr val="00C5FF"/>
              </a:clrFrom>
              <a:clrTo>
                <a:srgbClr val="00C5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97806" y="806319"/>
            <a:ext cx="2462451" cy="408908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85F81B-C4EF-4082-91F3-3C07EFC2A24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1AD26AA3-F4A4-44AD-9FA7-46D7D46377D7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Professional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E494A-A546-4B0C-8A77-63916505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2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Professional development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4119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Department of Geography @UCA</a:t>
            </a:r>
          </a:p>
        </p:txBody>
      </p:sp>
      <p:pic>
        <p:nvPicPr>
          <p:cNvPr id="11" name="Picture 10" descr="GIS program at UCA">
            <a:extLst>
              <a:ext uri="{FF2B5EF4-FFF2-40B4-BE49-F238E27FC236}">
                <a16:creationId xmlns:a16="http://schemas.microsoft.com/office/drawing/2014/main" id="{027DD874-D9EC-4BBC-9D5C-E6C0F2E9C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08" y="1635525"/>
            <a:ext cx="7419112" cy="29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265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Professional development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4119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Department of Geography @UCA</a:t>
            </a:r>
          </a:p>
        </p:txBody>
      </p:sp>
      <p:pic>
        <p:nvPicPr>
          <p:cNvPr id="6" name="Picture 5" descr="GIS program at UCA">
            <a:extLst>
              <a:ext uri="{FF2B5EF4-FFF2-40B4-BE49-F238E27FC236}">
                <a16:creationId xmlns:a16="http://schemas.microsoft.com/office/drawing/2014/main" id="{0BBB0616-3F56-4F02-93F1-E431409A0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75976"/>
            <a:ext cx="4327281" cy="3624442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755180C-531C-4749-8DF6-C18671BA9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789" y="1574079"/>
            <a:ext cx="3584331" cy="3193184"/>
          </a:xfrm>
          <a:prstGeom prst="rect">
            <a:avLst/>
          </a:prstGeom>
        </p:spPr>
      </p:pic>
      <p:sp>
        <p:nvSpPr>
          <p:cNvPr id="10" name="Rectangle 9" descr="red box">
            <a:extLst>
              <a:ext uri="{FF2B5EF4-FFF2-40B4-BE49-F238E27FC236}">
                <a16:creationId xmlns:a16="http://schemas.microsoft.com/office/drawing/2014/main" id="{2AF6C837-01A6-4D3D-A10C-B2DE2CE9809A}"/>
              </a:ext>
            </a:extLst>
          </p:cNvPr>
          <p:cNvSpPr/>
          <p:nvPr/>
        </p:nvSpPr>
        <p:spPr>
          <a:xfrm>
            <a:off x="531935" y="2468343"/>
            <a:ext cx="2765474" cy="234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 descr="red box">
            <a:extLst>
              <a:ext uri="{FF2B5EF4-FFF2-40B4-BE49-F238E27FC236}">
                <a16:creationId xmlns:a16="http://schemas.microsoft.com/office/drawing/2014/main" id="{EBFEC195-B990-4EF7-B426-DAC801F34B1A}"/>
              </a:ext>
            </a:extLst>
          </p:cNvPr>
          <p:cNvSpPr/>
          <p:nvPr/>
        </p:nvSpPr>
        <p:spPr>
          <a:xfrm>
            <a:off x="411480" y="3904383"/>
            <a:ext cx="2765474" cy="2753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 descr="red box">
            <a:extLst>
              <a:ext uri="{FF2B5EF4-FFF2-40B4-BE49-F238E27FC236}">
                <a16:creationId xmlns:a16="http://schemas.microsoft.com/office/drawing/2014/main" id="{1DDBB09F-A51E-45F0-9A4A-E9CF2CF65D88}"/>
              </a:ext>
            </a:extLst>
          </p:cNvPr>
          <p:cNvSpPr/>
          <p:nvPr/>
        </p:nvSpPr>
        <p:spPr>
          <a:xfrm>
            <a:off x="4233789" y="2656925"/>
            <a:ext cx="2741442" cy="273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 descr="red box">
            <a:extLst>
              <a:ext uri="{FF2B5EF4-FFF2-40B4-BE49-F238E27FC236}">
                <a16:creationId xmlns:a16="http://schemas.microsoft.com/office/drawing/2014/main" id="{2CE77C25-D766-41CB-9989-89F27A0850BD}"/>
              </a:ext>
            </a:extLst>
          </p:cNvPr>
          <p:cNvSpPr/>
          <p:nvPr/>
        </p:nvSpPr>
        <p:spPr>
          <a:xfrm>
            <a:off x="4233788" y="3067232"/>
            <a:ext cx="3315873" cy="273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 descr="red box">
            <a:extLst>
              <a:ext uri="{FF2B5EF4-FFF2-40B4-BE49-F238E27FC236}">
                <a16:creationId xmlns:a16="http://schemas.microsoft.com/office/drawing/2014/main" id="{19FD0D03-06E9-4708-9276-FEADA61B5323}"/>
              </a:ext>
            </a:extLst>
          </p:cNvPr>
          <p:cNvSpPr/>
          <p:nvPr/>
        </p:nvSpPr>
        <p:spPr>
          <a:xfrm>
            <a:off x="4142603" y="4385103"/>
            <a:ext cx="2926412" cy="2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845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Professional development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74743E1C-0078-4F20-AC2C-8A538D2F28E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4119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ESRI Academy</a:t>
            </a:r>
          </a:p>
        </p:txBody>
      </p:sp>
      <p:pic>
        <p:nvPicPr>
          <p:cNvPr id="8" name="Picture 7" descr="ESRI Academy">
            <a:extLst>
              <a:ext uri="{FF2B5EF4-FFF2-40B4-BE49-F238E27FC236}">
                <a16:creationId xmlns:a16="http://schemas.microsoft.com/office/drawing/2014/main" id="{DA80C20D-02B0-43A6-B04A-E653EACC0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1" y="1502084"/>
            <a:ext cx="4418599" cy="2199480"/>
          </a:xfrm>
          <a:prstGeom prst="rect">
            <a:avLst/>
          </a:prstGeom>
        </p:spPr>
      </p:pic>
      <p:pic>
        <p:nvPicPr>
          <p:cNvPr id="16" name="Picture 15" descr="Courses on ESRI academy">
            <a:extLst>
              <a:ext uri="{FF2B5EF4-FFF2-40B4-BE49-F238E27FC236}">
                <a16:creationId xmlns:a16="http://schemas.microsoft.com/office/drawing/2014/main" id="{9DC38840-CF71-48E2-B005-9A97962EF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061" y="3234149"/>
            <a:ext cx="4325815" cy="175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251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5259860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Global Navigation Satellite Systems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A space-based satellite navigation system that provides autonomous positioning information with a global coverage.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altLang="en-US" sz="216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Encompasses all existing and planned satellite navigation systems such as GPS, GLONASS, </a:t>
            </a:r>
            <a:r>
              <a:rPr lang="en-US" altLang="en-US" sz="2160" dirty="0" err="1"/>
              <a:t>Gaileo</a:t>
            </a:r>
            <a:r>
              <a:rPr lang="en-US" altLang="en-US" sz="2160" dirty="0"/>
              <a:t>, </a:t>
            </a:r>
            <a:r>
              <a:rPr lang="en-US" altLang="en-US" sz="2160" dirty="0" err="1"/>
              <a:t>Beidou</a:t>
            </a:r>
            <a:r>
              <a:rPr lang="en-US" altLang="en-US" sz="2160" dirty="0"/>
              <a:t>, etc. </a:t>
            </a:r>
          </a:p>
          <a:p>
            <a:pPr marL="411480" lvl="1" indent="0">
              <a:buNone/>
            </a:pPr>
            <a:endParaRPr lang="en-US" altLang="en-US" sz="21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What is GNSS?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10" name="Picture 9" descr="GPS satellites">
            <a:extLst>
              <a:ext uri="{FF2B5EF4-FFF2-40B4-BE49-F238E27FC236}">
                <a16:creationId xmlns:a16="http://schemas.microsoft.com/office/drawing/2014/main" id="{1699FAEF-666C-4A27-BCC5-F211716BC7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625" y="1440755"/>
            <a:ext cx="2794774" cy="27947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D599AE-B04B-4E61-AB86-5625F60B792A}"/>
              </a:ext>
            </a:extLst>
          </p:cNvPr>
          <p:cNvSpPr txBox="1"/>
          <p:nvPr/>
        </p:nvSpPr>
        <p:spPr>
          <a:xfrm>
            <a:off x="5096106" y="4365159"/>
            <a:ext cx="30572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NOAA: </a:t>
            </a:r>
            <a:r>
              <a:rPr lang="en-US" sz="1000" dirty="0">
                <a:hlinkClick r:id="rId4"/>
              </a:rPr>
              <a:t>https://celebrating200years.noaa.gov/transformations/gps/Figure_1.html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532549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0" y="1029962"/>
            <a:ext cx="7515379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History</a:t>
            </a:r>
            <a:endParaRPr lang="en-US" altLang="en-US" sz="2160" dirty="0"/>
          </a:p>
          <a:p>
            <a:pPr marL="0" indent="0">
              <a:buNone/>
            </a:pPr>
            <a:endParaRPr lang="en-US" altLang="en-US" sz="2160" dirty="0"/>
          </a:p>
          <a:p>
            <a:pPr marL="0" indent="0">
              <a:buNone/>
            </a:pPr>
            <a:endParaRPr lang="en-US" altLang="en-US" sz="2160" dirty="0"/>
          </a:p>
          <a:p>
            <a:pPr marL="411480" lvl="1" indent="0">
              <a:buNone/>
            </a:pPr>
            <a:endParaRPr lang="en-US" altLang="en-US" sz="21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History of GNSS?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6" name="Picture 5" descr="Sputnik image">
            <a:extLst>
              <a:ext uri="{FF2B5EF4-FFF2-40B4-BE49-F238E27FC236}">
                <a16:creationId xmlns:a16="http://schemas.microsoft.com/office/drawing/2014/main" id="{4DBB8C2B-0008-4833-81A7-C18BE8266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43" y="1658612"/>
            <a:ext cx="1349298" cy="16775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B41720-3256-49AD-826C-E31008994144}"/>
              </a:ext>
            </a:extLst>
          </p:cNvPr>
          <p:cNvSpPr txBox="1"/>
          <p:nvPr/>
        </p:nvSpPr>
        <p:spPr>
          <a:xfrm>
            <a:off x="568712" y="3638805"/>
            <a:ext cx="1349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Sputnik</a:t>
            </a:r>
          </a:p>
          <a:p>
            <a:r>
              <a:rPr lang="en-US" dirty="0"/>
              <a:t>1957</a:t>
            </a:r>
          </a:p>
        </p:txBody>
      </p:sp>
      <p:pic>
        <p:nvPicPr>
          <p:cNvPr id="14" name="Picture 13" descr="Transit image">
            <a:extLst>
              <a:ext uri="{FF2B5EF4-FFF2-40B4-BE49-F238E27FC236}">
                <a16:creationId xmlns:a16="http://schemas.microsoft.com/office/drawing/2014/main" id="{702DFA60-55F0-44C8-80DC-57F6AA9D1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775" y="1374863"/>
            <a:ext cx="1484194" cy="20492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2CFA2C-27F2-49C0-B841-A7C08975BC22}"/>
              </a:ext>
            </a:extLst>
          </p:cNvPr>
          <p:cNvSpPr txBox="1"/>
          <p:nvPr/>
        </p:nvSpPr>
        <p:spPr>
          <a:xfrm>
            <a:off x="3125476" y="3638805"/>
            <a:ext cx="1349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Transit</a:t>
            </a:r>
          </a:p>
          <a:p>
            <a:r>
              <a:rPr lang="en-US" dirty="0"/>
              <a:t>1960</a:t>
            </a:r>
          </a:p>
        </p:txBody>
      </p:sp>
      <p:pic>
        <p:nvPicPr>
          <p:cNvPr id="18" name="Picture 17" descr="GPS image">
            <a:extLst>
              <a:ext uri="{FF2B5EF4-FFF2-40B4-BE49-F238E27FC236}">
                <a16:creationId xmlns:a16="http://schemas.microsoft.com/office/drawing/2014/main" id="{A5A855FE-3BCE-4423-8CC8-FBB3CC6AE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904" y="1342134"/>
            <a:ext cx="2063903" cy="20455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8415645-A0C1-4039-A5CC-23CAA94530C8}"/>
              </a:ext>
            </a:extLst>
          </p:cNvPr>
          <p:cNvSpPr txBox="1"/>
          <p:nvPr/>
        </p:nvSpPr>
        <p:spPr>
          <a:xfrm>
            <a:off x="5809122" y="3638805"/>
            <a:ext cx="1349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GPS</a:t>
            </a:r>
          </a:p>
          <a:p>
            <a:r>
              <a:rPr lang="en-US" dirty="0"/>
              <a:t>1978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789D3B-A7B3-4631-933F-0F65D4DFAD6C}"/>
              </a:ext>
            </a:extLst>
          </p:cNvPr>
          <p:cNvSpPr txBox="1"/>
          <p:nvPr/>
        </p:nvSpPr>
        <p:spPr>
          <a:xfrm>
            <a:off x="302739" y="4484496"/>
            <a:ext cx="54529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6"/>
              </a:rPr>
              <a:t>https://history.nasa.gov/sputnik/gallerysput.html</a:t>
            </a:r>
            <a:endParaRPr lang="en-US" sz="1000" dirty="0"/>
          </a:p>
          <a:p>
            <a:r>
              <a:rPr lang="en-US" sz="1000" dirty="0">
                <a:hlinkClick r:id="rId7"/>
              </a:rPr>
              <a:t>https://en.wikipedia.org/wiki/Transit_(satellite)</a:t>
            </a:r>
            <a:endParaRPr lang="en-US" sz="1000" dirty="0"/>
          </a:p>
          <a:p>
            <a:r>
              <a:rPr lang="en-US" sz="1000" dirty="0">
                <a:hlinkClick r:id="rId8"/>
              </a:rPr>
              <a:t>https://en.wikipedia.org/wiki/GPS_satellite_blocks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644517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History of GNSS?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6" name="Picture 5" descr="GPS development stage">
            <a:extLst>
              <a:ext uri="{FF2B5EF4-FFF2-40B4-BE49-F238E27FC236}">
                <a16:creationId xmlns:a16="http://schemas.microsoft.com/office/drawing/2014/main" id="{BD4EE049-0E15-4345-9051-EAB5935BB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218437"/>
            <a:ext cx="8001000" cy="2631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ED89E1-022C-48B7-905B-93EC95E96789}"/>
              </a:ext>
            </a:extLst>
          </p:cNvPr>
          <p:cNvSpPr txBox="1"/>
          <p:nvPr/>
        </p:nvSpPr>
        <p:spPr>
          <a:xfrm>
            <a:off x="118533" y="3897238"/>
            <a:ext cx="1920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portable GPS, 25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1978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5F4F9C-F345-43A3-AD8A-338866FBADE0}"/>
              </a:ext>
            </a:extLst>
          </p:cNvPr>
          <p:cNvSpPr txBox="1"/>
          <p:nvPr/>
        </p:nvSpPr>
        <p:spPr>
          <a:xfrm>
            <a:off x="2031153" y="3897238"/>
            <a:ext cx="1920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handheld GPS</a:t>
            </a:r>
          </a:p>
          <a:p>
            <a:r>
              <a:rPr lang="en-US" dirty="0"/>
              <a:t>1989: </a:t>
            </a:r>
            <a:r>
              <a:rPr lang="en-US" altLang="en-US" dirty="0"/>
              <a:t>Magellan navigation 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BE5FCE-A66F-411D-9A66-BF7F1794A350}"/>
              </a:ext>
            </a:extLst>
          </p:cNvPr>
          <p:cNvSpPr txBox="1"/>
          <p:nvPr/>
        </p:nvSpPr>
        <p:spPr>
          <a:xfrm>
            <a:off x="3951393" y="3851641"/>
            <a:ext cx="1920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In-car GPS</a:t>
            </a:r>
          </a:p>
          <a:p>
            <a:r>
              <a:rPr lang="en-US" dirty="0"/>
              <a:t>1998: </a:t>
            </a:r>
            <a:r>
              <a:rPr lang="en-US" altLang="en-US" dirty="0"/>
              <a:t>Mazda</a:t>
            </a:r>
            <a:endParaRPr lang="en-US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41681-B203-425F-A474-7574C8DF57E9}"/>
              </a:ext>
            </a:extLst>
          </p:cNvPr>
          <p:cNvSpPr txBox="1"/>
          <p:nvPr/>
        </p:nvSpPr>
        <p:spPr>
          <a:xfrm>
            <a:off x="5864013" y="3851641"/>
            <a:ext cx="14759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GPS </a:t>
            </a:r>
          </a:p>
          <a:p>
            <a:r>
              <a:rPr lang="en-US" dirty="0"/>
              <a:t>Phone</a:t>
            </a:r>
          </a:p>
          <a:p>
            <a:r>
              <a:rPr lang="en-US" dirty="0"/>
              <a:t>1999: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Benefon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950E40-08FA-4F58-9E63-323FB4B3E4E7}"/>
              </a:ext>
            </a:extLst>
          </p:cNvPr>
          <p:cNvSpPr txBox="1"/>
          <p:nvPr/>
        </p:nvSpPr>
        <p:spPr>
          <a:xfrm>
            <a:off x="7227993" y="3851640"/>
            <a:ext cx="1112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GPS chip, 2mm</a:t>
            </a:r>
          </a:p>
          <a:p>
            <a:r>
              <a:rPr lang="en-US" dirty="0"/>
              <a:t>2013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BB7462-F9CA-4F89-B3CC-2356CCC97CD2}"/>
              </a:ext>
            </a:extLst>
          </p:cNvPr>
          <p:cNvSpPr txBox="1"/>
          <p:nvPr/>
        </p:nvSpPr>
        <p:spPr>
          <a:xfrm>
            <a:off x="100320" y="4820568"/>
            <a:ext cx="30572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MOOC, Sandford University</a:t>
            </a:r>
          </a:p>
        </p:txBody>
      </p:sp>
      <p:pic>
        <p:nvPicPr>
          <p:cNvPr id="19" name="Picture 18" descr="first GPS phone">
            <a:extLst>
              <a:ext uri="{FF2B5EF4-FFF2-40B4-BE49-F238E27FC236}">
                <a16:creationId xmlns:a16="http://schemas.microsoft.com/office/drawing/2014/main" id="{1618DB92-3DE1-4A11-9860-0B3936F0C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678" y="2485973"/>
            <a:ext cx="1413315" cy="134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19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GNSS segment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6" name="Picture 5" descr="GNSS segment">
            <a:extLst>
              <a:ext uri="{FF2B5EF4-FFF2-40B4-BE49-F238E27FC236}">
                <a16:creationId xmlns:a16="http://schemas.microsoft.com/office/drawing/2014/main" id="{2623A526-F854-4398-B50D-9D4BAC2DF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171" y="1420459"/>
            <a:ext cx="4714875" cy="3324225"/>
          </a:xfrm>
          <a:prstGeom prst="rect">
            <a:avLst/>
          </a:prstGeom>
        </p:spPr>
      </p:pic>
      <p:sp>
        <p:nvSpPr>
          <p:cNvPr id="7" name="Rectangle 1027">
            <a:extLst>
              <a:ext uri="{FF2B5EF4-FFF2-40B4-BE49-F238E27FC236}">
                <a16:creationId xmlns:a16="http://schemas.microsoft.com/office/drawing/2014/main" id="{A0EEFF6C-4B7A-40AD-98D4-DED2A750AE3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525986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GNSS segment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Space segment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Control segment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User segment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13FC2B-3F89-4512-BA05-FBF220E28442}"/>
              </a:ext>
            </a:extLst>
          </p:cNvPr>
          <p:cNvSpPr txBox="1"/>
          <p:nvPr/>
        </p:nvSpPr>
        <p:spPr>
          <a:xfrm>
            <a:off x="3337492" y="4767263"/>
            <a:ext cx="471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4"/>
              </a:rPr>
              <a:t>https://www.pdhonline.com/courses/l116/l116content.htm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46024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GNSS segment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A0EEFF6C-4B7A-40AD-98D4-DED2A750AE3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5259860" cy="3886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Space segment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Comprises of the constellation of satellites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Each satellite broadcasts to the user an accurate time reference and a navigation message with ephemeris information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Example: GPS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Consists of 31 satellites on 6 orbits (~ 22,000 km from the center of the Earth)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Each satellite carries a clock</a:t>
            </a:r>
          </a:p>
        </p:txBody>
      </p:sp>
      <p:pic>
        <p:nvPicPr>
          <p:cNvPr id="8" name="Picture 7" descr="GPS space segment">
            <a:extLst>
              <a:ext uri="{FF2B5EF4-FFF2-40B4-BE49-F238E27FC236}">
                <a16:creationId xmlns:a16="http://schemas.microsoft.com/office/drawing/2014/main" id="{0A109CAD-EC2D-4768-8A56-2E277A9C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522" y="929663"/>
            <a:ext cx="2579678" cy="34933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03DD17-0CAD-437C-AC4A-6DB8F44BD061}"/>
              </a:ext>
            </a:extLst>
          </p:cNvPr>
          <p:cNvSpPr txBox="1"/>
          <p:nvPr/>
        </p:nvSpPr>
        <p:spPr>
          <a:xfrm>
            <a:off x="5384251" y="4454497"/>
            <a:ext cx="28062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4"/>
              </a:rPr>
              <a:t>https://en.wikipedia.org/wiki/GPS_satellite_blocks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231693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GNSS segment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A0EEFF6C-4B7A-40AD-98D4-DED2A750AE3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0" y="1029962"/>
            <a:ext cx="7726137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Control segment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Consists of worldwide monitor and control stations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Maintain the satellites in their proper orbits through occasional command maneuvers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Adjust the satellite clocks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Example: GPS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A master control station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An alternate master control station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Four dedicated ground antennas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Six dedicated monitor stations</a:t>
            </a:r>
          </a:p>
        </p:txBody>
      </p:sp>
    </p:spTree>
    <p:extLst>
      <p:ext uri="{BB962C8B-B14F-4D97-AF65-F5344CB8AC3E}">
        <p14:creationId xmlns:p14="http://schemas.microsoft.com/office/powerpoint/2010/main" val="6843490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GNSS segment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A0EEFF6C-4B7A-40AD-98D4-DED2A750AE3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0" y="1029962"/>
            <a:ext cx="7726137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Control segment</a:t>
            </a:r>
          </a:p>
        </p:txBody>
      </p:sp>
      <p:pic>
        <p:nvPicPr>
          <p:cNvPr id="9" name="Picture 8" descr="GPS control segment">
            <a:extLst>
              <a:ext uri="{FF2B5EF4-FFF2-40B4-BE49-F238E27FC236}">
                <a16:creationId xmlns:a16="http://schemas.microsoft.com/office/drawing/2014/main" id="{6DB8DAD8-1126-4DA1-902B-D4D3431CF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449062"/>
            <a:ext cx="5791200" cy="3467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F0EC03-C462-463A-B093-00CFAB88651E}"/>
              </a:ext>
            </a:extLst>
          </p:cNvPr>
          <p:cNvSpPr txBox="1"/>
          <p:nvPr/>
        </p:nvSpPr>
        <p:spPr>
          <a:xfrm>
            <a:off x="35955" y="4513731"/>
            <a:ext cx="28062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4"/>
              </a:rPr>
              <a:t>https://unstats.un.org/unsd/geoinfo/UNGEGN/docs/_data_ICAcourses/_HtmlModules/_Selfstudy/S06/S06_05a.html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092434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GNSS segment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A0EEFF6C-4B7A-40AD-98D4-DED2A750AE3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0" y="1029962"/>
            <a:ext cx="7726137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Control segment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Master Control station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Collect and process the monitor station measurements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Generate satellite ephemeris and clock estimates and predictions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Monitor Station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Monitor range and carrier measurement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Collect atmospheric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Ground Antenna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/>
              <a:t>Upload the navigation data to Satellite</a:t>
            </a:r>
          </a:p>
          <a:p>
            <a:pPr marL="822960" lvl="2" indent="0"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299976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GNSS segment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A0EEFF6C-4B7A-40AD-98D4-DED2A750AE3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525986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User segment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Comprises of Hundreds of thousands of civil, commercial, and scientific users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In general, GPS receivers are composed of an antenna, receiver-processors, controller, and a highly stable clock.</a:t>
            </a:r>
          </a:p>
          <a:p>
            <a:pPr marL="411480" lvl="1" indent="0">
              <a:buNone/>
            </a:pPr>
            <a:endParaRPr lang="en-US" altLang="en-US" sz="2160" dirty="0"/>
          </a:p>
        </p:txBody>
      </p:sp>
      <p:pic>
        <p:nvPicPr>
          <p:cNvPr id="6" name="Picture 5" descr="User GPS unit">
            <a:extLst>
              <a:ext uri="{FF2B5EF4-FFF2-40B4-BE49-F238E27FC236}">
                <a16:creationId xmlns:a16="http://schemas.microsoft.com/office/drawing/2014/main" id="{038363B2-1896-4951-BF93-B6E259C03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62" y="3225590"/>
            <a:ext cx="3305175" cy="1724025"/>
          </a:xfrm>
          <a:prstGeom prst="rect">
            <a:avLst/>
          </a:prstGeom>
        </p:spPr>
      </p:pic>
      <p:pic>
        <p:nvPicPr>
          <p:cNvPr id="11" name="Picture 10" descr="User GPS unit">
            <a:extLst>
              <a:ext uri="{FF2B5EF4-FFF2-40B4-BE49-F238E27FC236}">
                <a16:creationId xmlns:a16="http://schemas.microsoft.com/office/drawing/2014/main" id="{A92C0E27-BA0D-4CD8-AB50-9E0CA6ED9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048" y="1684038"/>
            <a:ext cx="2536552" cy="25365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30AE62-53B4-4E38-B34C-9F467A321F44}"/>
              </a:ext>
            </a:extLst>
          </p:cNvPr>
          <p:cNvSpPr txBox="1"/>
          <p:nvPr/>
        </p:nvSpPr>
        <p:spPr>
          <a:xfrm>
            <a:off x="5212151" y="4176557"/>
            <a:ext cx="301744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5"/>
              </a:rPr>
              <a:t>https://unstats.un.org/unsd/geoinfo/UNGEGN/docs/_data_ICAcourses/_HtmlModules/_Selfstudy/S06/S06_05a.html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1B3393-BF05-4D7C-B75E-BEFE136F7547}"/>
              </a:ext>
            </a:extLst>
          </p:cNvPr>
          <p:cNvSpPr txBox="1"/>
          <p:nvPr/>
        </p:nvSpPr>
        <p:spPr>
          <a:xfrm>
            <a:off x="756498" y="4787994"/>
            <a:ext cx="4120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5"/>
              </a:rPr>
              <a:t>https://unstats.un.org/unsd/geoinfo/UNGEGN/docs/_data_ICAcourses/_HtmlModules/_Selfstudy/S06/S06_05a.html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910706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GNSS application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A0EEFF6C-4B7A-40AD-98D4-DED2A750AE3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386532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Land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Survey, hiking, E-911, Vehicle ‘s GPS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Aviation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Flight, Unmanned Arial Vehicle or</a:t>
            </a:r>
            <a:r>
              <a:rPr lang="zh-CN" altLang="en-US" sz="2160" dirty="0"/>
              <a:t> </a:t>
            </a:r>
            <a:r>
              <a:rPr lang="en-US" altLang="zh-CN" sz="2160" dirty="0"/>
              <a:t>drone</a:t>
            </a:r>
            <a:endParaRPr lang="en-US" altLang="en-US" sz="216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Maritime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Ship navigation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Space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Spacecraft orbit determination, atmospheric research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altLang="en-US" sz="2160" dirty="0"/>
          </a:p>
          <a:p>
            <a:pPr marL="411480" lvl="1" indent="0">
              <a:buNone/>
            </a:pPr>
            <a:endParaRPr lang="en-US" altLang="en-US" sz="2160" dirty="0"/>
          </a:p>
        </p:txBody>
      </p:sp>
    </p:spTree>
    <p:extLst>
      <p:ext uri="{BB962C8B-B14F-4D97-AF65-F5344CB8AC3E}">
        <p14:creationId xmlns:p14="http://schemas.microsoft.com/office/powerpoint/2010/main" val="12008863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What is UAV?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A0EEFF6C-4B7A-40AD-98D4-DED2A750AE3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386532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UAV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160" dirty="0"/>
              <a:t>Unmanned Aerial Vehicle or System or drone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60" dirty="0"/>
              <a:t>It is simply a pilot-less aircraft. </a:t>
            </a:r>
            <a:endParaRPr lang="en-US" altLang="en-US" sz="2160" dirty="0"/>
          </a:p>
          <a:p>
            <a:pPr lvl="1">
              <a:buFont typeface="Wingdings" panose="05000000000000000000" pitchFamily="2" charset="2"/>
              <a:buChar char="ü"/>
            </a:pPr>
            <a:endParaRPr lang="en-US" altLang="en-US" sz="2160" dirty="0"/>
          </a:p>
          <a:p>
            <a:pPr marL="411480" lvl="1" indent="0">
              <a:buNone/>
            </a:pPr>
            <a:endParaRPr lang="en-US" altLang="en-US" sz="2160" dirty="0"/>
          </a:p>
        </p:txBody>
      </p:sp>
      <p:pic>
        <p:nvPicPr>
          <p:cNvPr id="8" name="Picture 7" descr="UAV">
            <a:extLst>
              <a:ext uri="{FF2B5EF4-FFF2-40B4-BE49-F238E27FC236}">
                <a16:creationId xmlns:a16="http://schemas.microsoft.com/office/drawing/2014/main" id="{712F3C1C-8020-4CAE-A088-5C3A5DA2A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16" y="2266882"/>
            <a:ext cx="5770605" cy="2774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09A31-5ECF-4413-9EFE-33DD20916303}"/>
              </a:ext>
            </a:extLst>
          </p:cNvPr>
          <p:cNvSpPr txBox="1"/>
          <p:nvPr/>
        </p:nvSpPr>
        <p:spPr>
          <a:xfrm>
            <a:off x="6623221" y="4513852"/>
            <a:ext cx="14086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u="none" strike="noStrike" baseline="0" dirty="0">
                <a:solidFill>
                  <a:srgbClr val="7030A0"/>
                </a:solidFill>
              </a:rPr>
              <a:t>Frazier and Singh, 2021</a:t>
            </a:r>
            <a:endParaRPr lang="en-US" sz="9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200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AV and remote controller">
            <a:extLst>
              <a:ext uri="{FF2B5EF4-FFF2-40B4-BE49-F238E27FC236}">
                <a16:creationId xmlns:a16="http://schemas.microsoft.com/office/drawing/2014/main" id="{D958CB2D-AB58-4AB7-A248-A86EB7491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62" y="1543782"/>
            <a:ext cx="6583564" cy="355663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UAV component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A0EEFF6C-4B7A-40AD-98D4-DED2A750AE3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386532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Unmanned aircraft platform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Ground control station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Data communication link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altLang="en-US" sz="2160" dirty="0"/>
          </a:p>
          <a:p>
            <a:pPr marL="411480" lvl="1" indent="0">
              <a:buNone/>
            </a:pPr>
            <a:endParaRPr lang="en-US" altLang="en-US" sz="216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09A31-5ECF-4413-9EFE-33DD20916303}"/>
              </a:ext>
            </a:extLst>
          </p:cNvPr>
          <p:cNvSpPr txBox="1"/>
          <p:nvPr/>
        </p:nvSpPr>
        <p:spPr>
          <a:xfrm>
            <a:off x="6623221" y="4513852"/>
            <a:ext cx="14086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u="none" strike="noStrike" baseline="0" dirty="0">
                <a:solidFill>
                  <a:srgbClr val="7030A0"/>
                </a:solidFill>
              </a:rPr>
              <a:t>Frazier and Singh, 2021</a:t>
            </a:r>
            <a:endParaRPr lang="en-US" sz="9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9932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UAV sensor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09A31-5ECF-4413-9EFE-33DD20916303}"/>
              </a:ext>
            </a:extLst>
          </p:cNvPr>
          <p:cNvSpPr txBox="1"/>
          <p:nvPr/>
        </p:nvSpPr>
        <p:spPr>
          <a:xfrm>
            <a:off x="6623221" y="4513852"/>
            <a:ext cx="14086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u="none" strike="noStrike" baseline="0" dirty="0">
                <a:solidFill>
                  <a:srgbClr val="7030A0"/>
                </a:solidFill>
              </a:rPr>
              <a:t>Frazier and Singh, 2021</a:t>
            </a:r>
            <a:endParaRPr lang="en-US" sz="900" dirty="0">
              <a:solidFill>
                <a:srgbClr val="7030A0"/>
              </a:solidFill>
            </a:endParaRPr>
          </a:p>
        </p:txBody>
      </p:sp>
      <p:pic>
        <p:nvPicPr>
          <p:cNvPr id="8" name="Picture 7" descr="UAV">
            <a:extLst>
              <a:ext uri="{FF2B5EF4-FFF2-40B4-BE49-F238E27FC236}">
                <a16:creationId xmlns:a16="http://schemas.microsoft.com/office/drawing/2014/main" id="{1368EBA4-E735-4391-BE46-D55AF1979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21" y="1486150"/>
            <a:ext cx="3843079" cy="2171200"/>
          </a:xfrm>
          <a:prstGeom prst="rect">
            <a:avLst/>
          </a:prstGeom>
        </p:spPr>
      </p:pic>
      <p:sp>
        <p:nvSpPr>
          <p:cNvPr id="11" name="Rectangle 1027">
            <a:extLst>
              <a:ext uri="{FF2B5EF4-FFF2-40B4-BE49-F238E27FC236}">
                <a16:creationId xmlns:a16="http://schemas.microsoft.com/office/drawing/2014/main" id="{1F2DF0DE-C185-4FE8-81EF-A357D29B5C42}"/>
              </a:ext>
            </a:extLst>
          </p:cNvPr>
          <p:cNvSpPr txBox="1">
            <a:spLocks noChangeArrowheads="1"/>
          </p:cNvSpPr>
          <p:nvPr/>
        </p:nvSpPr>
        <p:spPr>
          <a:xfrm>
            <a:off x="1331440" y="3657350"/>
            <a:ext cx="1637271" cy="477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>
              <a:buNone/>
            </a:pPr>
            <a:r>
              <a:rPr lang="en-US" altLang="en-US" sz="2160" dirty="0"/>
              <a:t>Camera</a:t>
            </a:r>
          </a:p>
          <a:p>
            <a:pPr marL="411480" lvl="1" indent="0">
              <a:buNone/>
            </a:pPr>
            <a:endParaRPr lang="en-US" altLang="en-US" sz="2160" dirty="0"/>
          </a:p>
        </p:txBody>
      </p:sp>
      <p:pic>
        <p:nvPicPr>
          <p:cNvPr id="12" name="Picture 11" descr="atmospheric sensors">
            <a:extLst>
              <a:ext uri="{FF2B5EF4-FFF2-40B4-BE49-F238E27FC236}">
                <a16:creationId xmlns:a16="http://schemas.microsoft.com/office/drawing/2014/main" id="{A69E25AF-3A05-4BA8-B6AB-C5BB52826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154" y="1448581"/>
            <a:ext cx="3435252" cy="2246337"/>
          </a:xfrm>
          <a:prstGeom prst="rect">
            <a:avLst/>
          </a:prstGeom>
        </p:spPr>
      </p:pic>
      <p:sp>
        <p:nvSpPr>
          <p:cNvPr id="13" name="Rectangle 1027">
            <a:extLst>
              <a:ext uri="{FF2B5EF4-FFF2-40B4-BE49-F238E27FC236}">
                <a16:creationId xmlns:a16="http://schemas.microsoft.com/office/drawing/2014/main" id="{BB64CF35-AE54-4FDB-96A6-24AF07DD8DEC}"/>
              </a:ext>
            </a:extLst>
          </p:cNvPr>
          <p:cNvSpPr txBox="1">
            <a:spLocks noChangeArrowheads="1"/>
          </p:cNvSpPr>
          <p:nvPr/>
        </p:nvSpPr>
        <p:spPr>
          <a:xfrm>
            <a:off x="4799944" y="3742957"/>
            <a:ext cx="2551672" cy="4776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>
              <a:buNone/>
            </a:pPr>
            <a:r>
              <a:rPr lang="en-US" altLang="en-US" sz="2160" dirty="0"/>
              <a:t>Atmospheric sensor</a:t>
            </a:r>
          </a:p>
          <a:p>
            <a:pPr marL="411480" lvl="1" indent="0">
              <a:buNone/>
            </a:pPr>
            <a:endParaRPr lang="en-US" altLang="en-US" sz="2160" dirty="0"/>
          </a:p>
        </p:txBody>
      </p:sp>
    </p:spTree>
    <p:extLst>
      <p:ext uri="{BB962C8B-B14F-4D97-AF65-F5344CB8AC3E}">
        <p14:creationId xmlns:p14="http://schemas.microsoft.com/office/powerpoint/2010/main" val="19602782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7030A0"/>
                </a:solidFill>
              </a:rPr>
              <a:t>UAV application</a:t>
            </a:r>
            <a:endParaRPr lang="en-US" sz="24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14" name="Rectangle 1027">
            <a:extLst>
              <a:ext uri="{FF2B5EF4-FFF2-40B4-BE49-F238E27FC236}">
                <a16:creationId xmlns:a16="http://schemas.microsoft.com/office/drawing/2014/main" id="{7A524CAF-53FF-43AC-89C9-BE19E6165821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3342502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000" dirty="0"/>
              <a:t>Agriculture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000" dirty="0"/>
              <a:t>Geomorphology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000" dirty="0"/>
              <a:t>Wildlife survey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Surveilling volcanic eruptions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Inspecting power lines and other infrastructure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Monitoring gas leaks from pipelines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Etc.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600" dirty="0"/>
          </a:p>
          <a:p>
            <a:pPr lvl="1">
              <a:buFont typeface="Wingdings" panose="05000000000000000000" pitchFamily="2" charset="2"/>
              <a:buChar char="ü"/>
            </a:pPr>
            <a:endParaRPr lang="en-US" altLang="en-US" sz="2160" dirty="0"/>
          </a:p>
          <a:p>
            <a:pPr marL="411480" lvl="1" indent="0">
              <a:buNone/>
            </a:pPr>
            <a:endParaRPr lang="en-US" altLang="en-US" sz="2160" dirty="0"/>
          </a:p>
        </p:txBody>
      </p:sp>
      <p:pic>
        <p:nvPicPr>
          <p:cNvPr id="6" name="Picture 5" descr="A close-up of a map&#10;&#10;Description automatically generated with low confidence">
            <a:extLst>
              <a:ext uri="{FF2B5EF4-FFF2-40B4-BE49-F238E27FC236}">
                <a16:creationId xmlns:a16="http://schemas.microsoft.com/office/drawing/2014/main" id="{3F66A931-559E-4AD9-BB81-3DD6E2353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914" y="922910"/>
            <a:ext cx="2961086" cy="414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748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305" y="1325254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6" name="Picture 5" descr="Geography logo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4371</TotalTime>
  <Words>2395</Words>
  <Application>Microsoft Office PowerPoint</Application>
  <PresentationFormat>Custom</PresentationFormat>
  <Paragraphs>484</Paragraphs>
  <Slides>57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0" baseType="lpstr">
      <vt:lpstr>-apple-system</vt:lpstr>
      <vt:lpstr>Avenir Next W01</vt:lpstr>
      <vt:lpstr>Arial</vt:lpstr>
      <vt:lpstr>Arial</vt:lpstr>
      <vt:lpstr>Calibri</vt:lpstr>
      <vt:lpstr>Corbel</vt:lpstr>
      <vt:lpstr>Courier New</vt:lpstr>
      <vt:lpstr>Open Sans</vt:lpstr>
      <vt:lpstr>Roboto</vt:lpstr>
      <vt:lpstr>times new roman</vt:lpstr>
      <vt:lpstr>times new roman</vt:lpstr>
      <vt:lpstr>Wingdings</vt:lpstr>
      <vt:lpstr>Office Theme</vt:lpstr>
      <vt:lpstr>GEOG 3319: Geographic Field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ESRI https://pro.arcgis.com/en/pro-app/latest/get-started/run-pro-on-a-mac.htm   Harvard https://gis.harvard.edu/faq/how-installing-arcgis-desktop-or-pro-mac-computer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Important Geospatial Skillsets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Yaqian He</cp:lastModifiedBy>
  <cp:revision>139</cp:revision>
  <dcterms:created xsi:type="dcterms:W3CDTF">2020-07-26T21:20:11Z</dcterms:created>
  <dcterms:modified xsi:type="dcterms:W3CDTF">2022-08-29T00:46:45Z</dcterms:modified>
</cp:coreProperties>
</file>